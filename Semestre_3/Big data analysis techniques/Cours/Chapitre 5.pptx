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33"/>
  </p:notesMasterIdLst>
  <p:sldIdLst>
    <p:sldId id="256" r:id="rId2"/>
    <p:sldId id="257" r:id="rId3"/>
    <p:sldId id="258" r:id="rId4"/>
    <p:sldId id="259" r:id="rId5"/>
    <p:sldId id="260" r:id="rId6"/>
    <p:sldId id="284" r:id="rId7"/>
    <p:sldId id="285" r:id="rId8"/>
    <p:sldId id="286" r:id="rId9"/>
    <p:sldId id="287" r:id="rId10"/>
    <p:sldId id="261" r:id="rId11"/>
    <p:sldId id="262" r:id="rId12"/>
    <p:sldId id="263" r:id="rId13"/>
    <p:sldId id="264" r:id="rId14"/>
    <p:sldId id="266" r:id="rId15"/>
    <p:sldId id="267" r:id="rId16"/>
    <p:sldId id="268" r:id="rId17"/>
    <p:sldId id="270" r:id="rId18"/>
    <p:sldId id="269"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Lst>
  <p:sldSz cx="9144000" cy="6858000" type="screen4x3"/>
  <p:notesSz cx="6858000" cy="9144000"/>
  <p:defaultTextStyle>
    <a:defPPr>
      <a:defRPr lang="fr-FR"/>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7" autoAdjust="0"/>
    <p:restoredTop sz="94660"/>
  </p:normalViewPr>
  <p:slideViewPr>
    <p:cSldViewPr>
      <p:cViewPr varScale="1">
        <p:scale>
          <a:sx n="68" d="100"/>
          <a:sy n="68" d="100"/>
        </p:scale>
        <p:origin x="137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fr-F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smtClean="0">
                <a:latin typeface="+mn-lt"/>
                <a:cs typeface="+mn-cs"/>
              </a:defRPr>
            </a:lvl1pPr>
          </a:lstStyle>
          <a:p>
            <a:pPr>
              <a:defRPr/>
            </a:pPr>
            <a:fld id="{D23B334F-E2D1-4BC6-8712-9C3CE2C76F61}" type="datetimeFigureOut">
              <a:rPr lang="fr-FR"/>
              <a:pPr>
                <a:defRPr/>
              </a:pPr>
              <a:t>22/10/2024</a:t>
            </a:fld>
            <a:endParaRPr lang="fr-F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fr-FR"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fr-FR"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fr-F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smtClean="0">
                <a:latin typeface="+mn-lt"/>
                <a:cs typeface="+mn-cs"/>
              </a:defRPr>
            </a:lvl1pPr>
          </a:lstStyle>
          <a:p>
            <a:pPr>
              <a:defRPr/>
            </a:pPr>
            <a:fld id="{665E0E4A-37B2-459F-8963-31A57574A2BB}" type="slidenum">
              <a:rPr lang="fr-FR"/>
              <a:pPr>
                <a:defRPr/>
              </a:pPr>
              <a:t>‹N°›</a:t>
            </a:fld>
            <a:endParaRPr lang="fr-FR"/>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p:cNvSpPr>
          <p:nvPr>
            <p:ph type="sldImg"/>
          </p:nvPr>
        </p:nvSpPr>
        <p:spPr bwMode="auto">
          <a:noFill/>
          <a:ln>
            <a:solidFill>
              <a:srgbClr val="000000"/>
            </a:solidFill>
            <a:miter lim="800000"/>
            <a:headEnd/>
            <a:tailEnd/>
          </a:ln>
        </p:spPr>
      </p:sp>
      <p:sp>
        <p:nvSpPr>
          <p:cNvPr id="34818"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fr-FR"/>
          </a:p>
        </p:txBody>
      </p:sp>
      <p:sp>
        <p:nvSpPr>
          <p:cNvPr id="34819"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B40071B-4507-45B7-B8FF-36D13FF6B7A0}" type="slidenum">
              <a:rPr lang="fr-FR">
                <a:cs typeface="Arial" charset="0"/>
              </a:rPr>
              <a:pPr fontAlgn="base">
                <a:spcBef>
                  <a:spcPct val="0"/>
                </a:spcBef>
                <a:spcAft>
                  <a:spcPct val="0"/>
                </a:spcAft>
              </a:pPr>
              <a:t>20</a:t>
            </a:fld>
            <a:endParaRPr lang="fr-FR">
              <a:cs typeface="Arial"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pic>
        <p:nvPicPr>
          <p:cNvPr id="4" name="Picture 6" descr="CoverOverlay.png"/>
          <p:cNvPicPr>
            <a:picLocks noChangeAspect="1"/>
          </p:cNvPicPr>
          <p:nvPr/>
        </p:nvPicPr>
        <p:blipFill>
          <a:blip r:embed="rId3" cstate="print"/>
          <a:srcRect/>
          <a:stretch>
            <a:fillRect/>
          </a:stretch>
        </p:blipFill>
        <p:spPr bwMode="auto">
          <a:xfrm>
            <a:off x="0" y="0"/>
            <a:ext cx="9144000" cy="6858000"/>
          </a:xfrm>
          <a:prstGeom prst="rect">
            <a:avLst/>
          </a:prstGeom>
          <a:noFill/>
          <a:ln w="9525">
            <a:noFill/>
            <a:miter lim="800000"/>
            <a:headEnd/>
            <a:tailEnd/>
          </a:ln>
        </p:spPr>
      </p:pic>
      <p:grpSp>
        <p:nvGrpSpPr>
          <p:cNvPr id="5"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6" name="TextBox 8"/>
            <p:cNvSpPr txBox="1"/>
            <p:nvPr/>
          </p:nvSpPr>
          <p:spPr>
            <a:xfrm>
              <a:off x="4147073" y="1381459"/>
              <a:ext cx="877163" cy="923330"/>
            </a:xfrm>
            <a:prstGeom prst="rect">
              <a:avLst/>
            </a:prstGeom>
            <a:noFill/>
          </p:spPr>
          <p:txBody>
            <a:bodyPr wrap="none">
              <a:spAutoFit/>
            </a:bodyPr>
            <a:lstStyle/>
            <a:p>
              <a:pPr fontAlgn="auto">
                <a:spcBef>
                  <a:spcPts val="0"/>
                </a:spcBef>
                <a:spcAft>
                  <a:spcPts val="0"/>
                </a:spcAft>
                <a:defRPr/>
              </a:pPr>
              <a:r>
                <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cs typeface="+mn-cs"/>
                </a:rPr>
                <a:t></a:t>
              </a:r>
            </a:p>
          </p:txBody>
        </p:sp>
        <p:cxnSp>
          <p:nvCxnSpPr>
            <p:cNvPr id="7"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8"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0"/>
          </p:nvPr>
        </p:nvSpPr>
        <p:spPr/>
        <p:txBody>
          <a:bodyPr/>
          <a:lstStyle>
            <a:lvl1pPr>
              <a:defRPr smtClean="0">
                <a:solidFill>
                  <a:schemeClr val="tx2"/>
                </a:solidFill>
              </a:defRPr>
            </a:lvl1pPr>
          </a:lstStyle>
          <a:p>
            <a:pPr>
              <a:defRPr/>
            </a:pPr>
            <a:fld id="{E62C72D5-A649-4FCF-8965-9F6D888DE87B}" type="datetimeFigureOut">
              <a:rPr lang="fr-FR"/>
              <a:pPr>
                <a:defRPr/>
              </a:pPr>
              <a:t>22/10/2024</a:t>
            </a:fld>
            <a:endParaRPr lang="fr-FR"/>
          </a:p>
        </p:txBody>
      </p:sp>
      <p:sp>
        <p:nvSpPr>
          <p:cNvPr id="10" name="Footer Placeholder 4"/>
          <p:cNvSpPr>
            <a:spLocks noGrp="1"/>
          </p:cNvSpPr>
          <p:nvPr>
            <p:ph type="ftr" sz="quarter" idx="11"/>
          </p:nvPr>
        </p:nvSpPr>
        <p:spPr/>
        <p:txBody>
          <a:bodyPr/>
          <a:lstStyle>
            <a:lvl1pPr>
              <a:defRPr>
                <a:solidFill>
                  <a:schemeClr val="tx2"/>
                </a:solidFill>
              </a:defRPr>
            </a:lvl1pPr>
          </a:lstStyle>
          <a:p>
            <a:pPr>
              <a:defRPr/>
            </a:pPr>
            <a:endParaRPr lang="fr-FR"/>
          </a:p>
        </p:txBody>
      </p:sp>
      <p:sp>
        <p:nvSpPr>
          <p:cNvPr id="11" name="Slide Number Placeholder 5"/>
          <p:cNvSpPr>
            <a:spLocks noGrp="1"/>
          </p:cNvSpPr>
          <p:nvPr>
            <p:ph type="sldNum" sz="quarter" idx="12"/>
          </p:nvPr>
        </p:nvSpPr>
        <p:spPr/>
        <p:txBody>
          <a:bodyPr/>
          <a:lstStyle>
            <a:lvl1pPr>
              <a:defRPr smtClean="0">
                <a:solidFill>
                  <a:schemeClr val="tx2"/>
                </a:solidFill>
              </a:defRPr>
            </a:lvl1pPr>
          </a:lstStyle>
          <a:p>
            <a:pPr>
              <a:defRPr/>
            </a:pPr>
            <a:fld id="{20734C3F-3801-413B-9E61-A1AC65EE32F9}" type="slidenum">
              <a:rPr lang="fr-FR"/>
              <a:pPr>
                <a:defRPr/>
              </a:pPr>
              <a:t>‹N°›</a:t>
            </a:fld>
            <a:endParaRPr lang="fr-FR"/>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4" name="Group 11"/>
          <p:cNvGrpSpPr>
            <a:grpSpLocks/>
          </p:cNvGrpSpPr>
          <p:nvPr/>
        </p:nvGrpSpPr>
        <p:grpSpPr bwMode="auto">
          <a:xfrm>
            <a:off x="1173163" y="1392238"/>
            <a:ext cx="6778625" cy="923925"/>
            <a:chOff x="1172584" y="1381459"/>
            <a:chExt cx="6779110" cy="923330"/>
          </a:xfrm>
        </p:grpSpPr>
        <p:sp>
          <p:nvSpPr>
            <p:cNvPr id="5" name="TextBox 12"/>
            <p:cNvSpPr txBox="1"/>
            <p:nvPr/>
          </p:nvSpPr>
          <p:spPr>
            <a:xfrm>
              <a:off x="4147772" y="1381459"/>
              <a:ext cx="876363" cy="923330"/>
            </a:xfrm>
            <a:prstGeom prst="rect">
              <a:avLst/>
            </a:prstGeom>
            <a:noFill/>
          </p:spPr>
          <p:txBody>
            <a:bodyPr wrap="none">
              <a:spAutoFit/>
            </a:bodyPr>
            <a:lstStyle/>
            <a:p>
              <a:pPr fontAlgn="auto">
                <a:spcBef>
                  <a:spcPts val="0"/>
                </a:spcBef>
                <a:spcAft>
                  <a:spcPts val="0"/>
                </a:spcAft>
                <a:defRPr/>
              </a:pPr>
              <a:r>
                <a:rPr lang="en-US" sz="5400" dirty="0">
                  <a:solidFill>
                    <a:schemeClr val="tx2">
                      <a:lumMod val="60000"/>
                      <a:lumOff val="40000"/>
                    </a:schemeClr>
                  </a:solidFill>
                  <a:latin typeface="Wingdings" pitchFamily="2" charset="2"/>
                  <a:cs typeface="+mn-cs"/>
                </a:rPr>
                <a:t></a:t>
              </a:r>
            </a:p>
          </p:txBody>
        </p:sp>
        <p:cxnSp>
          <p:nvCxnSpPr>
            <p:cNvPr id="6" name="Straight Connector 13"/>
            <p:cNvCxnSpPr/>
            <p:nvPr/>
          </p:nvCxnSpPr>
          <p:spPr>
            <a:xfrm rot="10800000">
              <a:off x="1172584" y="1925620"/>
              <a:ext cx="3119660" cy="1587"/>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7" name="Straight Connector 14"/>
            <p:cNvCxnSpPr/>
            <p:nvPr/>
          </p:nvCxnSpPr>
          <p:spPr>
            <a:xfrm rot="10800000">
              <a:off x="4832033" y="1922447"/>
              <a:ext cx="3119661" cy="1587"/>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p:cNvSpPr>
            <a:spLocks noGrp="1"/>
          </p:cNvSpPr>
          <p:nvPr>
            <p:ph type="title"/>
          </p:nvPr>
        </p:nvSpPr>
        <p:spPr/>
        <p:txBody>
          <a:bodyPr/>
          <a:lstStyle/>
          <a:p>
            <a:r>
              <a:rPr lang="en-US"/>
              <a:t>Click to edit Master title style</a:t>
            </a:r>
          </a:p>
        </p:txBody>
      </p:sp>
      <p:sp>
        <p:nvSpPr>
          <p:cNvPr id="8" name="Date Placeholder 3"/>
          <p:cNvSpPr>
            <a:spLocks noGrp="1"/>
          </p:cNvSpPr>
          <p:nvPr>
            <p:ph type="dt" sz="half" idx="10"/>
          </p:nvPr>
        </p:nvSpPr>
        <p:spPr/>
        <p:txBody>
          <a:bodyPr/>
          <a:lstStyle>
            <a:lvl1pPr>
              <a:defRPr/>
            </a:lvl1pPr>
          </a:lstStyle>
          <a:p>
            <a:pPr>
              <a:defRPr/>
            </a:pPr>
            <a:fld id="{CE4F82A4-A27A-4C66-A902-3A2DC7E9FFEB}" type="datetimeFigureOut">
              <a:rPr lang="fr-FR"/>
              <a:pPr>
                <a:defRPr/>
              </a:pPr>
              <a:t>22/10/2024</a:t>
            </a:fld>
            <a:endParaRPr lang="fr-FR"/>
          </a:p>
        </p:txBody>
      </p:sp>
      <p:sp>
        <p:nvSpPr>
          <p:cNvPr id="9" name="Footer Placeholder 4"/>
          <p:cNvSpPr>
            <a:spLocks noGrp="1"/>
          </p:cNvSpPr>
          <p:nvPr>
            <p:ph type="ftr" sz="quarter" idx="11"/>
          </p:nvPr>
        </p:nvSpPr>
        <p:spPr/>
        <p:txBody>
          <a:bodyPr/>
          <a:lstStyle>
            <a:lvl1pPr>
              <a:defRPr/>
            </a:lvl1pPr>
          </a:lstStyle>
          <a:p>
            <a:pPr>
              <a:defRPr/>
            </a:pPr>
            <a:endParaRPr lang="fr-FR"/>
          </a:p>
        </p:txBody>
      </p:sp>
      <p:sp>
        <p:nvSpPr>
          <p:cNvPr id="10" name="Slide Number Placeholder 5"/>
          <p:cNvSpPr>
            <a:spLocks noGrp="1"/>
          </p:cNvSpPr>
          <p:nvPr>
            <p:ph type="sldNum" sz="quarter" idx="12"/>
          </p:nvPr>
        </p:nvSpPr>
        <p:spPr/>
        <p:txBody>
          <a:bodyPr/>
          <a:lstStyle>
            <a:lvl1pPr>
              <a:defRPr/>
            </a:lvl1pPr>
          </a:lstStyle>
          <a:p>
            <a:pPr>
              <a:defRPr/>
            </a:pPr>
            <a:fld id="{95B28F4F-28AF-4CD1-8664-EFC152B58047}" type="slidenum">
              <a:rPr lang="fr-FR"/>
              <a:pPr>
                <a:defRPr/>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pic>
        <p:nvPicPr>
          <p:cNvPr id="4" name="Picture 11" descr="CoverOverlay.png"/>
          <p:cNvPicPr>
            <a:picLocks noChangeAspect="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grpSp>
        <p:nvGrpSpPr>
          <p:cNvPr id="5" name="Group 7"/>
          <p:cNvGrpSpPr>
            <a:grpSpLocks/>
          </p:cNvGrpSpPr>
          <p:nvPr/>
        </p:nvGrpSpPr>
        <p:grpSpPr bwMode="auto">
          <a:xfrm>
            <a:off x="1173163" y="2887663"/>
            <a:ext cx="6778625" cy="923925"/>
            <a:chOff x="1172584" y="1381459"/>
            <a:chExt cx="6779110" cy="923330"/>
          </a:xfrm>
        </p:grpSpPr>
        <p:sp>
          <p:nvSpPr>
            <p:cNvPr id="6" name="TextBox 8"/>
            <p:cNvSpPr txBox="1"/>
            <p:nvPr/>
          </p:nvSpPr>
          <p:spPr>
            <a:xfrm>
              <a:off x="4147772" y="1381459"/>
              <a:ext cx="876363" cy="923330"/>
            </a:xfrm>
            <a:prstGeom prst="rect">
              <a:avLst/>
            </a:prstGeom>
            <a:noFill/>
          </p:spPr>
          <p:txBody>
            <a:bodyPr wrap="none">
              <a:spAutoFit/>
            </a:bodyPr>
            <a:lstStyle/>
            <a:p>
              <a:pPr fontAlgn="auto">
                <a:spcBef>
                  <a:spcPts val="0"/>
                </a:spcBef>
                <a:spcAft>
                  <a:spcPts val="0"/>
                </a:spcAft>
                <a:defRPr/>
              </a:pPr>
              <a:r>
                <a:rPr lang="en-US" sz="5400" dirty="0">
                  <a:solidFill>
                    <a:schemeClr val="tx2">
                      <a:lumMod val="60000"/>
                      <a:lumOff val="40000"/>
                    </a:schemeClr>
                  </a:solidFill>
                  <a:latin typeface="Wingdings" pitchFamily="2" charset="2"/>
                  <a:cs typeface="+mn-cs"/>
                </a:rPr>
                <a:t></a:t>
              </a:r>
            </a:p>
          </p:txBody>
        </p:sp>
        <p:cxnSp>
          <p:nvCxnSpPr>
            <p:cNvPr id="7" name="Straight Connector 9"/>
            <p:cNvCxnSpPr/>
            <p:nvPr/>
          </p:nvCxnSpPr>
          <p:spPr>
            <a:xfrm rot="10800000">
              <a:off x="1172584" y="1925620"/>
              <a:ext cx="3119660" cy="1587"/>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8" name="Straight Connector 10"/>
            <p:cNvCxnSpPr/>
            <p:nvPr/>
          </p:nvCxnSpPr>
          <p:spPr>
            <a:xfrm rot="10800000">
              <a:off x="4832033" y="1927207"/>
              <a:ext cx="3119661" cy="1586"/>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Date Placeholder 3"/>
          <p:cNvSpPr>
            <a:spLocks noGrp="1"/>
          </p:cNvSpPr>
          <p:nvPr>
            <p:ph type="dt" sz="half" idx="10"/>
          </p:nvPr>
        </p:nvSpPr>
        <p:spPr/>
        <p:txBody>
          <a:bodyPr/>
          <a:lstStyle>
            <a:lvl1pPr>
              <a:defRPr/>
            </a:lvl1pPr>
          </a:lstStyle>
          <a:p>
            <a:pPr>
              <a:defRPr/>
            </a:pPr>
            <a:fld id="{2A8A03CF-0730-4884-BAFA-A2F507BA1EFB}" type="datetimeFigureOut">
              <a:rPr lang="fr-FR"/>
              <a:pPr>
                <a:defRPr/>
              </a:pPr>
              <a:t>22/10/2024</a:t>
            </a:fld>
            <a:endParaRPr lang="fr-FR"/>
          </a:p>
        </p:txBody>
      </p:sp>
      <p:sp>
        <p:nvSpPr>
          <p:cNvPr id="10" name="Footer Placeholder 4"/>
          <p:cNvSpPr>
            <a:spLocks noGrp="1"/>
          </p:cNvSpPr>
          <p:nvPr>
            <p:ph type="ftr" sz="quarter" idx="11"/>
          </p:nvPr>
        </p:nvSpPr>
        <p:spPr/>
        <p:txBody>
          <a:bodyPr/>
          <a:lstStyle>
            <a:lvl1pPr>
              <a:defRPr/>
            </a:lvl1pPr>
          </a:lstStyle>
          <a:p>
            <a:pPr>
              <a:defRPr/>
            </a:pPr>
            <a:endParaRPr lang="fr-FR"/>
          </a:p>
        </p:txBody>
      </p:sp>
      <p:sp>
        <p:nvSpPr>
          <p:cNvPr id="11" name="Slide Number Placeholder 5"/>
          <p:cNvSpPr>
            <a:spLocks noGrp="1"/>
          </p:cNvSpPr>
          <p:nvPr>
            <p:ph type="sldNum" sz="quarter" idx="12"/>
          </p:nvPr>
        </p:nvSpPr>
        <p:spPr/>
        <p:txBody>
          <a:bodyPr/>
          <a:lstStyle>
            <a:lvl1pPr>
              <a:defRPr/>
            </a:lvl1pPr>
          </a:lstStyle>
          <a:p>
            <a:pPr>
              <a:defRPr/>
            </a:pPr>
            <a:fld id="{CF35B37C-F12A-4902-B1C7-460CAC426511}" type="slidenum">
              <a:rPr lang="fr-FR"/>
              <a:pPr>
                <a:defRPr/>
              </a:pPr>
              <a:t>‹N°›</a:t>
            </a:fld>
            <a:endParaRPr lang="fr-F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5" name="Group 12"/>
          <p:cNvGrpSpPr>
            <a:grpSpLocks/>
          </p:cNvGrpSpPr>
          <p:nvPr/>
        </p:nvGrpSpPr>
        <p:grpSpPr bwMode="auto">
          <a:xfrm>
            <a:off x="1173163" y="1392238"/>
            <a:ext cx="6778625" cy="923925"/>
            <a:chOff x="1172584" y="1381459"/>
            <a:chExt cx="6779110" cy="923330"/>
          </a:xfrm>
        </p:grpSpPr>
        <p:sp>
          <p:nvSpPr>
            <p:cNvPr id="6" name="TextBox 13"/>
            <p:cNvSpPr txBox="1"/>
            <p:nvPr/>
          </p:nvSpPr>
          <p:spPr>
            <a:xfrm>
              <a:off x="4147772" y="1381459"/>
              <a:ext cx="876363" cy="923330"/>
            </a:xfrm>
            <a:prstGeom prst="rect">
              <a:avLst/>
            </a:prstGeom>
            <a:noFill/>
          </p:spPr>
          <p:txBody>
            <a:bodyPr wrap="none">
              <a:spAutoFit/>
            </a:bodyPr>
            <a:lstStyle/>
            <a:p>
              <a:pPr fontAlgn="auto">
                <a:spcBef>
                  <a:spcPts val="0"/>
                </a:spcBef>
                <a:spcAft>
                  <a:spcPts val="0"/>
                </a:spcAft>
                <a:defRPr/>
              </a:pPr>
              <a:r>
                <a:rPr lang="en-US" sz="5400" dirty="0">
                  <a:solidFill>
                    <a:schemeClr val="tx2">
                      <a:lumMod val="60000"/>
                      <a:lumOff val="40000"/>
                    </a:schemeClr>
                  </a:solidFill>
                  <a:latin typeface="Wingdings" pitchFamily="2" charset="2"/>
                  <a:cs typeface="+mn-cs"/>
                </a:rPr>
                <a:t></a:t>
              </a:r>
            </a:p>
          </p:txBody>
        </p:sp>
        <p:cxnSp>
          <p:nvCxnSpPr>
            <p:cNvPr id="7" name="Straight Connector 14"/>
            <p:cNvCxnSpPr/>
            <p:nvPr/>
          </p:nvCxnSpPr>
          <p:spPr>
            <a:xfrm rot="10800000">
              <a:off x="1172584" y="1925620"/>
              <a:ext cx="3119660" cy="1587"/>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9" name="Straight Connector 15"/>
            <p:cNvCxnSpPr/>
            <p:nvPr/>
          </p:nvCxnSpPr>
          <p:spPr>
            <a:xfrm rot="10800000">
              <a:off x="4832033" y="1922447"/>
              <a:ext cx="3119661" cy="1587"/>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12" name="Title 1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8" name="Content Placeholder 7"/>
          <p:cNvSpPr>
            <a:spLocks noGrp="1"/>
          </p:cNvSpPr>
          <p:nvPr>
            <p:ph sz="quarter" idx="13"/>
          </p:nvPr>
        </p:nvSpPr>
        <p:spPr>
          <a:xfrm>
            <a:off x="685800" y="2240280"/>
            <a:ext cx="3803904"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p:cNvSpPr>
            <a:spLocks noGrp="1"/>
          </p:cNvSpPr>
          <p:nvPr>
            <p:ph sz="quarter" idx="14"/>
          </p:nvPr>
        </p:nvSpPr>
        <p:spPr>
          <a:xfrm>
            <a:off x="4645151" y="2240280"/>
            <a:ext cx="3803904" cy="3877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4"/>
          <p:cNvSpPr>
            <a:spLocks noGrp="1"/>
          </p:cNvSpPr>
          <p:nvPr>
            <p:ph type="dt" sz="half" idx="15"/>
          </p:nvPr>
        </p:nvSpPr>
        <p:spPr/>
        <p:txBody>
          <a:bodyPr/>
          <a:lstStyle>
            <a:lvl1pPr>
              <a:defRPr/>
            </a:lvl1pPr>
          </a:lstStyle>
          <a:p>
            <a:pPr>
              <a:defRPr/>
            </a:pPr>
            <a:fld id="{27F11EF3-3B0C-494E-9FE8-872375278EAD}" type="datetimeFigureOut">
              <a:rPr lang="fr-FR"/>
              <a:pPr>
                <a:defRPr/>
              </a:pPr>
              <a:t>22/10/2024</a:t>
            </a:fld>
            <a:endParaRPr lang="fr-FR"/>
          </a:p>
        </p:txBody>
      </p:sp>
      <p:sp>
        <p:nvSpPr>
          <p:cNvPr id="13" name="Footer Placeholder 5"/>
          <p:cNvSpPr>
            <a:spLocks noGrp="1"/>
          </p:cNvSpPr>
          <p:nvPr>
            <p:ph type="ftr" sz="quarter" idx="16"/>
          </p:nvPr>
        </p:nvSpPr>
        <p:spPr/>
        <p:txBody>
          <a:bodyPr/>
          <a:lstStyle>
            <a:lvl1pPr>
              <a:defRPr/>
            </a:lvl1pPr>
          </a:lstStyle>
          <a:p>
            <a:pPr>
              <a:defRPr/>
            </a:pPr>
            <a:endParaRPr lang="fr-FR"/>
          </a:p>
        </p:txBody>
      </p:sp>
      <p:sp>
        <p:nvSpPr>
          <p:cNvPr id="14" name="Slide Number Placeholder 6"/>
          <p:cNvSpPr>
            <a:spLocks noGrp="1"/>
          </p:cNvSpPr>
          <p:nvPr>
            <p:ph type="sldNum" sz="quarter" idx="17"/>
          </p:nvPr>
        </p:nvSpPr>
        <p:spPr/>
        <p:txBody>
          <a:bodyPr/>
          <a:lstStyle>
            <a:lvl1pPr>
              <a:defRPr/>
            </a:lvl1pPr>
          </a:lstStyle>
          <a:p>
            <a:pPr>
              <a:defRPr/>
            </a:pPr>
            <a:fld id="{08EE8FD6-A6D9-416A-9FA9-76472BD33DEB}" type="slidenum">
              <a:rPr lang="fr-FR"/>
              <a:pPr>
                <a:defRPr/>
              </a:pPr>
              <a:t>‹N°›</a:t>
            </a:fld>
            <a:endParaRPr lang="fr-F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7" name="Group 13"/>
          <p:cNvGrpSpPr>
            <a:grpSpLocks/>
          </p:cNvGrpSpPr>
          <p:nvPr/>
        </p:nvGrpSpPr>
        <p:grpSpPr bwMode="auto">
          <a:xfrm>
            <a:off x="1173163" y="1392238"/>
            <a:ext cx="6778625" cy="923925"/>
            <a:chOff x="1172584" y="1381459"/>
            <a:chExt cx="6779110" cy="923330"/>
          </a:xfrm>
        </p:grpSpPr>
        <p:sp>
          <p:nvSpPr>
            <p:cNvPr id="8" name="TextBox 15"/>
            <p:cNvSpPr txBox="1"/>
            <p:nvPr/>
          </p:nvSpPr>
          <p:spPr>
            <a:xfrm>
              <a:off x="4147772" y="1381459"/>
              <a:ext cx="876363" cy="923330"/>
            </a:xfrm>
            <a:prstGeom prst="rect">
              <a:avLst/>
            </a:prstGeom>
            <a:noFill/>
          </p:spPr>
          <p:txBody>
            <a:bodyPr wrap="none">
              <a:spAutoFit/>
            </a:bodyPr>
            <a:lstStyle/>
            <a:p>
              <a:pPr fontAlgn="auto">
                <a:spcBef>
                  <a:spcPts val="0"/>
                </a:spcBef>
                <a:spcAft>
                  <a:spcPts val="0"/>
                </a:spcAft>
                <a:defRPr/>
              </a:pPr>
              <a:r>
                <a:rPr lang="en-US" sz="5400" dirty="0">
                  <a:solidFill>
                    <a:schemeClr val="tx2">
                      <a:lumMod val="60000"/>
                      <a:lumOff val="40000"/>
                    </a:schemeClr>
                  </a:solidFill>
                  <a:latin typeface="Wingdings" pitchFamily="2" charset="2"/>
                  <a:cs typeface="+mn-cs"/>
                </a:rPr>
                <a:t></a:t>
              </a:r>
            </a:p>
          </p:txBody>
        </p:sp>
        <p:cxnSp>
          <p:nvCxnSpPr>
            <p:cNvPr id="9" name="Straight Connector 16"/>
            <p:cNvCxnSpPr/>
            <p:nvPr/>
          </p:nvCxnSpPr>
          <p:spPr>
            <a:xfrm rot="10800000">
              <a:off x="1172584" y="1925620"/>
              <a:ext cx="3119660" cy="1587"/>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0" name="Straight Connector 17"/>
            <p:cNvCxnSpPr/>
            <p:nvPr/>
          </p:nvCxnSpPr>
          <p:spPr>
            <a:xfrm rot="10800000">
              <a:off x="4832033" y="1922447"/>
              <a:ext cx="3119661" cy="1587"/>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Date Placeholder 6"/>
          <p:cNvSpPr>
            <a:spLocks noGrp="1"/>
          </p:cNvSpPr>
          <p:nvPr>
            <p:ph type="dt" sz="half" idx="10"/>
          </p:nvPr>
        </p:nvSpPr>
        <p:spPr/>
        <p:txBody>
          <a:bodyPr/>
          <a:lstStyle>
            <a:lvl1pPr>
              <a:defRPr/>
            </a:lvl1pPr>
          </a:lstStyle>
          <a:p>
            <a:pPr>
              <a:defRPr/>
            </a:pPr>
            <a:fld id="{344B8DEA-205C-4F85-8A08-3B7F61508786}" type="datetimeFigureOut">
              <a:rPr lang="fr-FR"/>
              <a:pPr>
                <a:defRPr/>
              </a:pPr>
              <a:t>22/10/2024</a:t>
            </a:fld>
            <a:endParaRPr lang="fr-FR"/>
          </a:p>
        </p:txBody>
      </p:sp>
      <p:sp>
        <p:nvSpPr>
          <p:cNvPr id="12" name="Footer Placeholder 7"/>
          <p:cNvSpPr>
            <a:spLocks noGrp="1"/>
          </p:cNvSpPr>
          <p:nvPr>
            <p:ph type="ftr" sz="quarter" idx="11"/>
          </p:nvPr>
        </p:nvSpPr>
        <p:spPr/>
        <p:txBody>
          <a:bodyPr/>
          <a:lstStyle>
            <a:lvl1pPr>
              <a:defRPr/>
            </a:lvl1pPr>
          </a:lstStyle>
          <a:p>
            <a:pPr>
              <a:defRPr/>
            </a:pPr>
            <a:endParaRPr lang="fr-FR"/>
          </a:p>
        </p:txBody>
      </p:sp>
      <p:sp>
        <p:nvSpPr>
          <p:cNvPr id="13" name="Slide Number Placeholder 8"/>
          <p:cNvSpPr>
            <a:spLocks noGrp="1"/>
          </p:cNvSpPr>
          <p:nvPr>
            <p:ph type="sldNum" sz="quarter" idx="12"/>
          </p:nvPr>
        </p:nvSpPr>
        <p:spPr/>
        <p:txBody>
          <a:bodyPr/>
          <a:lstStyle>
            <a:lvl1pPr>
              <a:defRPr/>
            </a:lvl1pPr>
          </a:lstStyle>
          <a:p>
            <a:pPr>
              <a:defRPr/>
            </a:pPr>
            <a:fld id="{9736DE1D-BE82-4797-8723-B601282B3033}" type="slidenum">
              <a:rPr lang="fr-FR"/>
              <a:pPr>
                <a:defRPr/>
              </a:pPr>
              <a:t>‹N°›</a:t>
            </a:fld>
            <a:endParaRPr lang="fr-F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3" name="Group 9"/>
          <p:cNvGrpSpPr>
            <a:grpSpLocks/>
          </p:cNvGrpSpPr>
          <p:nvPr/>
        </p:nvGrpSpPr>
        <p:grpSpPr bwMode="auto">
          <a:xfrm>
            <a:off x="1173163" y="1392238"/>
            <a:ext cx="6778625" cy="923925"/>
            <a:chOff x="1172584" y="1381459"/>
            <a:chExt cx="6779110" cy="923330"/>
          </a:xfrm>
        </p:grpSpPr>
        <p:sp>
          <p:nvSpPr>
            <p:cNvPr id="4" name="TextBox 13"/>
            <p:cNvSpPr txBox="1"/>
            <p:nvPr/>
          </p:nvSpPr>
          <p:spPr>
            <a:xfrm>
              <a:off x="4147772" y="1381459"/>
              <a:ext cx="876363" cy="923330"/>
            </a:xfrm>
            <a:prstGeom prst="rect">
              <a:avLst/>
            </a:prstGeom>
            <a:noFill/>
          </p:spPr>
          <p:txBody>
            <a:bodyPr wrap="none">
              <a:spAutoFit/>
            </a:bodyPr>
            <a:lstStyle/>
            <a:p>
              <a:pPr fontAlgn="auto">
                <a:spcBef>
                  <a:spcPts val="0"/>
                </a:spcBef>
                <a:spcAft>
                  <a:spcPts val="0"/>
                </a:spcAft>
                <a:defRPr/>
              </a:pPr>
              <a:r>
                <a:rPr lang="en-US" sz="5400" dirty="0">
                  <a:solidFill>
                    <a:schemeClr val="tx2">
                      <a:lumMod val="60000"/>
                      <a:lumOff val="40000"/>
                    </a:schemeClr>
                  </a:solidFill>
                  <a:latin typeface="Wingdings" pitchFamily="2" charset="2"/>
                  <a:cs typeface="+mn-cs"/>
                </a:rPr>
                <a:t></a:t>
              </a:r>
            </a:p>
          </p:txBody>
        </p:sp>
        <p:cxnSp>
          <p:nvCxnSpPr>
            <p:cNvPr id="5" name="Straight Connector 14"/>
            <p:cNvCxnSpPr/>
            <p:nvPr/>
          </p:nvCxnSpPr>
          <p:spPr>
            <a:xfrm rot="10800000">
              <a:off x="1172584" y="1925620"/>
              <a:ext cx="3119660" cy="1587"/>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6" name="Straight Connector 15"/>
            <p:cNvCxnSpPr/>
            <p:nvPr/>
          </p:nvCxnSpPr>
          <p:spPr>
            <a:xfrm rot="10800000">
              <a:off x="4832033" y="1922447"/>
              <a:ext cx="3119661" cy="1587"/>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lvl1pPr>
              <a:defRPr/>
            </a:lvl1pPr>
          </a:lstStyle>
          <a:p>
            <a:pPr>
              <a:defRPr/>
            </a:pPr>
            <a:fld id="{B31E49F9-8C1C-4004-BCDA-C82805C84A9D}" type="datetimeFigureOut">
              <a:rPr lang="fr-FR"/>
              <a:pPr>
                <a:defRPr/>
              </a:pPr>
              <a:t>22/10/2024</a:t>
            </a:fld>
            <a:endParaRPr lang="fr-FR"/>
          </a:p>
        </p:txBody>
      </p:sp>
      <p:sp>
        <p:nvSpPr>
          <p:cNvPr id="8" name="Footer Placeholder 3"/>
          <p:cNvSpPr>
            <a:spLocks noGrp="1"/>
          </p:cNvSpPr>
          <p:nvPr>
            <p:ph type="ftr" sz="quarter" idx="11"/>
          </p:nvPr>
        </p:nvSpPr>
        <p:spPr/>
        <p:txBody>
          <a:bodyPr/>
          <a:lstStyle>
            <a:lvl1pPr>
              <a:defRPr/>
            </a:lvl1pPr>
          </a:lstStyle>
          <a:p>
            <a:pPr>
              <a:defRPr/>
            </a:pPr>
            <a:endParaRPr lang="fr-FR"/>
          </a:p>
        </p:txBody>
      </p:sp>
      <p:sp>
        <p:nvSpPr>
          <p:cNvPr id="9" name="Slide Number Placeholder 4"/>
          <p:cNvSpPr>
            <a:spLocks noGrp="1"/>
          </p:cNvSpPr>
          <p:nvPr>
            <p:ph type="sldNum" sz="quarter" idx="12"/>
          </p:nvPr>
        </p:nvSpPr>
        <p:spPr/>
        <p:txBody>
          <a:bodyPr/>
          <a:lstStyle>
            <a:lvl1pPr>
              <a:defRPr/>
            </a:lvl1pPr>
          </a:lstStyle>
          <a:p>
            <a:pPr>
              <a:defRPr/>
            </a:pPr>
            <a:fld id="{47652760-937D-4257-A41E-14D807C12F9E}" type="slidenum">
              <a:rPr lang="fr-FR"/>
              <a:pPr>
                <a:defRPr/>
              </a:pPr>
              <a:t>‹N°›</a:t>
            </a:fld>
            <a:endParaRPr lang="fr-F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497F3A5-21AC-4BE8-B1EE-D965D2424CA9}" type="datetimeFigureOut">
              <a:rPr lang="fr-FR"/>
              <a:pPr>
                <a:defRPr/>
              </a:pPr>
              <a:t>22/10/2024</a:t>
            </a:fld>
            <a:endParaRPr lang="fr-FR"/>
          </a:p>
        </p:txBody>
      </p:sp>
      <p:sp>
        <p:nvSpPr>
          <p:cNvPr id="3" name="Footer Placeholder 4"/>
          <p:cNvSpPr>
            <a:spLocks noGrp="1"/>
          </p:cNvSpPr>
          <p:nvPr>
            <p:ph type="ftr" sz="quarter" idx="11"/>
          </p:nvPr>
        </p:nvSpPr>
        <p:spPr/>
        <p:txBody>
          <a:bodyPr/>
          <a:lstStyle>
            <a:lvl1pPr>
              <a:defRPr/>
            </a:lvl1pPr>
          </a:lstStyle>
          <a:p>
            <a:pPr>
              <a:defRPr/>
            </a:pPr>
            <a:endParaRPr lang="fr-FR"/>
          </a:p>
        </p:txBody>
      </p:sp>
      <p:sp>
        <p:nvSpPr>
          <p:cNvPr id="4" name="Slide Number Placeholder 5"/>
          <p:cNvSpPr>
            <a:spLocks noGrp="1"/>
          </p:cNvSpPr>
          <p:nvPr>
            <p:ph type="sldNum" sz="quarter" idx="12"/>
          </p:nvPr>
        </p:nvSpPr>
        <p:spPr/>
        <p:txBody>
          <a:bodyPr/>
          <a:lstStyle>
            <a:lvl1pPr>
              <a:defRPr/>
            </a:lvl1pPr>
          </a:lstStyle>
          <a:p>
            <a:pPr>
              <a:defRPr/>
            </a:pPr>
            <a:fld id="{FBD69571-E9AD-412C-A132-94FA04AC57BF}" type="slidenum">
              <a:rPr lang="fr-FR"/>
              <a:pPr>
                <a:defRPr/>
              </a:pPr>
              <a:t>‹N°›</a:t>
            </a:fld>
            <a:endParaRPr lang="fr-F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a:t>Click to edit Master title style</a:t>
            </a:r>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F7CA9DB3-83B2-461C-8C27-ED2474CC8801}" type="datetimeFigureOut">
              <a:rPr lang="fr-FR"/>
              <a:pPr>
                <a:defRPr/>
              </a:pPr>
              <a:t>22/10/2024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p:txBody>
          <a:bodyPr/>
          <a:lstStyle>
            <a:lvl1pPr>
              <a:defRPr/>
            </a:lvl1pPr>
          </a:lstStyle>
          <a:p>
            <a:pPr>
              <a:defRPr/>
            </a:pPr>
            <a:fld id="{7CBC443D-CDB0-4BF6-A9AE-C80CCE2C60F7}" type="slidenum">
              <a:rPr lang="fr-FR"/>
              <a:pPr>
                <a:defRPr/>
              </a:pPr>
              <a:t>‹N°›</a:t>
            </a:fld>
            <a:endParaRPr lang="fr-F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a:t>Click to edit Master title style</a:t>
            </a:r>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67210F9-BF17-4AFA-989A-57D04E1D00BF}" type="datetimeFigureOut">
              <a:rPr lang="fr-FR"/>
              <a:pPr>
                <a:defRPr/>
              </a:pPr>
              <a:t>22/10/2024</a:t>
            </a:fld>
            <a:endParaRPr lang="fr-FR"/>
          </a:p>
        </p:txBody>
      </p:sp>
      <p:sp>
        <p:nvSpPr>
          <p:cNvPr id="6" name="Footer Placeholder 4"/>
          <p:cNvSpPr>
            <a:spLocks noGrp="1"/>
          </p:cNvSpPr>
          <p:nvPr>
            <p:ph type="ftr" sz="quarter" idx="11"/>
          </p:nvPr>
        </p:nvSpPr>
        <p:spPr/>
        <p:txBody>
          <a:bodyPr/>
          <a:lstStyle>
            <a:lvl1pPr>
              <a:defRPr/>
            </a:lvl1pPr>
          </a:lstStyle>
          <a:p>
            <a:pPr>
              <a:defRPr/>
            </a:pPr>
            <a:endParaRPr lang="fr-FR"/>
          </a:p>
        </p:txBody>
      </p:sp>
      <p:sp>
        <p:nvSpPr>
          <p:cNvPr id="7" name="Slide Number Placeholder 5"/>
          <p:cNvSpPr>
            <a:spLocks noGrp="1"/>
          </p:cNvSpPr>
          <p:nvPr>
            <p:ph type="sldNum" sz="quarter" idx="12"/>
          </p:nvPr>
        </p:nvSpPr>
        <p:spPr/>
        <p:txBody>
          <a:bodyPr/>
          <a:lstStyle>
            <a:lvl1pPr>
              <a:defRPr/>
            </a:lvl1pPr>
          </a:lstStyle>
          <a:p>
            <a:pPr>
              <a:defRPr/>
            </a:pPr>
            <a:fld id="{FB8750DD-1CBB-497B-8FEA-AEF58560F661}" type="slidenum">
              <a:rPr lang="fr-FR"/>
              <a:pPr>
                <a:defRPr/>
              </a:pPr>
              <a:t>‹N°›</a:t>
            </a:fld>
            <a:endParaRPr lang="fr-F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4" name="Group 10"/>
          <p:cNvGrpSpPr>
            <a:grpSpLocks/>
          </p:cNvGrpSpPr>
          <p:nvPr/>
        </p:nvGrpSpPr>
        <p:grpSpPr bwMode="auto">
          <a:xfrm>
            <a:off x="1173163" y="1392238"/>
            <a:ext cx="6778625" cy="923925"/>
            <a:chOff x="1172584" y="1381459"/>
            <a:chExt cx="6779110" cy="923330"/>
          </a:xfrm>
        </p:grpSpPr>
        <p:sp>
          <p:nvSpPr>
            <p:cNvPr id="5" name="TextBox 14"/>
            <p:cNvSpPr txBox="1"/>
            <p:nvPr/>
          </p:nvSpPr>
          <p:spPr>
            <a:xfrm>
              <a:off x="4147772" y="1381459"/>
              <a:ext cx="876363" cy="923330"/>
            </a:xfrm>
            <a:prstGeom prst="rect">
              <a:avLst/>
            </a:prstGeom>
            <a:noFill/>
          </p:spPr>
          <p:txBody>
            <a:bodyPr wrap="none">
              <a:spAutoFit/>
            </a:bodyPr>
            <a:lstStyle/>
            <a:p>
              <a:pPr fontAlgn="auto">
                <a:spcBef>
                  <a:spcPts val="0"/>
                </a:spcBef>
                <a:spcAft>
                  <a:spcPts val="0"/>
                </a:spcAft>
                <a:defRPr/>
              </a:pPr>
              <a:r>
                <a:rPr lang="en-US" sz="5400" dirty="0">
                  <a:solidFill>
                    <a:schemeClr val="tx2">
                      <a:lumMod val="60000"/>
                      <a:lumOff val="40000"/>
                    </a:schemeClr>
                  </a:solidFill>
                  <a:latin typeface="Wingdings" pitchFamily="2" charset="2"/>
                  <a:cs typeface="+mn-cs"/>
                </a:rPr>
                <a:t></a:t>
              </a:r>
            </a:p>
          </p:txBody>
        </p:sp>
        <p:cxnSp>
          <p:nvCxnSpPr>
            <p:cNvPr id="6" name="Straight Connector 15"/>
            <p:cNvCxnSpPr/>
            <p:nvPr/>
          </p:nvCxnSpPr>
          <p:spPr>
            <a:xfrm rot="10800000">
              <a:off x="1172584" y="1925620"/>
              <a:ext cx="3119660" cy="1587"/>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7" name="Straight Connector 16"/>
            <p:cNvCxnSpPr/>
            <p:nvPr/>
          </p:nvCxnSpPr>
          <p:spPr>
            <a:xfrm rot="10800000">
              <a:off x="4832033" y="1922447"/>
              <a:ext cx="3119661" cy="1587"/>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p:cNvSpPr>
            <a:spLocks noGrp="1"/>
          </p:cNvSpPr>
          <p:nvPr>
            <p:ph type="dt" sz="half" idx="10"/>
          </p:nvPr>
        </p:nvSpPr>
        <p:spPr/>
        <p:txBody>
          <a:bodyPr/>
          <a:lstStyle>
            <a:lvl1pPr>
              <a:defRPr/>
            </a:lvl1pPr>
          </a:lstStyle>
          <a:p>
            <a:pPr>
              <a:defRPr/>
            </a:pPr>
            <a:fld id="{A6732155-14F2-4C19-8943-65B9B65D0AA9}" type="datetimeFigureOut">
              <a:rPr lang="fr-FR"/>
              <a:pPr>
                <a:defRPr/>
              </a:pPr>
              <a:t>22/10/2024</a:t>
            </a:fld>
            <a:endParaRPr lang="fr-FR"/>
          </a:p>
        </p:txBody>
      </p:sp>
      <p:sp>
        <p:nvSpPr>
          <p:cNvPr id="9" name="Footer Placeholder 4"/>
          <p:cNvSpPr>
            <a:spLocks noGrp="1"/>
          </p:cNvSpPr>
          <p:nvPr>
            <p:ph type="ftr" sz="quarter" idx="11"/>
          </p:nvPr>
        </p:nvSpPr>
        <p:spPr/>
        <p:txBody>
          <a:bodyPr/>
          <a:lstStyle>
            <a:lvl1pPr>
              <a:defRPr/>
            </a:lvl1pPr>
          </a:lstStyle>
          <a:p>
            <a:pPr>
              <a:defRPr/>
            </a:pPr>
            <a:endParaRPr lang="fr-FR"/>
          </a:p>
        </p:txBody>
      </p:sp>
      <p:sp>
        <p:nvSpPr>
          <p:cNvPr id="10" name="Slide Number Placeholder 5"/>
          <p:cNvSpPr>
            <a:spLocks noGrp="1"/>
          </p:cNvSpPr>
          <p:nvPr>
            <p:ph type="sldNum" sz="quarter" idx="12"/>
          </p:nvPr>
        </p:nvSpPr>
        <p:spPr/>
        <p:txBody>
          <a:bodyPr/>
          <a:lstStyle>
            <a:lvl1pPr>
              <a:defRPr/>
            </a:lvl1pPr>
          </a:lstStyle>
          <a:p>
            <a:pPr>
              <a:defRPr/>
            </a:pPr>
            <a:fld id="{DE004CE0-BC24-4CE9-9F15-5C7F79137B45}" type="slidenum">
              <a:rPr lang="fr-FR"/>
              <a:pPr>
                <a:defRPr/>
              </a:pPr>
              <a:t>‹N°›</a:t>
            </a:fld>
            <a:endParaRPr lang="fr-F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10"/>
          <p:cNvGrpSpPr>
            <a:grpSpLocks/>
          </p:cNvGrpSpPr>
          <p:nvPr/>
        </p:nvGrpSpPr>
        <p:grpSpPr bwMode="auto">
          <a:xfrm rot="5400000">
            <a:off x="3908425" y="2881313"/>
            <a:ext cx="5481637" cy="922338"/>
            <a:chOff x="1815339" y="1381459"/>
            <a:chExt cx="5480154" cy="923330"/>
          </a:xfrm>
        </p:grpSpPr>
        <p:sp>
          <p:nvSpPr>
            <p:cNvPr id="5" name="TextBox 11"/>
            <p:cNvSpPr txBox="1"/>
            <p:nvPr/>
          </p:nvSpPr>
          <p:spPr>
            <a:xfrm>
              <a:off x="4146745" y="1381458"/>
              <a:ext cx="877650" cy="923330"/>
            </a:xfrm>
            <a:prstGeom prst="rect">
              <a:avLst/>
            </a:prstGeom>
            <a:noFill/>
          </p:spPr>
          <p:txBody>
            <a:bodyPr wrap="none">
              <a:spAutoFit/>
            </a:bodyPr>
            <a:lstStyle/>
            <a:p>
              <a:pPr fontAlgn="auto">
                <a:spcBef>
                  <a:spcPts val="0"/>
                </a:spcBef>
                <a:spcAft>
                  <a:spcPts val="0"/>
                </a:spcAft>
                <a:defRPr/>
              </a:pPr>
              <a:r>
                <a:rPr lang="en-US" sz="5400" dirty="0">
                  <a:solidFill>
                    <a:schemeClr val="tx2">
                      <a:lumMod val="60000"/>
                      <a:lumOff val="40000"/>
                    </a:schemeClr>
                  </a:solidFill>
                  <a:latin typeface="Wingdings" pitchFamily="2" charset="2"/>
                  <a:cs typeface="+mn-cs"/>
                </a:rPr>
                <a:t></a:t>
              </a:r>
            </a:p>
          </p:txBody>
        </p:sp>
        <p:cxnSp>
          <p:nvCxnSpPr>
            <p:cNvPr id="6" name="Straight Connector 12"/>
            <p:cNvCxnSpPr/>
            <p:nvPr/>
          </p:nvCxnSpPr>
          <p:spPr>
            <a:xfrm flipH="1" flipV="1">
              <a:off x="1815339" y="1924967"/>
              <a:ext cx="2469482" cy="1590"/>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7" name="Straight Connector 13"/>
            <p:cNvCxnSpPr/>
            <p:nvPr/>
          </p:nvCxnSpPr>
          <p:spPr>
            <a:xfrm rot="10800000">
              <a:off x="4826011" y="1928146"/>
              <a:ext cx="2469482" cy="1590"/>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Vertical Title 1"/>
          <p:cNvSpPr>
            <a:spLocks noGrp="1"/>
          </p:cNvSpPr>
          <p:nvPr>
            <p:ph type="title" orient="vert"/>
          </p:nvPr>
        </p:nvSpPr>
        <p:spPr>
          <a:xfrm>
            <a:off x="6766560" y="559398"/>
            <a:ext cx="1678193" cy="556676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3"/>
          <p:cNvSpPr>
            <a:spLocks noGrp="1"/>
          </p:cNvSpPr>
          <p:nvPr>
            <p:ph type="dt" sz="half" idx="10"/>
          </p:nvPr>
        </p:nvSpPr>
        <p:spPr/>
        <p:txBody>
          <a:bodyPr/>
          <a:lstStyle>
            <a:lvl1pPr>
              <a:defRPr/>
            </a:lvl1pPr>
          </a:lstStyle>
          <a:p>
            <a:pPr>
              <a:defRPr/>
            </a:pPr>
            <a:fld id="{3FD21FF3-5D89-402B-B2FC-0F96EF4B7568}" type="datetimeFigureOut">
              <a:rPr lang="fr-FR"/>
              <a:pPr>
                <a:defRPr/>
              </a:pPr>
              <a:t>22/10/2024</a:t>
            </a:fld>
            <a:endParaRPr lang="fr-FR"/>
          </a:p>
        </p:txBody>
      </p:sp>
      <p:sp>
        <p:nvSpPr>
          <p:cNvPr id="9" name="Footer Placeholder 4"/>
          <p:cNvSpPr>
            <a:spLocks noGrp="1"/>
          </p:cNvSpPr>
          <p:nvPr>
            <p:ph type="ftr" sz="quarter" idx="11"/>
          </p:nvPr>
        </p:nvSpPr>
        <p:spPr/>
        <p:txBody>
          <a:bodyPr/>
          <a:lstStyle>
            <a:lvl1pPr>
              <a:defRPr/>
            </a:lvl1pPr>
          </a:lstStyle>
          <a:p>
            <a:pPr>
              <a:defRPr/>
            </a:pPr>
            <a:endParaRPr lang="fr-FR"/>
          </a:p>
        </p:txBody>
      </p:sp>
      <p:sp>
        <p:nvSpPr>
          <p:cNvPr id="10" name="Slide Number Placeholder 5"/>
          <p:cNvSpPr>
            <a:spLocks noGrp="1"/>
          </p:cNvSpPr>
          <p:nvPr>
            <p:ph type="sldNum" sz="quarter" idx="12"/>
          </p:nvPr>
        </p:nvSpPr>
        <p:spPr/>
        <p:txBody>
          <a:bodyPr/>
          <a:lstStyle>
            <a:lvl1pPr>
              <a:defRPr/>
            </a:lvl1pPr>
          </a:lstStyle>
          <a:p>
            <a:pPr>
              <a:defRPr/>
            </a:pPr>
            <a:fld id="{DE4394F9-B678-4B8D-B91A-2A97443B29AB}" type="slidenum">
              <a:rPr lang="fr-FR"/>
              <a:pPr>
                <a:defRPr/>
              </a:pPr>
              <a:t>‹N°›</a:t>
            </a:fld>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29" name="Title Placeholder 1"/>
          <p:cNvSpPr>
            <a:spLocks noGrp="1"/>
          </p:cNvSpPr>
          <p:nvPr>
            <p:ph type="title"/>
          </p:nvPr>
        </p:nvSpPr>
        <p:spPr bwMode="auto">
          <a:xfrm>
            <a:off x="688975" y="569913"/>
            <a:ext cx="7756525" cy="10541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30" name="Text Placeholder 2"/>
          <p:cNvSpPr>
            <a:spLocks noGrp="1"/>
          </p:cNvSpPr>
          <p:nvPr>
            <p:ph type="body" idx="1"/>
          </p:nvPr>
        </p:nvSpPr>
        <p:spPr bwMode="auto">
          <a:xfrm>
            <a:off x="698500" y="2247900"/>
            <a:ext cx="7747000" cy="38782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60363" y="6161088"/>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2"/>
                </a:solidFill>
                <a:latin typeface="+mn-lt"/>
                <a:cs typeface="+mn-cs"/>
              </a:defRPr>
            </a:lvl1pPr>
          </a:lstStyle>
          <a:p>
            <a:pPr>
              <a:defRPr/>
            </a:pPr>
            <a:fld id="{7D3D6956-7280-47E4-ADEF-26215FE5358E}" type="datetimeFigureOut">
              <a:rPr lang="fr-FR"/>
              <a:pPr>
                <a:defRPr/>
              </a:pPr>
              <a:t>22/10/2024</a:t>
            </a:fld>
            <a:endParaRPr lang="fr-FR"/>
          </a:p>
        </p:txBody>
      </p:sp>
      <p:sp>
        <p:nvSpPr>
          <p:cNvPr id="5" name="Footer Placeholder 4"/>
          <p:cNvSpPr>
            <a:spLocks noGrp="1"/>
          </p:cNvSpPr>
          <p:nvPr>
            <p:ph type="ftr" sz="quarter" idx="3"/>
          </p:nvPr>
        </p:nvSpPr>
        <p:spPr>
          <a:xfrm>
            <a:off x="3124200" y="6161088"/>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2"/>
                </a:solidFill>
                <a:latin typeface="+mn-lt"/>
                <a:cs typeface="+mn-cs"/>
              </a:defRPr>
            </a:lvl1pPr>
          </a:lstStyle>
          <a:p>
            <a:pPr>
              <a:defRPr/>
            </a:pPr>
            <a:endParaRPr lang="fr-FR"/>
          </a:p>
        </p:txBody>
      </p:sp>
      <p:sp>
        <p:nvSpPr>
          <p:cNvPr id="6" name="Slide Number Placeholder 5"/>
          <p:cNvSpPr>
            <a:spLocks noGrp="1"/>
          </p:cNvSpPr>
          <p:nvPr>
            <p:ph type="sldNum" sz="quarter" idx="4"/>
          </p:nvPr>
        </p:nvSpPr>
        <p:spPr>
          <a:xfrm>
            <a:off x="6638925" y="6161088"/>
            <a:ext cx="2133600" cy="365125"/>
          </a:xfrm>
          <a:prstGeom prst="rect">
            <a:avLst/>
          </a:prstGeom>
        </p:spPr>
        <p:txBody>
          <a:bodyPr vert="horz" lIns="91440" tIns="45720" rIns="91440" bIns="45720" rtlCol="0" anchor="ctr"/>
          <a:lstStyle>
            <a:lvl1pPr algn="r" fontAlgn="auto">
              <a:spcBef>
                <a:spcPts val="0"/>
              </a:spcBef>
              <a:spcAft>
                <a:spcPts val="0"/>
              </a:spcAft>
              <a:defRPr sz="1200" smtClean="0">
                <a:solidFill>
                  <a:schemeClr val="tx2"/>
                </a:solidFill>
                <a:latin typeface="+mn-lt"/>
                <a:cs typeface="+mn-cs"/>
              </a:defRPr>
            </a:lvl1pPr>
          </a:lstStyle>
          <a:p>
            <a:pPr>
              <a:defRPr/>
            </a:pPr>
            <a:fld id="{A4C33066-2508-4156-8173-F9609B7D0DDD}" type="slidenum">
              <a:rPr lang="fr-FR"/>
              <a:pPr>
                <a:defRPr/>
              </a:pPr>
              <a:t>‹N°›</a:t>
            </a:fld>
            <a:endParaRPr lang="fr-FR"/>
          </a:p>
        </p:txBody>
      </p:sp>
    </p:spTree>
  </p:cSld>
  <p:clrMap bg1="lt1" tx1="dk1" bg2="lt2" tx2="dk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15" r:id="rId7"/>
    <p:sldLayoutId id="2147483814" r:id="rId8"/>
    <p:sldLayoutId id="2147483813" r:id="rId9"/>
    <p:sldLayoutId id="2147483822" r:id="rId10"/>
    <p:sldLayoutId id="2147483823" r:id="rId11"/>
  </p:sldLayoutIdLst>
  <p:txStyles>
    <p:titleStyle>
      <a:lvl1pPr algn="ctr" rtl="0" fontAlgn="base">
        <a:spcBef>
          <a:spcPct val="0"/>
        </a:spcBef>
        <a:spcAft>
          <a:spcPct val="0"/>
        </a:spcAft>
        <a:defRPr sz="5400" kern="1200">
          <a:solidFill>
            <a:schemeClr val="tx2"/>
          </a:solidFill>
          <a:latin typeface="+mj-lt"/>
          <a:ea typeface="+mj-ea"/>
          <a:cs typeface="+mj-cs"/>
        </a:defRPr>
      </a:lvl1pPr>
      <a:lvl2pPr algn="ctr" rtl="0" fontAlgn="base">
        <a:spcBef>
          <a:spcPct val="0"/>
        </a:spcBef>
        <a:spcAft>
          <a:spcPct val="0"/>
        </a:spcAft>
        <a:defRPr sz="5400">
          <a:solidFill>
            <a:schemeClr val="tx2"/>
          </a:solidFill>
          <a:latin typeface="Book Antiqua" pitchFamily="18" charset="0"/>
        </a:defRPr>
      </a:lvl2pPr>
      <a:lvl3pPr algn="ctr" rtl="0" fontAlgn="base">
        <a:spcBef>
          <a:spcPct val="0"/>
        </a:spcBef>
        <a:spcAft>
          <a:spcPct val="0"/>
        </a:spcAft>
        <a:defRPr sz="5400">
          <a:solidFill>
            <a:schemeClr val="tx2"/>
          </a:solidFill>
          <a:latin typeface="Book Antiqua" pitchFamily="18" charset="0"/>
        </a:defRPr>
      </a:lvl3pPr>
      <a:lvl4pPr algn="ctr" rtl="0" fontAlgn="base">
        <a:spcBef>
          <a:spcPct val="0"/>
        </a:spcBef>
        <a:spcAft>
          <a:spcPct val="0"/>
        </a:spcAft>
        <a:defRPr sz="5400">
          <a:solidFill>
            <a:schemeClr val="tx2"/>
          </a:solidFill>
          <a:latin typeface="Book Antiqua" pitchFamily="18" charset="0"/>
        </a:defRPr>
      </a:lvl4pPr>
      <a:lvl5pPr algn="ctr" rtl="0" fontAlgn="base">
        <a:spcBef>
          <a:spcPct val="0"/>
        </a:spcBef>
        <a:spcAft>
          <a:spcPct val="0"/>
        </a:spcAft>
        <a:defRPr sz="5400">
          <a:solidFill>
            <a:schemeClr val="tx2"/>
          </a:solidFill>
          <a:latin typeface="Book Antiqua" pitchFamily="18" charset="0"/>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125" indent="-365125" algn="l" rtl="0" fontAlgn="base">
        <a:spcBef>
          <a:spcPct val="20000"/>
        </a:spcBef>
        <a:spcAft>
          <a:spcPct val="0"/>
        </a:spcAft>
        <a:buClr>
          <a:schemeClr val="accent1"/>
        </a:buClr>
        <a:buFont typeface="Wingdings" pitchFamily="2" charset="2"/>
        <a:buChar char=""/>
        <a:defRPr sz="2400" kern="1200">
          <a:solidFill>
            <a:srgbClr val="262626"/>
          </a:solidFill>
          <a:latin typeface="+mn-lt"/>
          <a:ea typeface="+mn-ea"/>
          <a:cs typeface="+mn-cs"/>
        </a:defRPr>
      </a:lvl1pPr>
      <a:lvl2pPr marL="776288" indent="-365125" algn="l" rtl="0" fontAlgn="base">
        <a:spcBef>
          <a:spcPct val="20000"/>
        </a:spcBef>
        <a:spcAft>
          <a:spcPct val="0"/>
        </a:spcAft>
        <a:buClr>
          <a:schemeClr val="accent1"/>
        </a:buClr>
        <a:buFont typeface="Wingdings" pitchFamily="2" charset="2"/>
        <a:buChar char=""/>
        <a:defRPr sz="2200" kern="1200">
          <a:solidFill>
            <a:srgbClr val="262626"/>
          </a:solidFill>
          <a:latin typeface="+mn-lt"/>
          <a:ea typeface="+mn-ea"/>
          <a:cs typeface="+mn-cs"/>
        </a:defRPr>
      </a:lvl2pPr>
      <a:lvl3pPr marL="1143000" indent="-365125" algn="l" rtl="0" fontAlgn="base">
        <a:spcBef>
          <a:spcPct val="20000"/>
        </a:spcBef>
        <a:spcAft>
          <a:spcPct val="0"/>
        </a:spcAft>
        <a:buClr>
          <a:schemeClr val="accent1"/>
        </a:buClr>
        <a:buFont typeface="Wingdings" pitchFamily="2" charset="2"/>
        <a:buChar char=""/>
        <a:defRPr sz="2000" kern="1200">
          <a:solidFill>
            <a:srgbClr val="262626"/>
          </a:solidFill>
          <a:latin typeface="+mn-lt"/>
          <a:ea typeface="+mn-ea"/>
          <a:cs typeface="+mn-cs"/>
        </a:defRPr>
      </a:lvl3pPr>
      <a:lvl4pPr marL="1508125" indent="-319088" algn="l" rtl="0" fontAlgn="base">
        <a:spcBef>
          <a:spcPct val="20000"/>
        </a:spcBef>
        <a:spcAft>
          <a:spcPct val="0"/>
        </a:spcAft>
        <a:buClr>
          <a:schemeClr val="accent1"/>
        </a:buClr>
        <a:buFont typeface="Wingdings" pitchFamily="2" charset="2"/>
        <a:buChar char=""/>
        <a:defRPr kern="1200">
          <a:solidFill>
            <a:srgbClr val="262626"/>
          </a:solidFill>
          <a:latin typeface="+mn-lt"/>
          <a:ea typeface="+mn-ea"/>
          <a:cs typeface="+mn-cs"/>
        </a:defRPr>
      </a:lvl4pPr>
      <a:lvl5pPr marL="1828800" indent="-319088" algn="l" rtl="0" fontAlgn="base">
        <a:spcBef>
          <a:spcPct val="20000"/>
        </a:spcBef>
        <a:spcAft>
          <a:spcPct val="0"/>
        </a:spcAft>
        <a:buClr>
          <a:schemeClr val="accent1"/>
        </a:buClr>
        <a:buFont typeface="Wingdings" pitchFamily="2" charset="2"/>
        <a:buChar char=""/>
        <a:defRPr sz="1600" kern="1200">
          <a:solidFill>
            <a:srgbClr val="262626"/>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emf"/><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rtlCol="0">
            <a:noAutofit/>
          </a:bodyPr>
          <a:lstStyle/>
          <a:p>
            <a:pPr fontAlgn="auto">
              <a:spcAft>
                <a:spcPts val="0"/>
              </a:spcAft>
              <a:defRPr/>
            </a:pPr>
            <a:r>
              <a:rPr lang="fr-FR" sz="6000" dirty="0"/>
              <a:t>LE CLUSTERING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Content Placeholder 2"/>
          <p:cNvSpPr>
            <a:spLocks noGrp="1"/>
          </p:cNvSpPr>
          <p:nvPr>
            <p:ph idx="1"/>
          </p:nvPr>
        </p:nvSpPr>
        <p:spPr>
          <a:xfrm>
            <a:off x="250825" y="2060575"/>
            <a:ext cx="8713788" cy="4537075"/>
          </a:xfrm>
        </p:spPr>
        <p:txBody>
          <a:bodyPr/>
          <a:lstStyle/>
          <a:p>
            <a:r>
              <a:rPr lang="fr-FR"/>
              <a:t>Le Clustering (la segmentation) est l’opération qui consiste à regrouper les individus d’une population en un nombre limité de groupes</a:t>
            </a:r>
          </a:p>
          <a:p>
            <a:r>
              <a:rPr lang="fr-FR" altLang="fr-FR"/>
              <a:t>Le Clustering est </a:t>
            </a:r>
            <a:r>
              <a:rPr lang="fr-FR" altLang="fr-FR">
                <a:solidFill>
                  <a:schemeClr val="hlink"/>
                </a:solidFill>
              </a:rPr>
              <a:t>de la classification non supervisée</a:t>
            </a:r>
            <a:r>
              <a:rPr lang="fr-FR" altLang="fr-FR"/>
              <a:t>: pas de classes prédéfinies</a:t>
            </a:r>
            <a:endParaRPr lang="fr-FR"/>
          </a:p>
          <a:p>
            <a:r>
              <a:rPr lang="fr-FR" altLang="fr-FR"/>
              <a:t>Le Clustering: construire une collection d’objets</a:t>
            </a:r>
          </a:p>
          <a:p>
            <a:pPr lvl="1"/>
            <a:r>
              <a:rPr lang="fr-FR" altLang="fr-FR"/>
              <a:t>Similaires au sein d’un même groupe (</a:t>
            </a:r>
            <a:r>
              <a:rPr lang="fr-FR"/>
              <a:t>homogénéité interne)</a:t>
            </a:r>
            <a:endParaRPr lang="fr-FR" altLang="fr-FR"/>
          </a:p>
          <a:p>
            <a:pPr lvl="1"/>
            <a:r>
              <a:rPr lang="fr-FR" altLang="fr-FR"/>
              <a:t>Dissimilaires quand ils appartiennent à des groupes différents (</a:t>
            </a:r>
            <a:r>
              <a:rPr lang="fr-FR"/>
              <a:t>hétérogénéité externe)</a:t>
            </a:r>
            <a:endParaRPr lang="fr-FR" altLang="fr-FR"/>
          </a:p>
          <a:p>
            <a:endParaRPr lang="fr-FR"/>
          </a:p>
        </p:txBody>
      </p:sp>
      <p:sp>
        <p:nvSpPr>
          <p:cNvPr id="15362" name="Title 1"/>
          <p:cNvSpPr>
            <a:spLocks noGrp="1"/>
          </p:cNvSpPr>
          <p:nvPr>
            <p:ph type="title"/>
          </p:nvPr>
        </p:nvSpPr>
        <p:spPr/>
        <p:txBody>
          <a:bodyPr/>
          <a:lstStyle/>
          <a:p>
            <a:r>
              <a:rPr lang="fr-FR"/>
              <a:t>DEFINITION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Content Placeholder 1"/>
          <p:cNvSpPr>
            <a:spLocks noGrp="1"/>
          </p:cNvSpPr>
          <p:nvPr>
            <p:ph idx="1"/>
          </p:nvPr>
        </p:nvSpPr>
        <p:spPr>
          <a:xfrm>
            <a:off x="179388" y="1989138"/>
            <a:ext cx="8856662" cy="4752975"/>
          </a:xfrm>
        </p:spPr>
        <p:txBody>
          <a:bodyPr/>
          <a:lstStyle/>
          <a:p>
            <a:pPr>
              <a:lnSpc>
                <a:spcPct val="120000"/>
              </a:lnSpc>
            </a:pPr>
            <a:r>
              <a:rPr lang="fr-FR" altLang="fr-FR"/>
              <a:t>Une bonne méthode de regroupement permet de garantir</a:t>
            </a:r>
          </a:p>
          <a:p>
            <a:pPr lvl="1">
              <a:lnSpc>
                <a:spcPct val="120000"/>
              </a:lnSpc>
            </a:pPr>
            <a:r>
              <a:rPr lang="fr-FR" altLang="fr-FR"/>
              <a:t>Une grande similarité intra-groupe</a:t>
            </a:r>
          </a:p>
          <a:p>
            <a:pPr lvl="1">
              <a:lnSpc>
                <a:spcPct val="120000"/>
              </a:lnSpc>
            </a:pPr>
            <a:r>
              <a:rPr lang="fr-FR" altLang="fr-FR"/>
              <a:t>Une faible similarité inter-groupe</a:t>
            </a:r>
          </a:p>
          <a:p>
            <a:endParaRPr lang="fr-FR"/>
          </a:p>
        </p:txBody>
      </p:sp>
      <p:sp>
        <p:nvSpPr>
          <p:cNvPr id="16386" name="Title 2"/>
          <p:cNvSpPr>
            <a:spLocks noGrp="1"/>
          </p:cNvSpPr>
          <p:nvPr>
            <p:ph type="title"/>
          </p:nvPr>
        </p:nvSpPr>
        <p:spPr/>
        <p:txBody>
          <a:bodyPr/>
          <a:lstStyle/>
          <a:p>
            <a:r>
              <a:rPr lang="fr-FR" altLang="fr-FR" sz="4400"/>
              <a:t>Qu’est ce qu’un bon  clustering ?</a:t>
            </a:r>
            <a:endParaRPr lang="fr-FR" sz="4400"/>
          </a:p>
        </p:txBody>
      </p:sp>
      <p:pic>
        <p:nvPicPr>
          <p:cNvPr id="4" name="Image 7"/>
          <p:cNvPicPr/>
          <p:nvPr/>
        </p:nvPicPr>
        <p:blipFill>
          <a:blip r:embed="rId2" cstate="print"/>
          <a:stretch>
            <a:fillRect/>
          </a:stretch>
        </p:blipFill>
        <p:spPr>
          <a:xfrm>
            <a:off x="684213" y="3429000"/>
            <a:ext cx="7704137" cy="3168650"/>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Content Placeholder 1"/>
          <p:cNvSpPr>
            <a:spLocks noGrp="1"/>
          </p:cNvSpPr>
          <p:nvPr>
            <p:ph idx="1"/>
          </p:nvPr>
        </p:nvSpPr>
        <p:spPr/>
        <p:txBody>
          <a:bodyPr/>
          <a:lstStyle/>
          <a:p>
            <a:r>
              <a:rPr lang="fr-FR"/>
              <a:t>Le Clustering s’applique dans plusieurs domaines dont suivants :</a:t>
            </a:r>
          </a:p>
        </p:txBody>
      </p:sp>
      <p:sp>
        <p:nvSpPr>
          <p:cNvPr id="17410" name="Title 2"/>
          <p:cNvSpPr>
            <a:spLocks noGrp="1"/>
          </p:cNvSpPr>
          <p:nvPr>
            <p:ph type="title"/>
          </p:nvPr>
        </p:nvSpPr>
        <p:spPr/>
        <p:txBody>
          <a:bodyPr/>
          <a:lstStyle/>
          <a:p>
            <a:br>
              <a:rPr lang="fr-FR" sz="4400" b="1"/>
            </a:br>
            <a:r>
              <a:rPr lang="fr-FR" sz="4400" b="1"/>
              <a:t>Domaines d’application :</a:t>
            </a:r>
            <a:r>
              <a:rPr lang="fr-FR" sz="4400"/>
              <a:t> </a:t>
            </a:r>
            <a:br>
              <a:rPr lang="fr-FR"/>
            </a:br>
            <a:endParaRPr lang="fr-FR"/>
          </a:p>
        </p:txBody>
      </p:sp>
      <p:graphicFrame>
        <p:nvGraphicFramePr>
          <p:cNvPr id="4" name="Table 3"/>
          <p:cNvGraphicFramePr>
            <a:graphicFrameLocks noGrp="1"/>
          </p:cNvGraphicFramePr>
          <p:nvPr/>
        </p:nvGraphicFramePr>
        <p:xfrm>
          <a:off x="611188" y="3068638"/>
          <a:ext cx="7776863" cy="3384374"/>
        </p:xfrm>
        <a:graphic>
          <a:graphicData uri="http://schemas.openxmlformats.org/drawingml/2006/table">
            <a:tbl>
              <a:tblPr firstRow="1" firstCol="1" bandRow="1">
                <a:tableStyleId>{5C22544A-7EE6-4342-B048-85BDC9FD1C3A}</a:tableStyleId>
              </a:tblPr>
              <a:tblGrid>
                <a:gridCol w="2591725">
                  <a:extLst>
                    <a:ext uri="{9D8B030D-6E8A-4147-A177-3AD203B41FA5}">
                      <a16:colId xmlns:a16="http://schemas.microsoft.com/office/drawing/2014/main" val="20000"/>
                    </a:ext>
                  </a:extLst>
                </a:gridCol>
                <a:gridCol w="2592569">
                  <a:extLst>
                    <a:ext uri="{9D8B030D-6E8A-4147-A177-3AD203B41FA5}">
                      <a16:colId xmlns:a16="http://schemas.microsoft.com/office/drawing/2014/main" val="20001"/>
                    </a:ext>
                  </a:extLst>
                </a:gridCol>
                <a:gridCol w="2592569">
                  <a:extLst>
                    <a:ext uri="{9D8B030D-6E8A-4147-A177-3AD203B41FA5}">
                      <a16:colId xmlns:a16="http://schemas.microsoft.com/office/drawing/2014/main" val="20002"/>
                    </a:ext>
                  </a:extLst>
                </a:gridCol>
              </a:tblGrid>
              <a:tr h="331856">
                <a:tc>
                  <a:txBody>
                    <a:bodyPr/>
                    <a:lstStyle/>
                    <a:p>
                      <a:pPr algn="ctr">
                        <a:lnSpc>
                          <a:spcPct val="115000"/>
                        </a:lnSpc>
                        <a:spcAft>
                          <a:spcPts val="0"/>
                        </a:spcAft>
                      </a:pPr>
                      <a:r>
                        <a:rPr lang="fr-FR" sz="1800" dirty="0">
                          <a:effectLst/>
                        </a:rPr>
                        <a:t>Domaine</a:t>
                      </a:r>
                      <a:endParaRPr lang="fr-FR" sz="1400" dirty="0">
                        <a:effectLst/>
                        <a:latin typeface="Calibri"/>
                        <a:ea typeface="Calibri"/>
                        <a:cs typeface="Arial"/>
                      </a:endParaRPr>
                    </a:p>
                  </a:txBody>
                  <a:tcPr marL="68580" marR="68580" marT="0" marB="0"/>
                </a:tc>
                <a:tc>
                  <a:txBody>
                    <a:bodyPr/>
                    <a:lstStyle/>
                    <a:p>
                      <a:pPr algn="ctr">
                        <a:lnSpc>
                          <a:spcPct val="115000"/>
                        </a:lnSpc>
                        <a:spcAft>
                          <a:spcPts val="0"/>
                        </a:spcAft>
                      </a:pPr>
                      <a:r>
                        <a:rPr lang="fr-FR" sz="1800">
                          <a:effectLst/>
                        </a:rPr>
                        <a:t>Forme des données</a:t>
                      </a:r>
                      <a:endParaRPr lang="fr-FR" sz="1400">
                        <a:effectLst/>
                        <a:latin typeface="Calibri"/>
                        <a:ea typeface="Calibri"/>
                        <a:cs typeface="Arial"/>
                      </a:endParaRPr>
                    </a:p>
                  </a:txBody>
                  <a:tcPr marL="68580" marR="68580" marT="0" marB="0"/>
                </a:tc>
                <a:tc>
                  <a:txBody>
                    <a:bodyPr/>
                    <a:lstStyle/>
                    <a:p>
                      <a:pPr algn="ctr">
                        <a:lnSpc>
                          <a:spcPct val="115000"/>
                        </a:lnSpc>
                        <a:spcAft>
                          <a:spcPts val="0"/>
                        </a:spcAft>
                      </a:pPr>
                      <a:r>
                        <a:rPr lang="fr-FR" sz="1800">
                          <a:effectLst/>
                        </a:rPr>
                        <a:t>Clusters</a:t>
                      </a:r>
                      <a:endParaRPr lang="fr-FR" sz="1400">
                        <a:effectLst/>
                        <a:latin typeface="Calibri"/>
                        <a:ea typeface="Calibri"/>
                        <a:cs typeface="Arial"/>
                      </a:endParaRPr>
                    </a:p>
                  </a:txBody>
                  <a:tcPr marL="68580" marR="68580" marT="0" marB="0"/>
                </a:tc>
                <a:extLst>
                  <a:ext uri="{0D108BD9-81ED-4DB2-BD59-A6C34878D82A}">
                    <a16:rowId xmlns:a16="http://schemas.microsoft.com/office/drawing/2014/main" val="10000"/>
                  </a:ext>
                </a:extLst>
              </a:tr>
              <a:tr h="684650">
                <a:tc>
                  <a:txBody>
                    <a:bodyPr/>
                    <a:lstStyle/>
                    <a:p>
                      <a:pPr algn="ctr">
                        <a:lnSpc>
                          <a:spcPct val="115000"/>
                        </a:lnSpc>
                        <a:spcAft>
                          <a:spcPts val="0"/>
                        </a:spcAft>
                      </a:pPr>
                      <a:r>
                        <a:rPr lang="fr-FR" sz="1800" dirty="0" err="1">
                          <a:effectLst/>
                        </a:rPr>
                        <a:t>Text</a:t>
                      </a:r>
                      <a:r>
                        <a:rPr lang="fr-FR" sz="1800" dirty="0">
                          <a:effectLst/>
                        </a:rPr>
                        <a:t> </a:t>
                      </a:r>
                      <a:r>
                        <a:rPr lang="fr-FR" sz="1800" dirty="0" err="1">
                          <a:effectLst/>
                        </a:rPr>
                        <a:t>mining</a:t>
                      </a:r>
                      <a:endParaRPr lang="fr-FR" sz="1400" dirty="0">
                        <a:effectLst/>
                        <a:latin typeface="Calibri"/>
                        <a:ea typeface="Calibri"/>
                        <a:cs typeface="Arial"/>
                      </a:endParaRPr>
                    </a:p>
                  </a:txBody>
                  <a:tcPr marL="68580" marR="68580" marT="0" marB="0"/>
                </a:tc>
                <a:tc>
                  <a:txBody>
                    <a:bodyPr/>
                    <a:lstStyle/>
                    <a:p>
                      <a:pPr algn="ctr">
                        <a:lnSpc>
                          <a:spcPct val="115000"/>
                        </a:lnSpc>
                        <a:spcAft>
                          <a:spcPts val="0"/>
                        </a:spcAft>
                      </a:pPr>
                      <a:r>
                        <a:rPr lang="fr-FR" sz="1800" dirty="0">
                          <a:effectLst/>
                        </a:rPr>
                        <a:t>Textes</a:t>
                      </a:r>
                      <a:endParaRPr lang="fr-FR" sz="1400" dirty="0">
                        <a:effectLst/>
                      </a:endParaRPr>
                    </a:p>
                    <a:p>
                      <a:pPr algn="ctr">
                        <a:lnSpc>
                          <a:spcPct val="115000"/>
                        </a:lnSpc>
                        <a:spcAft>
                          <a:spcPts val="0"/>
                        </a:spcAft>
                      </a:pPr>
                      <a:r>
                        <a:rPr lang="fr-FR" sz="1800" dirty="0">
                          <a:effectLst/>
                        </a:rPr>
                        <a:t>Mails</a:t>
                      </a:r>
                      <a:endParaRPr lang="fr-FR" sz="1400" dirty="0">
                        <a:effectLst/>
                        <a:latin typeface="Calibri"/>
                        <a:ea typeface="Calibri"/>
                        <a:cs typeface="Arial"/>
                      </a:endParaRPr>
                    </a:p>
                  </a:txBody>
                  <a:tcPr marL="68580" marR="68580" marT="0" marB="0"/>
                </a:tc>
                <a:tc>
                  <a:txBody>
                    <a:bodyPr/>
                    <a:lstStyle/>
                    <a:p>
                      <a:pPr algn="ctr">
                        <a:lnSpc>
                          <a:spcPct val="115000"/>
                        </a:lnSpc>
                        <a:spcAft>
                          <a:spcPts val="0"/>
                        </a:spcAft>
                      </a:pPr>
                      <a:r>
                        <a:rPr lang="fr-FR" sz="1800">
                          <a:effectLst/>
                        </a:rPr>
                        <a:t>Textes proches</a:t>
                      </a:r>
                      <a:endParaRPr lang="fr-FR" sz="1400">
                        <a:effectLst/>
                      </a:endParaRPr>
                    </a:p>
                    <a:p>
                      <a:pPr algn="ctr">
                        <a:lnSpc>
                          <a:spcPct val="115000"/>
                        </a:lnSpc>
                        <a:spcAft>
                          <a:spcPts val="0"/>
                        </a:spcAft>
                      </a:pPr>
                      <a:r>
                        <a:rPr lang="fr-FR" sz="1800">
                          <a:effectLst/>
                        </a:rPr>
                        <a:t>dossiers automatiques</a:t>
                      </a:r>
                      <a:endParaRPr lang="fr-FR" sz="1400">
                        <a:effectLst/>
                        <a:latin typeface="Calibri"/>
                        <a:ea typeface="Calibri"/>
                        <a:cs typeface="Arial"/>
                      </a:endParaRPr>
                    </a:p>
                  </a:txBody>
                  <a:tcPr marL="68580" marR="68580" marT="0" marB="0"/>
                </a:tc>
                <a:extLst>
                  <a:ext uri="{0D108BD9-81ED-4DB2-BD59-A6C34878D82A}">
                    <a16:rowId xmlns:a16="http://schemas.microsoft.com/office/drawing/2014/main" val="10001"/>
                  </a:ext>
                </a:extLst>
              </a:tr>
              <a:tr h="332856">
                <a:tc>
                  <a:txBody>
                    <a:bodyPr/>
                    <a:lstStyle/>
                    <a:p>
                      <a:pPr algn="ctr">
                        <a:lnSpc>
                          <a:spcPct val="115000"/>
                        </a:lnSpc>
                        <a:spcAft>
                          <a:spcPts val="0"/>
                        </a:spcAft>
                      </a:pPr>
                      <a:r>
                        <a:rPr lang="fr-FR" sz="1800" dirty="0">
                          <a:effectLst/>
                        </a:rPr>
                        <a:t>web </a:t>
                      </a:r>
                      <a:r>
                        <a:rPr lang="fr-FR" sz="1800" dirty="0" err="1">
                          <a:effectLst/>
                        </a:rPr>
                        <a:t>mining</a:t>
                      </a:r>
                      <a:endParaRPr lang="fr-FR" sz="1400" dirty="0">
                        <a:effectLst/>
                        <a:latin typeface="Calibri"/>
                        <a:ea typeface="Calibri"/>
                        <a:cs typeface="Arial"/>
                      </a:endParaRPr>
                    </a:p>
                  </a:txBody>
                  <a:tcPr marL="68580" marR="68580" marT="0" marB="0"/>
                </a:tc>
                <a:tc>
                  <a:txBody>
                    <a:bodyPr/>
                    <a:lstStyle/>
                    <a:p>
                      <a:pPr algn="ctr">
                        <a:lnSpc>
                          <a:spcPct val="115000"/>
                        </a:lnSpc>
                        <a:spcAft>
                          <a:spcPts val="0"/>
                        </a:spcAft>
                      </a:pPr>
                      <a:r>
                        <a:rPr lang="fr-FR" sz="1800" dirty="0">
                          <a:effectLst/>
                        </a:rPr>
                        <a:t>Textes et images</a:t>
                      </a:r>
                      <a:endParaRPr lang="fr-FR" sz="1400" dirty="0">
                        <a:effectLst/>
                        <a:latin typeface="Calibri"/>
                        <a:ea typeface="Calibri"/>
                        <a:cs typeface="Arial"/>
                      </a:endParaRPr>
                    </a:p>
                  </a:txBody>
                  <a:tcPr marL="68580" marR="68580" marT="0" marB="0"/>
                </a:tc>
                <a:tc>
                  <a:txBody>
                    <a:bodyPr/>
                    <a:lstStyle/>
                    <a:p>
                      <a:pPr algn="ctr">
                        <a:lnSpc>
                          <a:spcPct val="115000"/>
                        </a:lnSpc>
                        <a:spcAft>
                          <a:spcPts val="0"/>
                        </a:spcAft>
                      </a:pPr>
                      <a:r>
                        <a:rPr lang="fr-FR" sz="1800">
                          <a:effectLst/>
                        </a:rPr>
                        <a:t>pages web proches</a:t>
                      </a:r>
                      <a:endParaRPr lang="fr-FR" sz="1400">
                        <a:effectLst/>
                        <a:latin typeface="Calibri"/>
                        <a:ea typeface="Calibri"/>
                        <a:cs typeface="Arial"/>
                      </a:endParaRPr>
                    </a:p>
                  </a:txBody>
                  <a:tcPr marL="68580" marR="68580" marT="0" marB="0"/>
                </a:tc>
                <a:extLst>
                  <a:ext uri="{0D108BD9-81ED-4DB2-BD59-A6C34878D82A}">
                    <a16:rowId xmlns:a16="http://schemas.microsoft.com/office/drawing/2014/main" val="10002"/>
                  </a:ext>
                </a:extLst>
              </a:tr>
              <a:tr h="332856">
                <a:tc>
                  <a:txBody>
                    <a:bodyPr/>
                    <a:lstStyle/>
                    <a:p>
                      <a:pPr algn="ctr">
                        <a:lnSpc>
                          <a:spcPct val="115000"/>
                        </a:lnSpc>
                        <a:spcAft>
                          <a:spcPts val="0"/>
                        </a:spcAft>
                      </a:pPr>
                      <a:r>
                        <a:rPr lang="fr-FR" sz="1800">
                          <a:effectLst/>
                        </a:rPr>
                        <a:t>bioInformatique</a:t>
                      </a:r>
                      <a:endParaRPr lang="fr-FR" sz="1400">
                        <a:effectLst/>
                        <a:latin typeface="Calibri"/>
                        <a:ea typeface="Calibri"/>
                        <a:cs typeface="Arial"/>
                      </a:endParaRPr>
                    </a:p>
                  </a:txBody>
                  <a:tcPr marL="68580" marR="68580" marT="0" marB="0"/>
                </a:tc>
                <a:tc>
                  <a:txBody>
                    <a:bodyPr/>
                    <a:lstStyle/>
                    <a:p>
                      <a:pPr algn="ctr">
                        <a:lnSpc>
                          <a:spcPct val="115000"/>
                        </a:lnSpc>
                        <a:spcAft>
                          <a:spcPts val="0"/>
                        </a:spcAft>
                      </a:pPr>
                      <a:r>
                        <a:rPr lang="fr-FR" sz="1800" dirty="0">
                          <a:effectLst/>
                        </a:rPr>
                        <a:t>Gènes</a:t>
                      </a:r>
                      <a:endParaRPr lang="fr-FR" sz="1400" dirty="0">
                        <a:effectLst/>
                        <a:latin typeface="Calibri"/>
                        <a:ea typeface="Calibri"/>
                        <a:cs typeface="Arial"/>
                      </a:endParaRPr>
                    </a:p>
                  </a:txBody>
                  <a:tcPr marL="68580" marR="68580" marT="0" marB="0"/>
                </a:tc>
                <a:tc>
                  <a:txBody>
                    <a:bodyPr/>
                    <a:lstStyle/>
                    <a:p>
                      <a:pPr algn="ctr">
                        <a:lnSpc>
                          <a:spcPct val="115000"/>
                        </a:lnSpc>
                        <a:spcAft>
                          <a:spcPts val="0"/>
                        </a:spcAft>
                      </a:pPr>
                      <a:r>
                        <a:rPr lang="fr-FR" sz="1800">
                          <a:effectLst/>
                        </a:rPr>
                        <a:t>Gènes ressemblants</a:t>
                      </a:r>
                      <a:endParaRPr lang="fr-FR" sz="1400">
                        <a:effectLst/>
                        <a:latin typeface="Calibri"/>
                        <a:ea typeface="Calibri"/>
                        <a:cs typeface="Arial"/>
                      </a:endParaRPr>
                    </a:p>
                  </a:txBody>
                  <a:tcPr marL="68580" marR="68580" marT="0" marB="0"/>
                </a:tc>
                <a:extLst>
                  <a:ext uri="{0D108BD9-81ED-4DB2-BD59-A6C34878D82A}">
                    <a16:rowId xmlns:a16="http://schemas.microsoft.com/office/drawing/2014/main" val="10003"/>
                  </a:ext>
                </a:extLst>
              </a:tr>
              <a:tr h="684650">
                <a:tc>
                  <a:txBody>
                    <a:bodyPr/>
                    <a:lstStyle/>
                    <a:p>
                      <a:pPr algn="ctr">
                        <a:lnSpc>
                          <a:spcPct val="115000"/>
                        </a:lnSpc>
                        <a:spcAft>
                          <a:spcPts val="0"/>
                        </a:spcAft>
                      </a:pPr>
                      <a:r>
                        <a:rPr lang="fr-FR" sz="1800">
                          <a:effectLst/>
                        </a:rPr>
                        <a:t>Marketing</a:t>
                      </a:r>
                      <a:endParaRPr lang="fr-FR" sz="1400">
                        <a:effectLst/>
                        <a:latin typeface="Calibri"/>
                        <a:ea typeface="Calibri"/>
                        <a:cs typeface="Arial"/>
                      </a:endParaRPr>
                    </a:p>
                  </a:txBody>
                  <a:tcPr marL="68580" marR="68580" marT="0" marB="0"/>
                </a:tc>
                <a:tc>
                  <a:txBody>
                    <a:bodyPr/>
                    <a:lstStyle/>
                    <a:p>
                      <a:pPr algn="ctr">
                        <a:lnSpc>
                          <a:spcPct val="115000"/>
                        </a:lnSpc>
                        <a:spcAft>
                          <a:spcPts val="0"/>
                        </a:spcAft>
                      </a:pPr>
                      <a:r>
                        <a:rPr lang="fr-FR" sz="1800" dirty="0">
                          <a:effectLst/>
                        </a:rPr>
                        <a:t>infos clients, </a:t>
                      </a:r>
                      <a:endParaRPr lang="fr-FR" sz="1400" dirty="0">
                        <a:effectLst/>
                      </a:endParaRPr>
                    </a:p>
                    <a:p>
                      <a:pPr algn="ctr">
                        <a:lnSpc>
                          <a:spcPct val="115000"/>
                        </a:lnSpc>
                        <a:spcAft>
                          <a:spcPts val="0"/>
                        </a:spcAft>
                      </a:pPr>
                      <a:r>
                        <a:rPr lang="fr-FR" sz="1800" dirty="0">
                          <a:effectLst/>
                        </a:rPr>
                        <a:t>produits achetés</a:t>
                      </a:r>
                      <a:endParaRPr lang="fr-FR" sz="1400" dirty="0">
                        <a:effectLst/>
                        <a:latin typeface="Calibri"/>
                        <a:ea typeface="Calibri"/>
                        <a:cs typeface="Arial"/>
                      </a:endParaRPr>
                    </a:p>
                  </a:txBody>
                  <a:tcPr marL="68580" marR="68580" marT="0" marB="0"/>
                </a:tc>
                <a:tc>
                  <a:txBody>
                    <a:bodyPr/>
                    <a:lstStyle/>
                    <a:p>
                      <a:pPr algn="ctr">
                        <a:lnSpc>
                          <a:spcPct val="115000"/>
                        </a:lnSpc>
                        <a:spcAft>
                          <a:spcPts val="0"/>
                        </a:spcAft>
                      </a:pPr>
                      <a:r>
                        <a:rPr lang="fr-FR" sz="1800">
                          <a:effectLst/>
                        </a:rPr>
                        <a:t>Segmentation de la clientèle</a:t>
                      </a:r>
                      <a:endParaRPr lang="fr-FR" sz="1400">
                        <a:effectLst/>
                        <a:latin typeface="Calibri"/>
                        <a:ea typeface="Calibri"/>
                        <a:cs typeface="Arial"/>
                      </a:endParaRPr>
                    </a:p>
                  </a:txBody>
                  <a:tcPr marL="68580" marR="68580" marT="0" marB="0"/>
                </a:tc>
                <a:extLst>
                  <a:ext uri="{0D108BD9-81ED-4DB2-BD59-A6C34878D82A}">
                    <a16:rowId xmlns:a16="http://schemas.microsoft.com/office/drawing/2014/main" val="10004"/>
                  </a:ext>
                </a:extLst>
              </a:tr>
              <a:tr h="684650">
                <a:tc>
                  <a:txBody>
                    <a:bodyPr/>
                    <a:lstStyle/>
                    <a:p>
                      <a:pPr>
                        <a:lnSpc>
                          <a:spcPct val="115000"/>
                        </a:lnSpc>
                        <a:spcAft>
                          <a:spcPts val="0"/>
                        </a:spcAft>
                      </a:pPr>
                      <a:r>
                        <a:rPr lang="fr-FR" sz="1800">
                          <a:effectLst/>
                        </a:rPr>
                        <a:t>Segmentation d’images</a:t>
                      </a:r>
                      <a:endParaRPr lang="fr-FR" sz="1400">
                        <a:effectLst/>
                        <a:latin typeface="Calibri"/>
                        <a:ea typeface="Calibri"/>
                        <a:cs typeface="Arial"/>
                      </a:endParaRPr>
                    </a:p>
                  </a:txBody>
                  <a:tcPr marL="68580" marR="68580" marT="0" marB="0"/>
                </a:tc>
                <a:tc>
                  <a:txBody>
                    <a:bodyPr/>
                    <a:lstStyle/>
                    <a:p>
                      <a:pPr algn="ctr">
                        <a:lnSpc>
                          <a:spcPct val="115000"/>
                        </a:lnSpc>
                        <a:spcAft>
                          <a:spcPts val="0"/>
                        </a:spcAft>
                      </a:pPr>
                      <a:r>
                        <a:rPr lang="fr-FR" sz="1800" dirty="0">
                          <a:effectLst/>
                        </a:rPr>
                        <a:t>Images</a:t>
                      </a:r>
                      <a:endParaRPr lang="fr-FR" sz="1400" dirty="0">
                        <a:effectLst/>
                        <a:latin typeface="Calibri"/>
                        <a:ea typeface="Calibri"/>
                        <a:cs typeface="Arial"/>
                      </a:endParaRPr>
                    </a:p>
                  </a:txBody>
                  <a:tcPr marL="68580" marR="68580" marT="0" marB="0"/>
                </a:tc>
                <a:tc>
                  <a:txBody>
                    <a:bodyPr/>
                    <a:lstStyle/>
                    <a:p>
                      <a:pPr algn="ctr">
                        <a:lnSpc>
                          <a:spcPct val="115000"/>
                        </a:lnSpc>
                        <a:spcAft>
                          <a:spcPts val="0"/>
                        </a:spcAft>
                      </a:pPr>
                      <a:r>
                        <a:rPr lang="fr-FR" sz="1800" dirty="0">
                          <a:effectLst/>
                        </a:rPr>
                        <a:t>zones homogènes dans l’image</a:t>
                      </a:r>
                      <a:endParaRPr lang="fr-FR" sz="1400" dirty="0">
                        <a:effectLst/>
                        <a:latin typeface="Calibri"/>
                        <a:ea typeface="Calibri"/>
                        <a:cs typeface="Arial"/>
                      </a:endParaRPr>
                    </a:p>
                  </a:txBody>
                  <a:tcPr marL="68580" marR="68580" marT="0" marB="0"/>
                </a:tc>
                <a:extLst>
                  <a:ext uri="{0D108BD9-81ED-4DB2-BD59-A6C34878D82A}">
                    <a16:rowId xmlns:a16="http://schemas.microsoft.com/office/drawing/2014/main" val="10005"/>
                  </a:ext>
                </a:extLst>
              </a:tr>
              <a:tr h="332856">
                <a:tc>
                  <a:txBody>
                    <a:bodyPr/>
                    <a:lstStyle/>
                    <a:p>
                      <a:pPr algn="ctr">
                        <a:lnSpc>
                          <a:spcPct val="115000"/>
                        </a:lnSpc>
                        <a:spcAft>
                          <a:spcPts val="0"/>
                        </a:spcAft>
                      </a:pPr>
                      <a:r>
                        <a:rPr lang="fr-FR" sz="1800">
                          <a:effectLst/>
                        </a:rPr>
                        <a:t>Web log analysis</a:t>
                      </a:r>
                      <a:endParaRPr lang="fr-FR" sz="1400">
                        <a:effectLst/>
                        <a:latin typeface="Calibri"/>
                        <a:ea typeface="Calibri"/>
                        <a:cs typeface="Arial"/>
                      </a:endParaRPr>
                    </a:p>
                  </a:txBody>
                  <a:tcPr marL="68580" marR="68580" marT="0" marB="0"/>
                </a:tc>
                <a:tc>
                  <a:txBody>
                    <a:bodyPr/>
                    <a:lstStyle/>
                    <a:p>
                      <a:pPr algn="ctr">
                        <a:lnSpc>
                          <a:spcPct val="115000"/>
                        </a:lnSpc>
                        <a:spcAft>
                          <a:spcPts val="0"/>
                        </a:spcAft>
                      </a:pPr>
                      <a:r>
                        <a:rPr lang="fr-FR" sz="1800">
                          <a:effectLst/>
                        </a:rPr>
                        <a:t>Clickstream</a:t>
                      </a:r>
                      <a:endParaRPr lang="fr-FR" sz="1400">
                        <a:effectLst/>
                        <a:latin typeface="Calibri"/>
                        <a:ea typeface="Calibri"/>
                        <a:cs typeface="Arial"/>
                      </a:endParaRPr>
                    </a:p>
                  </a:txBody>
                  <a:tcPr marL="68580" marR="68580" marT="0" marB="0"/>
                </a:tc>
                <a:tc>
                  <a:txBody>
                    <a:bodyPr/>
                    <a:lstStyle/>
                    <a:p>
                      <a:pPr algn="ctr">
                        <a:lnSpc>
                          <a:spcPct val="115000"/>
                        </a:lnSpc>
                        <a:spcAft>
                          <a:spcPts val="0"/>
                        </a:spcAft>
                      </a:pPr>
                      <a:r>
                        <a:rPr lang="fr-FR" sz="1800" dirty="0">
                          <a:effectLst/>
                        </a:rPr>
                        <a:t>Profils utilisateurs</a:t>
                      </a:r>
                      <a:endParaRPr lang="fr-FR" sz="1400" dirty="0">
                        <a:effectLst/>
                        <a:latin typeface="Calibri"/>
                        <a:ea typeface="Calibri"/>
                        <a:cs typeface="Arial"/>
                      </a:endParaRPr>
                    </a:p>
                  </a:txBody>
                  <a:tcPr marL="68580" marR="68580" marT="0" marB="0"/>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Content Placeholder 1"/>
          <p:cNvSpPr>
            <a:spLocks noGrp="1"/>
          </p:cNvSpPr>
          <p:nvPr>
            <p:ph idx="1"/>
          </p:nvPr>
        </p:nvSpPr>
        <p:spPr>
          <a:xfrm>
            <a:off x="107950" y="2060575"/>
            <a:ext cx="8928100" cy="4608513"/>
          </a:xfrm>
        </p:spPr>
        <p:txBody>
          <a:bodyPr/>
          <a:lstStyle/>
          <a:p>
            <a:r>
              <a:rPr lang="fr-FR"/>
              <a:t>Se sont des fonctions qui quantifient la ressemblance ou la dissimilarité entre objets.</a:t>
            </a:r>
          </a:p>
          <a:p>
            <a:r>
              <a:rPr lang="fr-FR"/>
              <a:t>elles prennent en argument des paires d’objets et renvoient des valeurs numériques </a:t>
            </a:r>
          </a:p>
          <a:p>
            <a:r>
              <a:rPr lang="fr-FR"/>
              <a:t>Ces valeurs sont plus élevées, dans le cas des mesures de similarité, plus faibles dans le cas des mesures de distance, que les objets sont proches.</a:t>
            </a:r>
          </a:p>
          <a:p>
            <a:r>
              <a:rPr lang="fr-FR"/>
              <a:t>. Il existe de très nombreuses mesures de comparaison, qui diffèrent selon le type de données auxquelles elles s’appliquent ainsi que selon leurs sémantiques. </a:t>
            </a:r>
          </a:p>
          <a:p>
            <a:endParaRPr lang="fr-FR"/>
          </a:p>
        </p:txBody>
      </p:sp>
      <p:sp>
        <p:nvSpPr>
          <p:cNvPr id="18434" name="Title 2"/>
          <p:cNvSpPr>
            <a:spLocks noGrp="1"/>
          </p:cNvSpPr>
          <p:nvPr>
            <p:ph type="title"/>
          </p:nvPr>
        </p:nvSpPr>
        <p:spPr/>
        <p:txBody>
          <a:bodyPr/>
          <a:lstStyle/>
          <a:p>
            <a:r>
              <a:rPr lang="fr-FR" b="1"/>
              <a:t>Notions de similarité</a:t>
            </a:r>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Espace réservé du contenu 1"/>
          <p:cNvSpPr>
            <a:spLocks noGrp="1"/>
          </p:cNvSpPr>
          <p:nvPr>
            <p:ph idx="1"/>
          </p:nvPr>
        </p:nvSpPr>
        <p:spPr/>
        <p:txBody>
          <a:bodyPr/>
          <a:lstStyle/>
          <a:p>
            <a:r>
              <a:rPr lang="fr-FR" b="1"/>
              <a:t>Mesures de similarité pour données numériques :</a:t>
            </a:r>
            <a:endParaRPr lang="fr-FR"/>
          </a:p>
          <a:p>
            <a:endParaRPr lang="fr-FR"/>
          </a:p>
          <a:p>
            <a:r>
              <a:rPr lang="fr-FR"/>
              <a:t>La distance Euclidienne :</a:t>
            </a:r>
          </a:p>
          <a:p>
            <a:endParaRPr lang="fr-FR"/>
          </a:p>
          <a:p>
            <a:endParaRPr lang="fr-FR" sz="2000"/>
          </a:p>
          <a:p>
            <a:r>
              <a:rPr lang="fr-FR" sz="2000"/>
              <a:t>La distance de Minkowksi :</a:t>
            </a:r>
          </a:p>
          <a:p>
            <a:endParaRPr lang="fr-FR" sz="2000"/>
          </a:p>
          <a:p>
            <a:endParaRPr lang="fr-FR"/>
          </a:p>
          <a:p>
            <a:r>
              <a:rPr lang="fr-FR" sz="2000"/>
              <a:t>– La distance City blocs :</a:t>
            </a:r>
          </a:p>
          <a:p>
            <a:endParaRPr lang="fr-FR"/>
          </a:p>
        </p:txBody>
      </p:sp>
      <p:sp>
        <p:nvSpPr>
          <p:cNvPr id="19458" name="Title 2"/>
          <p:cNvSpPr>
            <a:spLocks noGrp="1"/>
          </p:cNvSpPr>
          <p:nvPr>
            <p:ph type="title"/>
          </p:nvPr>
        </p:nvSpPr>
        <p:spPr/>
        <p:txBody>
          <a:bodyPr/>
          <a:lstStyle/>
          <a:p>
            <a:r>
              <a:rPr lang="fr-FR" b="1"/>
              <a:t>Notions de similarité</a:t>
            </a:r>
            <a:endParaRPr lang="fr-FR"/>
          </a:p>
        </p:txBody>
      </p:sp>
      <p:pic>
        <p:nvPicPr>
          <p:cNvPr id="19459" name="Image 4"/>
          <p:cNvPicPr>
            <a:picLocks noChangeAspect="1" noChangeArrowheads="1"/>
          </p:cNvPicPr>
          <p:nvPr/>
        </p:nvPicPr>
        <p:blipFill>
          <a:blip r:embed="rId2" cstate="print"/>
          <a:srcRect/>
          <a:stretch>
            <a:fillRect/>
          </a:stretch>
        </p:blipFill>
        <p:spPr bwMode="auto">
          <a:xfrm>
            <a:off x="4643438" y="2832100"/>
            <a:ext cx="3457575" cy="1028700"/>
          </a:xfrm>
          <a:prstGeom prst="rect">
            <a:avLst/>
          </a:prstGeom>
          <a:noFill/>
          <a:ln w="9525">
            <a:noFill/>
            <a:miter lim="800000"/>
            <a:headEnd/>
            <a:tailEnd/>
          </a:ln>
        </p:spPr>
      </p:pic>
      <p:pic>
        <p:nvPicPr>
          <p:cNvPr id="19460" name="Image 5"/>
          <p:cNvPicPr>
            <a:picLocks noChangeAspect="1" noChangeArrowheads="1"/>
          </p:cNvPicPr>
          <p:nvPr/>
        </p:nvPicPr>
        <p:blipFill>
          <a:blip r:embed="rId3" cstate="print"/>
          <a:srcRect/>
          <a:stretch>
            <a:fillRect/>
          </a:stretch>
        </p:blipFill>
        <p:spPr bwMode="auto">
          <a:xfrm>
            <a:off x="4691063" y="4076700"/>
            <a:ext cx="3409950" cy="838200"/>
          </a:xfrm>
          <a:prstGeom prst="rect">
            <a:avLst/>
          </a:prstGeom>
          <a:noFill/>
          <a:ln w="9525">
            <a:noFill/>
            <a:miter lim="800000"/>
            <a:headEnd/>
            <a:tailEnd/>
          </a:ln>
        </p:spPr>
      </p:pic>
      <p:pic>
        <p:nvPicPr>
          <p:cNvPr id="19461" name="Image 6"/>
          <p:cNvPicPr>
            <a:picLocks noChangeAspect="1" noChangeArrowheads="1"/>
          </p:cNvPicPr>
          <p:nvPr/>
        </p:nvPicPr>
        <p:blipFill>
          <a:blip r:embed="rId4" cstate="print"/>
          <a:srcRect/>
          <a:stretch>
            <a:fillRect/>
          </a:stretch>
        </p:blipFill>
        <p:spPr bwMode="auto">
          <a:xfrm>
            <a:off x="4691063" y="5229225"/>
            <a:ext cx="3409950" cy="93345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Espace réservé du contenu 1"/>
          <p:cNvSpPr>
            <a:spLocks noGrp="1"/>
          </p:cNvSpPr>
          <p:nvPr>
            <p:ph idx="1"/>
          </p:nvPr>
        </p:nvSpPr>
        <p:spPr/>
        <p:txBody>
          <a:bodyPr/>
          <a:lstStyle/>
          <a:p>
            <a:r>
              <a:rPr lang="fr-FR" b="1"/>
              <a:t>Mesures de similarité pour données catégorielles :</a:t>
            </a:r>
          </a:p>
          <a:p>
            <a:endParaRPr lang="fr-FR" b="1"/>
          </a:p>
          <a:p>
            <a:r>
              <a:rPr lang="fr-FR"/>
              <a:t>La seule mesure qui existe, dans l’absence de toute information sur la signification des valeurs, c’est l’égalité ou l’inégalité.</a:t>
            </a:r>
          </a:p>
          <a:p>
            <a:endParaRPr lang="fr-FR"/>
          </a:p>
        </p:txBody>
      </p:sp>
      <p:sp>
        <p:nvSpPr>
          <p:cNvPr id="20482" name="Title 2"/>
          <p:cNvSpPr>
            <a:spLocks noGrp="1"/>
          </p:cNvSpPr>
          <p:nvPr>
            <p:ph type="title"/>
          </p:nvPr>
        </p:nvSpPr>
        <p:spPr/>
        <p:txBody>
          <a:bodyPr/>
          <a:lstStyle/>
          <a:p>
            <a:r>
              <a:rPr lang="fr-FR" b="1"/>
              <a:t>Notions de similarité</a:t>
            </a:r>
            <a:endParaRPr lang="fr-FR"/>
          </a:p>
        </p:txBody>
      </p:sp>
      <p:pic>
        <p:nvPicPr>
          <p:cNvPr id="20483" name="Image 4"/>
          <p:cNvPicPr>
            <a:picLocks noChangeAspect="1" noChangeArrowheads="1"/>
          </p:cNvPicPr>
          <p:nvPr/>
        </p:nvPicPr>
        <p:blipFill>
          <a:blip r:embed="rId2" cstate="print"/>
          <a:srcRect/>
          <a:stretch>
            <a:fillRect/>
          </a:stretch>
        </p:blipFill>
        <p:spPr bwMode="auto">
          <a:xfrm>
            <a:off x="1908175" y="4581525"/>
            <a:ext cx="5256213" cy="1439863"/>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p:cNvSpPr>
            <a:spLocks noGrp="1"/>
          </p:cNvSpPr>
          <p:nvPr>
            <p:ph idx="1"/>
          </p:nvPr>
        </p:nvSpPr>
        <p:spPr/>
        <p:txBody>
          <a:bodyPr rtlCol="0">
            <a:normAutofit/>
          </a:bodyPr>
          <a:lstStyle/>
          <a:p>
            <a:pPr marL="365760" indent="-365760" fontAlgn="auto">
              <a:spcAft>
                <a:spcPts val="0"/>
              </a:spcAft>
              <a:defRPr/>
            </a:pPr>
            <a:r>
              <a:rPr lang="fr-FR" b="1" dirty="0">
                <a:solidFill>
                  <a:schemeClr val="tx1">
                    <a:lumMod val="85000"/>
                    <a:lumOff val="15000"/>
                  </a:schemeClr>
                </a:solidFill>
              </a:rPr>
              <a:t>La matrice de données (Jeu de données) : </a:t>
            </a:r>
          </a:p>
          <a:p>
            <a:pPr marL="0" indent="0" fontAlgn="auto">
              <a:spcAft>
                <a:spcPts val="0"/>
              </a:spcAft>
              <a:buFont typeface="Wingdings" pitchFamily="2" charset="2"/>
              <a:buNone/>
              <a:defRPr/>
            </a:pPr>
            <a:endParaRPr lang="fr-FR" dirty="0">
              <a:solidFill>
                <a:schemeClr val="tx1">
                  <a:lumMod val="85000"/>
                  <a:lumOff val="15000"/>
                </a:schemeClr>
              </a:solidFill>
            </a:endParaRPr>
          </a:p>
        </p:txBody>
      </p:sp>
      <p:sp>
        <p:nvSpPr>
          <p:cNvPr id="21506" name="Titre 2"/>
          <p:cNvSpPr>
            <a:spLocks noGrp="1"/>
          </p:cNvSpPr>
          <p:nvPr>
            <p:ph type="title"/>
          </p:nvPr>
        </p:nvSpPr>
        <p:spPr/>
        <p:txBody>
          <a:bodyPr/>
          <a:lstStyle/>
          <a:p>
            <a:r>
              <a:rPr lang="fr-FR" b="1"/>
              <a:t>Concepts de base</a:t>
            </a:r>
            <a:endParaRPr lang="fr-FR"/>
          </a:p>
        </p:txBody>
      </p:sp>
      <p:pic>
        <p:nvPicPr>
          <p:cNvPr id="21507" name="Image 3"/>
          <p:cNvPicPr>
            <a:picLocks noChangeAspect="1" noChangeArrowheads="1"/>
          </p:cNvPicPr>
          <p:nvPr/>
        </p:nvPicPr>
        <p:blipFill>
          <a:blip r:embed="rId2" cstate="print"/>
          <a:srcRect/>
          <a:stretch>
            <a:fillRect/>
          </a:stretch>
        </p:blipFill>
        <p:spPr bwMode="auto">
          <a:xfrm>
            <a:off x="1042988" y="2790825"/>
            <a:ext cx="6408737" cy="3230563"/>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Espace réservé du contenu 1"/>
          <p:cNvSpPr>
            <a:spLocks noGrp="1"/>
          </p:cNvSpPr>
          <p:nvPr>
            <p:ph idx="1"/>
          </p:nvPr>
        </p:nvSpPr>
        <p:spPr/>
        <p:txBody>
          <a:bodyPr/>
          <a:lstStyle/>
          <a:p>
            <a:r>
              <a:rPr lang="fr-FR" b="1"/>
              <a:t>La matrice de proximité :</a:t>
            </a:r>
          </a:p>
          <a:p>
            <a:endParaRPr lang="fr-FR"/>
          </a:p>
        </p:txBody>
      </p:sp>
      <p:sp>
        <p:nvSpPr>
          <p:cNvPr id="22530" name="Titre 2"/>
          <p:cNvSpPr>
            <a:spLocks noGrp="1"/>
          </p:cNvSpPr>
          <p:nvPr>
            <p:ph type="title"/>
          </p:nvPr>
        </p:nvSpPr>
        <p:spPr/>
        <p:txBody>
          <a:bodyPr/>
          <a:lstStyle/>
          <a:p>
            <a:r>
              <a:rPr lang="fr-FR" b="1"/>
              <a:t>Concepts de base</a:t>
            </a:r>
            <a:endParaRPr lang="fr-FR"/>
          </a:p>
        </p:txBody>
      </p:sp>
      <p:pic>
        <p:nvPicPr>
          <p:cNvPr id="22531" name="Image 3"/>
          <p:cNvPicPr>
            <a:picLocks noChangeAspect="1" noChangeArrowheads="1"/>
          </p:cNvPicPr>
          <p:nvPr/>
        </p:nvPicPr>
        <p:blipFill>
          <a:blip r:embed="rId2" cstate="print"/>
          <a:srcRect/>
          <a:stretch>
            <a:fillRect/>
          </a:stretch>
        </p:blipFill>
        <p:spPr bwMode="auto">
          <a:xfrm>
            <a:off x="971550" y="2736850"/>
            <a:ext cx="7272338" cy="3716338"/>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Content Placeholder 1"/>
          <p:cNvSpPr>
            <a:spLocks noGrp="1"/>
          </p:cNvSpPr>
          <p:nvPr>
            <p:ph idx="1"/>
          </p:nvPr>
        </p:nvSpPr>
        <p:spPr/>
        <p:txBody>
          <a:bodyPr/>
          <a:lstStyle/>
          <a:p>
            <a:pPr>
              <a:lnSpc>
                <a:spcPct val="130000"/>
              </a:lnSpc>
            </a:pPr>
            <a:endParaRPr lang="fr-FR" altLang="fr-FR" u="sng"/>
          </a:p>
          <a:p>
            <a:pPr>
              <a:lnSpc>
                <a:spcPct val="130000"/>
              </a:lnSpc>
            </a:pPr>
            <a:r>
              <a:rPr lang="fr-FR" altLang="fr-FR" u="sng"/>
              <a:t>Clustering de Partitionnement</a:t>
            </a:r>
            <a:r>
              <a:rPr lang="fr-FR" altLang="fr-FR"/>
              <a:t>: Construire plusieurs partitions puis les évaluer selon certains critères</a:t>
            </a:r>
          </a:p>
          <a:p>
            <a:pPr>
              <a:lnSpc>
                <a:spcPct val="130000"/>
              </a:lnSpc>
            </a:pPr>
            <a:r>
              <a:rPr lang="fr-FR" altLang="fr-FR" u="sng"/>
              <a:t>Clustering hiérarchiques</a:t>
            </a:r>
            <a:r>
              <a:rPr lang="fr-FR" altLang="fr-FR"/>
              <a:t>: Créer une décomposition hiérarchique des objets selon certains critères</a:t>
            </a:r>
          </a:p>
          <a:p>
            <a:r>
              <a:rPr lang="en-US" u="sng"/>
              <a:t>Clustering Incremental: </a:t>
            </a:r>
            <a:r>
              <a:rPr lang="fr-FR"/>
              <a:t>Créer des clusters par ajout successifs d’informations.</a:t>
            </a:r>
          </a:p>
          <a:p>
            <a:endParaRPr lang="fr-FR" u="sng"/>
          </a:p>
        </p:txBody>
      </p:sp>
      <p:sp>
        <p:nvSpPr>
          <p:cNvPr id="23554" name="Title 2"/>
          <p:cNvSpPr>
            <a:spLocks noGrp="1"/>
          </p:cNvSpPr>
          <p:nvPr>
            <p:ph type="title"/>
          </p:nvPr>
        </p:nvSpPr>
        <p:spPr/>
        <p:txBody>
          <a:bodyPr/>
          <a:lstStyle/>
          <a:p>
            <a:r>
              <a:rPr lang="fr-FR" altLang="fr-FR" sz="4400"/>
              <a:t>Approches de Clustering</a:t>
            </a:r>
            <a:endParaRPr lang="fr-FR" sz="4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Content Placeholder 1"/>
          <p:cNvSpPr>
            <a:spLocks noGrp="1"/>
          </p:cNvSpPr>
          <p:nvPr>
            <p:ph idx="1"/>
          </p:nvPr>
        </p:nvSpPr>
        <p:spPr>
          <a:xfrm>
            <a:off x="179388" y="2060575"/>
            <a:ext cx="8785225" cy="4608513"/>
          </a:xfrm>
        </p:spPr>
        <p:txBody>
          <a:bodyPr/>
          <a:lstStyle/>
          <a:p>
            <a:pPr>
              <a:lnSpc>
                <a:spcPct val="110000"/>
              </a:lnSpc>
            </a:pPr>
            <a:r>
              <a:rPr lang="fr-FR" altLang="fr-FR"/>
              <a:t>Construire une partition à </a:t>
            </a:r>
            <a:r>
              <a:rPr lang="fr-FR" altLang="fr-FR" b="1" i="1"/>
              <a:t>k</a:t>
            </a:r>
            <a:r>
              <a:rPr lang="fr-FR" altLang="fr-FR"/>
              <a:t> clusters d’une base </a:t>
            </a:r>
            <a:r>
              <a:rPr lang="fr-FR" altLang="fr-FR" b="1" i="1"/>
              <a:t>D</a:t>
            </a:r>
            <a:r>
              <a:rPr lang="fr-FR" altLang="fr-FR"/>
              <a:t> de </a:t>
            </a:r>
            <a:r>
              <a:rPr lang="fr-FR" altLang="fr-FR" b="1" i="1"/>
              <a:t>n</a:t>
            </a:r>
            <a:r>
              <a:rPr lang="fr-FR" altLang="fr-FR"/>
              <a:t> objets</a:t>
            </a:r>
          </a:p>
          <a:p>
            <a:pPr>
              <a:lnSpc>
                <a:spcPct val="110000"/>
              </a:lnSpc>
            </a:pPr>
            <a:r>
              <a:rPr lang="fr-FR" altLang="fr-FR"/>
              <a:t>Les </a:t>
            </a:r>
            <a:r>
              <a:rPr lang="fr-FR" altLang="fr-FR" i="1"/>
              <a:t>k clusters doivent  </a:t>
            </a:r>
            <a:r>
              <a:rPr lang="fr-FR" altLang="fr-FR"/>
              <a:t>optimiser le critère choisi :</a:t>
            </a:r>
          </a:p>
          <a:p>
            <a:pPr>
              <a:lnSpc>
                <a:spcPct val="110000"/>
              </a:lnSpc>
            </a:pPr>
            <a:endParaRPr lang="fr-FR" altLang="fr-FR"/>
          </a:p>
          <a:p>
            <a:pPr lvl="1">
              <a:lnSpc>
                <a:spcPct val="110000"/>
              </a:lnSpc>
            </a:pPr>
            <a:r>
              <a:rPr lang="fr-FR" altLang="fr-FR" sz="2400"/>
              <a:t>Global optimal: Considérer toutes les k-partitions</a:t>
            </a:r>
          </a:p>
          <a:p>
            <a:pPr lvl="1">
              <a:lnSpc>
                <a:spcPct val="110000"/>
              </a:lnSpc>
            </a:pPr>
            <a:r>
              <a:rPr lang="fr-FR" altLang="fr-FR" sz="2400"/>
              <a:t>Methodes: Algorithmes </a:t>
            </a:r>
            <a:r>
              <a:rPr lang="fr-FR" altLang="fr-FR" sz="2400" i="1"/>
              <a:t>k-means</a:t>
            </a:r>
            <a:r>
              <a:rPr lang="fr-FR" altLang="fr-FR" sz="2400"/>
              <a:t> et </a:t>
            </a:r>
            <a:r>
              <a:rPr lang="fr-FR" altLang="fr-FR" sz="2400" i="1"/>
              <a:t>k-medoids</a:t>
            </a:r>
            <a:endParaRPr lang="fr-FR" altLang="fr-FR" sz="2400"/>
          </a:p>
          <a:p>
            <a:pPr lvl="1">
              <a:lnSpc>
                <a:spcPct val="110000"/>
              </a:lnSpc>
            </a:pPr>
            <a:r>
              <a:rPr lang="fr-FR" altLang="fr-FR" sz="2400" i="1" u="sng"/>
              <a:t>k-means</a:t>
            </a:r>
            <a:r>
              <a:rPr lang="fr-FR" altLang="fr-FR" sz="2400"/>
              <a:t> :Chaque cluster est représenté par son centre</a:t>
            </a:r>
          </a:p>
          <a:p>
            <a:pPr lvl="1">
              <a:lnSpc>
                <a:spcPct val="110000"/>
              </a:lnSpc>
            </a:pPr>
            <a:r>
              <a:rPr lang="fr-FR" altLang="fr-FR" sz="2400" i="1" u="sng"/>
              <a:t>k-medoids</a:t>
            </a:r>
            <a:r>
              <a:rPr lang="fr-FR" altLang="fr-FR" sz="2400"/>
              <a:t> :Chaque cluster est représenté par un de ses objets</a:t>
            </a:r>
          </a:p>
          <a:p>
            <a:endParaRPr lang="fr-FR"/>
          </a:p>
        </p:txBody>
      </p:sp>
      <p:sp>
        <p:nvSpPr>
          <p:cNvPr id="24578" name="Title 2"/>
          <p:cNvSpPr>
            <a:spLocks noGrp="1"/>
          </p:cNvSpPr>
          <p:nvPr>
            <p:ph type="title"/>
          </p:nvPr>
        </p:nvSpPr>
        <p:spPr>
          <a:xfrm>
            <a:off x="684213" y="549275"/>
            <a:ext cx="7754937" cy="1054100"/>
          </a:xfrm>
        </p:spPr>
        <p:txBody>
          <a:bodyPr/>
          <a:lstStyle/>
          <a:p>
            <a:r>
              <a:rPr lang="fr-FR" altLang="fr-FR" sz="4400"/>
              <a:t>Clustering de Partition</a:t>
            </a:r>
            <a:endParaRPr lang="fr-FR" sz="4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rtlCol="0">
            <a:normAutofit fontScale="92500" lnSpcReduction="10000"/>
          </a:bodyPr>
          <a:lstStyle/>
          <a:p>
            <a:pPr marL="533400" indent="-533400" fontAlgn="auto">
              <a:spcAft>
                <a:spcPts val="0"/>
              </a:spcAft>
              <a:defRPr/>
            </a:pPr>
            <a:r>
              <a:rPr lang="fr-FR" altLang="fr-FR" dirty="0">
                <a:solidFill>
                  <a:schemeClr val="tx1">
                    <a:lumMod val="85000"/>
                    <a:lumOff val="15000"/>
                  </a:schemeClr>
                </a:solidFill>
              </a:rPr>
              <a:t>L’algorithme </a:t>
            </a:r>
            <a:r>
              <a:rPr lang="fr-FR" altLang="fr-FR" i="1" dirty="0">
                <a:solidFill>
                  <a:schemeClr val="tx1">
                    <a:lumMod val="85000"/>
                    <a:lumOff val="15000"/>
                  </a:schemeClr>
                </a:solidFill>
              </a:rPr>
              <a:t>k-</a:t>
            </a:r>
            <a:r>
              <a:rPr lang="fr-FR" altLang="fr-FR" i="1" dirty="0" err="1">
                <a:solidFill>
                  <a:schemeClr val="tx1">
                    <a:lumMod val="85000"/>
                    <a:lumOff val="15000"/>
                  </a:schemeClr>
                </a:solidFill>
              </a:rPr>
              <a:t>means</a:t>
            </a:r>
            <a:r>
              <a:rPr lang="fr-FR" altLang="fr-FR" dirty="0">
                <a:solidFill>
                  <a:schemeClr val="tx1">
                    <a:lumMod val="85000"/>
                    <a:lumOff val="15000"/>
                  </a:schemeClr>
                </a:solidFill>
              </a:rPr>
              <a:t> est en 4 étapes :</a:t>
            </a:r>
          </a:p>
          <a:p>
            <a:pPr marL="533400" indent="-533400" fontAlgn="auto">
              <a:spcAft>
                <a:spcPts val="0"/>
              </a:spcAft>
              <a:buFont typeface="Wingdings" pitchFamily="2" charset="2"/>
              <a:buNone/>
              <a:defRPr/>
            </a:pPr>
            <a:endParaRPr lang="fr-FR" altLang="fr-FR" dirty="0">
              <a:solidFill>
                <a:schemeClr val="tx1">
                  <a:lumMod val="85000"/>
                  <a:lumOff val="15000"/>
                </a:schemeClr>
              </a:solidFill>
            </a:endParaRPr>
          </a:p>
          <a:p>
            <a:pPr marL="990600" lvl="1" indent="-533400" fontAlgn="auto">
              <a:spcAft>
                <a:spcPts val="0"/>
              </a:spcAft>
              <a:buFont typeface="Wingdings" pitchFamily="2" charset="2"/>
              <a:buAutoNum type="arabicPeriod"/>
              <a:defRPr/>
            </a:pPr>
            <a:r>
              <a:rPr lang="fr-FR" altLang="fr-FR" sz="2400" dirty="0">
                <a:solidFill>
                  <a:srgbClr val="000000"/>
                </a:solidFill>
              </a:rPr>
              <a:t>Choisir k objets formant ainsi k clusters</a:t>
            </a:r>
          </a:p>
          <a:p>
            <a:pPr marL="990600" lvl="1" indent="-533400" fontAlgn="auto">
              <a:spcAft>
                <a:spcPts val="0"/>
              </a:spcAft>
              <a:buFont typeface="Wingdings" pitchFamily="2" charset="2"/>
              <a:buNone/>
              <a:defRPr/>
            </a:pPr>
            <a:endParaRPr lang="fr-FR" altLang="fr-FR" sz="2400" dirty="0">
              <a:solidFill>
                <a:srgbClr val="000000"/>
              </a:solidFill>
            </a:endParaRPr>
          </a:p>
          <a:p>
            <a:pPr marL="990600" lvl="1" indent="-533400" fontAlgn="auto">
              <a:spcAft>
                <a:spcPts val="0"/>
              </a:spcAft>
              <a:buFont typeface="Wingdings" pitchFamily="2" charset="2"/>
              <a:buAutoNum type="arabicPeriod" startAt="2"/>
              <a:defRPr/>
            </a:pPr>
            <a:r>
              <a:rPr lang="fr-FR" altLang="fr-FR" sz="2400" dirty="0">
                <a:solidFill>
                  <a:srgbClr val="000000"/>
                </a:solidFill>
              </a:rPr>
              <a:t>(Ré)affecter chaque objet O au cluster C</a:t>
            </a:r>
            <a:r>
              <a:rPr lang="fr-FR" altLang="fr-FR" sz="2400" baseline="-25000" dirty="0">
                <a:solidFill>
                  <a:srgbClr val="000000"/>
                </a:solidFill>
              </a:rPr>
              <a:t>i</a:t>
            </a:r>
            <a:r>
              <a:rPr lang="fr-FR" altLang="fr-FR" sz="2400" dirty="0">
                <a:solidFill>
                  <a:srgbClr val="000000"/>
                </a:solidFill>
              </a:rPr>
              <a:t>  de centre M</a:t>
            </a:r>
            <a:r>
              <a:rPr lang="fr-FR" altLang="fr-FR" sz="2400" baseline="-25000" dirty="0">
                <a:solidFill>
                  <a:srgbClr val="000000"/>
                </a:solidFill>
              </a:rPr>
              <a:t>i</a:t>
            </a:r>
            <a:r>
              <a:rPr lang="fr-FR" altLang="fr-FR" sz="2400" dirty="0">
                <a:solidFill>
                  <a:srgbClr val="000000"/>
                </a:solidFill>
              </a:rPr>
              <a:t> tel que </a:t>
            </a:r>
            <a:r>
              <a:rPr lang="fr-FR" altLang="fr-FR" sz="2400" dirty="0" err="1">
                <a:solidFill>
                  <a:srgbClr val="000000"/>
                </a:solidFill>
              </a:rPr>
              <a:t>dist</a:t>
            </a:r>
            <a:r>
              <a:rPr lang="fr-FR" altLang="fr-FR" sz="2400" dirty="0">
                <a:solidFill>
                  <a:srgbClr val="000000"/>
                </a:solidFill>
              </a:rPr>
              <a:t>(</a:t>
            </a:r>
            <a:r>
              <a:rPr lang="fr-FR" altLang="fr-FR" sz="2400" dirty="0" err="1">
                <a:solidFill>
                  <a:srgbClr val="000000"/>
                </a:solidFill>
              </a:rPr>
              <a:t>O,M</a:t>
            </a:r>
            <a:r>
              <a:rPr lang="fr-FR" altLang="fr-FR" sz="2400" baseline="-25000" dirty="0" err="1">
                <a:solidFill>
                  <a:srgbClr val="000000"/>
                </a:solidFill>
              </a:rPr>
              <a:t>i</a:t>
            </a:r>
            <a:r>
              <a:rPr lang="fr-FR" altLang="fr-FR" sz="2400" dirty="0">
                <a:solidFill>
                  <a:srgbClr val="000000"/>
                </a:solidFill>
              </a:rPr>
              <a:t>) est minimal</a:t>
            </a:r>
          </a:p>
          <a:p>
            <a:pPr marL="990600" lvl="1" indent="-533400" fontAlgn="auto">
              <a:spcAft>
                <a:spcPts val="0"/>
              </a:spcAft>
              <a:buFont typeface="Wingdings" pitchFamily="2" charset="2"/>
              <a:buNone/>
              <a:defRPr/>
            </a:pPr>
            <a:endParaRPr lang="fr-FR" altLang="fr-FR" sz="2400" dirty="0">
              <a:solidFill>
                <a:srgbClr val="000000"/>
              </a:solidFill>
            </a:endParaRPr>
          </a:p>
          <a:p>
            <a:pPr marL="990600" lvl="1" indent="-533400" fontAlgn="auto">
              <a:spcAft>
                <a:spcPts val="0"/>
              </a:spcAft>
              <a:buFont typeface="Wingdings" pitchFamily="2" charset="2"/>
              <a:buAutoNum type="arabicPeriod" startAt="3"/>
              <a:defRPr/>
            </a:pPr>
            <a:r>
              <a:rPr lang="fr-FR" altLang="fr-FR" sz="2400" dirty="0">
                <a:solidFill>
                  <a:srgbClr val="000000"/>
                </a:solidFill>
              </a:rPr>
              <a:t>Recalculer M</a:t>
            </a:r>
            <a:r>
              <a:rPr lang="fr-FR" altLang="fr-FR" sz="2400" baseline="-25000" dirty="0">
                <a:solidFill>
                  <a:srgbClr val="000000"/>
                </a:solidFill>
              </a:rPr>
              <a:t>i</a:t>
            </a:r>
            <a:r>
              <a:rPr lang="fr-FR" altLang="fr-FR" sz="2400" dirty="0">
                <a:solidFill>
                  <a:srgbClr val="000000"/>
                </a:solidFill>
              </a:rPr>
              <a:t> de chaque cluster (le barycentre)</a:t>
            </a:r>
          </a:p>
          <a:p>
            <a:pPr marL="990600" lvl="1" indent="-533400" fontAlgn="auto">
              <a:spcAft>
                <a:spcPts val="0"/>
              </a:spcAft>
              <a:buFont typeface="Wingdings" pitchFamily="2" charset="2"/>
              <a:buNone/>
              <a:defRPr/>
            </a:pPr>
            <a:endParaRPr lang="fr-FR" altLang="fr-FR" sz="2400" dirty="0">
              <a:solidFill>
                <a:srgbClr val="000000"/>
              </a:solidFill>
            </a:endParaRPr>
          </a:p>
          <a:p>
            <a:pPr marL="990600" lvl="1" indent="-533400" fontAlgn="auto">
              <a:spcAft>
                <a:spcPts val="0"/>
              </a:spcAft>
              <a:buFont typeface="Wingdings" pitchFamily="2" charset="2"/>
              <a:buAutoNum type="arabicPeriod" startAt="4"/>
              <a:defRPr/>
            </a:pPr>
            <a:r>
              <a:rPr lang="fr-FR" altLang="fr-FR" sz="2400" dirty="0">
                <a:solidFill>
                  <a:srgbClr val="000000"/>
                </a:solidFill>
              </a:rPr>
              <a:t>Aller à l’étape 2 si on vient de faire une affectation</a:t>
            </a:r>
          </a:p>
          <a:p>
            <a:pPr marL="365760" indent="-365760" fontAlgn="auto">
              <a:spcAft>
                <a:spcPts val="0"/>
              </a:spcAft>
              <a:defRPr/>
            </a:pPr>
            <a:endParaRPr lang="fr-FR" dirty="0">
              <a:solidFill>
                <a:schemeClr val="tx1">
                  <a:lumMod val="85000"/>
                  <a:lumOff val="15000"/>
                </a:schemeClr>
              </a:solidFill>
            </a:endParaRPr>
          </a:p>
        </p:txBody>
      </p:sp>
      <p:sp>
        <p:nvSpPr>
          <p:cNvPr id="25602" name="Title 2"/>
          <p:cNvSpPr>
            <a:spLocks noGrp="1"/>
          </p:cNvSpPr>
          <p:nvPr>
            <p:ph type="title"/>
          </p:nvPr>
        </p:nvSpPr>
        <p:spPr/>
        <p:txBody>
          <a:bodyPr/>
          <a:lstStyle/>
          <a:p>
            <a:r>
              <a:rPr lang="fr-FR" sz="4400"/>
              <a:t>Algorithme K-Means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rtlCol="0">
            <a:normAutofit fontScale="92500" lnSpcReduction="20000"/>
          </a:bodyPr>
          <a:lstStyle/>
          <a:p>
            <a:pPr marL="365760" indent="-365760" fontAlgn="auto">
              <a:spcAft>
                <a:spcPts val="0"/>
              </a:spcAft>
              <a:defRPr/>
            </a:pPr>
            <a:r>
              <a:rPr lang="fr-FR" dirty="0">
                <a:solidFill>
                  <a:schemeClr val="tx1">
                    <a:lumMod val="85000"/>
                    <a:lumOff val="15000"/>
                  </a:schemeClr>
                </a:solidFill>
              </a:rPr>
              <a:t>Exemple :</a:t>
            </a:r>
          </a:p>
          <a:p>
            <a:pPr marL="533400" indent="-533400" fontAlgn="auto">
              <a:spcAft>
                <a:spcPts val="0"/>
              </a:spcAft>
              <a:defRPr/>
            </a:pPr>
            <a:r>
              <a:rPr lang="fr-FR" altLang="fr-FR" dirty="0">
                <a:solidFill>
                  <a:schemeClr val="tx1">
                    <a:lumMod val="85000"/>
                    <a:lumOff val="15000"/>
                  </a:schemeClr>
                </a:solidFill>
              </a:rPr>
              <a:t>A={1,2,3,6,7,8,13,15,17}. Créer 3 clusters à partir de A</a:t>
            </a:r>
          </a:p>
          <a:p>
            <a:pPr marL="533400" indent="-533400" fontAlgn="auto">
              <a:spcAft>
                <a:spcPts val="0"/>
              </a:spcAft>
              <a:buFont typeface="Wingdings" pitchFamily="2" charset="2"/>
              <a:buNone/>
              <a:defRPr/>
            </a:pPr>
            <a:endParaRPr lang="fr-FR" altLang="fr-FR" dirty="0">
              <a:solidFill>
                <a:schemeClr val="tx1">
                  <a:lumMod val="85000"/>
                  <a:lumOff val="15000"/>
                </a:schemeClr>
              </a:solidFill>
            </a:endParaRPr>
          </a:p>
          <a:p>
            <a:pPr marL="533400" indent="-533400" fontAlgn="auto">
              <a:spcAft>
                <a:spcPts val="0"/>
              </a:spcAft>
              <a:defRPr/>
            </a:pPr>
            <a:r>
              <a:rPr lang="fr-FR" altLang="fr-FR" dirty="0">
                <a:solidFill>
                  <a:schemeClr val="tx1">
                    <a:lumMod val="85000"/>
                    <a:lumOff val="15000"/>
                  </a:schemeClr>
                </a:solidFill>
              </a:rPr>
              <a:t>On prend 3 objets au hasard. Supposons que c’est 1, 2 et 3. Ca donne C</a:t>
            </a:r>
            <a:r>
              <a:rPr lang="fr-FR" altLang="fr-FR" baseline="-25000" dirty="0">
                <a:solidFill>
                  <a:schemeClr val="tx1">
                    <a:lumMod val="85000"/>
                    <a:lumOff val="15000"/>
                  </a:schemeClr>
                </a:solidFill>
              </a:rPr>
              <a:t>1</a:t>
            </a:r>
            <a:r>
              <a:rPr lang="fr-FR" altLang="fr-FR" dirty="0">
                <a:solidFill>
                  <a:schemeClr val="tx1">
                    <a:lumMod val="85000"/>
                    <a:lumOff val="15000"/>
                  </a:schemeClr>
                </a:solidFill>
              </a:rPr>
              <a:t>={1}, M</a:t>
            </a:r>
            <a:r>
              <a:rPr lang="fr-FR" altLang="fr-FR" baseline="-25000" dirty="0">
                <a:solidFill>
                  <a:schemeClr val="tx1">
                    <a:lumMod val="85000"/>
                    <a:lumOff val="15000"/>
                  </a:schemeClr>
                </a:solidFill>
              </a:rPr>
              <a:t>1</a:t>
            </a:r>
            <a:r>
              <a:rPr lang="fr-FR" altLang="fr-FR" dirty="0">
                <a:solidFill>
                  <a:schemeClr val="tx1">
                    <a:lumMod val="85000"/>
                    <a:lumOff val="15000"/>
                  </a:schemeClr>
                </a:solidFill>
              </a:rPr>
              <a:t>=1, C</a:t>
            </a:r>
            <a:r>
              <a:rPr lang="fr-FR" altLang="fr-FR" baseline="-25000" dirty="0">
                <a:solidFill>
                  <a:schemeClr val="tx1">
                    <a:lumMod val="85000"/>
                    <a:lumOff val="15000"/>
                  </a:schemeClr>
                </a:solidFill>
              </a:rPr>
              <a:t>2</a:t>
            </a:r>
            <a:r>
              <a:rPr lang="fr-FR" altLang="fr-FR" dirty="0">
                <a:solidFill>
                  <a:schemeClr val="tx1">
                    <a:lumMod val="85000"/>
                    <a:lumOff val="15000"/>
                  </a:schemeClr>
                </a:solidFill>
              </a:rPr>
              <a:t>={2}, M</a:t>
            </a:r>
            <a:r>
              <a:rPr lang="fr-FR" altLang="fr-FR" baseline="-25000" dirty="0">
                <a:solidFill>
                  <a:schemeClr val="tx1">
                    <a:lumMod val="85000"/>
                    <a:lumOff val="15000"/>
                  </a:schemeClr>
                </a:solidFill>
              </a:rPr>
              <a:t>2</a:t>
            </a:r>
            <a:r>
              <a:rPr lang="fr-FR" altLang="fr-FR" dirty="0">
                <a:solidFill>
                  <a:schemeClr val="tx1">
                    <a:lumMod val="85000"/>
                    <a:lumOff val="15000"/>
                  </a:schemeClr>
                </a:solidFill>
              </a:rPr>
              <a:t>=2, C</a:t>
            </a:r>
            <a:r>
              <a:rPr lang="fr-FR" altLang="fr-FR" baseline="-25000" dirty="0">
                <a:solidFill>
                  <a:schemeClr val="tx1">
                    <a:lumMod val="85000"/>
                    <a:lumOff val="15000"/>
                  </a:schemeClr>
                </a:solidFill>
              </a:rPr>
              <a:t>3</a:t>
            </a:r>
            <a:r>
              <a:rPr lang="fr-FR" altLang="fr-FR" dirty="0">
                <a:solidFill>
                  <a:schemeClr val="tx1">
                    <a:lumMod val="85000"/>
                    <a:lumOff val="15000"/>
                  </a:schemeClr>
                </a:solidFill>
              </a:rPr>
              <a:t>={3} et M</a:t>
            </a:r>
            <a:r>
              <a:rPr lang="fr-FR" altLang="fr-FR" baseline="-25000" dirty="0">
                <a:solidFill>
                  <a:schemeClr val="tx1">
                    <a:lumMod val="85000"/>
                    <a:lumOff val="15000"/>
                  </a:schemeClr>
                </a:solidFill>
              </a:rPr>
              <a:t>3</a:t>
            </a:r>
            <a:r>
              <a:rPr lang="fr-FR" altLang="fr-FR" dirty="0">
                <a:solidFill>
                  <a:schemeClr val="tx1">
                    <a:lumMod val="85000"/>
                    <a:lumOff val="15000"/>
                  </a:schemeClr>
                </a:solidFill>
              </a:rPr>
              <a:t>=3</a:t>
            </a:r>
          </a:p>
          <a:p>
            <a:pPr marL="533400" indent="-533400" fontAlgn="auto">
              <a:spcAft>
                <a:spcPts val="0"/>
              </a:spcAft>
              <a:buFont typeface="Wingdings" pitchFamily="2" charset="2"/>
              <a:buNone/>
              <a:defRPr/>
            </a:pPr>
            <a:endParaRPr lang="fr-FR" altLang="fr-FR" dirty="0">
              <a:solidFill>
                <a:schemeClr val="tx1">
                  <a:lumMod val="85000"/>
                  <a:lumOff val="15000"/>
                </a:schemeClr>
              </a:solidFill>
            </a:endParaRPr>
          </a:p>
          <a:p>
            <a:pPr marL="533400" indent="-533400" fontAlgn="auto">
              <a:spcAft>
                <a:spcPts val="0"/>
              </a:spcAft>
              <a:defRPr/>
            </a:pPr>
            <a:r>
              <a:rPr lang="fr-FR" altLang="fr-FR" dirty="0">
                <a:solidFill>
                  <a:schemeClr val="tx1">
                    <a:lumMod val="85000"/>
                    <a:lumOff val="15000"/>
                  </a:schemeClr>
                </a:solidFill>
              </a:rPr>
              <a:t>Chaque objet O est affecté au cluster au milieu duquel, O est le plus proche. 6 est affecté à C</a:t>
            </a:r>
            <a:r>
              <a:rPr lang="fr-FR" altLang="fr-FR" baseline="-25000" dirty="0">
                <a:solidFill>
                  <a:schemeClr val="tx1">
                    <a:lumMod val="85000"/>
                    <a:lumOff val="15000"/>
                  </a:schemeClr>
                </a:solidFill>
              </a:rPr>
              <a:t>3</a:t>
            </a:r>
            <a:r>
              <a:rPr lang="fr-FR" altLang="fr-FR" dirty="0">
                <a:solidFill>
                  <a:schemeClr val="tx1">
                    <a:lumMod val="85000"/>
                    <a:lumOff val="15000"/>
                  </a:schemeClr>
                </a:solidFill>
              </a:rPr>
              <a:t> car </a:t>
            </a:r>
            <a:r>
              <a:rPr lang="fr-FR" altLang="fr-FR" dirty="0" err="1">
                <a:solidFill>
                  <a:schemeClr val="tx1">
                    <a:lumMod val="85000"/>
                    <a:lumOff val="15000"/>
                  </a:schemeClr>
                </a:solidFill>
              </a:rPr>
              <a:t>dist</a:t>
            </a:r>
            <a:r>
              <a:rPr lang="fr-FR" altLang="fr-FR" dirty="0">
                <a:solidFill>
                  <a:schemeClr val="tx1">
                    <a:lumMod val="85000"/>
                    <a:lumOff val="15000"/>
                  </a:schemeClr>
                </a:solidFill>
              </a:rPr>
              <a:t>(M</a:t>
            </a:r>
            <a:r>
              <a:rPr lang="fr-FR" altLang="fr-FR" baseline="-25000" dirty="0">
                <a:solidFill>
                  <a:schemeClr val="tx1">
                    <a:lumMod val="85000"/>
                    <a:lumOff val="15000"/>
                  </a:schemeClr>
                </a:solidFill>
              </a:rPr>
              <a:t>3</a:t>
            </a:r>
            <a:r>
              <a:rPr lang="fr-FR" altLang="fr-FR" dirty="0">
                <a:solidFill>
                  <a:schemeClr val="tx1">
                    <a:lumMod val="85000"/>
                    <a:lumOff val="15000"/>
                  </a:schemeClr>
                </a:solidFill>
              </a:rPr>
              <a:t>,6)&lt;</a:t>
            </a:r>
            <a:r>
              <a:rPr lang="fr-FR" altLang="fr-FR" dirty="0" err="1">
                <a:solidFill>
                  <a:schemeClr val="tx1">
                    <a:lumMod val="85000"/>
                    <a:lumOff val="15000"/>
                  </a:schemeClr>
                </a:solidFill>
              </a:rPr>
              <a:t>dist</a:t>
            </a:r>
            <a:r>
              <a:rPr lang="fr-FR" altLang="fr-FR" dirty="0">
                <a:solidFill>
                  <a:schemeClr val="tx1">
                    <a:lumMod val="85000"/>
                    <a:lumOff val="15000"/>
                  </a:schemeClr>
                </a:solidFill>
              </a:rPr>
              <a:t>(M</a:t>
            </a:r>
            <a:r>
              <a:rPr lang="fr-FR" altLang="fr-FR" baseline="-25000" dirty="0">
                <a:solidFill>
                  <a:schemeClr val="tx1">
                    <a:lumMod val="85000"/>
                    <a:lumOff val="15000"/>
                  </a:schemeClr>
                </a:solidFill>
              </a:rPr>
              <a:t>2</a:t>
            </a:r>
            <a:r>
              <a:rPr lang="fr-FR" altLang="fr-FR" dirty="0">
                <a:solidFill>
                  <a:schemeClr val="tx1">
                    <a:lumMod val="85000"/>
                    <a:lumOff val="15000"/>
                  </a:schemeClr>
                </a:solidFill>
              </a:rPr>
              <a:t>,6) et </a:t>
            </a:r>
            <a:r>
              <a:rPr lang="fr-FR" altLang="fr-FR" dirty="0" err="1">
                <a:solidFill>
                  <a:schemeClr val="tx1">
                    <a:lumMod val="85000"/>
                    <a:lumOff val="15000"/>
                  </a:schemeClr>
                </a:solidFill>
              </a:rPr>
              <a:t>dist</a:t>
            </a:r>
            <a:r>
              <a:rPr lang="fr-FR" altLang="fr-FR" dirty="0">
                <a:solidFill>
                  <a:schemeClr val="tx1">
                    <a:lumMod val="85000"/>
                    <a:lumOff val="15000"/>
                  </a:schemeClr>
                </a:solidFill>
              </a:rPr>
              <a:t>(M</a:t>
            </a:r>
            <a:r>
              <a:rPr lang="fr-FR" altLang="fr-FR" baseline="-25000" dirty="0">
                <a:solidFill>
                  <a:schemeClr val="tx1">
                    <a:lumMod val="85000"/>
                    <a:lumOff val="15000"/>
                  </a:schemeClr>
                </a:solidFill>
              </a:rPr>
              <a:t>3</a:t>
            </a:r>
            <a:r>
              <a:rPr lang="fr-FR" altLang="fr-FR" dirty="0">
                <a:solidFill>
                  <a:schemeClr val="tx1">
                    <a:lumMod val="85000"/>
                    <a:lumOff val="15000"/>
                  </a:schemeClr>
                </a:solidFill>
              </a:rPr>
              <a:t>,6)&lt;</a:t>
            </a:r>
            <a:r>
              <a:rPr lang="fr-FR" altLang="fr-FR" dirty="0" err="1">
                <a:solidFill>
                  <a:schemeClr val="tx1">
                    <a:lumMod val="85000"/>
                    <a:lumOff val="15000"/>
                  </a:schemeClr>
                </a:solidFill>
              </a:rPr>
              <a:t>dist</a:t>
            </a:r>
            <a:r>
              <a:rPr lang="fr-FR" altLang="fr-FR" dirty="0">
                <a:solidFill>
                  <a:schemeClr val="tx1">
                    <a:lumMod val="85000"/>
                    <a:lumOff val="15000"/>
                  </a:schemeClr>
                </a:solidFill>
              </a:rPr>
              <a:t>(M</a:t>
            </a:r>
            <a:r>
              <a:rPr lang="fr-FR" altLang="fr-FR" baseline="-25000" dirty="0">
                <a:solidFill>
                  <a:schemeClr val="tx1">
                    <a:lumMod val="85000"/>
                    <a:lumOff val="15000"/>
                  </a:schemeClr>
                </a:solidFill>
              </a:rPr>
              <a:t>1</a:t>
            </a:r>
            <a:r>
              <a:rPr lang="fr-FR" altLang="fr-FR" dirty="0">
                <a:solidFill>
                  <a:schemeClr val="tx1">
                    <a:lumMod val="85000"/>
                    <a:lumOff val="15000"/>
                  </a:schemeClr>
                </a:solidFill>
              </a:rPr>
              <a:t>,6)</a:t>
            </a:r>
          </a:p>
          <a:p>
            <a:pPr marL="1371600" lvl="2" indent="-457200" fontAlgn="auto">
              <a:spcAft>
                <a:spcPts val="0"/>
              </a:spcAft>
              <a:buFont typeface="Wingdings" pitchFamily="2" charset="2"/>
              <a:buNone/>
              <a:defRPr/>
            </a:pPr>
            <a:r>
              <a:rPr lang="fr-FR" altLang="fr-FR" dirty="0">
                <a:solidFill>
                  <a:schemeClr val="tx1">
                    <a:lumMod val="85000"/>
                    <a:lumOff val="15000"/>
                  </a:schemeClr>
                </a:solidFill>
              </a:rPr>
              <a:t>On a 	C</a:t>
            </a:r>
            <a:r>
              <a:rPr lang="fr-FR" altLang="fr-FR" baseline="-25000" dirty="0">
                <a:solidFill>
                  <a:schemeClr val="tx1">
                    <a:lumMod val="85000"/>
                    <a:lumOff val="15000"/>
                  </a:schemeClr>
                </a:solidFill>
              </a:rPr>
              <a:t>1</a:t>
            </a:r>
            <a:r>
              <a:rPr lang="fr-FR" altLang="fr-FR" dirty="0">
                <a:solidFill>
                  <a:schemeClr val="tx1">
                    <a:lumMod val="85000"/>
                    <a:lumOff val="15000"/>
                  </a:schemeClr>
                </a:solidFill>
              </a:rPr>
              <a:t>={1}, M</a:t>
            </a:r>
            <a:r>
              <a:rPr lang="fr-FR" altLang="fr-FR" baseline="-25000" dirty="0">
                <a:solidFill>
                  <a:schemeClr val="tx1">
                    <a:lumMod val="85000"/>
                    <a:lumOff val="15000"/>
                  </a:schemeClr>
                </a:solidFill>
              </a:rPr>
              <a:t>1</a:t>
            </a:r>
            <a:r>
              <a:rPr lang="fr-FR" altLang="fr-FR" dirty="0">
                <a:solidFill>
                  <a:schemeClr val="tx1">
                    <a:lumMod val="85000"/>
                    <a:lumOff val="15000"/>
                  </a:schemeClr>
                </a:solidFill>
              </a:rPr>
              <a:t>=1, </a:t>
            </a:r>
          </a:p>
          <a:p>
            <a:pPr marL="1371600" lvl="2" indent="-457200" fontAlgn="auto">
              <a:spcAft>
                <a:spcPts val="0"/>
              </a:spcAft>
              <a:buFont typeface="Wingdings" pitchFamily="2" charset="2"/>
              <a:buNone/>
              <a:defRPr/>
            </a:pPr>
            <a:r>
              <a:rPr lang="fr-FR" altLang="fr-FR" dirty="0">
                <a:solidFill>
                  <a:schemeClr val="tx1">
                    <a:lumMod val="85000"/>
                    <a:lumOff val="15000"/>
                  </a:schemeClr>
                </a:solidFill>
              </a:rPr>
              <a:t>		 C</a:t>
            </a:r>
            <a:r>
              <a:rPr lang="fr-FR" altLang="fr-FR" baseline="-25000" dirty="0">
                <a:solidFill>
                  <a:schemeClr val="tx1">
                    <a:lumMod val="85000"/>
                    <a:lumOff val="15000"/>
                  </a:schemeClr>
                </a:solidFill>
              </a:rPr>
              <a:t>2</a:t>
            </a:r>
            <a:r>
              <a:rPr lang="fr-FR" altLang="fr-FR" dirty="0">
                <a:solidFill>
                  <a:schemeClr val="tx1">
                    <a:lumMod val="85000"/>
                    <a:lumOff val="15000"/>
                  </a:schemeClr>
                </a:solidFill>
              </a:rPr>
              <a:t>={2}, M</a:t>
            </a:r>
            <a:r>
              <a:rPr lang="fr-FR" altLang="fr-FR" baseline="-25000" dirty="0">
                <a:solidFill>
                  <a:schemeClr val="tx1">
                    <a:lumMod val="85000"/>
                    <a:lumOff val="15000"/>
                  </a:schemeClr>
                </a:solidFill>
              </a:rPr>
              <a:t>2</a:t>
            </a:r>
            <a:r>
              <a:rPr lang="fr-FR" altLang="fr-FR" dirty="0">
                <a:solidFill>
                  <a:schemeClr val="tx1">
                    <a:lumMod val="85000"/>
                    <a:lumOff val="15000"/>
                  </a:schemeClr>
                </a:solidFill>
              </a:rPr>
              <a:t>=2</a:t>
            </a:r>
          </a:p>
          <a:p>
            <a:pPr marL="1371600" lvl="2" indent="-457200" fontAlgn="auto">
              <a:spcAft>
                <a:spcPts val="0"/>
              </a:spcAft>
              <a:buFont typeface="Wingdings" pitchFamily="2" charset="2"/>
              <a:buNone/>
              <a:defRPr/>
            </a:pPr>
            <a:r>
              <a:rPr lang="fr-FR" altLang="fr-FR" dirty="0">
                <a:solidFill>
                  <a:schemeClr val="tx1">
                    <a:lumMod val="85000"/>
                    <a:lumOff val="15000"/>
                  </a:schemeClr>
                </a:solidFill>
              </a:rPr>
              <a:t>		 C</a:t>
            </a:r>
            <a:r>
              <a:rPr lang="fr-FR" altLang="fr-FR" baseline="-25000" dirty="0">
                <a:solidFill>
                  <a:schemeClr val="tx1">
                    <a:lumMod val="85000"/>
                    <a:lumOff val="15000"/>
                  </a:schemeClr>
                </a:solidFill>
              </a:rPr>
              <a:t>3</a:t>
            </a:r>
            <a:r>
              <a:rPr lang="fr-FR" altLang="fr-FR" dirty="0">
                <a:solidFill>
                  <a:schemeClr val="tx1">
                    <a:lumMod val="85000"/>
                    <a:lumOff val="15000"/>
                  </a:schemeClr>
                </a:solidFill>
              </a:rPr>
              <a:t>={3, 6,7,8,13,15,17}, M3=69/7=9.86</a:t>
            </a:r>
          </a:p>
          <a:p>
            <a:pPr marL="365760" indent="-365760" fontAlgn="auto">
              <a:spcAft>
                <a:spcPts val="0"/>
              </a:spcAft>
              <a:defRPr/>
            </a:pPr>
            <a:endParaRPr lang="fr-FR" dirty="0">
              <a:solidFill>
                <a:schemeClr val="tx1">
                  <a:lumMod val="85000"/>
                  <a:lumOff val="15000"/>
                </a:schemeClr>
              </a:solidFill>
            </a:endParaRPr>
          </a:p>
        </p:txBody>
      </p:sp>
      <p:sp>
        <p:nvSpPr>
          <p:cNvPr id="26626" name="Title 2"/>
          <p:cNvSpPr>
            <a:spLocks noGrp="1"/>
          </p:cNvSpPr>
          <p:nvPr>
            <p:ph type="title"/>
          </p:nvPr>
        </p:nvSpPr>
        <p:spPr/>
        <p:txBody>
          <a:bodyPr/>
          <a:lstStyle/>
          <a:p>
            <a:r>
              <a:rPr lang="fr-FR" sz="4400">
                <a:solidFill>
                  <a:srgbClr val="895D1D"/>
                </a:solidFill>
              </a:rPr>
              <a:t>Algorithme K-Means</a:t>
            </a:r>
            <a:endParaRPr lang="fr-F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388" y="260350"/>
            <a:ext cx="8785225" cy="6337300"/>
          </a:xfrm>
        </p:spPr>
        <p:txBody>
          <a:bodyPr rtlCol="0">
            <a:normAutofit fontScale="92500" lnSpcReduction="10000"/>
          </a:bodyPr>
          <a:lstStyle/>
          <a:p>
            <a:pPr marL="365760" indent="-365760" fontAlgn="auto">
              <a:spcAft>
                <a:spcPts val="0"/>
              </a:spcAft>
              <a:defRPr/>
            </a:pPr>
            <a:r>
              <a:rPr lang="fr-FR" altLang="fr-FR" dirty="0" err="1">
                <a:solidFill>
                  <a:schemeClr val="tx1">
                    <a:lumMod val="85000"/>
                    <a:lumOff val="15000"/>
                  </a:schemeClr>
                </a:solidFill>
              </a:rPr>
              <a:t>dist</a:t>
            </a:r>
            <a:r>
              <a:rPr lang="fr-FR" altLang="fr-FR" dirty="0">
                <a:solidFill>
                  <a:schemeClr val="tx1">
                    <a:lumMod val="85000"/>
                    <a:lumOff val="15000"/>
                  </a:schemeClr>
                </a:solidFill>
              </a:rPr>
              <a:t>(3,M2)&lt;</a:t>
            </a:r>
            <a:r>
              <a:rPr lang="fr-FR" altLang="fr-FR" dirty="0" err="1">
                <a:solidFill>
                  <a:schemeClr val="tx1">
                    <a:lumMod val="85000"/>
                    <a:lumOff val="15000"/>
                  </a:schemeClr>
                </a:solidFill>
              </a:rPr>
              <a:t>dist</a:t>
            </a:r>
            <a:r>
              <a:rPr lang="fr-FR" altLang="fr-FR" dirty="0">
                <a:solidFill>
                  <a:schemeClr val="tx1">
                    <a:lumMod val="85000"/>
                    <a:lumOff val="15000"/>
                  </a:schemeClr>
                </a:solidFill>
              </a:rPr>
              <a:t>(3,M3)</a:t>
            </a:r>
            <a:r>
              <a:rPr lang="fr-FR" altLang="fr-FR" dirty="0">
                <a:solidFill>
                  <a:schemeClr val="tx1">
                    <a:lumMod val="85000"/>
                    <a:lumOff val="15000"/>
                  </a:schemeClr>
                </a:solidFill>
                <a:sym typeface="Wingdings" pitchFamily="2" charset="2"/>
              </a:rPr>
              <a:t>3 passe dans C</a:t>
            </a:r>
            <a:r>
              <a:rPr lang="fr-FR" altLang="fr-FR" baseline="-25000" dirty="0">
                <a:solidFill>
                  <a:schemeClr val="tx1">
                    <a:lumMod val="85000"/>
                    <a:lumOff val="15000"/>
                  </a:schemeClr>
                </a:solidFill>
                <a:sym typeface="Wingdings" pitchFamily="2" charset="2"/>
              </a:rPr>
              <a:t>2</a:t>
            </a:r>
            <a:r>
              <a:rPr lang="fr-FR" altLang="fr-FR" dirty="0">
                <a:solidFill>
                  <a:schemeClr val="tx1">
                    <a:lumMod val="85000"/>
                    <a:lumOff val="15000"/>
                  </a:schemeClr>
                </a:solidFill>
                <a:sym typeface="Wingdings" pitchFamily="2" charset="2"/>
              </a:rPr>
              <a:t>. Tous les autres objets ne bougent pas. </a:t>
            </a:r>
            <a:r>
              <a:rPr lang="fr-FR" altLang="fr-FR" dirty="0">
                <a:solidFill>
                  <a:schemeClr val="tx1">
                    <a:lumMod val="85000"/>
                    <a:lumOff val="15000"/>
                  </a:schemeClr>
                </a:solidFill>
              </a:rPr>
              <a:t>C</a:t>
            </a:r>
            <a:r>
              <a:rPr lang="fr-FR" altLang="fr-FR" baseline="-25000" dirty="0">
                <a:solidFill>
                  <a:schemeClr val="tx1">
                    <a:lumMod val="85000"/>
                    <a:lumOff val="15000"/>
                  </a:schemeClr>
                </a:solidFill>
              </a:rPr>
              <a:t>1</a:t>
            </a:r>
            <a:r>
              <a:rPr lang="fr-FR" altLang="fr-FR" dirty="0">
                <a:solidFill>
                  <a:schemeClr val="tx1">
                    <a:lumMod val="85000"/>
                    <a:lumOff val="15000"/>
                  </a:schemeClr>
                </a:solidFill>
              </a:rPr>
              <a:t>={1}, M</a:t>
            </a:r>
            <a:r>
              <a:rPr lang="fr-FR" altLang="fr-FR" baseline="-25000" dirty="0">
                <a:solidFill>
                  <a:schemeClr val="tx1">
                    <a:lumMod val="85000"/>
                    <a:lumOff val="15000"/>
                  </a:schemeClr>
                </a:solidFill>
              </a:rPr>
              <a:t>1</a:t>
            </a:r>
            <a:r>
              <a:rPr lang="fr-FR" altLang="fr-FR" dirty="0">
                <a:solidFill>
                  <a:schemeClr val="tx1">
                    <a:lumMod val="85000"/>
                    <a:lumOff val="15000"/>
                  </a:schemeClr>
                </a:solidFill>
              </a:rPr>
              <a:t>=1, C</a:t>
            </a:r>
            <a:r>
              <a:rPr lang="fr-FR" altLang="fr-FR" baseline="-25000" dirty="0">
                <a:solidFill>
                  <a:schemeClr val="tx1">
                    <a:lumMod val="85000"/>
                    <a:lumOff val="15000"/>
                  </a:schemeClr>
                </a:solidFill>
              </a:rPr>
              <a:t>2</a:t>
            </a:r>
            <a:r>
              <a:rPr lang="fr-FR" altLang="fr-FR" dirty="0">
                <a:solidFill>
                  <a:schemeClr val="tx1">
                    <a:lumMod val="85000"/>
                    <a:lumOff val="15000"/>
                  </a:schemeClr>
                </a:solidFill>
              </a:rPr>
              <a:t>={2,3}, M</a:t>
            </a:r>
            <a:r>
              <a:rPr lang="fr-FR" altLang="fr-FR" baseline="-25000" dirty="0">
                <a:solidFill>
                  <a:schemeClr val="tx1">
                    <a:lumMod val="85000"/>
                    <a:lumOff val="15000"/>
                  </a:schemeClr>
                </a:solidFill>
              </a:rPr>
              <a:t>2</a:t>
            </a:r>
            <a:r>
              <a:rPr lang="fr-FR" altLang="fr-FR" dirty="0">
                <a:solidFill>
                  <a:schemeClr val="tx1">
                    <a:lumMod val="85000"/>
                    <a:lumOff val="15000"/>
                  </a:schemeClr>
                </a:solidFill>
              </a:rPr>
              <a:t>=2.5,C</a:t>
            </a:r>
            <a:r>
              <a:rPr lang="fr-FR" altLang="fr-FR" baseline="-25000" dirty="0">
                <a:solidFill>
                  <a:schemeClr val="tx1">
                    <a:lumMod val="85000"/>
                    <a:lumOff val="15000"/>
                  </a:schemeClr>
                </a:solidFill>
              </a:rPr>
              <a:t>3</a:t>
            </a:r>
            <a:r>
              <a:rPr lang="fr-FR" altLang="fr-FR" dirty="0">
                <a:solidFill>
                  <a:schemeClr val="tx1">
                    <a:lumMod val="85000"/>
                    <a:lumOff val="15000"/>
                  </a:schemeClr>
                </a:solidFill>
              </a:rPr>
              <a:t>={6,7,8,13,15,17} et M</a:t>
            </a:r>
            <a:r>
              <a:rPr lang="fr-FR" altLang="fr-FR" baseline="-25000" dirty="0">
                <a:solidFill>
                  <a:schemeClr val="tx1">
                    <a:lumMod val="85000"/>
                    <a:lumOff val="15000"/>
                  </a:schemeClr>
                </a:solidFill>
              </a:rPr>
              <a:t>3</a:t>
            </a:r>
            <a:r>
              <a:rPr lang="fr-FR" altLang="fr-FR" dirty="0">
                <a:solidFill>
                  <a:schemeClr val="tx1">
                    <a:lumMod val="85000"/>
                    <a:lumOff val="15000"/>
                  </a:schemeClr>
                </a:solidFill>
              </a:rPr>
              <a:t>= 66/6=11</a:t>
            </a:r>
          </a:p>
          <a:p>
            <a:pPr marL="365760" indent="-365760" fontAlgn="auto">
              <a:spcAft>
                <a:spcPts val="0"/>
              </a:spcAft>
              <a:buFont typeface="Wingdings" pitchFamily="2" charset="2"/>
              <a:buNone/>
              <a:defRPr/>
            </a:pPr>
            <a:endParaRPr lang="fr-FR" altLang="fr-FR" dirty="0">
              <a:solidFill>
                <a:schemeClr val="tx1">
                  <a:lumMod val="85000"/>
                  <a:lumOff val="15000"/>
                </a:schemeClr>
              </a:solidFill>
            </a:endParaRPr>
          </a:p>
          <a:p>
            <a:pPr marL="365760" indent="-365760" fontAlgn="auto">
              <a:spcAft>
                <a:spcPts val="0"/>
              </a:spcAft>
              <a:defRPr/>
            </a:pPr>
            <a:r>
              <a:rPr lang="fr-FR" altLang="fr-FR" dirty="0" err="1">
                <a:solidFill>
                  <a:schemeClr val="tx1">
                    <a:lumMod val="85000"/>
                    <a:lumOff val="15000"/>
                  </a:schemeClr>
                </a:solidFill>
              </a:rPr>
              <a:t>dist</a:t>
            </a:r>
            <a:r>
              <a:rPr lang="fr-FR" altLang="fr-FR" dirty="0">
                <a:solidFill>
                  <a:schemeClr val="tx1">
                    <a:lumMod val="85000"/>
                    <a:lumOff val="15000"/>
                  </a:schemeClr>
                </a:solidFill>
              </a:rPr>
              <a:t>(6,M</a:t>
            </a:r>
            <a:r>
              <a:rPr lang="fr-FR" altLang="fr-FR" baseline="-25000" dirty="0">
                <a:solidFill>
                  <a:schemeClr val="tx1">
                    <a:lumMod val="85000"/>
                    <a:lumOff val="15000"/>
                  </a:schemeClr>
                </a:solidFill>
              </a:rPr>
              <a:t>2</a:t>
            </a:r>
            <a:r>
              <a:rPr lang="fr-FR" altLang="fr-FR" dirty="0">
                <a:solidFill>
                  <a:schemeClr val="tx1">
                    <a:lumMod val="85000"/>
                    <a:lumOff val="15000"/>
                  </a:schemeClr>
                </a:solidFill>
              </a:rPr>
              <a:t>)&lt;</a:t>
            </a:r>
            <a:r>
              <a:rPr lang="fr-FR" altLang="fr-FR" dirty="0" err="1">
                <a:solidFill>
                  <a:schemeClr val="tx1">
                    <a:lumMod val="85000"/>
                    <a:lumOff val="15000"/>
                  </a:schemeClr>
                </a:solidFill>
              </a:rPr>
              <a:t>dist</a:t>
            </a:r>
            <a:r>
              <a:rPr lang="fr-FR" altLang="fr-FR" dirty="0">
                <a:solidFill>
                  <a:schemeClr val="tx1">
                    <a:lumMod val="85000"/>
                    <a:lumOff val="15000"/>
                  </a:schemeClr>
                </a:solidFill>
              </a:rPr>
              <a:t>(6,M</a:t>
            </a:r>
            <a:r>
              <a:rPr lang="fr-FR" altLang="fr-FR" baseline="-25000" dirty="0">
                <a:solidFill>
                  <a:schemeClr val="tx1">
                    <a:lumMod val="85000"/>
                    <a:lumOff val="15000"/>
                  </a:schemeClr>
                </a:solidFill>
              </a:rPr>
              <a:t>3</a:t>
            </a:r>
            <a:r>
              <a:rPr lang="fr-FR" altLang="fr-FR" dirty="0">
                <a:solidFill>
                  <a:schemeClr val="tx1">
                    <a:lumMod val="85000"/>
                    <a:lumOff val="15000"/>
                  </a:schemeClr>
                </a:solidFill>
              </a:rPr>
              <a:t>)</a:t>
            </a:r>
            <a:r>
              <a:rPr lang="fr-FR" altLang="fr-FR" dirty="0">
                <a:solidFill>
                  <a:schemeClr val="tx1">
                    <a:lumMod val="85000"/>
                    <a:lumOff val="15000"/>
                  </a:schemeClr>
                </a:solidFill>
                <a:sym typeface="Wingdings" pitchFamily="2" charset="2"/>
              </a:rPr>
              <a:t>6 passe dans C2. Tous les autres objets ne bougent pas. </a:t>
            </a:r>
            <a:r>
              <a:rPr lang="fr-FR" altLang="fr-FR" dirty="0">
                <a:solidFill>
                  <a:schemeClr val="tx1">
                    <a:lumMod val="85000"/>
                    <a:lumOff val="15000"/>
                  </a:schemeClr>
                </a:solidFill>
              </a:rPr>
              <a:t>C</a:t>
            </a:r>
            <a:r>
              <a:rPr lang="fr-FR" altLang="fr-FR" baseline="-25000" dirty="0">
                <a:solidFill>
                  <a:schemeClr val="tx1">
                    <a:lumMod val="85000"/>
                    <a:lumOff val="15000"/>
                  </a:schemeClr>
                </a:solidFill>
              </a:rPr>
              <a:t>1</a:t>
            </a:r>
            <a:r>
              <a:rPr lang="fr-FR" altLang="fr-FR" dirty="0">
                <a:solidFill>
                  <a:schemeClr val="tx1">
                    <a:lumMod val="85000"/>
                    <a:lumOff val="15000"/>
                  </a:schemeClr>
                </a:solidFill>
              </a:rPr>
              <a:t>={1}, M</a:t>
            </a:r>
            <a:r>
              <a:rPr lang="fr-FR" altLang="fr-FR" baseline="-25000" dirty="0">
                <a:solidFill>
                  <a:schemeClr val="tx1">
                    <a:lumMod val="85000"/>
                    <a:lumOff val="15000"/>
                  </a:schemeClr>
                </a:solidFill>
              </a:rPr>
              <a:t>1</a:t>
            </a:r>
            <a:r>
              <a:rPr lang="fr-FR" altLang="fr-FR" dirty="0">
                <a:solidFill>
                  <a:schemeClr val="tx1">
                    <a:lumMod val="85000"/>
                    <a:lumOff val="15000"/>
                  </a:schemeClr>
                </a:solidFill>
              </a:rPr>
              <a:t>=1, C</a:t>
            </a:r>
            <a:r>
              <a:rPr lang="fr-FR" altLang="fr-FR" baseline="-25000" dirty="0">
                <a:solidFill>
                  <a:schemeClr val="tx1">
                    <a:lumMod val="85000"/>
                    <a:lumOff val="15000"/>
                  </a:schemeClr>
                </a:solidFill>
              </a:rPr>
              <a:t>2</a:t>
            </a:r>
            <a:r>
              <a:rPr lang="fr-FR" altLang="fr-FR" dirty="0">
                <a:solidFill>
                  <a:schemeClr val="tx1">
                    <a:lumMod val="85000"/>
                    <a:lumOff val="15000"/>
                  </a:schemeClr>
                </a:solidFill>
              </a:rPr>
              <a:t>={2,3,6}, M</a:t>
            </a:r>
            <a:r>
              <a:rPr lang="fr-FR" altLang="fr-FR" baseline="-25000" dirty="0">
                <a:solidFill>
                  <a:schemeClr val="tx1">
                    <a:lumMod val="85000"/>
                    <a:lumOff val="15000"/>
                  </a:schemeClr>
                </a:solidFill>
              </a:rPr>
              <a:t>2</a:t>
            </a:r>
            <a:r>
              <a:rPr lang="fr-FR" altLang="fr-FR" dirty="0">
                <a:solidFill>
                  <a:schemeClr val="tx1">
                    <a:lumMod val="85000"/>
                    <a:lumOff val="15000"/>
                  </a:schemeClr>
                </a:solidFill>
              </a:rPr>
              <a:t>=11/3=3.67, C3={7,8,13,15,17}, M</a:t>
            </a:r>
            <a:r>
              <a:rPr lang="fr-FR" altLang="fr-FR" baseline="-25000" dirty="0">
                <a:solidFill>
                  <a:schemeClr val="tx1">
                    <a:lumMod val="85000"/>
                    <a:lumOff val="15000"/>
                  </a:schemeClr>
                </a:solidFill>
              </a:rPr>
              <a:t>3</a:t>
            </a:r>
            <a:r>
              <a:rPr lang="fr-FR" altLang="fr-FR" dirty="0">
                <a:solidFill>
                  <a:schemeClr val="tx1">
                    <a:lumMod val="85000"/>
                    <a:lumOff val="15000"/>
                  </a:schemeClr>
                </a:solidFill>
              </a:rPr>
              <a:t>= 12</a:t>
            </a:r>
          </a:p>
          <a:p>
            <a:pPr marL="365760" indent="-365760" fontAlgn="auto">
              <a:spcAft>
                <a:spcPts val="0"/>
              </a:spcAft>
              <a:buFont typeface="Wingdings" pitchFamily="2" charset="2"/>
              <a:buNone/>
              <a:defRPr/>
            </a:pPr>
            <a:endParaRPr lang="fr-FR" altLang="fr-FR" dirty="0">
              <a:solidFill>
                <a:schemeClr val="tx1">
                  <a:lumMod val="85000"/>
                  <a:lumOff val="15000"/>
                </a:schemeClr>
              </a:solidFill>
            </a:endParaRPr>
          </a:p>
          <a:p>
            <a:pPr marL="365760" indent="-365760" fontAlgn="auto">
              <a:spcAft>
                <a:spcPts val="0"/>
              </a:spcAft>
              <a:defRPr/>
            </a:pPr>
            <a:r>
              <a:rPr lang="fr-FR" altLang="fr-FR" dirty="0" err="1">
                <a:solidFill>
                  <a:schemeClr val="tx1">
                    <a:lumMod val="85000"/>
                    <a:lumOff val="15000"/>
                  </a:schemeClr>
                </a:solidFill>
              </a:rPr>
              <a:t>dist</a:t>
            </a:r>
            <a:r>
              <a:rPr lang="fr-FR" altLang="fr-FR" dirty="0">
                <a:solidFill>
                  <a:schemeClr val="tx1">
                    <a:lumMod val="85000"/>
                    <a:lumOff val="15000"/>
                  </a:schemeClr>
                </a:solidFill>
              </a:rPr>
              <a:t>(2,M1)&lt;</a:t>
            </a:r>
            <a:r>
              <a:rPr lang="fr-FR" altLang="fr-FR" dirty="0" err="1">
                <a:solidFill>
                  <a:schemeClr val="tx1">
                    <a:lumMod val="85000"/>
                    <a:lumOff val="15000"/>
                  </a:schemeClr>
                </a:solidFill>
              </a:rPr>
              <a:t>dist</a:t>
            </a:r>
            <a:r>
              <a:rPr lang="fr-FR" altLang="fr-FR" dirty="0">
                <a:solidFill>
                  <a:schemeClr val="tx1">
                    <a:lumMod val="85000"/>
                    <a:lumOff val="15000"/>
                  </a:schemeClr>
                </a:solidFill>
              </a:rPr>
              <a:t>(2,M2)</a:t>
            </a:r>
            <a:r>
              <a:rPr lang="fr-FR" altLang="fr-FR" dirty="0">
                <a:solidFill>
                  <a:schemeClr val="tx1">
                    <a:lumMod val="85000"/>
                    <a:lumOff val="15000"/>
                  </a:schemeClr>
                </a:solidFill>
                <a:sym typeface="Wingdings" pitchFamily="2" charset="2"/>
              </a:rPr>
              <a:t>2 passe en C1. </a:t>
            </a:r>
            <a:r>
              <a:rPr lang="fr-FR" altLang="fr-FR" dirty="0" err="1">
                <a:solidFill>
                  <a:schemeClr val="tx1">
                    <a:lumMod val="85000"/>
                    <a:lumOff val="15000"/>
                  </a:schemeClr>
                </a:solidFill>
                <a:sym typeface="Wingdings" pitchFamily="2" charset="2"/>
              </a:rPr>
              <a:t>dist</a:t>
            </a:r>
            <a:r>
              <a:rPr lang="fr-FR" altLang="fr-FR" dirty="0">
                <a:solidFill>
                  <a:schemeClr val="tx1">
                    <a:lumMod val="85000"/>
                    <a:lumOff val="15000"/>
                  </a:schemeClr>
                </a:solidFill>
                <a:sym typeface="Wingdings" pitchFamily="2" charset="2"/>
              </a:rPr>
              <a:t>(7,M2)&lt;</a:t>
            </a:r>
            <a:r>
              <a:rPr lang="fr-FR" altLang="fr-FR" dirty="0" err="1">
                <a:solidFill>
                  <a:schemeClr val="tx1">
                    <a:lumMod val="85000"/>
                    <a:lumOff val="15000"/>
                  </a:schemeClr>
                </a:solidFill>
                <a:sym typeface="Wingdings" pitchFamily="2" charset="2"/>
              </a:rPr>
              <a:t>dist</a:t>
            </a:r>
            <a:r>
              <a:rPr lang="fr-FR" altLang="fr-FR" dirty="0">
                <a:solidFill>
                  <a:schemeClr val="tx1">
                    <a:lumMod val="85000"/>
                    <a:lumOff val="15000"/>
                  </a:schemeClr>
                </a:solidFill>
                <a:sym typeface="Wingdings" pitchFamily="2" charset="2"/>
              </a:rPr>
              <a:t>(7,M3) 7 passe en C2. Les autres ne bougent pas. </a:t>
            </a:r>
            <a:r>
              <a:rPr lang="fr-FR" altLang="fr-FR" dirty="0">
                <a:solidFill>
                  <a:schemeClr val="tx1">
                    <a:lumMod val="85000"/>
                    <a:lumOff val="15000"/>
                  </a:schemeClr>
                </a:solidFill>
              </a:rPr>
              <a:t>C1={1,2}, M1=1.5, C2={3,6,7}, M2=5.34, C3= {8,13,15,17}, M3=13.25</a:t>
            </a:r>
          </a:p>
          <a:p>
            <a:pPr marL="365760" indent="-365760" fontAlgn="auto">
              <a:spcAft>
                <a:spcPts val="0"/>
              </a:spcAft>
              <a:buFont typeface="Wingdings" pitchFamily="2" charset="2"/>
              <a:buNone/>
              <a:defRPr/>
            </a:pPr>
            <a:endParaRPr lang="fr-FR" altLang="fr-FR" dirty="0">
              <a:solidFill>
                <a:schemeClr val="tx1">
                  <a:lumMod val="85000"/>
                  <a:lumOff val="15000"/>
                </a:schemeClr>
              </a:solidFill>
            </a:endParaRPr>
          </a:p>
          <a:p>
            <a:pPr marL="365760" indent="-365760" fontAlgn="auto">
              <a:spcAft>
                <a:spcPts val="0"/>
              </a:spcAft>
              <a:defRPr/>
            </a:pPr>
            <a:r>
              <a:rPr lang="fr-FR" altLang="fr-FR" dirty="0" err="1">
                <a:solidFill>
                  <a:schemeClr val="tx1">
                    <a:lumMod val="85000"/>
                    <a:lumOff val="15000"/>
                  </a:schemeClr>
                </a:solidFill>
              </a:rPr>
              <a:t>dist</a:t>
            </a:r>
            <a:r>
              <a:rPr lang="fr-FR" altLang="fr-FR" dirty="0">
                <a:solidFill>
                  <a:schemeClr val="tx1">
                    <a:lumMod val="85000"/>
                    <a:lumOff val="15000"/>
                  </a:schemeClr>
                </a:solidFill>
              </a:rPr>
              <a:t>(3,M1)&lt;</a:t>
            </a:r>
            <a:r>
              <a:rPr lang="fr-FR" altLang="fr-FR" dirty="0" err="1">
                <a:solidFill>
                  <a:schemeClr val="tx1">
                    <a:lumMod val="85000"/>
                    <a:lumOff val="15000"/>
                  </a:schemeClr>
                </a:solidFill>
              </a:rPr>
              <a:t>dist</a:t>
            </a:r>
            <a:r>
              <a:rPr lang="fr-FR" altLang="fr-FR" dirty="0">
                <a:solidFill>
                  <a:schemeClr val="tx1">
                    <a:lumMod val="85000"/>
                    <a:lumOff val="15000"/>
                  </a:schemeClr>
                </a:solidFill>
              </a:rPr>
              <a:t>(3,M2)</a:t>
            </a:r>
            <a:r>
              <a:rPr lang="fr-FR" altLang="fr-FR" dirty="0">
                <a:solidFill>
                  <a:schemeClr val="tx1">
                    <a:lumMod val="85000"/>
                    <a:lumOff val="15000"/>
                  </a:schemeClr>
                </a:solidFill>
                <a:sym typeface="Wingdings" pitchFamily="2" charset="2"/>
              </a:rPr>
              <a:t>3 passe en 1. </a:t>
            </a:r>
            <a:r>
              <a:rPr lang="fr-FR" altLang="fr-FR" dirty="0" err="1">
                <a:solidFill>
                  <a:schemeClr val="tx1">
                    <a:lumMod val="85000"/>
                    <a:lumOff val="15000"/>
                  </a:schemeClr>
                </a:solidFill>
                <a:sym typeface="Wingdings" pitchFamily="2" charset="2"/>
              </a:rPr>
              <a:t>dist</a:t>
            </a:r>
            <a:r>
              <a:rPr lang="fr-FR" altLang="fr-FR" dirty="0">
                <a:solidFill>
                  <a:schemeClr val="tx1">
                    <a:lumMod val="85000"/>
                    <a:lumOff val="15000"/>
                  </a:schemeClr>
                </a:solidFill>
                <a:sym typeface="Wingdings" pitchFamily="2" charset="2"/>
              </a:rPr>
              <a:t>(8,M2)&lt;</a:t>
            </a:r>
            <a:r>
              <a:rPr lang="fr-FR" altLang="fr-FR" dirty="0" err="1">
                <a:solidFill>
                  <a:schemeClr val="tx1">
                    <a:lumMod val="85000"/>
                    <a:lumOff val="15000"/>
                  </a:schemeClr>
                </a:solidFill>
                <a:sym typeface="Wingdings" pitchFamily="2" charset="2"/>
              </a:rPr>
              <a:t>dist</a:t>
            </a:r>
            <a:r>
              <a:rPr lang="fr-FR" altLang="fr-FR" dirty="0">
                <a:solidFill>
                  <a:schemeClr val="tx1">
                    <a:lumMod val="85000"/>
                    <a:lumOff val="15000"/>
                  </a:schemeClr>
                </a:solidFill>
                <a:sym typeface="Wingdings" pitchFamily="2" charset="2"/>
              </a:rPr>
              <a:t>(8,M3)8 passe en 2</a:t>
            </a:r>
          </a:p>
          <a:p>
            <a:pPr marL="365760" indent="-365760" fontAlgn="auto">
              <a:spcAft>
                <a:spcPts val="0"/>
              </a:spcAft>
              <a:buFont typeface="Wingdings" pitchFamily="2" charset="2"/>
              <a:buNone/>
              <a:defRPr/>
            </a:pPr>
            <a:r>
              <a:rPr lang="fr-FR" altLang="fr-FR" dirty="0">
                <a:solidFill>
                  <a:schemeClr val="tx1">
                    <a:lumMod val="85000"/>
                    <a:lumOff val="15000"/>
                  </a:schemeClr>
                </a:solidFill>
              </a:rPr>
              <a:t>	C1={1,2,3}, M1=2, C2={6,7,8}, M2=7, C3={13,15,17}, M3=15</a:t>
            </a:r>
          </a:p>
          <a:p>
            <a:pPr marL="365760" indent="-365760" fontAlgn="auto">
              <a:spcAft>
                <a:spcPts val="0"/>
              </a:spcAft>
              <a:buFont typeface="Wingdings" pitchFamily="2" charset="2"/>
              <a:buNone/>
              <a:defRPr/>
            </a:pPr>
            <a:endParaRPr lang="fr-FR" altLang="fr-FR" dirty="0">
              <a:solidFill>
                <a:schemeClr val="tx1">
                  <a:lumMod val="85000"/>
                  <a:lumOff val="15000"/>
                </a:schemeClr>
              </a:solidFill>
            </a:endParaRPr>
          </a:p>
          <a:p>
            <a:pPr marL="365760" indent="-365760" algn="ctr" fontAlgn="auto">
              <a:spcAft>
                <a:spcPts val="0"/>
              </a:spcAft>
              <a:buFont typeface="Wingdings" pitchFamily="2" charset="2"/>
              <a:buNone/>
              <a:defRPr/>
            </a:pPr>
            <a:r>
              <a:rPr lang="fr-FR" altLang="fr-FR" dirty="0">
                <a:solidFill>
                  <a:schemeClr val="tx1">
                    <a:lumMod val="85000"/>
                    <a:lumOff val="15000"/>
                  </a:schemeClr>
                </a:solidFill>
              </a:rPr>
              <a:t>Plus rien ne bouge</a:t>
            </a:r>
          </a:p>
          <a:p>
            <a:pPr marL="365760" indent="-365760" fontAlgn="auto">
              <a:spcAft>
                <a:spcPts val="0"/>
              </a:spcAft>
              <a:defRPr/>
            </a:pPr>
            <a:endParaRPr lang="fr-FR" dirty="0">
              <a:solidFill>
                <a:schemeClr val="tx1">
                  <a:lumMod val="85000"/>
                  <a:lumOff val="1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Content Placeholder 1"/>
          <p:cNvSpPr>
            <a:spLocks noGrp="1"/>
          </p:cNvSpPr>
          <p:nvPr>
            <p:ph idx="1"/>
          </p:nvPr>
        </p:nvSpPr>
        <p:spPr/>
        <p:txBody>
          <a:bodyPr/>
          <a:lstStyle/>
          <a:p>
            <a:pPr>
              <a:lnSpc>
                <a:spcPct val="110000"/>
              </a:lnSpc>
            </a:pPr>
            <a:r>
              <a:rPr lang="fr-FR" altLang="fr-FR"/>
              <a:t>Trouver des objets représentatifs (medoïdes) dans les clusters (au lieu de la moyenne)</a:t>
            </a:r>
          </a:p>
          <a:p>
            <a:pPr>
              <a:lnSpc>
                <a:spcPct val="110000"/>
              </a:lnSpc>
            </a:pPr>
            <a:r>
              <a:rPr lang="fr-FR" altLang="fr-FR"/>
              <a:t>Principe:</a:t>
            </a:r>
          </a:p>
          <a:p>
            <a:pPr lvl="1">
              <a:lnSpc>
                <a:spcPct val="110000"/>
              </a:lnSpc>
            </a:pPr>
            <a:r>
              <a:rPr lang="fr-FR" altLang="fr-FR"/>
              <a:t>Commencer avec un ensemble de medoïdes puis itérativement remplacer un par un autre si ça permet de réduire la distance globale</a:t>
            </a:r>
          </a:p>
          <a:p>
            <a:pPr lvl="1">
              <a:lnSpc>
                <a:spcPct val="110000"/>
              </a:lnSpc>
            </a:pPr>
            <a:endParaRPr lang="fr-FR" altLang="fr-FR"/>
          </a:p>
          <a:p>
            <a:pPr lvl="1">
              <a:lnSpc>
                <a:spcPct val="110000"/>
              </a:lnSpc>
            </a:pPr>
            <a:r>
              <a:rPr lang="fr-FR" altLang="fr-FR"/>
              <a:t>Efficace pour des données de petite taille</a:t>
            </a:r>
          </a:p>
          <a:p>
            <a:endParaRPr lang="fr-FR"/>
          </a:p>
        </p:txBody>
      </p:sp>
      <p:sp>
        <p:nvSpPr>
          <p:cNvPr id="28674" name="Title 2"/>
          <p:cNvSpPr>
            <a:spLocks noGrp="1"/>
          </p:cNvSpPr>
          <p:nvPr>
            <p:ph type="title"/>
          </p:nvPr>
        </p:nvSpPr>
        <p:spPr/>
        <p:txBody>
          <a:bodyPr/>
          <a:lstStyle/>
          <a:p>
            <a:r>
              <a:rPr lang="fr-FR" sz="4400">
                <a:solidFill>
                  <a:srgbClr val="895D1D"/>
                </a:solidFill>
              </a:rPr>
              <a:t>Algorithme K-Medoids</a:t>
            </a:r>
            <a:endParaRPr lang="fr-F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Content Placeholder 1"/>
          <p:cNvSpPr>
            <a:spLocks noGrp="1"/>
          </p:cNvSpPr>
          <p:nvPr>
            <p:ph idx="1"/>
          </p:nvPr>
        </p:nvSpPr>
        <p:spPr>
          <a:xfrm>
            <a:off x="179388" y="1989138"/>
            <a:ext cx="8785225" cy="4752975"/>
          </a:xfrm>
        </p:spPr>
        <p:txBody>
          <a:bodyPr/>
          <a:lstStyle/>
          <a:p>
            <a:r>
              <a:rPr lang="fr-FR"/>
              <a:t>L’algorithme des K-Medoids ce présente comme suit : </a:t>
            </a:r>
          </a:p>
          <a:p>
            <a:r>
              <a:rPr lang="fr-FR"/>
              <a:t>Choisir arbitrairement </a:t>
            </a:r>
            <a:r>
              <a:rPr lang="fr-FR" b="1" i="1"/>
              <a:t>k</a:t>
            </a:r>
            <a:r>
              <a:rPr lang="fr-FR"/>
              <a:t> objets représentatifs</a:t>
            </a:r>
          </a:p>
          <a:p>
            <a:r>
              <a:rPr lang="fr-FR"/>
              <a:t>Pour toute paire (h,j) d’objets tel que  h est choisi et j non, calculer le coût </a:t>
            </a:r>
            <a:r>
              <a:rPr lang="fr-FR" b="1" i="1"/>
              <a:t>TC</a:t>
            </a:r>
            <a:r>
              <a:rPr lang="fr-FR" b="1" i="1" baseline="-25000"/>
              <a:t>jh</a:t>
            </a:r>
            <a:r>
              <a:rPr lang="fr-FR" b="1" i="1"/>
              <a:t>  </a:t>
            </a:r>
            <a:r>
              <a:rPr lang="fr-FR" b="1" i="1" baseline="-25000"/>
              <a:t> </a:t>
            </a:r>
            <a:r>
              <a:rPr lang="fr-FR"/>
              <a:t>du remplacement de j par h </a:t>
            </a:r>
          </a:p>
          <a:p>
            <a:r>
              <a:rPr lang="fr-FR"/>
              <a:t>•• Si </a:t>
            </a:r>
            <a:r>
              <a:rPr lang="fr-FR" i="1"/>
              <a:t>TC</a:t>
            </a:r>
            <a:r>
              <a:rPr lang="fr-FR" i="1" baseline="-25000"/>
              <a:t>ih</a:t>
            </a:r>
            <a:r>
              <a:rPr lang="fr-FR"/>
              <a:t> &lt; 0, </a:t>
            </a:r>
            <a:r>
              <a:rPr lang="fr-FR" b="1" i="1"/>
              <a:t>j </a:t>
            </a:r>
            <a:r>
              <a:rPr lang="fr-FR"/>
              <a:t>est remplacé par </a:t>
            </a:r>
            <a:r>
              <a:rPr lang="fr-FR" b="1" i="1"/>
              <a:t>h</a:t>
            </a:r>
            <a:endParaRPr lang="fr-FR"/>
          </a:p>
          <a:p>
            <a:r>
              <a:rPr lang="fr-FR"/>
              <a:t>•• Puis affecter chaque objet non sélectionné au medoïde qui lui est le plus similaire</a:t>
            </a:r>
          </a:p>
          <a:p>
            <a:r>
              <a:rPr lang="fr-FR"/>
              <a:t>Répéter jusqu’à ne plus avoir de changements.</a:t>
            </a:r>
          </a:p>
        </p:txBody>
      </p:sp>
      <p:sp>
        <p:nvSpPr>
          <p:cNvPr id="29698" name="Title 2"/>
          <p:cNvSpPr>
            <a:spLocks noGrp="1"/>
          </p:cNvSpPr>
          <p:nvPr>
            <p:ph type="title"/>
          </p:nvPr>
        </p:nvSpPr>
        <p:spPr/>
        <p:txBody>
          <a:bodyPr/>
          <a:lstStyle/>
          <a:p>
            <a:r>
              <a:rPr lang="fr-FR" sz="4400">
                <a:solidFill>
                  <a:srgbClr val="895D1D"/>
                </a:solidFill>
              </a:rPr>
              <a:t>Algorithme K-Medoids</a:t>
            </a:r>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Content Placeholder 2"/>
          <p:cNvSpPr>
            <a:spLocks noGrp="1"/>
          </p:cNvSpPr>
          <p:nvPr>
            <p:ph idx="1"/>
          </p:nvPr>
        </p:nvSpPr>
        <p:spPr>
          <a:xfrm>
            <a:off x="692150" y="558800"/>
            <a:ext cx="8128000" cy="5567363"/>
          </a:xfrm>
        </p:spPr>
        <p:txBody>
          <a:bodyPr/>
          <a:lstStyle/>
          <a:p>
            <a:r>
              <a:rPr lang="fr-FR" b="1"/>
              <a:t>Notions : </a:t>
            </a:r>
          </a:p>
          <a:p>
            <a:endParaRPr lang="fr-FR"/>
          </a:p>
          <a:p>
            <a:r>
              <a:rPr lang="fr-FR"/>
              <a:t>TC</a:t>
            </a:r>
            <a:r>
              <a:rPr lang="fr-FR" baseline="-25000"/>
              <a:t>jh</a:t>
            </a:r>
            <a:r>
              <a:rPr lang="fr-FR"/>
              <a:t> représente le gain en distance globale que l’on va avoir en remplaçant h par j</a:t>
            </a:r>
          </a:p>
          <a:p>
            <a:endParaRPr lang="fr-FR"/>
          </a:p>
          <a:p>
            <a:r>
              <a:rPr lang="fr-FR"/>
              <a:t>Si TC</a:t>
            </a:r>
            <a:r>
              <a:rPr lang="fr-FR" baseline="-25000"/>
              <a:t>jh</a:t>
            </a:r>
            <a:r>
              <a:rPr lang="fr-FR"/>
              <a:t> est négatif alors on va perdre en distance. Ça veut dire que les clusters seront plus compacts.</a:t>
            </a:r>
          </a:p>
          <a:p>
            <a:endParaRPr lang="fr-FR"/>
          </a:p>
          <a:p>
            <a:r>
              <a:rPr lang="en-US"/>
              <a:t>TC</a:t>
            </a:r>
            <a:r>
              <a:rPr lang="en-US" baseline="-25000"/>
              <a:t>jh</a:t>
            </a:r>
            <a:r>
              <a:rPr lang="en-US"/>
              <a:t>= </a:t>
            </a:r>
            <a:r>
              <a:rPr lang="fr-FR">
                <a:sym typeface="Symbol" pitchFamily="18" charset="2"/>
              </a:rPr>
              <a:t></a:t>
            </a:r>
            <a:r>
              <a:rPr lang="en-US" baseline="-25000"/>
              <a:t>i</a:t>
            </a:r>
            <a:r>
              <a:rPr lang="en-US"/>
              <a:t> dist(j,h) - dist(j,i) = </a:t>
            </a:r>
            <a:r>
              <a:rPr lang="fr-FR">
                <a:sym typeface="Symbol" pitchFamily="18" charset="2"/>
              </a:rPr>
              <a:t></a:t>
            </a:r>
            <a:r>
              <a:rPr lang="en-US" baseline="-25000"/>
              <a:t>i</a:t>
            </a:r>
            <a:r>
              <a:rPr lang="en-US"/>
              <a:t> C</a:t>
            </a:r>
            <a:r>
              <a:rPr lang="en-US" baseline="-25000"/>
              <a:t>ijh</a:t>
            </a:r>
            <a:endParaRPr lang="fr-FR"/>
          </a:p>
          <a:p>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950" y="1989138"/>
            <a:ext cx="8928100" cy="4752975"/>
          </a:xfrm>
        </p:spPr>
        <p:txBody>
          <a:bodyPr rtlCol="0">
            <a:normAutofit/>
          </a:bodyPr>
          <a:lstStyle/>
          <a:p>
            <a:pPr marL="0" indent="0">
              <a:buClr>
                <a:srgbClr val="3333CC"/>
              </a:buClr>
              <a:buSzPct val="60000"/>
              <a:buFont typeface="Wingdings" pitchFamily="2" charset="2"/>
              <a:buNone/>
              <a:defRPr/>
            </a:pPr>
            <a:r>
              <a:rPr lang="fr-FR" dirty="0">
                <a:solidFill>
                  <a:schemeClr val="tx1">
                    <a:lumMod val="85000"/>
                    <a:lumOff val="15000"/>
                  </a:schemeClr>
                </a:solidFill>
              </a:rPr>
              <a:t>  Exemple: </a:t>
            </a:r>
            <a:r>
              <a:rPr lang="fr-FR" altLang="fr-FR" sz="2000" kern="0" dirty="0">
                <a:solidFill>
                  <a:srgbClr val="000000"/>
                </a:solidFill>
                <a:latin typeface="Tahoma"/>
              </a:rPr>
              <a:t>Soit A={1,3,4,5,8,9}, k=2 et M={1,8} ensemble des </a:t>
            </a:r>
            <a:r>
              <a:rPr lang="fr-FR" altLang="fr-FR" sz="2000" kern="0" dirty="0" err="1">
                <a:solidFill>
                  <a:srgbClr val="000000"/>
                </a:solidFill>
                <a:latin typeface="Tahoma"/>
              </a:rPr>
              <a:t>medoides</a:t>
            </a:r>
            <a:endParaRPr lang="fr-FR" altLang="fr-FR" sz="2000" kern="0" dirty="0">
              <a:solidFill>
                <a:srgbClr val="000000"/>
              </a:solidFill>
              <a:latin typeface="Tahoma"/>
            </a:endParaRPr>
          </a:p>
          <a:p>
            <a:pPr marL="342900" indent="-342900">
              <a:buClr>
                <a:srgbClr val="3333CC"/>
              </a:buClr>
              <a:buSzPct val="60000"/>
              <a:buFont typeface="Wingdings" pitchFamily="2" charset="2"/>
              <a:buNone/>
              <a:defRPr/>
            </a:pPr>
            <a:r>
              <a:rPr lang="fr-FR" altLang="fr-FR" sz="2000" kern="0" dirty="0">
                <a:solidFill>
                  <a:srgbClr val="000000"/>
                </a:solidFill>
                <a:latin typeface="Tahoma"/>
              </a:rPr>
              <a:t>	</a:t>
            </a:r>
            <a:r>
              <a:rPr lang="fr-FR" altLang="fr-FR" sz="2000" kern="0" dirty="0">
                <a:solidFill>
                  <a:srgbClr val="000000"/>
                </a:solidFill>
                <a:latin typeface="Tahoma"/>
                <a:sym typeface="Wingdings" pitchFamily="2" charset="2"/>
              </a:rPr>
              <a:t>C1={</a:t>
            </a:r>
            <a:r>
              <a:rPr lang="fr-FR" altLang="fr-FR" sz="2000" u="sng" kern="0" dirty="0">
                <a:solidFill>
                  <a:srgbClr val="000000"/>
                </a:solidFill>
                <a:latin typeface="Tahoma"/>
                <a:sym typeface="Wingdings" pitchFamily="2" charset="2"/>
              </a:rPr>
              <a:t>1</a:t>
            </a:r>
            <a:r>
              <a:rPr lang="fr-FR" altLang="fr-FR" sz="2000" kern="0" dirty="0">
                <a:solidFill>
                  <a:srgbClr val="000000"/>
                </a:solidFill>
                <a:latin typeface="Tahoma"/>
                <a:sym typeface="Wingdings" pitchFamily="2" charset="2"/>
              </a:rPr>
              <a:t>,3,4} et C2={5,</a:t>
            </a:r>
            <a:r>
              <a:rPr lang="fr-FR" altLang="fr-FR" sz="2000" u="sng" kern="0" dirty="0">
                <a:solidFill>
                  <a:srgbClr val="000000"/>
                </a:solidFill>
                <a:latin typeface="Tahoma"/>
                <a:sym typeface="Wingdings" pitchFamily="2" charset="2"/>
              </a:rPr>
              <a:t>8</a:t>
            </a:r>
            <a:r>
              <a:rPr lang="fr-FR" altLang="fr-FR" sz="2000" kern="0" dirty="0">
                <a:solidFill>
                  <a:srgbClr val="000000"/>
                </a:solidFill>
                <a:latin typeface="Tahoma"/>
                <a:sym typeface="Wingdings" pitchFamily="2" charset="2"/>
              </a:rPr>
              <a:t>,9}</a:t>
            </a:r>
          </a:p>
          <a:p>
            <a:pPr marL="342900" indent="-342900">
              <a:buClr>
                <a:srgbClr val="3333CC"/>
              </a:buClr>
              <a:buSzPct val="60000"/>
              <a:buFont typeface="Wingdings" pitchFamily="2" charset="2"/>
              <a:buNone/>
              <a:defRPr/>
            </a:pPr>
            <a:r>
              <a:rPr lang="fr-FR" altLang="fr-FR" sz="2000" kern="0" dirty="0">
                <a:solidFill>
                  <a:srgbClr val="000000"/>
                </a:solidFill>
                <a:latin typeface="Tahoma"/>
                <a:sym typeface="Wingdings" pitchFamily="2" charset="2"/>
              </a:rPr>
              <a:t>	E</a:t>
            </a:r>
            <a:r>
              <a:rPr lang="fr-FR" altLang="fr-FR" sz="2000" kern="0" baseline="-25000" dirty="0">
                <a:solidFill>
                  <a:srgbClr val="000000"/>
                </a:solidFill>
                <a:latin typeface="Tahoma"/>
                <a:sym typeface="Wingdings" pitchFamily="2" charset="2"/>
              </a:rPr>
              <a:t>{1,8}</a:t>
            </a:r>
            <a:r>
              <a:rPr lang="fr-FR" altLang="fr-FR" sz="2000" kern="0" dirty="0">
                <a:solidFill>
                  <a:srgbClr val="000000"/>
                </a:solidFill>
                <a:latin typeface="Tahoma"/>
                <a:sym typeface="Wingdings" pitchFamily="2" charset="2"/>
              </a:rPr>
              <a:t>=</a:t>
            </a:r>
            <a:r>
              <a:rPr lang="fr-FR" altLang="fr-FR" sz="2000" kern="0" dirty="0" err="1">
                <a:solidFill>
                  <a:srgbClr val="000000"/>
                </a:solidFill>
                <a:latin typeface="Tahoma"/>
                <a:sym typeface="Wingdings" pitchFamily="2" charset="2"/>
              </a:rPr>
              <a:t>dist</a:t>
            </a:r>
            <a:r>
              <a:rPr lang="fr-FR" altLang="fr-FR" sz="2000" kern="0" dirty="0">
                <a:solidFill>
                  <a:srgbClr val="000000"/>
                </a:solidFill>
                <a:latin typeface="Tahoma"/>
                <a:sym typeface="Wingdings" pitchFamily="2" charset="2"/>
              </a:rPr>
              <a:t>(3,1)</a:t>
            </a:r>
            <a:r>
              <a:rPr lang="fr-FR" altLang="fr-FR" sz="2000" kern="0" baseline="30000" dirty="0">
                <a:solidFill>
                  <a:srgbClr val="000000"/>
                </a:solidFill>
                <a:latin typeface="Tahoma"/>
                <a:sym typeface="Wingdings" pitchFamily="2" charset="2"/>
              </a:rPr>
              <a:t>2</a:t>
            </a:r>
            <a:r>
              <a:rPr lang="fr-FR" altLang="fr-FR" sz="2000" kern="0" dirty="0">
                <a:solidFill>
                  <a:srgbClr val="000000"/>
                </a:solidFill>
                <a:latin typeface="Tahoma"/>
                <a:sym typeface="Wingdings" pitchFamily="2" charset="2"/>
              </a:rPr>
              <a:t>+dist(4,1)</a:t>
            </a:r>
            <a:r>
              <a:rPr lang="fr-FR" altLang="fr-FR" sz="2000" kern="0" baseline="30000" dirty="0">
                <a:solidFill>
                  <a:srgbClr val="000000"/>
                </a:solidFill>
                <a:latin typeface="Tahoma"/>
                <a:sym typeface="Wingdings" pitchFamily="2" charset="2"/>
              </a:rPr>
              <a:t>2</a:t>
            </a:r>
            <a:r>
              <a:rPr lang="fr-FR" altLang="fr-FR" sz="2000" kern="0" dirty="0">
                <a:solidFill>
                  <a:srgbClr val="000000"/>
                </a:solidFill>
                <a:latin typeface="Tahoma"/>
                <a:sym typeface="Wingdings" pitchFamily="2" charset="2"/>
              </a:rPr>
              <a:t>+dist(5,8)</a:t>
            </a:r>
            <a:r>
              <a:rPr lang="fr-FR" altLang="fr-FR" sz="2000" kern="0" baseline="30000" dirty="0">
                <a:solidFill>
                  <a:srgbClr val="000000"/>
                </a:solidFill>
                <a:latin typeface="Tahoma"/>
                <a:sym typeface="Wingdings" pitchFamily="2" charset="2"/>
              </a:rPr>
              <a:t>2</a:t>
            </a:r>
            <a:r>
              <a:rPr lang="fr-FR" altLang="fr-FR" sz="2000" kern="0" dirty="0">
                <a:solidFill>
                  <a:srgbClr val="000000"/>
                </a:solidFill>
                <a:latin typeface="Tahoma"/>
                <a:sym typeface="Wingdings" pitchFamily="2" charset="2"/>
              </a:rPr>
              <a:t>+dist(9,8)</a:t>
            </a:r>
            <a:r>
              <a:rPr lang="fr-FR" altLang="fr-FR" sz="2000" kern="0" baseline="30000" dirty="0">
                <a:solidFill>
                  <a:srgbClr val="000000"/>
                </a:solidFill>
                <a:latin typeface="Tahoma"/>
                <a:sym typeface="Wingdings" pitchFamily="2" charset="2"/>
              </a:rPr>
              <a:t>2</a:t>
            </a:r>
            <a:r>
              <a:rPr lang="fr-FR" altLang="fr-FR" sz="2000" kern="0" dirty="0">
                <a:solidFill>
                  <a:srgbClr val="000000"/>
                </a:solidFill>
                <a:latin typeface="Tahoma"/>
                <a:sym typeface="Wingdings" pitchFamily="2" charset="2"/>
              </a:rPr>
              <a:t>=23</a:t>
            </a:r>
          </a:p>
          <a:p>
            <a:pPr marL="342900" indent="-342900">
              <a:buClr>
                <a:srgbClr val="3333CC"/>
              </a:buClr>
              <a:buSzPct val="60000"/>
              <a:buFont typeface="Wingdings" pitchFamily="2" charset="2"/>
              <a:buNone/>
              <a:defRPr/>
            </a:pPr>
            <a:endParaRPr lang="fr-FR" altLang="fr-FR" sz="2000" kern="0" dirty="0">
              <a:solidFill>
                <a:srgbClr val="000000"/>
              </a:solidFill>
              <a:latin typeface="Tahoma"/>
              <a:sym typeface="Wingdings" pitchFamily="2" charset="2"/>
            </a:endParaRPr>
          </a:p>
          <a:p>
            <a:pPr marL="342900" indent="-342900">
              <a:buClr>
                <a:srgbClr val="3333CC"/>
              </a:buClr>
              <a:buSzPct val="60000"/>
              <a:buFont typeface="Wingdings" pitchFamily="2" charset="2"/>
              <a:buChar char="n"/>
              <a:defRPr/>
            </a:pPr>
            <a:r>
              <a:rPr lang="fr-FR" altLang="fr-FR" sz="2000" kern="0" dirty="0">
                <a:solidFill>
                  <a:srgbClr val="000000"/>
                </a:solidFill>
                <a:latin typeface="Tahoma"/>
              </a:rPr>
              <a:t>Comparons 1 et 3</a:t>
            </a:r>
            <a:r>
              <a:rPr lang="fr-FR" altLang="fr-FR" sz="2000" kern="0" dirty="0">
                <a:solidFill>
                  <a:srgbClr val="000000"/>
                </a:solidFill>
                <a:latin typeface="Tahoma"/>
                <a:sym typeface="Wingdings" pitchFamily="2" charset="2"/>
              </a:rPr>
              <a:t>M={3,8}C1={1,</a:t>
            </a:r>
            <a:r>
              <a:rPr lang="fr-FR" altLang="fr-FR" sz="2000" u="sng" kern="0" dirty="0">
                <a:solidFill>
                  <a:srgbClr val="000000"/>
                </a:solidFill>
                <a:latin typeface="Tahoma"/>
                <a:sym typeface="Wingdings" pitchFamily="2" charset="2"/>
              </a:rPr>
              <a:t>3</a:t>
            </a:r>
            <a:r>
              <a:rPr lang="fr-FR" altLang="fr-FR" sz="2000" kern="0" dirty="0">
                <a:solidFill>
                  <a:srgbClr val="000000"/>
                </a:solidFill>
                <a:latin typeface="Tahoma"/>
                <a:sym typeface="Wingdings" pitchFamily="2" charset="2"/>
              </a:rPr>
              <a:t>,4,5} et C2={</a:t>
            </a:r>
            <a:r>
              <a:rPr lang="fr-FR" altLang="fr-FR" sz="2000" u="sng" kern="0" dirty="0">
                <a:solidFill>
                  <a:srgbClr val="000000"/>
                </a:solidFill>
                <a:latin typeface="Tahoma"/>
                <a:sym typeface="Wingdings" pitchFamily="2" charset="2"/>
              </a:rPr>
              <a:t>8</a:t>
            </a:r>
            <a:r>
              <a:rPr lang="fr-FR" altLang="fr-FR" sz="2000" kern="0" dirty="0">
                <a:solidFill>
                  <a:srgbClr val="000000"/>
                </a:solidFill>
                <a:latin typeface="Tahoma"/>
                <a:sym typeface="Wingdings" pitchFamily="2" charset="2"/>
              </a:rPr>
              <a:t>,9}</a:t>
            </a:r>
            <a:r>
              <a:rPr lang="fr-FR" altLang="fr-FR" sz="2000" kern="0" dirty="0">
                <a:solidFill>
                  <a:srgbClr val="000000"/>
                </a:solidFill>
                <a:latin typeface="Tahoma"/>
              </a:rPr>
              <a:t> </a:t>
            </a:r>
          </a:p>
          <a:p>
            <a:pPr marL="342900" indent="-342900">
              <a:buClr>
                <a:srgbClr val="3333CC"/>
              </a:buClr>
              <a:buSzPct val="60000"/>
              <a:buFont typeface="Wingdings" pitchFamily="2" charset="2"/>
              <a:buNone/>
              <a:defRPr/>
            </a:pPr>
            <a:r>
              <a:rPr lang="fr-FR" altLang="fr-FR" sz="2000" kern="0" dirty="0">
                <a:solidFill>
                  <a:srgbClr val="000000"/>
                </a:solidFill>
                <a:latin typeface="Tahoma"/>
              </a:rPr>
              <a:t>	E</a:t>
            </a:r>
            <a:r>
              <a:rPr lang="fr-FR" altLang="fr-FR" sz="2000" kern="0" baseline="-25000" dirty="0">
                <a:solidFill>
                  <a:srgbClr val="000000"/>
                </a:solidFill>
                <a:latin typeface="Tahoma"/>
              </a:rPr>
              <a:t>{3,8}</a:t>
            </a:r>
            <a:r>
              <a:rPr lang="fr-FR" altLang="fr-FR" sz="2000" kern="0" dirty="0">
                <a:solidFill>
                  <a:srgbClr val="000000"/>
                </a:solidFill>
                <a:latin typeface="Tahoma"/>
              </a:rPr>
              <a:t> =</a:t>
            </a:r>
            <a:r>
              <a:rPr lang="fr-FR" altLang="fr-FR" sz="2000" kern="0" dirty="0" err="1">
                <a:solidFill>
                  <a:srgbClr val="000000"/>
                </a:solidFill>
                <a:latin typeface="Tahoma"/>
              </a:rPr>
              <a:t>dist</a:t>
            </a:r>
            <a:r>
              <a:rPr lang="fr-FR" altLang="fr-FR" sz="2000" kern="0" dirty="0">
                <a:solidFill>
                  <a:srgbClr val="000000"/>
                </a:solidFill>
                <a:latin typeface="Tahoma"/>
              </a:rPr>
              <a:t>(1,3)</a:t>
            </a:r>
            <a:r>
              <a:rPr lang="fr-FR" altLang="fr-FR" sz="2000" kern="0" baseline="30000" dirty="0">
                <a:solidFill>
                  <a:srgbClr val="000000"/>
                </a:solidFill>
                <a:latin typeface="Tahoma"/>
              </a:rPr>
              <a:t>2</a:t>
            </a:r>
            <a:r>
              <a:rPr lang="fr-FR" altLang="fr-FR" sz="2000" kern="0" dirty="0">
                <a:solidFill>
                  <a:srgbClr val="000000"/>
                </a:solidFill>
                <a:latin typeface="Tahoma"/>
              </a:rPr>
              <a:t>+dist(4,3)</a:t>
            </a:r>
            <a:r>
              <a:rPr lang="fr-FR" altLang="fr-FR" sz="2000" kern="0" baseline="30000" dirty="0">
                <a:solidFill>
                  <a:srgbClr val="000000"/>
                </a:solidFill>
                <a:latin typeface="Tahoma"/>
              </a:rPr>
              <a:t>2</a:t>
            </a:r>
            <a:r>
              <a:rPr lang="fr-FR" altLang="fr-FR" sz="2000" kern="0" dirty="0">
                <a:solidFill>
                  <a:srgbClr val="000000"/>
                </a:solidFill>
                <a:latin typeface="Tahoma"/>
              </a:rPr>
              <a:t>+dist(5,3)</a:t>
            </a:r>
            <a:r>
              <a:rPr lang="fr-FR" altLang="fr-FR" sz="2000" kern="0" baseline="30000" dirty="0">
                <a:solidFill>
                  <a:srgbClr val="000000"/>
                </a:solidFill>
                <a:latin typeface="Tahoma"/>
              </a:rPr>
              <a:t>2</a:t>
            </a:r>
            <a:r>
              <a:rPr lang="fr-FR" altLang="fr-FR" sz="2000" kern="0" dirty="0">
                <a:solidFill>
                  <a:srgbClr val="000000"/>
                </a:solidFill>
                <a:latin typeface="Tahoma"/>
              </a:rPr>
              <a:t>+dist(9,8)</a:t>
            </a:r>
            <a:r>
              <a:rPr lang="fr-FR" altLang="fr-FR" sz="2000" kern="0" baseline="30000" dirty="0">
                <a:solidFill>
                  <a:srgbClr val="000000"/>
                </a:solidFill>
                <a:latin typeface="Tahoma"/>
              </a:rPr>
              <a:t>2</a:t>
            </a:r>
            <a:r>
              <a:rPr lang="fr-FR" altLang="fr-FR" sz="2000" kern="0" dirty="0">
                <a:solidFill>
                  <a:srgbClr val="000000"/>
                </a:solidFill>
                <a:latin typeface="Tahoma"/>
              </a:rPr>
              <a:t>=10</a:t>
            </a:r>
          </a:p>
          <a:p>
            <a:pPr marL="342900" indent="-342900">
              <a:buClr>
                <a:srgbClr val="3333CC"/>
              </a:buClr>
              <a:buSzPct val="60000"/>
              <a:buFont typeface="Wingdings" pitchFamily="2" charset="2"/>
              <a:buNone/>
              <a:defRPr/>
            </a:pPr>
            <a:r>
              <a:rPr lang="fr-FR" altLang="fr-FR" sz="2000" kern="0" dirty="0">
                <a:solidFill>
                  <a:srgbClr val="000000"/>
                </a:solidFill>
                <a:latin typeface="Tahoma"/>
                <a:sym typeface="Wingdings" pitchFamily="2" charset="2"/>
              </a:rPr>
              <a:t>	E </a:t>
            </a:r>
            <a:r>
              <a:rPr lang="fr-FR" altLang="fr-FR" sz="2000" kern="0" baseline="-25000" dirty="0">
                <a:solidFill>
                  <a:srgbClr val="000000"/>
                </a:solidFill>
                <a:latin typeface="Tahoma"/>
              </a:rPr>
              <a:t>{3,8}</a:t>
            </a:r>
            <a:r>
              <a:rPr lang="fr-FR" altLang="fr-FR" sz="2000" kern="0" dirty="0">
                <a:solidFill>
                  <a:srgbClr val="000000"/>
                </a:solidFill>
                <a:latin typeface="Tahoma"/>
              </a:rPr>
              <a:t> - </a:t>
            </a:r>
            <a:r>
              <a:rPr lang="fr-FR" altLang="fr-FR" sz="2000" kern="0" dirty="0">
                <a:solidFill>
                  <a:srgbClr val="000000"/>
                </a:solidFill>
                <a:latin typeface="Tahoma"/>
                <a:sym typeface="Wingdings" pitchFamily="2" charset="2"/>
              </a:rPr>
              <a:t>E</a:t>
            </a:r>
            <a:r>
              <a:rPr lang="fr-FR" altLang="fr-FR" sz="2000" kern="0" baseline="-25000" dirty="0">
                <a:solidFill>
                  <a:srgbClr val="000000"/>
                </a:solidFill>
                <a:latin typeface="Tahoma"/>
                <a:sym typeface="Wingdings" pitchFamily="2" charset="2"/>
              </a:rPr>
              <a:t>{1,8}</a:t>
            </a:r>
            <a:r>
              <a:rPr lang="fr-FR" altLang="fr-FR" sz="2000" kern="0" dirty="0">
                <a:solidFill>
                  <a:srgbClr val="000000"/>
                </a:solidFill>
                <a:latin typeface="Tahoma"/>
                <a:sym typeface="Wingdings" pitchFamily="2" charset="2"/>
              </a:rPr>
              <a:t>= -13 &lt;0 donc le remplacement est fait.</a:t>
            </a:r>
          </a:p>
          <a:p>
            <a:pPr marL="342900" indent="-342900">
              <a:buClr>
                <a:srgbClr val="3333CC"/>
              </a:buClr>
              <a:buSzPct val="60000"/>
              <a:buFont typeface="Wingdings" pitchFamily="2" charset="2"/>
              <a:buNone/>
              <a:defRPr/>
            </a:pPr>
            <a:endParaRPr lang="fr-FR" altLang="fr-FR" sz="2000" kern="0" dirty="0">
              <a:solidFill>
                <a:srgbClr val="000000"/>
              </a:solidFill>
              <a:latin typeface="Tahoma"/>
              <a:sym typeface="Wingdings" pitchFamily="2" charset="2"/>
            </a:endParaRPr>
          </a:p>
          <a:p>
            <a:pPr marL="342900" indent="-342900">
              <a:buClr>
                <a:srgbClr val="3333CC"/>
              </a:buClr>
              <a:buSzPct val="60000"/>
              <a:buFont typeface="Wingdings" pitchFamily="2" charset="2"/>
              <a:buChar char="n"/>
              <a:defRPr/>
            </a:pPr>
            <a:r>
              <a:rPr lang="fr-FR" altLang="fr-FR" sz="2000" kern="0" dirty="0">
                <a:solidFill>
                  <a:srgbClr val="000000"/>
                </a:solidFill>
                <a:latin typeface="Tahoma"/>
                <a:sym typeface="Wingdings" pitchFamily="2" charset="2"/>
              </a:rPr>
              <a:t>Comparons 3 et 4 M={4,8} C1 et C2 inchangés et E</a:t>
            </a:r>
            <a:r>
              <a:rPr lang="fr-FR" altLang="fr-FR" sz="2000" kern="0" baseline="-25000" dirty="0">
                <a:solidFill>
                  <a:srgbClr val="000000"/>
                </a:solidFill>
                <a:latin typeface="Tahoma"/>
                <a:sym typeface="Wingdings" pitchFamily="2" charset="2"/>
              </a:rPr>
              <a:t>{4,8}</a:t>
            </a:r>
            <a:r>
              <a:rPr lang="fr-FR" altLang="fr-FR" sz="2000" kern="0" dirty="0">
                <a:solidFill>
                  <a:srgbClr val="000000"/>
                </a:solidFill>
                <a:latin typeface="Tahoma"/>
                <a:sym typeface="Wingdings" pitchFamily="2" charset="2"/>
              </a:rPr>
              <a:t>=</a:t>
            </a:r>
            <a:r>
              <a:rPr lang="fr-FR" altLang="fr-FR" sz="2000" kern="0" dirty="0" err="1">
                <a:solidFill>
                  <a:srgbClr val="000000"/>
                </a:solidFill>
                <a:latin typeface="Tahoma"/>
                <a:sym typeface="Wingdings" pitchFamily="2" charset="2"/>
              </a:rPr>
              <a:t>dist</a:t>
            </a:r>
            <a:r>
              <a:rPr lang="fr-FR" altLang="fr-FR" sz="2000" kern="0" dirty="0">
                <a:solidFill>
                  <a:srgbClr val="000000"/>
                </a:solidFill>
                <a:latin typeface="Tahoma"/>
                <a:sym typeface="Wingdings" pitchFamily="2" charset="2"/>
              </a:rPr>
              <a:t>(1,4)</a:t>
            </a:r>
            <a:r>
              <a:rPr lang="fr-FR" altLang="fr-FR" sz="2000" kern="0" baseline="30000" dirty="0">
                <a:solidFill>
                  <a:srgbClr val="000000"/>
                </a:solidFill>
                <a:latin typeface="Tahoma"/>
                <a:sym typeface="Wingdings" pitchFamily="2" charset="2"/>
              </a:rPr>
              <a:t>2</a:t>
            </a:r>
            <a:r>
              <a:rPr lang="fr-FR" altLang="fr-FR" sz="2000" kern="0" dirty="0">
                <a:solidFill>
                  <a:srgbClr val="000000"/>
                </a:solidFill>
                <a:latin typeface="Tahoma"/>
                <a:sym typeface="Wingdings" pitchFamily="2" charset="2"/>
              </a:rPr>
              <a:t>+dist(3,4)</a:t>
            </a:r>
            <a:r>
              <a:rPr lang="fr-FR" altLang="fr-FR" sz="2000" kern="0" baseline="30000" dirty="0">
                <a:solidFill>
                  <a:srgbClr val="000000"/>
                </a:solidFill>
                <a:latin typeface="Tahoma"/>
                <a:sym typeface="Wingdings" pitchFamily="2" charset="2"/>
              </a:rPr>
              <a:t>2</a:t>
            </a:r>
            <a:r>
              <a:rPr lang="fr-FR" altLang="fr-FR" sz="2000" kern="0" dirty="0">
                <a:solidFill>
                  <a:srgbClr val="000000"/>
                </a:solidFill>
                <a:latin typeface="Tahoma"/>
                <a:sym typeface="Wingdings" pitchFamily="2" charset="2"/>
              </a:rPr>
              <a:t>+dist(5,4)</a:t>
            </a:r>
            <a:r>
              <a:rPr lang="fr-FR" altLang="fr-FR" sz="2000" kern="0" baseline="30000" dirty="0">
                <a:solidFill>
                  <a:srgbClr val="000000"/>
                </a:solidFill>
                <a:latin typeface="Tahoma"/>
                <a:sym typeface="Wingdings" pitchFamily="2" charset="2"/>
              </a:rPr>
              <a:t>2</a:t>
            </a:r>
            <a:r>
              <a:rPr lang="fr-FR" altLang="fr-FR" sz="2000" kern="0" dirty="0">
                <a:solidFill>
                  <a:srgbClr val="000000"/>
                </a:solidFill>
                <a:latin typeface="Tahoma"/>
                <a:sym typeface="Wingdings" pitchFamily="2" charset="2"/>
              </a:rPr>
              <a:t>+dist(8,9)</a:t>
            </a:r>
            <a:r>
              <a:rPr lang="fr-FR" altLang="fr-FR" sz="2000" kern="0" baseline="30000" dirty="0">
                <a:solidFill>
                  <a:srgbClr val="000000"/>
                </a:solidFill>
                <a:latin typeface="Tahoma"/>
                <a:sym typeface="Wingdings" pitchFamily="2" charset="2"/>
              </a:rPr>
              <a:t>2</a:t>
            </a:r>
            <a:r>
              <a:rPr lang="fr-FR" altLang="fr-FR" sz="2000" kern="0" dirty="0">
                <a:solidFill>
                  <a:srgbClr val="000000"/>
                </a:solidFill>
                <a:latin typeface="Tahoma"/>
                <a:sym typeface="Wingdings" pitchFamily="2" charset="2"/>
              </a:rPr>
              <a:t>= 12 3 n’est pas remplacé par 4</a:t>
            </a:r>
          </a:p>
          <a:p>
            <a:pPr marL="342900" indent="-342900">
              <a:buClr>
                <a:srgbClr val="3333CC"/>
              </a:buClr>
              <a:buSzPct val="60000"/>
              <a:buFont typeface="Wingdings" pitchFamily="2" charset="2"/>
              <a:buChar char="n"/>
              <a:defRPr/>
            </a:pPr>
            <a:r>
              <a:rPr lang="fr-FR" altLang="fr-FR" sz="2000" kern="0" dirty="0">
                <a:solidFill>
                  <a:srgbClr val="000000"/>
                </a:solidFill>
                <a:latin typeface="Tahoma"/>
                <a:sym typeface="Wingdings" pitchFamily="2" charset="2"/>
              </a:rPr>
              <a:t>Comparons 3 et 5M={5,8} C1 et C2 inchangés et E{5,8}&gt;E{3,8}</a:t>
            </a:r>
          </a:p>
          <a:p>
            <a:pPr marL="365760" indent="-365760" fontAlgn="auto">
              <a:spcAft>
                <a:spcPts val="0"/>
              </a:spcAft>
              <a:defRPr/>
            </a:pPr>
            <a:endParaRPr lang="fr-FR" dirty="0">
              <a:solidFill>
                <a:schemeClr val="tx1">
                  <a:lumMod val="85000"/>
                  <a:lumOff val="15000"/>
                </a:schemeClr>
              </a:solidFill>
            </a:endParaRPr>
          </a:p>
        </p:txBody>
      </p:sp>
      <p:sp>
        <p:nvSpPr>
          <p:cNvPr id="31746" name="Title 2"/>
          <p:cNvSpPr>
            <a:spLocks noGrp="1"/>
          </p:cNvSpPr>
          <p:nvPr>
            <p:ph type="title"/>
          </p:nvPr>
        </p:nvSpPr>
        <p:spPr/>
        <p:txBody>
          <a:bodyPr/>
          <a:lstStyle/>
          <a:p>
            <a:r>
              <a:rPr lang="fr-FR" sz="4400">
                <a:solidFill>
                  <a:srgbClr val="895D1D"/>
                </a:solidFill>
              </a:rPr>
              <a:t>Algorithme K-Medoids</a:t>
            </a:r>
            <a:endParaRPr lang="fr-F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Content Placeholder 1"/>
          <p:cNvSpPr>
            <a:spLocks noGrp="1"/>
          </p:cNvSpPr>
          <p:nvPr>
            <p:ph idx="1"/>
          </p:nvPr>
        </p:nvSpPr>
        <p:spPr>
          <a:xfrm>
            <a:off x="179388" y="1989138"/>
            <a:ext cx="8856662" cy="4679950"/>
          </a:xfrm>
        </p:spPr>
        <p:txBody>
          <a:bodyPr/>
          <a:lstStyle/>
          <a:p>
            <a:r>
              <a:rPr lang="fr-FR"/>
              <a:t>Le clustering hiérarchique construit une hiérarchie de clusters, ou, en d'autres termes, un arbre de clusters, également connu sous le nom de dendrogramme. Ce dendrogramme décrit l'ordre dans lequel les points sont fusionnés (vue de bas en haut) ou les clusters sont fractionnés (vue de haut en bas). Le dendrogramme peut être coupé à différents niveaux pour donner les différents clusters des données</a:t>
            </a:r>
          </a:p>
        </p:txBody>
      </p:sp>
      <p:sp>
        <p:nvSpPr>
          <p:cNvPr id="32770" name="Title 2"/>
          <p:cNvSpPr>
            <a:spLocks noGrp="1"/>
          </p:cNvSpPr>
          <p:nvPr>
            <p:ph type="title"/>
          </p:nvPr>
        </p:nvSpPr>
        <p:spPr/>
        <p:txBody>
          <a:bodyPr/>
          <a:lstStyle/>
          <a:p>
            <a:r>
              <a:rPr lang="fr-FR" altLang="fr-FR"/>
              <a:t>Clustering Hiérarchique</a:t>
            </a:r>
            <a:endParaRPr lang="fr-F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Content Placeholder 1"/>
          <p:cNvSpPr>
            <a:spLocks noGrp="1"/>
          </p:cNvSpPr>
          <p:nvPr>
            <p:ph idx="1"/>
          </p:nvPr>
        </p:nvSpPr>
        <p:spPr>
          <a:xfrm>
            <a:off x="107950" y="1989138"/>
            <a:ext cx="8856663" cy="4752975"/>
          </a:xfrm>
        </p:spPr>
        <p:txBody>
          <a:bodyPr/>
          <a:lstStyle/>
          <a:p>
            <a:r>
              <a:rPr lang="fr-FR" sz="2000"/>
              <a:t>Il y a deux approches de base pour générer un clustering hiérarchique :</a:t>
            </a:r>
          </a:p>
          <a:p>
            <a:pPr hangingPunct="0"/>
            <a:r>
              <a:rPr lang="fr-FR" sz="2000" b="1"/>
              <a:t>Agglomérative </a:t>
            </a:r>
            <a:r>
              <a:rPr lang="fr-FR" sz="2000"/>
              <a:t>: commence par des clusters d'un seul point (singleton) et fusionne</a:t>
            </a:r>
            <a:r>
              <a:rPr lang="fr-FR" sz="2000" b="1"/>
              <a:t> </a:t>
            </a:r>
            <a:r>
              <a:rPr lang="fr-FR" sz="2000"/>
              <a:t>récursivement deux ou plusieurs clusters les plus appropriées. </a:t>
            </a:r>
          </a:p>
          <a:p>
            <a:r>
              <a:rPr lang="fr-FR" sz="2000" b="1"/>
              <a:t>Divisive : </a:t>
            </a:r>
            <a:r>
              <a:rPr lang="fr-FR" sz="2000"/>
              <a:t>commence par un cluster de tous les points de données et fractionne</a:t>
            </a:r>
            <a:r>
              <a:rPr lang="fr-FR" sz="2000" b="1"/>
              <a:t> </a:t>
            </a:r>
            <a:r>
              <a:rPr lang="fr-FR" sz="2000"/>
              <a:t>récursivement le cluster le plus approprié.</a:t>
            </a:r>
          </a:p>
          <a:p>
            <a:endParaRPr lang="fr-FR"/>
          </a:p>
        </p:txBody>
      </p:sp>
      <p:sp>
        <p:nvSpPr>
          <p:cNvPr id="33794" name="Title 2"/>
          <p:cNvSpPr>
            <a:spLocks noGrp="1"/>
          </p:cNvSpPr>
          <p:nvPr>
            <p:ph type="title"/>
          </p:nvPr>
        </p:nvSpPr>
        <p:spPr/>
        <p:txBody>
          <a:bodyPr/>
          <a:lstStyle/>
          <a:p>
            <a:r>
              <a:rPr lang="fr-FR" altLang="fr-FR">
                <a:solidFill>
                  <a:srgbClr val="895D1D"/>
                </a:solidFill>
              </a:rPr>
              <a:t>Clustering Hiérarchique</a:t>
            </a:r>
            <a:endParaRPr lang="fr-FR"/>
          </a:p>
        </p:txBody>
      </p:sp>
      <p:pic>
        <p:nvPicPr>
          <p:cNvPr id="33795" name="Picture 3"/>
          <p:cNvPicPr>
            <a:picLocks noChangeAspect="1" noChangeArrowheads="1"/>
          </p:cNvPicPr>
          <p:nvPr/>
        </p:nvPicPr>
        <p:blipFill>
          <a:blip r:embed="rId3" cstate="print"/>
          <a:srcRect/>
          <a:stretch>
            <a:fillRect/>
          </a:stretch>
        </p:blipFill>
        <p:spPr bwMode="auto">
          <a:xfrm>
            <a:off x="1331913" y="3789363"/>
            <a:ext cx="6264275" cy="266382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rtlCol="0">
            <a:normAutofit/>
          </a:bodyPr>
          <a:lstStyle/>
          <a:p>
            <a:pPr marL="0" indent="0" fontAlgn="auto">
              <a:spcAft>
                <a:spcPts val="0"/>
              </a:spcAft>
              <a:buFont typeface="Wingdings" pitchFamily="2" charset="2"/>
              <a:buNone/>
              <a:defRPr/>
            </a:pPr>
            <a:endParaRPr lang="fr-FR" dirty="0">
              <a:solidFill>
                <a:schemeClr val="tx1">
                  <a:lumMod val="85000"/>
                  <a:lumOff val="15000"/>
                </a:schemeClr>
              </a:solidFill>
            </a:endParaRPr>
          </a:p>
          <a:p>
            <a:pPr marL="365760" indent="-365760" fontAlgn="auto" hangingPunct="0">
              <a:spcAft>
                <a:spcPts val="0"/>
              </a:spcAft>
              <a:defRPr/>
            </a:pPr>
            <a:r>
              <a:rPr lang="fr-FR" dirty="0">
                <a:solidFill>
                  <a:schemeClr val="tx1">
                    <a:lumMod val="85000"/>
                    <a:lumOff val="15000"/>
                  </a:schemeClr>
                </a:solidFill>
              </a:rPr>
              <a:t>Calculer l’arbre de couverture minimum (MST ou Minimum </a:t>
            </a:r>
            <a:r>
              <a:rPr lang="fr-FR" dirty="0" err="1">
                <a:solidFill>
                  <a:schemeClr val="tx1">
                    <a:lumMod val="85000"/>
                    <a:lumOff val="15000"/>
                  </a:schemeClr>
                </a:solidFill>
              </a:rPr>
              <a:t>Spanning</a:t>
            </a:r>
            <a:r>
              <a:rPr lang="fr-FR" dirty="0">
                <a:solidFill>
                  <a:schemeClr val="tx1">
                    <a:lumMod val="85000"/>
                    <a:lumOff val="15000"/>
                  </a:schemeClr>
                </a:solidFill>
              </a:rPr>
              <a:t> </a:t>
            </a:r>
            <a:r>
              <a:rPr lang="fr-FR" dirty="0" err="1">
                <a:solidFill>
                  <a:schemeClr val="tx1">
                    <a:lumMod val="85000"/>
                    <a:lumOff val="15000"/>
                  </a:schemeClr>
                </a:solidFill>
              </a:rPr>
              <a:t>Tree</a:t>
            </a:r>
            <a:r>
              <a:rPr lang="fr-FR" dirty="0">
                <a:solidFill>
                  <a:schemeClr val="tx1">
                    <a:lumMod val="85000"/>
                    <a:lumOff val="15000"/>
                  </a:schemeClr>
                </a:solidFill>
              </a:rPr>
              <a:t>) du graphe de proximité. </a:t>
            </a:r>
          </a:p>
          <a:p>
            <a:pPr marL="365760" indent="-365760" fontAlgn="auto" hangingPunct="0">
              <a:spcAft>
                <a:spcPts val="0"/>
              </a:spcAft>
              <a:defRPr/>
            </a:pPr>
            <a:endParaRPr lang="fr-FR" dirty="0">
              <a:solidFill>
                <a:schemeClr val="tx1">
                  <a:lumMod val="85000"/>
                  <a:lumOff val="15000"/>
                </a:schemeClr>
              </a:solidFill>
            </a:endParaRPr>
          </a:p>
          <a:p>
            <a:pPr marL="365760" indent="-365760" fontAlgn="auto" hangingPunct="0">
              <a:spcAft>
                <a:spcPts val="0"/>
              </a:spcAft>
              <a:defRPr/>
            </a:pPr>
            <a:r>
              <a:rPr lang="fr-FR" dirty="0">
                <a:solidFill>
                  <a:schemeClr val="tx1">
                    <a:lumMod val="85000"/>
                    <a:lumOff val="15000"/>
                  </a:schemeClr>
                </a:solidFill>
              </a:rPr>
              <a:t>Créer un nouveau cluster en enlevant le lien correspondant à la plus grande distance. </a:t>
            </a:r>
          </a:p>
          <a:p>
            <a:pPr marL="0" indent="0" fontAlgn="auto">
              <a:spcAft>
                <a:spcPts val="0"/>
              </a:spcAft>
              <a:buFont typeface="Wingdings" pitchFamily="2" charset="2"/>
              <a:buNone/>
              <a:defRPr/>
            </a:pPr>
            <a:endParaRPr lang="fr-FR" dirty="0">
              <a:solidFill>
                <a:schemeClr val="tx1">
                  <a:lumMod val="85000"/>
                  <a:lumOff val="15000"/>
                </a:schemeClr>
              </a:solidFill>
            </a:endParaRPr>
          </a:p>
          <a:p>
            <a:pPr marL="365760" indent="-365760" fontAlgn="auto" hangingPunct="0">
              <a:spcAft>
                <a:spcPts val="0"/>
              </a:spcAft>
              <a:defRPr/>
            </a:pPr>
            <a:r>
              <a:rPr lang="fr-FR" dirty="0">
                <a:solidFill>
                  <a:schemeClr val="tx1">
                    <a:lumMod val="85000"/>
                    <a:lumOff val="15000"/>
                  </a:schemeClr>
                </a:solidFill>
              </a:rPr>
              <a:t>Répéter l'étape 2 jusqu'à ce que seulement les clusters de singleton restent. </a:t>
            </a:r>
          </a:p>
          <a:p>
            <a:pPr marL="0" indent="0" fontAlgn="auto" hangingPunct="0">
              <a:spcAft>
                <a:spcPts val="0"/>
              </a:spcAft>
              <a:buFont typeface="Wingdings" pitchFamily="2" charset="2"/>
              <a:buNone/>
              <a:defRPr/>
            </a:pPr>
            <a:endParaRPr lang="fr-FR" dirty="0">
              <a:solidFill>
                <a:schemeClr val="tx1">
                  <a:lumMod val="85000"/>
                  <a:lumOff val="15000"/>
                </a:schemeClr>
              </a:solidFill>
            </a:endParaRPr>
          </a:p>
          <a:p>
            <a:pPr marL="365760" indent="-365760" fontAlgn="auto">
              <a:spcAft>
                <a:spcPts val="0"/>
              </a:spcAft>
              <a:defRPr/>
            </a:pPr>
            <a:endParaRPr lang="fr-FR" dirty="0">
              <a:solidFill>
                <a:schemeClr val="tx1">
                  <a:lumMod val="85000"/>
                  <a:lumOff val="15000"/>
                </a:schemeClr>
              </a:solidFill>
            </a:endParaRPr>
          </a:p>
        </p:txBody>
      </p:sp>
      <p:sp>
        <p:nvSpPr>
          <p:cNvPr id="35842" name="Title 2"/>
          <p:cNvSpPr>
            <a:spLocks noGrp="1"/>
          </p:cNvSpPr>
          <p:nvPr>
            <p:ph type="title"/>
          </p:nvPr>
        </p:nvSpPr>
        <p:spPr/>
        <p:txBody>
          <a:bodyPr/>
          <a:lstStyle/>
          <a:p>
            <a:r>
              <a:rPr lang="fr-FR" sz="4400" b="1"/>
              <a:t>Approche Divisive</a:t>
            </a:r>
            <a:endParaRPr lang="fr-FR" sz="4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950" y="2060575"/>
            <a:ext cx="8928100" cy="4681538"/>
          </a:xfrm>
        </p:spPr>
        <p:txBody>
          <a:bodyPr rtlCol="0">
            <a:normAutofit lnSpcReduction="10000"/>
          </a:bodyPr>
          <a:lstStyle/>
          <a:p>
            <a:pPr marL="365760" indent="-365760" fontAlgn="auto" hangingPunct="0">
              <a:spcAft>
                <a:spcPts val="0"/>
              </a:spcAft>
              <a:defRPr/>
            </a:pPr>
            <a:r>
              <a:rPr lang="fr-FR" dirty="0">
                <a:solidFill>
                  <a:schemeClr val="tx1">
                    <a:lumMod val="85000"/>
                    <a:lumOff val="15000"/>
                  </a:schemeClr>
                </a:solidFill>
              </a:rPr>
              <a:t>algorithme de Lance-Williams [Lance et al,67] :</a:t>
            </a:r>
          </a:p>
          <a:p>
            <a:pPr marL="0" indent="0" fontAlgn="auto" hangingPunct="0">
              <a:spcAft>
                <a:spcPts val="0"/>
              </a:spcAft>
              <a:buFont typeface="Wingdings" pitchFamily="2" charset="2"/>
              <a:buNone/>
              <a:defRPr/>
            </a:pPr>
            <a:endParaRPr lang="fr-FR" dirty="0">
              <a:solidFill>
                <a:schemeClr val="tx1">
                  <a:lumMod val="85000"/>
                  <a:lumOff val="15000"/>
                </a:schemeClr>
              </a:solidFill>
            </a:endParaRPr>
          </a:p>
          <a:p>
            <a:pPr marL="365760" indent="-365760" fontAlgn="auto" hangingPunct="0">
              <a:spcAft>
                <a:spcPts val="0"/>
              </a:spcAft>
              <a:defRPr/>
            </a:pPr>
            <a:r>
              <a:rPr lang="fr-FR" dirty="0">
                <a:solidFill>
                  <a:schemeClr val="tx1">
                    <a:lumMod val="85000"/>
                    <a:lumOff val="15000"/>
                  </a:schemeClr>
                </a:solidFill>
              </a:rPr>
              <a:t>Calculer la matrice de proximité. </a:t>
            </a:r>
          </a:p>
          <a:p>
            <a:pPr marL="365760" indent="-365760" fontAlgn="auto" hangingPunct="0">
              <a:spcAft>
                <a:spcPts val="0"/>
              </a:spcAft>
              <a:defRPr/>
            </a:pPr>
            <a:endParaRPr lang="fr-FR" dirty="0">
              <a:solidFill>
                <a:schemeClr val="tx1">
                  <a:lumMod val="85000"/>
                  <a:lumOff val="15000"/>
                </a:schemeClr>
              </a:solidFill>
            </a:endParaRPr>
          </a:p>
          <a:p>
            <a:pPr marL="365760" indent="-365760" fontAlgn="auto" hangingPunct="0">
              <a:spcAft>
                <a:spcPts val="0"/>
              </a:spcAft>
              <a:defRPr/>
            </a:pPr>
            <a:r>
              <a:rPr lang="fr-FR" dirty="0">
                <a:solidFill>
                  <a:schemeClr val="tx1">
                    <a:lumMod val="85000"/>
                    <a:lumOff val="15000"/>
                  </a:schemeClr>
                </a:solidFill>
              </a:rPr>
              <a:t>Fusionner les deux clusters les plus proches (les plus similaires). </a:t>
            </a:r>
          </a:p>
          <a:p>
            <a:pPr marL="365760" indent="-365760" fontAlgn="auto" hangingPunct="0">
              <a:spcAft>
                <a:spcPts val="0"/>
              </a:spcAft>
              <a:defRPr/>
            </a:pPr>
            <a:endParaRPr lang="fr-FR" dirty="0">
              <a:solidFill>
                <a:schemeClr val="tx1">
                  <a:lumMod val="85000"/>
                  <a:lumOff val="15000"/>
                </a:schemeClr>
              </a:solidFill>
            </a:endParaRPr>
          </a:p>
          <a:p>
            <a:pPr marL="365760" indent="-365760" fontAlgn="auto" hangingPunct="0">
              <a:spcAft>
                <a:spcPts val="0"/>
              </a:spcAft>
              <a:defRPr/>
            </a:pPr>
            <a:r>
              <a:rPr lang="fr-FR" dirty="0">
                <a:solidFill>
                  <a:schemeClr val="tx1">
                    <a:lumMod val="85000"/>
                    <a:lumOff val="15000"/>
                  </a:schemeClr>
                </a:solidFill>
              </a:rPr>
              <a:t>Mettre à jour la matrice de proximité pour refléter la proximité entre le nouveau cluster et les clusters originaux.</a:t>
            </a:r>
          </a:p>
          <a:p>
            <a:pPr marL="0" indent="0" fontAlgn="auto" hangingPunct="0">
              <a:spcAft>
                <a:spcPts val="0"/>
              </a:spcAft>
              <a:buFont typeface="Wingdings" pitchFamily="2" charset="2"/>
              <a:buNone/>
              <a:defRPr/>
            </a:pPr>
            <a:r>
              <a:rPr lang="fr-FR" dirty="0">
                <a:solidFill>
                  <a:schemeClr val="tx1">
                    <a:lumMod val="85000"/>
                    <a:lumOff val="15000"/>
                  </a:schemeClr>
                </a:solidFill>
              </a:rPr>
              <a:t> </a:t>
            </a:r>
          </a:p>
          <a:p>
            <a:pPr marL="365760" indent="-365760" fontAlgn="auto" hangingPunct="0">
              <a:spcAft>
                <a:spcPts val="0"/>
              </a:spcAft>
              <a:defRPr/>
            </a:pPr>
            <a:r>
              <a:rPr lang="fr-FR" dirty="0">
                <a:solidFill>
                  <a:schemeClr val="tx1">
                    <a:lumMod val="85000"/>
                    <a:lumOff val="15000"/>
                  </a:schemeClr>
                </a:solidFill>
              </a:rPr>
              <a:t>Répéter les étapes 3 et 4 jusqu'à ce que seulement un seul cluster reste. </a:t>
            </a:r>
          </a:p>
        </p:txBody>
      </p:sp>
      <p:sp>
        <p:nvSpPr>
          <p:cNvPr id="36866" name="Title 2"/>
          <p:cNvSpPr>
            <a:spLocks noGrp="1"/>
          </p:cNvSpPr>
          <p:nvPr>
            <p:ph type="title"/>
          </p:nvPr>
        </p:nvSpPr>
        <p:spPr/>
        <p:txBody>
          <a:bodyPr/>
          <a:lstStyle/>
          <a:p>
            <a:r>
              <a:rPr lang="fr-FR" sz="4400" b="1"/>
              <a:t>Approche Agglomerative</a:t>
            </a:r>
            <a:r>
              <a:rPr lang="fr-FR" b="1"/>
              <a:t> </a:t>
            </a:r>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950" y="115888"/>
            <a:ext cx="8928100" cy="6626225"/>
          </a:xfrm>
        </p:spPr>
        <p:txBody>
          <a:bodyPr rtlCol="0">
            <a:normAutofit/>
          </a:bodyPr>
          <a:lstStyle/>
          <a:p>
            <a:pPr marL="365760" indent="-365760" fontAlgn="auto">
              <a:spcAft>
                <a:spcPts val="0"/>
              </a:spcAft>
              <a:defRPr/>
            </a:pPr>
            <a:r>
              <a:rPr lang="fr-FR" dirty="0">
                <a:solidFill>
                  <a:schemeClr val="tx1">
                    <a:lumMod val="85000"/>
                    <a:lumOff val="15000"/>
                  </a:schemeClr>
                </a:solidFill>
              </a:rPr>
              <a:t>L'étape clé de cet algorithme est le calcul de la proximité entre deux cluster et c'est à ce niveau où les diverses techniques hiérarchiques </a:t>
            </a:r>
            <a:r>
              <a:rPr lang="fr-FR" dirty="0" err="1">
                <a:solidFill>
                  <a:schemeClr val="tx1">
                    <a:lumMod val="85000"/>
                    <a:lumOff val="15000"/>
                  </a:schemeClr>
                </a:solidFill>
              </a:rPr>
              <a:t>agglomératives</a:t>
            </a:r>
            <a:r>
              <a:rPr lang="fr-FR" dirty="0">
                <a:solidFill>
                  <a:schemeClr val="tx1">
                    <a:lumMod val="85000"/>
                    <a:lumOff val="15000"/>
                  </a:schemeClr>
                </a:solidFill>
              </a:rPr>
              <a:t> diffèrent </a:t>
            </a:r>
          </a:p>
          <a:p>
            <a:pPr marL="365760" indent="-365760" fontAlgn="auto">
              <a:spcAft>
                <a:spcPts val="0"/>
              </a:spcAft>
              <a:defRPr/>
            </a:pPr>
            <a:endParaRPr lang="fr-FR" dirty="0">
              <a:solidFill>
                <a:schemeClr val="tx1">
                  <a:lumMod val="85000"/>
                  <a:lumOff val="15000"/>
                </a:schemeClr>
              </a:solidFill>
            </a:endParaRPr>
          </a:p>
          <a:p>
            <a:pPr marL="365760" indent="-365760" fontAlgn="auto">
              <a:spcAft>
                <a:spcPts val="0"/>
              </a:spcAft>
              <a:defRPr/>
            </a:pPr>
            <a:r>
              <a:rPr lang="fr-FR" dirty="0">
                <a:solidFill>
                  <a:schemeClr val="tx1">
                    <a:lumMod val="85000"/>
                    <a:lumOff val="15000"/>
                  </a:schemeClr>
                </a:solidFill>
              </a:rPr>
              <a:t>La formule de Lance-Williams pour calculer la proximité entre les clusters </a:t>
            </a:r>
            <a:r>
              <a:rPr lang="fr-FR" i="1" dirty="0">
                <a:solidFill>
                  <a:schemeClr val="tx1">
                    <a:lumMod val="85000"/>
                    <a:lumOff val="15000"/>
                  </a:schemeClr>
                </a:solidFill>
              </a:rPr>
              <a:t>Q</a:t>
            </a:r>
            <a:r>
              <a:rPr lang="fr-FR" dirty="0">
                <a:solidFill>
                  <a:schemeClr val="tx1">
                    <a:lumMod val="85000"/>
                    <a:lumOff val="15000"/>
                  </a:schemeClr>
                </a:solidFill>
              </a:rPr>
              <a:t> et </a:t>
            </a:r>
            <a:r>
              <a:rPr lang="fr-FR" i="1" dirty="0">
                <a:solidFill>
                  <a:schemeClr val="tx1">
                    <a:lumMod val="85000"/>
                    <a:lumOff val="15000"/>
                  </a:schemeClr>
                </a:solidFill>
              </a:rPr>
              <a:t>R</a:t>
            </a:r>
            <a:r>
              <a:rPr lang="fr-FR" dirty="0">
                <a:solidFill>
                  <a:schemeClr val="tx1">
                    <a:lumMod val="85000"/>
                    <a:lumOff val="15000"/>
                  </a:schemeClr>
                </a:solidFill>
              </a:rPr>
              <a:t>, où </a:t>
            </a:r>
            <a:r>
              <a:rPr lang="fr-FR" i="1" dirty="0">
                <a:solidFill>
                  <a:schemeClr val="tx1">
                    <a:lumMod val="85000"/>
                    <a:lumOff val="15000"/>
                  </a:schemeClr>
                </a:solidFill>
              </a:rPr>
              <a:t>R</a:t>
            </a:r>
            <a:r>
              <a:rPr lang="fr-FR" dirty="0">
                <a:solidFill>
                  <a:schemeClr val="tx1">
                    <a:lumMod val="85000"/>
                    <a:lumOff val="15000"/>
                  </a:schemeClr>
                </a:solidFill>
              </a:rPr>
              <a:t> est formé en fusionnant les clusters </a:t>
            </a:r>
            <a:r>
              <a:rPr lang="fr-FR" i="1" dirty="0">
                <a:solidFill>
                  <a:schemeClr val="tx1">
                    <a:lumMod val="85000"/>
                    <a:lumOff val="15000"/>
                  </a:schemeClr>
                </a:solidFill>
              </a:rPr>
              <a:t>A</a:t>
            </a:r>
            <a:r>
              <a:rPr lang="fr-FR" dirty="0">
                <a:solidFill>
                  <a:schemeClr val="tx1">
                    <a:lumMod val="85000"/>
                    <a:lumOff val="15000"/>
                  </a:schemeClr>
                </a:solidFill>
              </a:rPr>
              <a:t> et </a:t>
            </a:r>
            <a:r>
              <a:rPr lang="fr-FR" i="1" dirty="0">
                <a:solidFill>
                  <a:schemeClr val="tx1">
                    <a:lumMod val="85000"/>
                    <a:lumOff val="15000"/>
                  </a:schemeClr>
                </a:solidFill>
              </a:rPr>
              <a:t>B</a:t>
            </a:r>
            <a:r>
              <a:rPr lang="fr-FR" dirty="0">
                <a:solidFill>
                  <a:schemeClr val="tx1">
                    <a:lumMod val="85000"/>
                    <a:lumOff val="15000"/>
                  </a:schemeClr>
                </a:solidFill>
              </a:rPr>
              <a:t>, est donnée par:</a:t>
            </a:r>
          </a:p>
          <a:p>
            <a:pPr marL="0" indent="0" fontAlgn="auto">
              <a:spcAft>
                <a:spcPts val="0"/>
              </a:spcAft>
              <a:buFont typeface="Wingdings" pitchFamily="2" charset="2"/>
              <a:buNone/>
              <a:defRPr/>
            </a:pPr>
            <a:r>
              <a:rPr lang="fr-FR" sz="2000" i="1" dirty="0">
                <a:solidFill>
                  <a:schemeClr val="tx1">
                    <a:lumMod val="85000"/>
                    <a:lumOff val="15000"/>
                  </a:schemeClr>
                </a:solidFill>
              </a:rPr>
              <a:t>           d(R, Q) </a:t>
            </a:r>
            <a:r>
              <a:rPr lang="fr-FR" sz="2000" dirty="0">
                <a:solidFill>
                  <a:schemeClr val="tx1">
                    <a:lumMod val="85000"/>
                    <a:lumOff val="15000"/>
                  </a:schemeClr>
                </a:solidFill>
              </a:rPr>
              <a:t>=</a:t>
            </a:r>
            <a:r>
              <a:rPr lang="fr-FR" sz="2000" i="1" dirty="0">
                <a:solidFill>
                  <a:schemeClr val="tx1">
                    <a:lumMod val="85000"/>
                    <a:lumOff val="15000"/>
                  </a:schemeClr>
                </a:solidFill>
              </a:rPr>
              <a:t> a </a:t>
            </a:r>
            <a:r>
              <a:rPr lang="fr-FR" sz="2000" i="1" baseline="-25000" dirty="0" err="1">
                <a:solidFill>
                  <a:schemeClr val="tx1">
                    <a:lumMod val="85000"/>
                    <a:lumOff val="15000"/>
                  </a:schemeClr>
                </a:solidFill>
              </a:rPr>
              <a:t>A</a:t>
            </a:r>
            <a:r>
              <a:rPr lang="fr-FR" sz="2000" i="1" dirty="0">
                <a:solidFill>
                  <a:schemeClr val="tx1">
                    <a:lumMod val="85000"/>
                    <a:lumOff val="15000"/>
                  </a:schemeClr>
                </a:solidFill>
              </a:rPr>
              <a:t> d(A, Q) </a:t>
            </a:r>
            <a:r>
              <a:rPr lang="fr-FR" sz="2000" dirty="0">
                <a:solidFill>
                  <a:schemeClr val="tx1">
                    <a:lumMod val="85000"/>
                    <a:lumOff val="15000"/>
                  </a:schemeClr>
                </a:solidFill>
              </a:rPr>
              <a:t>+</a:t>
            </a:r>
            <a:r>
              <a:rPr lang="fr-FR" sz="2000" i="1" dirty="0">
                <a:solidFill>
                  <a:schemeClr val="tx1">
                    <a:lumMod val="85000"/>
                    <a:lumOff val="15000"/>
                  </a:schemeClr>
                </a:solidFill>
              </a:rPr>
              <a:t> </a:t>
            </a:r>
            <a:r>
              <a:rPr lang="fr-FR" sz="2000" i="1" dirty="0" err="1">
                <a:solidFill>
                  <a:schemeClr val="tx1">
                    <a:lumMod val="85000"/>
                    <a:lumOff val="15000"/>
                  </a:schemeClr>
                </a:solidFill>
              </a:rPr>
              <a:t>a</a:t>
            </a:r>
            <a:r>
              <a:rPr lang="fr-FR" sz="2000" baseline="-25000" dirty="0" err="1">
                <a:solidFill>
                  <a:schemeClr val="tx1">
                    <a:lumMod val="85000"/>
                    <a:lumOff val="15000"/>
                  </a:schemeClr>
                </a:solidFill>
              </a:rPr>
              <a:t>B</a:t>
            </a:r>
            <a:r>
              <a:rPr lang="fr-FR" sz="2000" i="1" dirty="0">
                <a:solidFill>
                  <a:schemeClr val="tx1">
                    <a:lumMod val="85000"/>
                    <a:lumOff val="15000"/>
                  </a:schemeClr>
                </a:solidFill>
              </a:rPr>
              <a:t> d(B, Q) </a:t>
            </a:r>
            <a:r>
              <a:rPr lang="fr-FR" sz="2000" dirty="0">
                <a:solidFill>
                  <a:schemeClr val="tx1">
                    <a:lumMod val="85000"/>
                    <a:lumOff val="15000"/>
                  </a:schemeClr>
                </a:solidFill>
              </a:rPr>
              <a:t>+</a:t>
            </a:r>
            <a:r>
              <a:rPr lang="fr-FR" sz="2000" i="1" dirty="0">
                <a:solidFill>
                  <a:schemeClr val="tx1">
                    <a:lumMod val="85000"/>
                    <a:lumOff val="15000"/>
                  </a:schemeClr>
                </a:solidFill>
              </a:rPr>
              <a:t> b d(A, Q) </a:t>
            </a:r>
            <a:r>
              <a:rPr lang="fr-FR" sz="2000" dirty="0">
                <a:solidFill>
                  <a:schemeClr val="tx1">
                    <a:lumMod val="85000"/>
                    <a:lumOff val="15000"/>
                  </a:schemeClr>
                </a:solidFill>
              </a:rPr>
              <a:t>+</a:t>
            </a:r>
            <a:r>
              <a:rPr lang="fr-FR" sz="2000" i="1" dirty="0">
                <a:solidFill>
                  <a:schemeClr val="tx1">
                    <a:lumMod val="85000"/>
                    <a:lumOff val="15000"/>
                  </a:schemeClr>
                </a:solidFill>
              </a:rPr>
              <a:t> g </a:t>
            </a:r>
            <a:r>
              <a:rPr lang="fr-FR" sz="2000" dirty="0">
                <a:solidFill>
                  <a:schemeClr val="tx1">
                    <a:lumMod val="85000"/>
                    <a:lumOff val="15000"/>
                  </a:schemeClr>
                </a:solidFill>
              </a:rPr>
              <a:t>|</a:t>
            </a:r>
            <a:r>
              <a:rPr lang="fr-FR" sz="2000" i="1" dirty="0">
                <a:solidFill>
                  <a:schemeClr val="tx1">
                    <a:lumMod val="85000"/>
                    <a:lumOff val="15000"/>
                  </a:schemeClr>
                </a:solidFill>
              </a:rPr>
              <a:t> d(A, Q) </a:t>
            </a:r>
            <a:r>
              <a:rPr lang="fr-FR" sz="2000" dirty="0">
                <a:solidFill>
                  <a:schemeClr val="tx1">
                    <a:lumMod val="85000"/>
                    <a:lumOff val="15000"/>
                  </a:schemeClr>
                </a:solidFill>
              </a:rPr>
              <a:t>-</a:t>
            </a:r>
            <a:r>
              <a:rPr lang="fr-FR" sz="2000" i="1" dirty="0">
                <a:solidFill>
                  <a:schemeClr val="tx1">
                    <a:lumMod val="85000"/>
                    <a:lumOff val="15000"/>
                  </a:schemeClr>
                </a:solidFill>
              </a:rPr>
              <a:t> d(B, Q) </a:t>
            </a:r>
            <a:r>
              <a:rPr lang="fr-FR" sz="2000" dirty="0">
                <a:solidFill>
                  <a:schemeClr val="tx1">
                    <a:lumMod val="85000"/>
                    <a:lumOff val="15000"/>
                  </a:schemeClr>
                </a:solidFill>
              </a:rPr>
              <a:t>|</a:t>
            </a:r>
          </a:p>
          <a:p>
            <a:pPr marL="0" indent="0" fontAlgn="auto">
              <a:spcAft>
                <a:spcPts val="0"/>
              </a:spcAft>
              <a:buFont typeface="Wingdings" pitchFamily="2" charset="2"/>
              <a:buNone/>
              <a:defRPr/>
            </a:pPr>
            <a:endParaRPr lang="fr-FR" dirty="0">
              <a:solidFill>
                <a:schemeClr val="tx1">
                  <a:lumMod val="85000"/>
                  <a:lumOff val="15000"/>
                </a:schemeClr>
              </a:solidFill>
            </a:endParaRPr>
          </a:p>
          <a:p>
            <a:pPr marL="365760" indent="-365760" fontAlgn="auto" hangingPunct="0">
              <a:spcAft>
                <a:spcPts val="0"/>
              </a:spcAft>
              <a:defRPr/>
            </a:pPr>
            <a:r>
              <a:rPr lang="fr-FR" dirty="0">
                <a:solidFill>
                  <a:schemeClr val="tx1">
                    <a:lumMod val="85000"/>
                    <a:lumOff val="15000"/>
                  </a:schemeClr>
                </a:solidFill>
              </a:rPr>
              <a:t>Cette formule indique qu'après la fusion des clusters </a:t>
            </a:r>
            <a:r>
              <a:rPr lang="fr-FR" i="1" dirty="0">
                <a:solidFill>
                  <a:schemeClr val="tx1">
                    <a:lumMod val="85000"/>
                    <a:lumOff val="15000"/>
                  </a:schemeClr>
                </a:solidFill>
              </a:rPr>
              <a:t>A</a:t>
            </a:r>
            <a:r>
              <a:rPr lang="fr-FR" dirty="0">
                <a:solidFill>
                  <a:schemeClr val="tx1">
                    <a:lumMod val="85000"/>
                    <a:lumOff val="15000"/>
                  </a:schemeClr>
                </a:solidFill>
              </a:rPr>
              <a:t> et </a:t>
            </a:r>
            <a:r>
              <a:rPr lang="fr-FR" i="1" dirty="0">
                <a:solidFill>
                  <a:schemeClr val="tx1">
                    <a:lumMod val="85000"/>
                    <a:lumOff val="15000"/>
                  </a:schemeClr>
                </a:solidFill>
              </a:rPr>
              <a:t>B</a:t>
            </a:r>
            <a:r>
              <a:rPr lang="fr-FR" dirty="0">
                <a:solidFill>
                  <a:schemeClr val="tx1">
                    <a:lumMod val="85000"/>
                    <a:lumOff val="15000"/>
                  </a:schemeClr>
                </a:solidFill>
              </a:rPr>
              <a:t> pour former le cluster </a:t>
            </a:r>
            <a:r>
              <a:rPr lang="fr-FR" i="1" dirty="0">
                <a:solidFill>
                  <a:schemeClr val="tx1">
                    <a:lumMod val="85000"/>
                    <a:lumOff val="15000"/>
                  </a:schemeClr>
                </a:solidFill>
              </a:rPr>
              <a:t>R</a:t>
            </a:r>
            <a:r>
              <a:rPr lang="fr-FR" dirty="0">
                <a:solidFill>
                  <a:schemeClr val="tx1">
                    <a:lumMod val="85000"/>
                    <a:lumOff val="15000"/>
                  </a:schemeClr>
                </a:solidFill>
              </a:rPr>
              <a:t>, la distance du nouveau cluster, </a:t>
            </a:r>
            <a:r>
              <a:rPr lang="fr-FR" i="1" dirty="0">
                <a:solidFill>
                  <a:schemeClr val="tx1">
                    <a:lumMod val="85000"/>
                    <a:lumOff val="15000"/>
                  </a:schemeClr>
                </a:solidFill>
              </a:rPr>
              <a:t>R</a:t>
            </a:r>
            <a:r>
              <a:rPr lang="fr-FR" dirty="0">
                <a:solidFill>
                  <a:schemeClr val="tx1">
                    <a:lumMod val="85000"/>
                    <a:lumOff val="15000"/>
                  </a:schemeClr>
                </a:solidFill>
              </a:rPr>
              <a:t>, à un cluster existant, </a:t>
            </a:r>
            <a:r>
              <a:rPr lang="fr-FR" i="1" dirty="0">
                <a:solidFill>
                  <a:schemeClr val="tx1">
                    <a:lumMod val="85000"/>
                    <a:lumOff val="15000"/>
                  </a:schemeClr>
                </a:solidFill>
              </a:rPr>
              <a:t>Q</a:t>
            </a:r>
            <a:r>
              <a:rPr lang="fr-FR" dirty="0">
                <a:solidFill>
                  <a:schemeClr val="tx1">
                    <a:lumMod val="85000"/>
                    <a:lumOff val="15000"/>
                  </a:schemeClr>
                </a:solidFill>
              </a:rPr>
              <a:t> , est une fonction linéaire des distances entre </a:t>
            </a:r>
            <a:r>
              <a:rPr lang="fr-FR" i="1" dirty="0">
                <a:solidFill>
                  <a:schemeClr val="tx1">
                    <a:lumMod val="85000"/>
                    <a:lumOff val="15000"/>
                  </a:schemeClr>
                </a:solidFill>
              </a:rPr>
              <a:t>Q</a:t>
            </a:r>
            <a:r>
              <a:rPr lang="fr-FR" dirty="0">
                <a:solidFill>
                  <a:schemeClr val="tx1">
                    <a:lumMod val="85000"/>
                    <a:lumOff val="15000"/>
                  </a:schemeClr>
                </a:solidFill>
              </a:rPr>
              <a:t> et les deux clusters originaux </a:t>
            </a:r>
            <a:r>
              <a:rPr lang="fr-FR" i="1" dirty="0">
                <a:solidFill>
                  <a:schemeClr val="tx1">
                    <a:lumMod val="85000"/>
                    <a:lumOff val="15000"/>
                  </a:schemeClr>
                </a:solidFill>
              </a:rPr>
              <a:t>A</a:t>
            </a:r>
            <a:r>
              <a:rPr lang="fr-FR" dirty="0">
                <a:solidFill>
                  <a:schemeClr val="tx1">
                    <a:lumMod val="85000"/>
                    <a:lumOff val="15000"/>
                  </a:schemeClr>
                </a:solidFill>
              </a:rPr>
              <a:t> et </a:t>
            </a:r>
            <a:r>
              <a:rPr lang="fr-FR" i="1" dirty="0">
                <a:solidFill>
                  <a:schemeClr val="tx1">
                    <a:lumMod val="85000"/>
                    <a:lumOff val="15000"/>
                  </a:schemeClr>
                </a:solidFill>
              </a:rPr>
              <a:t>B</a:t>
            </a:r>
            <a:r>
              <a:rPr lang="fr-FR" dirty="0">
                <a:solidFill>
                  <a:schemeClr val="tx1">
                    <a:lumMod val="85000"/>
                    <a:lumOff val="15000"/>
                  </a:schemeClr>
                </a:solidFill>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Content Placeholder 2"/>
          <p:cNvSpPr>
            <a:spLocks noGrp="1"/>
          </p:cNvSpPr>
          <p:nvPr>
            <p:ph idx="1"/>
          </p:nvPr>
        </p:nvSpPr>
        <p:spPr>
          <a:xfrm>
            <a:off x="107950" y="115888"/>
            <a:ext cx="8928100" cy="6626225"/>
          </a:xfrm>
        </p:spPr>
        <p:txBody>
          <a:bodyPr anchor="t"/>
          <a:lstStyle/>
          <a:p>
            <a:r>
              <a:rPr lang="fr-FR"/>
              <a:t>Le réglage des paramètres </a:t>
            </a:r>
            <a:r>
              <a:rPr lang="fr-FR" i="1"/>
              <a:t>aA,</a:t>
            </a:r>
            <a:r>
              <a:rPr lang="fr-FR"/>
              <a:t> </a:t>
            </a:r>
            <a:r>
              <a:rPr lang="fr-FR" i="1"/>
              <a:t>,</a:t>
            </a:r>
            <a:r>
              <a:rPr lang="fr-FR"/>
              <a:t> </a:t>
            </a:r>
            <a:r>
              <a:rPr lang="fr-FR" i="1"/>
              <a:t>aB</a:t>
            </a:r>
            <a:r>
              <a:rPr lang="fr-FR"/>
              <a:t> </a:t>
            </a:r>
            <a:r>
              <a:rPr lang="fr-FR" i="1"/>
              <a:t>,</a:t>
            </a:r>
            <a:r>
              <a:rPr lang="fr-FR"/>
              <a:t> </a:t>
            </a:r>
            <a:r>
              <a:rPr lang="fr-FR" i="1"/>
              <a:t>b</a:t>
            </a:r>
            <a:r>
              <a:rPr lang="fr-FR"/>
              <a:t> </a:t>
            </a:r>
            <a:r>
              <a:rPr lang="fr-FR" i="1"/>
              <a:t>et</a:t>
            </a:r>
            <a:r>
              <a:rPr lang="fr-FR"/>
              <a:t> </a:t>
            </a:r>
            <a:r>
              <a:rPr lang="fr-FR" i="1"/>
              <a:t>g</a:t>
            </a:r>
            <a:r>
              <a:rPr lang="fr-FR"/>
              <a:t> selon le tableau  implique un certain nombre d’algorithmes de clustering</a:t>
            </a:r>
          </a:p>
          <a:p>
            <a:endParaRPr lang="fr-FR"/>
          </a:p>
          <a:p>
            <a:endParaRPr lang="fr-FR"/>
          </a:p>
          <a:p>
            <a:endParaRPr lang="fr-FR"/>
          </a:p>
          <a:p>
            <a:pPr hangingPunct="0"/>
            <a:endParaRPr lang="fr-FR"/>
          </a:p>
          <a:p>
            <a:pPr hangingPunct="0"/>
            <a:r>
              <a:rPr lang="fr-FR"/>
              <a:t>Les Valeurs des paramètres dans la formule de Lance Williams et les algorithmes de</a:t>
            </a:r>
            <a:r>
              <a:rPr lang="fr-FR" b="1"/>
              <a:t> </a:t>
            </a:r>
            <a:r>
              <a:rPr lang="fr-FR"/>
              <a:t>clustering agglomératif résultants, </a:t>
            </a:r>
            <a:r>
              <a:rPr lang="fr-FR" i="1"/>
              <a:t>n</a:t>
            </a:r>
            <a:r>
              <a:rPr lang="fr-FR" i="1" baseline="-25000"/>
              <a:t>A</a:t>
            </a:r>
            <a:r>
              <a:rPr lang="fr-FR" i="1"/>
              <a:t>, n</a:t>
            </a:r>
            <a:r>
              <a:rPr lang="fr-FR" i="1" baseline="-25000"/>
              <a:t>B</a:t>
            </a:r>
            <a:r>
              <a:rPr lang="fr-FR"/>
              <a:t> et </a:t>
            </a:r>
            <a:r>
              <a:rPr lang="fr-FR" i="1"/>
              <a:t>n</a:t>
            </a:r>
            <a:r>
              <a:rPr lang="fr-FR" i="1" baseline="-25000"/>
              <a:t>C</a:t>
            </a:r>
            <a:r>
              <a:rPr lang="fr-FR"/>
              <a:t> dénotent le nombre de points dans les clusters correspondants. </a:t>
            </a:r>
          </a:p>
          <a:p>
            <a:r>
              <a:rPr lang="fr-FR"/>
              <a:t>Plusieurs algorithmes dérive de l’algorithme de Lance-Williams dont :</a:t>
            </a:r>
          </a:p>
          <a:p>
            <a:endParaRPr lang="fr-FR"/>
          </a:p>
          <a:p>
            <a:endParaRPr lang="fr-FR"/>
          </a:p>
          <a:p>
            <a:endParaRPr lang="fr-FR"/>
          </a:p>
          <a:p>
            <a:endParaRPr lang="fr-FR"/>
          </a:p>
          <a:p>
            <a:endParaRPr lang="fr-FR"/>
          </a:p>
        </p:txBody>
      </p:sp>
      <p:pic>
        <p:nvPicPr>
          <p:cNvPr id="38914" name="Picture 3"/>
          <p:cNvPicPr>
            <a:picLocks noChangeAspect="1" noChangeArrowheads="1"/>
          </p:cNvPicPr>
          <p:nvPr/>
        </p:nvPicPr>
        <p:blipFill>
          <a:blip r:embed="rId2" cstate="print"/>
          <a:srcRect/>
          <a:stretch>
            <a:fillRect/>
          </a:stretch>
        </p:blipFill>
        <p:spPr bwMode="auto">
          <a:xfrm>
            <a:off x="179388" y="981075"/>
            <a:ext cx="8602662" cy="2016125"/>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0825" y="260350"/>
            <a:ext cx="8642350" cy="6264275"/>
          </a:xfrm>
        </p:spPr>
        <p:txBody>
          <a:bodyPr rtlCol="0" anchor="t">
            <a:normAutofit/>
          </a:bodyPr>
          <a:lstStyle/>
          <a:p>
            <a:pPr marL="365760" indent="-365760" fontAlgn="auto">
              <a:spcAft>
                <a:spcPts val="0"/>
              </a:spcAft>
              <a:defRPr/>
            </a:pPr>
            <a:endParaRPr lang="fr-FR" b="1" dirty="0">
              <a:solidFill>
                <a:schemeClr val="tx1">
                  <a:lumMod val="85000"/>
                  <a:lumOff val="15000"/>
                </a:schemeClr>
              </a:solidFill>
            </a:endParaRPr>
          </a:p>
          <a:p>
            <a:pPr marL="365760" indent="-365760" fontAlgn="auto">
              <a:spcAft>
                <a:spcPts val="0"/>
              </a:spcAft>
              <a:defRPr/>
            </a:pPr>
            <a:endParaRPr lang="fr-FR" b="1" dirty="0">
              <a:solidFill>
                <a:schemeClr val="tx1">
                  <a:lumMod val="85000"/>
                  <a:lumOff val="15000"/>
                </a:schemeClr>
              </a:solidFill>
            </a:endParaRPr>
          </a:p>
          <a:p>
            <a:pPr marL="365760" indent="-365760" fontAlgn="auto">
              <a:spcAft>
                <a:spcPts val="0"/>
              </a:spcAft>
              <a:defRPr/>
            </a:pPr>
            <a:r>
              <a:rPr lang="fr-FR" b="1" dirty="0">
                <a:solidFill>
                  <a:schemeClr val="tx1">
                    <a:lumMod val="85000"/>
                    <a:lumOff val="15000"/>
                  </a:schemeClr>
                </a:solidFill>
              </a:rPr>
              <a:t>Single </a:t>
            </a:r>
            <a:r>
              <a:rPr lang="fr-FR" b="1" dirty="0" err="1">
                <a:solidFill>
                  <a:schemeClr val="tx1">
                    <a:lumMod val="85000"/>
                    <a:lumOff val="15000"/>
                  </a:schemeClr>
                </a:solidFill>
              </a:rPr>
              <a:t>link</a:t>
            </a:r>
            <a:r>
              <a:rPr lang="fr-FR" b="1" dirty="0">
                <a:solidFill>
                  <a:schemeClr val="tx1">
                    <a:lumMod val="85000"/>
                    <a:lumOff val="15000"/>
                  </a:schemeClr>
                </a:solidFill>
              </a:rPr>
              <a:t> :</a:t>
            </a:r>
          </a:p>
          <a:p>
            <a:pPr marL="0" indent="0" fontAlgn="auto">
              <a:spcAft>
                <a:spcPts val="0"/>
              </a:spcAft>
              <a:buFont typeface="Wingdings" pitchFamily="2" charset="2"/>
              <a:buNone/>
              <a:defRPr/>
            </a:pPr>
            <a:r>
              <a:rPr lang="fr-FR" dirty="0">
                <a:solidFill>
                  <a:schemeClr val="tx1">
                    <a:lumMod val="85000"/>
                    <a:lumOff val="15000"/>
                  </a:schemeClr>
                </a:solidFill>
              </a:rPr>
              <a:t>	la proximité de deux clusters est définie par la distance minimale entre n'importe quels deux points dans les clusters différents</a:t>
            </a:r>
          </a:p>
          <a:p>
            <a:pPr marL="365760" indent="-365760" fontAlgn="auto">
              <a:spcAft>
                <a:spcPts val="0"/>
              </a:spcAft>
              <a:defRPr/>
            </a:pPr>
            <a:endParaRPr lang="fr-FR" dirty="0">
              <a:solidFill>
                <a:schemeClr val="tx1">
                  <a:lumMod val="85000"/>
                  <a:lumOff val="15000"/>
                </a:schemeClr>
              </a:solidFill>
            </a:endParaRPr>
          </a:p>
          <a:p>
            <a:pPr marL="365760" indent="-365760" fontAlgn="auto">
              <a:spcAft>
                <a:spcPts val="0"/>
              </a:spcAft>
              <a:defRPr/>
            </a:pPr>
            <a:endParaRPr lang="fr-FR" dirty="0">
              <a:solidFill>
                <a:schemeClr val="tx1">
                  <a:lumMod val="85000"/>
                  <a:lumOff val="15000"/>
                </a:schemeClr>
              </a:solidFill>
            </a:endParaRPr>
          </a:p>
        </p:txBody>
      </p:sp>
      <p:pic>
        <p:nvPicPr>
          <p:cNvPr id="39938" name="Picture 5"/>
          <p:cNvPicPr>
            <a:picLocks noChangeAspect="1" noChangeArrowheads="1"/>
          </p:cNvPicPr>
          <p:nvPr/>
        </p:nvPicPr>
        <p:blipFill>
          <a:blip r:embed="rId2" cstate="print"/>
          <a:srcRect/>
          <a:stretch>
            <a:fillRect/>
          </a:stretch>
        </p:blipFill>
        <p:spPr bwMode="auto">
          <a:xfrm>
            <a:off x="2060575" y="3789363"/>
            <a:ext cx="4679950" cy="2232025"/>
          </a:xfrm>
          <a:prstGeom prst="rect">
            <a:avLst/>
          </a:prstGeom>
          <a:noFill/>
          <a:ln w="9525">
            <a:noFill/>
            <a:miter lim="800000"/>
            <a:headEnd/>
            <a:tailEnd/>
          </a:ln>
        </p:spPr>
      </p:pic>
      <p:pic>
        <p:nvPicPr>
          <p:cNvPr id="39939" name="Picture 3"/>
          <p:cNvPicPr>
            <a:picLocks noChangeAspect="1" noChangeArrowheads="1"/>
          </p:cNvPicPr>
          <p:nvPr/>
        </p:nvPicPr>
        <p:blipFill>
          <a:blip r:embed="rId3" cstate="print"/>
          <a:srcRect/>
          <a:stretch>
            <a:fillRect/>
          </a:stretch>
        </p:blipFill>
        <p:spPr bwMode="auto">
          <a:xfrm>
            <a:off x="2060575" y="2708275"/>
            <a:ext cx="9958388" cy="608013"/>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Content Placeholder 2"/>
          <p:cNvSpPr>
            <a:spLocks noGrp="1"/>
          </p:cNvSpPr>
          <p:nvPr>
            <p:ph idx="1"/>
          </p:nvPr>
        </p:nvSpPr>
        <p:spPr>
          <a:xfrm>
            <a:off x="250825" y="260350"/>
            <a:ext cx="8642350" cy="6264275"/>
          </a:xfrm>
        </p:spPr>
        <p:txBody>
          <a:bodyPr anchor="t"/>
          <a:lstStyle/>
          <a:p>
            <a:endParaRPr lang="fr-FR" b="1"/>
          </a:p>
          <a:p>
            <a:endParaRPr lang="fr-FR" b="1"/>
          </a:p>
          <a:p>
            <a:r>
              <a:rPr lang="fr-FR" b="1"/>
              <a:t>Complete link:</a:t>
            </a:r>
            <a:endParaRPr lang="fr-FR"/>
          </a:p>
          <a:p>
            <a:r>
              <a:rPr lang="fr-FR"/>
              <a:t>Pour la version de Complete link du clustering hiérarchique, la proximité de deux clusters est définie par la distance maximale entre n'importe quels deux points dans les clusters différents. </a:t>
            </a:r>
          </a:p>
          <a:p>
            <a:endParaRPr lang="fr-FR"/>
          </a:p>
        </p:txBody>
      </p:sp>
      <p:pic>
        <p:nvPicPr>
          <p:cNvPr id="40962" name="Picture 2"/>
          <p:cNvPicPr>
            <a:picLocks noChangeAspect="1" noChangeArrowheads="1"/>
          </p:cNvPicPr>
          <p:nvPr/>
        </p:nvPicPr>
        <p:blipFill>
          <a:blip r:embed="rId2" cstate="print"/>
          <a:srcRect/>
          <a:stretch>
            <a:fillRect/>
          </a:stretch>
        </p:blipFill>
        <p:spPr bwMode="auto">
          <a:xfrm>
            <a:off x="2843213" y="3163888"/>
            <a:ext cx="10615612" cy="593725"/>
          </a:xfrm>
          <a:prstGeom prst="rect">
            <a:avLst/>
          </a:prstGeom>
          <a:noFill/>
          <a:ln w="9525">
            <a:noFill/>
            <a:miter lim="800000"/>
            <a:headEnd/>
            <a:tailEnd/>
          </a:ln>
        </p:spPr>
      </p:pic>
      <p:pic>
        <p:nvPicPr>
          <p:cNvPr id="40963" name="Picture 3"/>
          <p:cNvPicPr>
            <a:picLocks noChangeAspect="1" noChangeArrowheads="1"/>
          </p:cNvPicPr>
          <p:nvPr/>
        </p:nvPicPr>
        <p:blipFill>
          <a:blip r:embed="rId3" cstate="print"/>
          <a:srcRect/>
          <a:stretch>
            <a:fillRect/>
          </a:stretch>
        </p:blipFill>
        <p:spPr bwMode="auto">
          <a:xfrm>
            <a:off x="1476375" y="3757613"/>
            <a:ext cx="5545138" cy="2551112"/>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0825" y="260350"/>
            <a:ext cx="8642350" cy="6264275"/>
          </a:xfrm>
        </p:spPr>
        <p:txBody>
          <a:bodyPr rtlCol="0" anchor="t">
            <a:normAutofit/>
          </a:bodyPr>
          <a:lstStyle/>
          <a:p>
            <a:pPr marL="0" indent="0" fontAlgn="auto">
              <a:spcAft>
                <a:spcPts val="0"/>
              </a:spcAft>
              <a:buFont typeface="Wingdings" pitchFamily="2" charset="2"/>
              <a:buNone/>
              <a:defRPr/>
            </a:pPr>
            <a:endParaRPr lang="fr-FR" b="1" dirty="0">
              <a:solidFill>
                <a:schemeClr val="tx1">
                  <a:lumMod val="85000"/>
                  <a:lumOff val="15000"/>
                </a:schemeClr>
              </a:solidFill>
            </a:endParaRPr>
          </a:p>
          <a:p>
            <a:pPr marL="365760" indent="-365760" fontAlgn="auto">
              <a:spcAft>
                <a:spcPts val="0"/>
              </a:spcAft>
              <a:defRPr/>
            </a:pPr>
            <a:r>
              <a:rPr lang="fr-FR" b="1" dirty="0" err="1">
                <a:solidFill>
                  <a:schemeClr val="tx1">
                    <a:lumMod val="85000"/>
                    <a:lumOff val="15000"/>
                  </a:schemeClr>
                </a:solidFill>
              </a:rPr>
              <a:t>Average</a:t>
            </a:r>
            <a:r>
              <a:rPr lang="fr-FR" b="1" dirty="0">
                <a:solidFill>
                  <a:schemeClr val="tx1">
                    <a:lumMod val="85000"/>
                    <a:lumOff val="15000"/>
                  </a:schemeClr>
                </a:solidFill>
              </a:rPr>
              <a:t> </a:t>
            </a:r>
            <a:r>
              <a:rPr lang="fr-FR" b="1" dirty="0" err="1">
                <a:solidFill>
                  <a:schemeClr val="tx1">
                    <a:lumMod val="85000"/>
                    <a:lumOff val="15000"/>
                  </a:schemeClr>
                </a:solidFill>
              </a:rPr>
              <a:t>link</a:t>
            </a:r>
            <a:endParaRPr lang="fr-FR" dirty="0">
              <a:solidFill>
                <a:schemeClr val="tx1">
                  <a:lumMod val="85000"/>
                  <a:lumOff val="15000"/>
                </a:schemeClr>
              </a:solidFill>
            </a:endParaRPr>
          </a:p>
          <a:p>
            <a:pPr marL="365760" indent="-365760" fontAlgn="auto">
              <a:spcAft>
                <a:spcPts val="0"/>
              </a:spcAft>
              <a:defRPr/>
            </a:pPr>
            <a:r>
              <a:rPr lang="fr-FR" dirty="0">
                <a:solidFill>
                  <a:schemeClr val="tx1">
                    <a:lumMod val="85000"/>
                    <a:lumOff val="15000"/>
                  </a:schemeClr>
                </a:solidFill>
              </a:rPr>
              <a:t>Pour la version de </a:t>
            </a:r>
            <a:r>
              <a:rPr lang="fr-FR" dirty="0" err="1">
                <a:solidFill>
                  <a:schemeClr val="tx1">
                    <a:lumMod val="85000"/>
                    <a:lumOff val="15000"/>
                  </a:schemeClr>
                </a:solidFill>
              </a:rPr>
              <a:t>Average</a:t>
            </a:r>
            <a:r>
              <a:rPr lang="fr-FR" dirty="0">
                <a:solidFill>
                  <a:schemeClr val="tx1">
                    <a:lumMod val="85000"/>
                    <a:lumOff val="15000"/>
                  </a:schemeClr>
                </a:solidFill>
              </a:rPr>
              <a:t> </a:t>
            </a:r>
            <a:r>
              <a:rPr lang="fr-FR" dirty="0" err="1">
                <a:solidFill>
                  <a:schemeClr val="tx1">
                    <a:lumMod val="85000"/>
                    <a:lumOff val="15000"/>
                  </a:schemeClr>
                </a:solidFill>
              </a:rPr>
              <a:t>link</a:t>
            </a:r>
            <a:r>
              <a:rPr lang="fr-FR" dirty="0">
                <a:solidFill>
                  <a:schemeClr val="tx1">
                    <a:lumMod val="85000"/>
                    <a:lumOff val="15000"/>
                  </a:schemeClr>
                </a:solidFill>
              </a:rPr>
              <a:t> du </a:t>
            </a:r>
            <a:r>
              <a:rPr lang="fr-FR" dirty="0" err="1">
                <a:solidFill>
                  <a:schemeClr val="tx1">
                    <a:lumMod val="85000"/>
                    <a:lumOff val="15000"/>
                  </a:schemeClr>
                </a:solidFill>
              </a:rPr>
              <a:t>clustering</a:t>
            </a:r>
            <a:r>
              <a:rPr lang="fr-FR" dirty="0">
                <a:solidFill>
                  <a:schemeClr val="tx1">
                    <a:lumMod val="85000"/>
                    <a:lumOff val="15000"/>
                  </a:schemeClr>
                </a:solidFill>
              </a:rPr>
              <a:t> hiérarchique, la distance de deux clusters est définie par la moyenne des distances entre toutes les paires de points dans les clusters différents. C'est une approche intermédiaire entre Single </a:t>
            </a:r>
            <a:r>
              <a:rPr lang="fr-FR" dirty="0" err="1">
                <a:solidFill>
                  <a:schemeClr val="tx1">
                    <a:lumMod val="85000"/>
                    <a:lumOff val="15000"/>
                  </a:schemeClr>
                </a:solidFill>
              </a:rPr>
              <a:t>link</a:t>
            </a:r>
            <a:r>
              <a:rPr lang="fr-FR" dirty="0">
                <a:solidFill>
                  <a:schemeClr val="tx1">
                    <a:lumMod val="85000"/>
                    <a:lumOff val="15000"/>
                  </a:schemeClr>
                </a:solidFill>
              </a:rPr>
              <a:t> et </a:t>
            </a:r>
            <a:r>
              <a:rPr lang="fr-FR" dirty="0" err="1">
                <a:solidFill>
                  <a:schemeClr val="tx1">
                    <a:lumMod val="85000"/>
                    <a:lumOff val="15000"/>
                  </a:schemeClr>
                </a:solidFill>
              </a:rPr>
              <a:t>Avearge</a:t>
            </a:r>
            <a:r>
              <a:rPr lang="fr-FR" dirty="0">
                <a:solidFill>
                  <a:schemeClr val="tx1">
                    <a:lumMod val="85000"/>
                    <a:lumOff val="15000"/>
                  </a:schemeClr>
                </a:solidFill>
              </a:rPr>
              <a:t> </a:t>
            </a:r>
            <a:r>
              <a:rPr lang="fr-FR" dirty="0" err="1">
                <a:solidFill>
                  <a:schemeClr val="tx1">
                    <a:lumMod val="85000"/>
                    <a:lumOff val="15000"/>
                  </a:schemeClr>
                </a:solidFill>
              </a:rPr>
              <a:t>link</a:t>
            </a:r>
            <a:endParaRPr lang="fr-FR" dirty="0">
              <a:solidFill>
                <a:schemeClr val="tx1">
                  <a:lumMod val="85000"/>
                  <a:lumOff val="15000"/>
                </a:schemeClr>
              </a:solidFill>
            </a:endParaRPr>
          </a:p>
          <a:p>
            <a:pPr marL="365760" indent="-365760" fontAlgn="auto">
              <a:spcAft>
                <a:spcPts val="0"/>
              </a:spcAft>
              <a:defRPr/>
            </a:pPr>
            <a:endParaRPr lang="fr-FR" dirty="0">
              <a:solidFill>
                <a:schemeClr val="tx1">
                  <a:lumMod val="85000"/>
                  <a:lumOff val="15000"/>
                </a:schemeClr>
              </a:solidFill>
            </a:endParaRPr>
          </a:p>
          <a:p>
            <a:pPr marL="365760" indent="-365760" fontAlgn="auto">
              <a:spcAft>
                <a:spcPts val="0"/>
              </a:spcAft>
              <a:defRPr/>
            </a:pPr>
            <a:r>
              <a:rPr lang="fr-FR" dirty="0">
                <a:solidFill>
                  <a:schemeClr val="tx1">
                    <a:lumMod val="85000"/>
                    <a:lumOff val="15000"/>
                  </a:schemeClr>
                </a:solidFill>
              </a:rPr>
              <a:t> où </a:t>
            </a:r>
            <a:r>
              <a:rPr lang="fr-FR" dirty="0" err="1">
                <a:solidFill>
                  <a:schemeClr val="tx1">
                    <a:lumMod val="85000"/>
                    <a:lumOff val="15000"/>
                  </a:schemeClr>
                </a:solidFill>
              </a:rPr>
              <a:t>n</a:t>
            </a:r>
            <a:r>
              <a:rPr lang="fr-FR" sz="1200" i="1" dirty="0" err="1">
                <a:solidFill>
                  <a:schemeClr val="tx1">
                    <a:lumMod val="85000"/>
                    <a:lumOff val="15000"/>
                  </a:schemeClr>
                </a:solidFill>
              </a:rPr>
              <a:t>A</a:t>
            </a:r>
            <a:r>
              <a:rPr lang="fr-FR" i="1" dirty="0">
                <a:solidFill>
                  <a:schemeClr val="tx1">
                    <a:lumMod val="85000"/>
                    <a:lumOff val="15000"/>
                  </a:schemeClr>
                </a:solidFill>
              </a:rPr>
              <a:t> </a:t>
            </a:r>
            <a:r>
              <a:rPr lang="fr-FR" dirty="0">
                <a:solidFill>
                  <a:schemeClr val="tx1">
                    <a:lumMod val="85000"/>
                    <a:lumOff val="15000"/>
                  </a:schemeClr>
                </a:solidFill>
              </a:rPr>
              <a:t>et </a:t>
            </a:r>
            <a:r>
              <a:rPr lang="fr-FR" dirty="0" err="1">
                <a:solidFill>
                  <a:schemeClr val="tx1">
                    <a:lumMod val="85000"/>
                    <a:lumOff val="15000"/>
                  </a:schemeClr>
                </a:solidFill>
              </a:rPr>
              <a:t>n</a:t>
            </a:r>
            <a:r>
              <a:rPr lang="fr-FR" sz="1400" i="1" dirty="0" err="1">
                <a:solidFill>
                  <a:schemeClr val="tx1">
                    <a:lumMod val="85000"/>
                    <a:lumOff val="15000"/>
                  </a:schemeClr>
                </a:solidFill>
              </a:rPr>
              <a:t>B</a:t>
            </a:r>
            <a:r>
              <a:rPr lang="fr-FR" sz="1400" i="1" dirty="0">
                <a:solidFill>
                  <a:schemeClr val="tx1">
                    <a:lumMod val="85000"/>
                    <a:lumOff val="15000"/>
                  </a:schemeClr>
                </a:solidFill>
              </a:rPr>
              <a:t> </a:t>
            </a:r>
            <a:r>
              <a:rPr lang="fr-FR" dirty="0">
                <a:solidFill>
                  <a:schemeClr val="tx1">
                    <a:lumMod val="85000"/>
                    <a:lumOff val="15000"/>
                  </a:schemeClr>
                </a:solidFill>
              </a:rPr>
              <a:t>représente la taille des clusters </a:t>
            </a:r>
            <a:r>
              <a:rPr lang="fr-FR" i="1" dirty="0">
                <a:solidFill>
                  <a:schemeClr val="tx1">
                    <a:lumMod val="85000"/>
                    <a:lumOff val="15000"/>
                  </a:schemeClr>
                </a:solidFill>
              </a:rPr>
              <a:t>A</a:t>
            </a:r>
            <a:r>
              <a:rPr lang="fr-FR" dirty="0">
                <a:solidFill>
                  <a:schemeClr val="tx1">
                    <a:lumMod val="85000"/>
                    <a:lumOff val="15000"/>
                  </a:schemeClr>
                </a:solidFill>
              </a:rPr>
              <a:t> et </a:t>
            </a:r>
            <a:r>
              <a:rPr lang="fr-FR" i="1" dirty="0">
                <a:solidFill>
                  <a:schemeClr val="tx1">
                    <a:lumMod val="85000"/>
                    <a:lumOff val="15000"/>
                  </a:schemeClr>
                </a:solidFill>
              </a:rPr>
              <a:t>B</a:t>
            </a:r>
            <a:r>
              <a:rPr lang="fr-FR" dirty="0">
                <a:solidFill>
                  <a:schemeClr val="tx1">
                    <a:lumMod val="85000"/>
                    <a:lumOff val="15000"/>
                  </a:schemeClr>
                </a:solidFill>
              </a:rPr>
              <a:t> respectivement </a:t>
            </a:r>
          </a:p>
        </p:txBody>
      </p:sp>
      <p:pic>
        <p:nvPicPr>
          <p:cNvPr id="41986" name="Picture 2"/>
          <p:cNvPicPr>
            <a:picLocks noChangeAspect="1" noChangeArrowheads="1"/>
          </p:cNvPicPr>
          <p:nvPr/>
        </p:nvPicPr>
        <p:blipFill>
          <a:blip r:embed="rId2" cstate="print"/>
          <a:srcRect/>
          <a:stretch>
            <a:fillRect/>
          </a:stretch>
        </p:blipFill>
        <p:spPr bwMode="auto">
          <a:xfrm>
            <a:off x="3851275" y="2695575"/>
            <a:ext cx="2987675" cy="809625"/>
          </a:xfrm>
          <a:prstGeom prst="rect">
            <a:avLst/>
          </a:prstGeom>
          <a:noFill/>
          <a:ln w="9525">
            <a:noFill/>
            <a:miter lim="800000"/>
            <a:headEnd/>
            <a:tailEnd/>
          </a:ln>
        </p:spPr>
      </p:pic>
      <p:pic>
        <p:nvPicPr>
          <p:cNvPr id="41987" name="Picture 6"/>
          <p:cNvPicPr>
            <a:picLocks noChangeAspect="1" noChangeArrowheads="1"/>
          </p:cNvPicPr>
          <p:nvPr/>
        </p:nvPicPr>
        <p:blipFill>
          <a:blip r:embed="rId3" cstate="print"/>
          <a:srcRect/>
          <a:stretch>
            <a:fillRect/>
          </a:stretch>
        </p:blipFill>
        <p:spPr bwMode="auto">
          <a:xfrm>
            <a:off x="3076575" y="4221163"/>
            <a:ext cx="4537075" cy="2087562"/>
          </a:xfrm>
          <a:prstGeom prst="rect">
            <a:avLst/>
          </a:prstGeom>
          <a:noFill/>
          <a:ln w="9525">
            <a:noFill/>
            <a:miter lim="800000"/>
            <a:headEnd/>
            <a:tailEnd/>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Content Placeholder 1"/>
          <p:cNvSpPr>
            <a:spLocks noGrp="1"/>
          </p:cNvSpPr>
          <p:nvPr>
            <p:ph idx="1"/>
          </p:nvPr>
        </p:nvSpPr>
        <p:spPr>
          <a:xfrm>
            <a:off x="179388" y="2060575"/>
            <a:ext cx="8785225" cy="4681538"/>
          </a:xfrm>
        </p:spPr>
        <p:txBody>
          <a:bodyPr/>
          <a:lstStyle/>
          <a:p>
            <a:r>
              <a:rPr lang="fr-FR"/>
              <a:t>1: Affecter le premier enregistrement au premier cluster ;</a:t>
            </a:r>
          </a:p>
          <a:p>
            <a:r>
              <a:rPr lang="fr-FR"/>
              <a:t>2: Pour un nouvel enregistrement : soit l’affecter un un cluster existant, soit l’affecter à un nouveau cluster. Cette affectation est effectué selon un certain critère. Par exemple la distance du nouvel enregistrement des centres des clusters existants. Dans ce cas à chaque affectation les centres des clusters sont recalculés ;</a:t>
            </a:r>
          </a:p>
          <a:p>
            <a:r>
              <a:rPr lang="fr-FR"/>
              <a:t>3: Répéter l’étape 2 jusqu’à ce que tous les enregistrements soient clusterés ;</a:t>
            </a:r>
          </a:p>
        </p:txBody>
      </p:sp>
      <p:sp>
        <p:nvSpPr>
          <p:cNvPr id="43010" name="Title 2"/>
          <p:cNvSpPr>
            <a:spLocks noGrp="1"/>
          </p:cNvSpPr>
          <p:nvPr>
            <p:ph type="title"/>
          </p:nvPr>
        </p:nvSpPr>
        <p:spPr/>
        <p:txBody>
          <a:bodyPr/>
          <a:lstStyle/>
          <a:p>
            <a:r>
              <a:rPr lang="fr-FR" sz="4400"/>
              <a:t>Clustering Incrémental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07950" y="1989138"/>
            <a:ext cx="8928100" cy="4752975"/>
          </a:xfrm>
        </p:spPr>
        <p:txBody>
          <a:bodyPr rtlCol="0">
            <a:normAutofit lnSpcReduction="10000"/>
          </a:bodyPr>
          <a:lstStyle/>
          <a:p>
            <a:pPr marL="365760" indent="-365760" fontAlgn="auto">
              <a:spcAft>
                <a:spcPts val="0"/>
              </a:spcAft>
              <a:defRPr/>
            </a:pPr>
            <a:r>
              <a:rPr lang="fr-FR" dirty="0">
                <a:solidFill>
                  <a:schemeClr val="tx1">
                    <a:lumMod val="85000"/>
                    <a:lumOff val="15000"/>
                  </a:schemeClr>
                </a:solidFill>
              </a:rPr>
              <a:t>traitement d’un grand nombre de dimensions et de grand nombre de données, question peut être problématique en raison de la complexité du temps de calcule.</a:t>
            </a:r>
          </a:p>
          <a:p>
            <a:pPr marL="365760" indent="-365760" fontAlgn="auto">
              <a:spcAft>
                <a:spcPts val="0"/>
              </a:spcAft>
              <a:defRPr/>
            </a:pPr>
            <a:r>
              <a:rPr lang="fr-FR" dirty="0">
                <a:solidFill>
                  <a:schemeClr val="tx1">
                    <a:lumMod val="85000"/>
                    <a:lumOff val="15000"/>
                  </a:schemeClr>
                </a:solidFill>
              </a:rPr>
              <a:t>l’efficacité de la méthode dépend de la définition de «distance» utilisée.</a:t>
            </a:r>
          </a:p>
          <a:p>
            <a:pPr marL="365760" indent="-365760" fontAlgn="auto">
              <a:spcAft>
                <a:spcPts val="0"/>
              </a:spcAft>
              <a:defRPr/>
            </a:pPr>
            <a:r>
              <a:rPr lang="fr-FR" dirty="0">
                <a:solidFill>
                  <a:schemeClr val="tx1">
                    <a:lumMod val="85000"/>
                    <a:lumOff val="15000"/>
                  </a:schemeClr>
                </a:solidFill>
              </a:rPr>
              <a:t>si la mesure de la distance n’existe pas, nous devons la «définir», ce qui n’est pas toujours facile, surtout dans des espaces multidimensionnels.</a:t>
            </a:r>
          </a:p>
          <a:p>
            <a:pPr marL="365760" indent="-365760" fontAlgn="auto">
              <a:spcAft>
                <a:spcPts val="0"/>
              </a:spcAft>
              <a:defRPr/>
            </a:pPr>
            <a:r>
              <a:rPr lang="fr-FR" dirty="0">
                <a:solidFill>
                  <a:schemeClr val="tx1">
                    <a:lumMod val="85000"/>
                    <a:lumOff val="15000"/>
                  </a:schemeClr>
                </a:solidFill>
              </a:rPr>
              <a:t>le résultat de l’algorithme de </a:t>
            </a:r>
            <a:r>
              <a:rPr lang="fr-FR" dirty="0" err="1">
                <a:solidFill>
                  <a:schemeClr val="tx1">
                    <a:lumMod val="85000"/>
                    <a:lumOff val="15000"/>
                  </a:schemeClr>
                </a:solidFill>
              </a:rPr>
              <a:t>clustering</a:t>
            </a:r>
            <a:r>
              <a:rPr lang="fr-FR" dirty="0">
                <a:solidFill>
                  <a:schemeClr val="tx1">
                    <a:lumMod val="85000"/>
                    <a:lumOff val="15000"/>
                  </a:schemeClr>
                </a:solidFill>
              </a:rPr>
              <a:t> peut être interprété de différentes manières.</a:t>
            </a:r>
          </a:p>
          <a:p>
            <a:pPr marL="365760" indent="-365760" fontAlgn="auto">
              <a:spcAft>
                <a:spcPts val="0"/>
              </a:spcAft>
              <a:defRPr/>
            </a:pPr>
            <a:r>
              <a:rPr lang="fr-FR" dirty="0">
                <a:solidFill>
                  <a:schemeClr val="tx1">
                    <a:lumMod val="85000"/>
                    <a:lumOff val="15000"/>
                  </a:schemeClr>
                </a:solidFill>
              </a:rPr>
              <a:t>Beaucoup d’algorithmes de </a:t>
            </a:r>
            <a:r>
              <a:rPr lang="fr-FR" dirty="0" err="1">
                <a:solidFill>
                  <a:schemeClr val="tx1">
                    <a:lumMod val="85000"/>
                    <a:lumOff val="15000"/>
                  </a:schemeClr>
                </a:solidFill>
              </a:rPr>
              <a:t>clustering</a:t>
            </a:r>
            <a:r>
              <a:rPr lang="fr-FR" dirty="0">
                <a:solidFill>
                  <a:schemeClr val="tx1">
                    <a:lumMod val="85000"/>
                    <a:lumOff val="15000"/>
                  </a:schemeClr>
                </a:solidFill>
              </a:rPr>
              <a:t> exigent la spécification du nombre de clusters à produire en entrée de l’ensemble de données, avant l’exécution de l’algorithme</a:t>
            </a:r>
          </a:p>
          <a:p>
            <a:pPr marL="365760" indent="-365760" fontAlgn="auto">
              <a:spcAft>
                <a:spcPts val="0"/>
              </a:spcAft>
              <a:defRPr/>
            </a:pPr>
            <a:endParaRPr lang="fr-FR" dirty="0">
              <a:solidFill>
                <a:schemeClr val="tx1">
                  <a:lumMod val="85000"/>
                  <a:lumOff val="15000"/>
                </a:schemeClr>
              </a:solidFill>
            </a:endParaRPr>
          </a:p>
        </p:txBody>
      </p:sp>
      <p:sp>
        <p:nvSpPr>
          <p:cNvPr id="44034" name="Title 2"/>
          <p:cNvSpPr>
            <a:spLocks noGrp="1"/>
          </p:cNvSpPr>
          <p:nvPr>
            <p:ph type="title"/>
          </p:nvPr>
        </p:nvSpPr>
        <p:spPr>
          <a:xfrm>
            <a:off x="684213" y="549275"/>
            <a:ext cx="7754937" cy="1054100"/>
          </a:xfrm>
        </p:spPr>
        <p:txBody>
          <a:bodyPr/>
          <a:lstStyle/>
          <a:p>
            <a:r>
              <a:rPr lang="fr-FR" sz="4400" b="1"/>
              <a:t>Les limites de Clustering</a:t>
            </a:r>
            <a:endParaRPr lang="fr-FR" sz="4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Content Placeholder 1"/>
          <p:cNvSpPr>
            <a:spLocks noGrp="1"/>
          </p:cNvSpPr>
          <p:nvPr>
            <p:ph idx="1"/>
          </p:nvPr>
        </p:nvSpPr>
        <p:spPr/>
        <p:txBody>
          <a:bodyPr/>
          <a:lstStyle/>
          <a:p>
            <a:r>
              <a:rPr lang="fr-FR"/>
              <a:t>Le Clustering est une méthode de classification très puissante, 	malgré ses limites, la multitude de ses algorithmes avec la possibilité du choix des mesures de similarité, permettent l’adaptation avec les différents types de données.</a:t>
            </a:r>
          </a:p>
          <a:p>
            <a:r>
              <a:rPr lang="fr-FR"/>
              <a:t>Malgré que c’est un domaine qui est apparu depuis l’aube du temps, aujourd’hui, son utilisation et son développement est immense et dans différents domaines.</a:t>
            </a:r>
          </a:p>
          <a:p>
            <a:endParaRPr lang="fr-FR"/>
          </a:p>
        </p:txBody>
      </p:sp>
      <p:sp>
        <p:nvSpPr>
          <p:cNvPr id="45058" name="Title 2"/>
          <p:cNvSpPr>
            <a:spLocks noGrp="1"/>
          </p:cNvSpPr>
          <p:nvPr>
            <p:ph type="title"/>
          </p:nvPr>
        </p:nvSpPr>
        <p:spPr/>
        <p:txBody>
          <a:bodyPr/>
          <a:lstStyle/>
          <a:p>
            <a:r>
              <a:rPr lang="fr-FR" sz="4400" b="1"/>
              <a:t>Conclusion</a:t>
            </a:r>
            <a:endParaRPr lang="fr-FR" sz="44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1387737"/>
            <a:ext cx="7133075" cy="1731982"/>
          </a:xfrm>
        </p:spPr>
        <p:txBody>
          <a:bodyPr rtlCol="0">
            <a:noAutofit/>
          </a:bodyPr>
          <a:lstStyle/>
          <a:p>
            <a:pPr fontAlgn="auto">
              <a:spcAft>
                <a:spcPts val="0"/>
              </a:spcAft>
              <a:defRPr/>
            </a:pPr>
            <a:r>
              <a:rPr lang="fr-FR" dirty="0"/>
              <a:t>Merci de votre attention</a:t>
            </a:r>
          </a:p>
        </p:txBody>
      </p:sp>
      <p:sp>
        <p:nvSpPr>
          <p:cNvPr id="3" name="Subtitle 2"/>
          <p:cNvSpPr>
            <a:spLocks noGrp="1"/>
          </p:cNvSpPr>
          <p:nvPr>
            <p:ph type="subTitle" idx="1"/>
          </p:nvPr>
        </p:nvSpPr>
        <p:spPr>
          <a:xfrm>
            <a:off x="1371600" y="3767138"/>
            <a:ext cx="6400800" cy="1752600"/>
          </a:xfrm>
        </p:spPr>
        <p:txBody>
          <a:bodyPr rtlCol="0">
            <a:normAutofit/>
          </a:bodyPr>
          <a:lstStyle/>
          <a:p>
            <a:pPr fontAlgn="auto">
              <a:spcAft>
                <a:spcPts val="0"/>
              </a:spcAft>
              <a:defRPr/>
            </a:pPr>
            <a:endParaRPr lang="fr-FR" dirty="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themeOverride>
</file>

<file path=docProps/app.xml><?xml version="1.0" encoding="utf-8"?>
<Properties xmlns="http://schemas.openxmlformats.org/officeDocument/2006/extended-properties" xmlns:vt="http://schemas.openxmlformats.org/officeDocument/2006/docPropsVTypes">
  <Template>Hardcover</Template>
  <TotalTime>38</TotalTime>
  <Words>2006</Words>
  <Application>Microsoft Office PowerPoint</Application>
  <PresentationFormat>Affichage à l'écran (4:3)</PresentationFormat>
  <Paragraphs>201</Paragraphs>
  <Slides>31</Slides>
  <Notes>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31</vt:i4>
      </vt:variant>
    </vt:vector>
  </HeadingPairs>
  <TitlesOfParts>
    <vt:vector size="37" baseType="lpstr">
      <vt:lpstr>Arial</vt:lpstr>
      <vt:lpstr>Book Antiqua</vt:lpstr>
      <vt:lpstr>Calibri</vt:lpstr>
      <vt:lpstr>Tahoma</vt:lpstr>
      <vt:lpstr>Wingdings</vt:lpstr>
      <vt:lpstr>Hardcover</vt:lpstr>
      <vt:lpstr>LE CLUSTERING</vt:lpstr>
      <vt:lpstr>DEFINITION</vt:lpstr>
      <vt:lpstr>Qu’est ce qu’un bon  clustering ?</vt:lpstr>
      <vt:lpstr> Domaines d’application :  </vt:lpstr>
      <vt:lpstr>Notions de similarité</vt:lpstr>
      <vt:lpstr>Notions de similarité</vt:lpstr>
      <vt:lpstr>Notions de similarité</vt:lpstr>
      <vt:lpstr>Concepts de base</vt:lpstr>
      <vt:lpstr>Concepts de base</vt:lpstr>
      <vt:lpstr>Approches de Clustering</vt:lpstr>
      <vt:lpstr>Clustering de Partition</vt:lpstr>
      <vt:lpstr>Algorithme K-Means</vt:lpstr>
      <vt:lpstr>Algorithme K-Means</vt:lpstr>
      <vt:lpstr>Présentation PowerPoint</vt:lpstr>
      <vt:lpstr>Algorithme K-Medoids</vt:lpstr>
      <vt:lpstr>Algorithme K-Medoids</vt:lpstr>
      <vt:lpstr>Présentation PowerPoint</vt:lpstr>
      <vt:lpstr>Algorithme K-Medoids</vt:lpstr>
      <vt:lpstr>Clustering Hiérarchique</vt:lpstr>
      <vt:lpstr>Clustering Hiérarchique</vt:lpstr>
      <vt:lpstr>Approche Divisive</vt:lpstr>
      <vt:lpstr>Approche Agglomerative </vt:lpstr>
      <vt:lpstr>Présentation PowerPoint</vt:lpstr>
      <vt:lpstr>Présentation PowerPoint</vt:lpstr>
      <vt:lpstr>Présentation PowerPoint</vt:lpstr>
      <vt:lpstr>Présentation PowerPoint</vt:lpstr>
      <vt:lpstr>Présentation PowerPoint</vt:lpstr>
      <vt:lpstr>Clustering Incrémental</vt:lpstr>
      <vt:lpstr>Les limites de Clustering</vt:lpstr>
      <vt:lpstr>Conclusion</vt:lpstr>
      <vt:lpstr>Merci de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CLUSTERING</dc:title>
  <dc:creator>GIGATECH</dc:creator>
  <cp:lastModifiedBy>EM</cp:lastModifiedBy>
  <cp:revision>20</cp:revision>
  <dcterms:created xsi:type="dcterms:W3CDTF">2014-11-19T15:54:11Z</dcterms:created>
  <dcterms:modified xsi:type="dcterms:W3CDTF">2024-10-22T10:07:38Z</dcterms:modified>
</cp:coreProperties>
</file>