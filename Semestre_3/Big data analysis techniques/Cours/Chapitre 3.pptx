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6858000" type="screen4x3"/>
  <p:notesSz cx="6858000" cy="9144000"/>
  <p:defaultTextStyle>
    <a:defPPr>
      <a:defRPr lang="fr-FR"/>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143000" y="1122363"/>
            <a:ext cx="6858000" cy="2387600"/>
          </a:xfrm>
        </p:spPr>
        <p:txBody>
          <a:bodyPr anchor="b"/>
          <a:lstStyle>
            <a:lvl1pPr algn="ctr">
              <a:defRPr sz="6000"/>
            </a:lvl1pPr>
          </a:lstStyle>
          <a:p>
            <a:r>
              <a:rPr lang="fr-FR"/>
              <a:t>Modifiez le style du titre</a:t>
            </a:r>
            <a:endParaRPr lang="fr-FR"/>
          </a:p>
        </p:txBody>
      </p:sp>
      <p:sp>
        <p:nvSpPr>
          <p:cNvPr id="3" name="Sous-titr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fr-FR"/>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FR"/>
          </a:p>
        </p:txBody>
      </p:sp>
      <p:sp>
        <p:nvSpPr>
          <p:cNvPr id="3" name="Espace réservé du contenu 2"/>
          <p:cNvSpPr>
            <a:spLocks noGrp="1"/>
          </p:cNvSpPr>
          <p:nvPr>
            <p:ph idx="1"/>
          </p:nvPr>
        </p:nvSpPr>
        <p:spPr/>
        <p:txBody>
          <a:bodyPr/>
          <a:lstStyle/>
          <a:p>
            <a:pPr lvl="0"/>
            <a:r>
              <a:rPr lang="fr-FR"/>
              <a:t>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623888" y="1709738"/>
            <a:ext cx="7886700" cy="2852737"/>
          </a:xfrm>
        </p:spPr>
        <p:txBody>
          <a:bodyPr anchor="b"/>
          <a:lstStyle>
            <a:lvl1pPr>
              <a:defRPr sz="6000"/>
            </a:lvl1pPr>
          </a:lstStyle>
          <a:p>
            <a:r>
              <a:rPr lang="fr-FR"/>
              <a:t>Modifiez le style du titre</a:t>
            </a:r>
            <a:endParaRPr lang="fr-FR"/>
          </a:p>
        </p:txBody>
      </p:sp>
      <p:sp>
        <p:nvSpPr>
          <p:cNvPr id="3" name="Espace réservé du texte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fr-FR"/>
              <a:t>Modifier les styles du texte du masque</a:t>
            </a:r>
            <a:endParaRPr lang="fr-FR"/>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p>
            <a:pPr lvl="0"/>
            <a:r>
              <a:rPr lang="fr-FR"/>
              <a:t>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p>
            <a:pPr lvl="0"/>
            <a:r>
              <a:rPr lang="fr-FR"/>
              <a:t>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30238" y="365125"/>
            <a:ext cx="7886700" cy="1325563"/>
          </a:xfrm>
        </p:spPr>
        <p:txBody>
          <a:bodyPr/>
          <a:lstStyle/>
          <a:p>
            <a:r>
              <a:rPr lang="fr-FR"/>
              <a:t>Modifiez le style du titre</a:t>
            </a:r>
            <a:endParaRPr lang="fr-FR"/>
          </a:p>
        </p:txBody>
      </p:sp>
      <p:sp>
        <p:nvSpPr>
          <p:cNvPr id="3" name="Espace réservé du texte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endParaRPr lang="fr-FR"/>
          </a:p>
        </p:txBody>
      </p:sp>
      <p:sp>
        <p:nvSpPr>
          <p:cNvPr id="4" name="Espace réservé du contenu 3"/>
          <p:cNvSpPr>
            <a:spLocks noGrp="1"/>
          </p:cNvSpPr>
          <p:nvPr>
            <p:ph sz="half" idx="2"/>
          </p:nvPr>
        </p:nvSpPr>
        <p:spPr>
          <a:xfrm>
            <a:off x="630238" y="2505075"/>
            <a:ext cx="3868737" cy="3684588"/>
          </a:xfrm>
        </p:spPr>
        <p:txBody>
          <a:bodyPr/>
          <a:lstStyle/>
          <a:p>
            <a:pPr lvl="0"/>
            <a:r>
              <a:rPr lang="fr-FR"/>
              <a:t>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5" name="Espace réservé du texte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endParaRPr lang="fr-FR"/>
          </a:p>
        </p:txBody>
      </p:sp>
      <p:sp>
        <p:nvSpPr>
          <p:cNvPr id="6" name="Espace réservé du contenu 5"/>
          <p:cNvSpPr>
            <a:spLocks noGrp="1"/>
          </p:cNvSpPr>
          <p:nvPr>
            <p:ph sz="quarter" idx="4"/>
          </p:nvPr>
        </p:nvSpPr>
        <p:spPr>
          <a:xfrm>
            <a:off x="4629150" y="2505075"/>
            <a:ext cx="3887788" cy="3684588"/>
          </a:xfrm>
        </p:spPr>
        <p:txBody>
          <a:bodyPr/>
          <a:lstStyle/>
          <a:p>
            <a:pPr lvl="0"/>
            <a:r>
              <a:rPr lang="fr-FR"/>
              <a:t>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FR"/>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0238" y="457200"/>
            <a:ext cx="2949575" cy="1600200"/>
          </a:xfrm>
        </p:spPr>
        <p:txBody>
          <a:bodyPr anchor="b"/>
          <a:lstStyle>
            <a:lvl1pPr>
              <a:defRPr sz="3200"/>
            </a:lvl1pPr>
          </a:lstStyle>
          <a:p>
            <a:r>
              <a:rPr lang="fr-FR"/>
              <a:t>Modifiez le style du titre</a:t>
            </a:r>
            <a:endParaRPr lang="fr-FR"/>
          </a:p>
        </p:txBody>
      </p:sp>
      <p:sp>
        <p:nvSpPr>
          <p:cNvPr id="3" name="Espace réservé du contenu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Espace réservé du texte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endParaRPr lang="fr-FR"/>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0238" y="457200"/>
            <a:ext cx="2949575" cy="1600200"/>
          </a:xfrm>
        </p:spPr>
        <p:txBody>
          <a:bodyPr anchor="b"/>
          <a:lstStyle>
            <a:lvl1pPr>
              <a:defRPr sz="3200"/>
            </a:lvl1pPr>
          </a:lstStyle>
          <a:p>
            <a:r>
              <a:rPr lang="fr-FR"/>
              <a:t>Modifiez le style du titre</a:t>
            </a:r>
            <a:endParaRPr lang="fr-FR"/>
          </a:p>
        </p:txBody>
      </p:sp>
      <p:sp>
        <p:nvSpPr>
          <p:cNvPr id="3" name="Espace réservé pour une image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fr-FR" sz="3200" b="0" i="0" u="none" strike="noStrike" kern="1200" cap="none" spc="0" normalizeH="0" baseline="0" noProof="0">
              <a:ln>
                <a:noFill/>
              </a:ln>
              <a:solidFill>
                <a:schemeClr val="tx1"/>
              </a:solidFill>
              <a:effectLst/>
              <a:uLnTx/>
              <a:uFillTx/>
              <a:latin typeface="+mn-lt"/>
              <a:ea typeface="+mn-ea"/>
              <a:cs typeface="+mn-cs"/>
            </a:endParaRPr>
          </a:p>
        </p:txBody>
      </p:sp>
      <p:sp>
        <p:nvSpPr>
          <p:cNvPr id="4" name="Espace réservé du texte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endParaRPr lang="fr-FR"/>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fr-FR" altLang="fr-FR" dirty="0"/>
              <a:t>Cliquez pour modifier le style du titre</a:t>
            </a:r>
            <a:endParaRPr lang="fr-FR" altLang="fr-FR" dirty="0"/>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p>
            <a:pPr lvl="0"/>
            <a:r>
              <a:rPr lang="fr-FR" altLang="fr-FR" dirty="0"/>
              <a:t>Cliquez pour modifier les styles du texte du masque</a:t>
            </a:r>
            <a:endParaRPr lang="fr-FR" altLang="fr-FR" dirty="0"/>
          </a:p>
          <a:p>
            <a:pPr lvl="1"/>
            <a:r>
              <a:rPr lang="fr-FR" altLang="fr-FR" dirty="0"/>
              <a:t>Deuxième niveau</a:t>
            </a:r>
            <a:endParaRPr lang="fr-FR" altLang="fr-FR" dirty="0"/>
          </a:p>
          <a:p>
            <a:pPr lvl="2"/>
            <a:r>
              <a:rPr lang="fr-FR" altLang="fr-FR" dirty="0"/>
              <a:t>Troisième niveau</a:t>
            </a:r>
            <a:endParaRPr lang="fr-FR" altLang="fr-FR" dirty="0"/>
          </a:p>
          <a:p>
            <a:pPr lvl="3"/>
            <a:r>
              <a:rPr lang="fr-FR" altLang="fr-FR" dirty="0"/>
              <a:t>Quatrième niveau</a:t>
            </a:r>
            <a:endParaRPr lang="fr-FR" altLang="fr-FR" dirty="0"/>
          </a:p>
          <a:p>
            <a:pPr lvl="4"/>
            <a:r>
              <a:rPr lang="fr-FR" altLang="fr-FR" dirty="0"/>
              <a:t>Cinquième niveau</a:t>
            </a:r>
            <a:endParaRPr lang="fr-FR" altLang="fr-FR"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43FDD6AE-37D6-46C1-94F1-99E803ECE4A6}" type="slidenum">
              <a:rPr kumimoji="0" lang="fr-FR" altLang="fr-FR"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fld>
            <a:endParaRPr kumimoji="0" lang="fr-FR" altLang="fr-FR" sz="14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Text Box 4"/>
          <p:cNvSpPr txBox="1"/>
          <p:nvPr/>
        </p:nvSpPr>
        <p:spPr>
          <a:xfrm>
            <a:off x="468313" y="476250"/>
            <a:ext cx="8424862" cy="366713"/>
          </a:xfrm>
          <a:prstGeom prst="rect">
            <a:avLst/>
          </a:prstGeom>
          <a:noFill/>
          <a:ln w="9525">
            <a:noFill/>
          </a:ln>
        </p:spPr>
        <p:txBody>
          <a:bodyPr>
            <a:spAutoFit/>
          </a:bodyPr>
          <a:p>
            <a:pPr eaLnBrk="1" hangingPunct="1"/>
            <a:r>
              <a:rPr lang="fr-FR" altLang="fr-FR" dirty="0">
                <a:latin typeface="Arial" panose="020B0604020202020204" pitchFamily="34" charset="0"/>
              </a:rPr>
              <a:t>Chapitre 3: Recherche des modèles fréquents</a:t>
            </a:r>
            <a:endParaRPr lang="fr-FR" altLang="fr-FR" dirty="0">
              <a:latin typeface="Arial" panose="020B0604020202020204" pitchFamily="34" charset="0"/>
            </a:endParaRPr>
          </a:p>
        </p:txBody>
      </p:sp>
      <p:sp>
        <p:nvSpPr>
          <p:cNvPr id="2051" name="Text Box 5"/>
          <p:cNvSpPr txBox="1"/>
          <p:nvPr/>
        </p:nvSpPr>
        <p:spPr>
          <a:xfrm>
            <a:off x="250825" y="1125538"/>
            <a:ext cx="8281988" cy="5310187"/>
          </a:xfrm>
          <a:prstGeom prst="rect">
            <a:avLst/>
          </a:prstGeom>
          <a:noFill/>
          <a:ln w="9525">
            <a:noFill/>
          </a:ln>
        </p:spPr>
        <p:txBody>
          <a:bodyPr>
            <a:spAutoFit/>
          </a:bodyPr>
          <a:p>
            <a:pPr eaLnBrk="1" hangingPunct="1"/>
            <a:r>
              <a:rPr lang="fr-FR" altLang="fr-FR" dirty="0">
                <a:latin typeface="Arial" panose="020B0604020202020204" pitchFamily="34" charset="0"/>
              </a:rPr>
              <a:t>Introduction :</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Les motifs fréquents sont des motifs ou patterns qui apparaissent fréquemment dans un ensemble de données. Par exemple :</a:t>
            </a:r>
            <a:endParaRPr lang="fr-FR" altLang="fr-FR" dirty="0">
              <a:latin typeface="Arial" panose="020B0604020202020204" pitchFamily="34" charset="0"/>
            </a:endParaRPr>
          </a:p>
          <a:p>
            <a:pPr eaLnBrk="1" hangingPunct="1"/>
            <a:r>
              <a:rPr lang="fr-FR" altLang="fr-FR" dirty="0">
                <a:latin typeface="Arial" panose="020B0604020202020204" pitchFamily="34" charset="0"/>
              </a:rPr>
              <a:t> </a:t>
            </a:r>
            <a:endParaRPr lang="fr-FR" altLang="fr-FR" dirty="0">
              <a:latin typeface="Arial" panose="020B0604020202020204" pitchFamily="34" charset="0"/>
            </a:endParaRPr>
          </a:p>
          <a:p>
            <a:pPr eaLnBrk="1" hangingPunct="1"/>
            <a:r>
              <a:rPr lang="fr-FR" altLang="fr-FR" dirty="0">
                <a:latin typeface="Arial" panose="020B0604020202020204" pitchFamily="34" charset="0"/>
              </a:rPr>
              <a:t>- un ensemble d’items tel que le lait et le pain qui apparaissent souvent</a:t>
            </a:r>
            <a:endParaRPr lang="fr-FR" altLang="fr-FR" dirty="0">
              <a:latin typeface="Arial" panose="020B0604020202020204" pitchFamily="34" charset="0"/>
            </a:endParaRPr>
          </a:p>
          <a:p>
            <a:pPr eaLnBrk="1" hangingPunct="1"/>
            <a:r>
              <a:rPr lang="fr-FR" altLang="fr-FR" dirty="0">
                <a:latin typeface="Arial" panose="020B0604020202020204" pitchFamily="34" charset="0"/>
              </a:rPr>
              <a:t>dans une base de transactions dans un supermarché, est un ensemble d’items fréquent. </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buChar char="-"/>
            </a:pPr>
            <a:r>
              <a:rPr lang="fr-FR" altLang="fr-FR" dirty="0">
                <a:latin typeface="Arial" panose="020B0604020202020204" pitchFamily="34" charset="0"/>
              </a:rPr>
              <a:t>Une sous séquence telle que acheter premièrement un PC puis une caméra numérique ensuite une carte mémoire qui se produit souvent dans la base historique des achats, est une séquence d’items fréquente. </a:t>
            </a:r>
            <a:endParaRPr lang="fr-FR" altLang="fr-FR" dirty="0">
              <a:latin typeface="Arial" panose="020B0604020202020204" pitchFamily="34" charset="0"/>
            </a:endParaRPr>
          </a:p>
          <a:p>
            <a:pPr eaLnBrk="1" hangingPunct="1">
              <a:buChar char="-"/>
            </a:pPr>
            <a:endParaRPr lang="fr-FR" altLang="fr-FR" dirty="0">
              <a:latin typeface="Arial" panose="020B0604020202020204" pitchFamily="34" charset="0"/>
            </a:endParaRPr>
          </a:p>
          <a:p>
            <a:pPr eaLnBrk="1" hangingPunct="1">
              <a:buChar char="-"/>
            </a:pPr>
            <a:r>
              <a:rPr lang="fr-FR" altLang="fr-FR" dirty="0">
                <a:latin typeface="Arial" panose="020B0604020202020204" pitchFamily="34" charset="0"/>
              </a:rPr>
              <a:t> Les sous structures peuvent être des sous-graphes ou des sous-arbres</a:t>
            </a:r>
            <a:endParaRPr lang="fr-FR" altLang="fr-FR" dirty="0">
              <a:latin typeface="Arial" panose="020B0604020202020204" pitchFamily="34" charset="0"/>
            </a:endParaRPr>
          </a:p>
          <a:p>
            <a:pPr eaLnBrk="1" hangingPunct="1"/>
            <a:r>
              <a:rPr lang="fr-FR" altLang="fr-FR" dirty="0">
                <a:latin typeface="Arial" panose="020B0604020202020204" pitchFamily="34" charset="0"/>
              </a:rPr>
              <a:t>qui peuvent être combinés avec des ensembles ou des séquences d’items. </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solidFill>
                  <a:schemeClr val="folHlink"/>
                </a:solidFill>
                <a:latin typeface="Arial" panose="020B0604020202020204" pitchFamily="34" charset="0"/>
              </a:rPr>
              <a:t>Trouver de tels motifs fréquents joue un rôle essentiel dans la fouille des associations et des corrélations, et représente une tâche importante en data mining et constitue toujours un thème qui attire beaucoup de recherches.</a:t>
            </a:r>
            <a:endParaRPr lang="fr-FR" altLang="fr-FR" dirty="0">
              <a:solidFill>
                <a:schemeClr val="folHlink"/>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ext Box 4"/>
          <p:cNvSpPr txBox="1"/>
          <p:nvPr/>
        </p:nvSpPr>
        <p:spPr>
          <a:xfrm>
            <a:off x="323850" y="476250"/>
            <a:ext cx="4968875" cy="366713"/>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2.1 Concepts de base</a:t>
            </a:r>
            <a:endParaRPr lang="fr-FR" altLang="fr-FR" dirty="0">
              <a:latin typeface="Arial" panose="020B0604020202020204" pitchFamily="34" charset="0"/>
            </a:endParaRPr>
          </a:p>
        </p:txBody>
      </p:sp>
      <p:sp>
        <p:nvSpPr>
          <p:cNvPr id="3075" name="Text Box 5"/>
          <p:cNvSpPr txBox="1"/>
          <p:nvPr/>
        </p:nvSpPr>
        <p:spPr>
          <a:xfrm>
            <a:off x="323850" y="908050"/>
            <a:ext cx="7272338" cy="366713"/>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2.1.1 Base de données formelle</a:t>
            </a:r>
            <a:endParaRPr lang="fr-FR" altLang="fr-FR" dirty="0">
              <a:latin typeface="Arial" panose="020B0604020202020204" pitchFamily="34" charset="0"/>
            </a:endParaRPr>
          </a:p>
        </p:txBody>
      </p:sp>
      <p:sp>
        <p:nvSpPr>
          <p:cNvPr id="3076" name="Text Box 6"/>
          <p:cNvSpPr txBox="1"/>
          <p:nvPr/>
        </p:nvSpPr>
        <p:spPr>
          <a:xfrm>
            <a:off x="395288" y="1412875"/>
            <a:ext cx="7920037" cy="1190625"/>
          </a:xfrm>
          <a:prstGeom prst="rect">
            <a:avLst/>
          </a:prstGeom>
          <a:noFill/>
          <a:ln w="9525">
            <a:noFill/>
          </a:ln>
        </p:spPr>
        <p:txBody>
          <a:bodyPr>
            <a:spAutoFit/>
          </a:bodyPr>
          <a:p>
            <a:pPr eaLnBrk="1" hangingPunct="1"/>
            <a:r>
              <a:rPr lang="fr-FR" altLang="fr-FR" dirty="0">
                <a:latin typeface="Arial" panose="020B0604020202020204" pitchFamily="34" charset="0"/>
              </a:rPr>
              <a:t>La version de base de l’extraction de motifs fréquents permet de faire la fouille dans une table d’une base de données relationnelle dont les valeurs sont des booléens indiquant la présence ou l’absence d’une propriété. Une telle base est appelée base de données formelle.</a:t>
            </a:r>
            <a:endParaRPr lang="fr-FR" altLang="fr-FR" dirty="0">
              <a:latin typeface="Arial" panose="020B0604020202020204" pitchFamily="34" charset="0"/>
            </a:endParaRPr>
          </a:p>
        </p:txBody>
      </p:sp>
      <p:sp>
        <p:nvSpPr>
          <p:cNvPr id="3077" name="Text Box 7"/>
          <p:cNvSpPr txBox="1"/>
          <p:nvPr/>
        </p:nvSpPr>
        <p:spPr>
          <a:xfrm>
            <a:off x="539750" y="2924175"/>
            <a:ext cx="7488238" cy="1739900"/>
          </a:xfrm>
          <a:prstGeom prst="rect">
            <a:avLst/>
          </a:prstGeom>
          <a:noFill/>
          <a:ln w="9525">
            <a:noFill/>
          </a:ln>
        </p:spPr>
        <p:txBody>
          <a:bodyPr>
            <a:spAutoFit/>
          </a:bodyPr>
          <a:p>
            <a:pPr eaLnBrk="1" hangingPunct="1"/>
            <a:r>
              <a:rPr lang="fr-FR" altLang="fr-FR" dirty="0">
                <a:latin typeface="Arial" panose="020B0604020202020204" pitchFamily="34" charset="0"/>
              </a:rPr>
              <a:t>Une base de données formelle est définie par un triplet (</a:t>
            </a:r>
            <a:r>
              <a:rPr lang="fr-FR" altLang="fr-FR" i="1" dirty="0">
                <a:latin typeface="Arial" panose="020B0604020202020204" pitchFamily="34" charset="0"/>
              </a:rPr>
              <a:t>O, P,R</a:t>
            </a:r>
            <a:r>
              <a:rPr lang="fr-FR" altLang="fr-FR" dirty="0">
                <a:latin typeface="Arial" panose="020B0604020202020204" pitchFamily="34" charset="0"/>
              </a:rPr>
              <a:t>) où :</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 </a:t>
            </a:r>
            <a:r>
              <a:rPr lang="fr-FR" altLang="fr-FR" i="1" dirty="0">
                <a:latin typeface="Arial" panose="020B0604020202020204" pitchFamily="34" charset="0"/>
              </a:rPr>
              <a:t>O </a:t>
            </a:r>
            <a:r>
              <a:rPr lang="fr-FR" altLang="fr-FR" dirty="0">
                <a:latin typeface="Arial" panose="020B0604020202020204" pitchFamily="34" charset="0"/>
              </a:rPr>
              <a:t>est un ensemble fini d’objets.</a:t>
            </a:r>
            <a:endParaRPr lang="fr-FR" altLang="fr-FR" dirty="0">
              <a:latin typeface="Arial" panose="020B0604020202020204" pitchFamily="34" charset="0"/>
            </a:endParaRPr>
          </a:p>
          <a:p>
            <a:pPr eaLnBrk="1" hangingPunct="1"/>
            <a:r>
              <a:rPr lang="fr-FR" altLang="fr-FR" dirty="0">
                <a:latin typeface="Arial" panose="020B0604020202020204" pitchFamily="34" charset="0"/>
              </a:rPr>
              <a:t>– </a:t>
            </a:r>
            <a:r>
              <a:rPr lang="fr-FR" altLang="fr-FR" i="1" dirty="0">
                <a:latin typeface="Arial" panose="020B0604020202020204" pitchFamily="34" charset="0"/>
              </a:rPr>
              <a:t>P </a:t>
            </a:r>
            <a:r>
              <a:rPr lang="fr-FR" altLang="fr-FR" dirty="0">
                <a:latin typeface="Arial" panose="020B0604020202020204" pitchFamily="34" charset="0"/>
              </a:rPr>
              <a:t>est un ensemble fini de propriétés.</a:t>
            </a:r>
            <a:endParaRPr lang="fr-FR" altLang="fr-FR" dirty="0">
              <a:latin typeface="Arial" panose="020B0604020202020204" pitchFamily="34" charset="0"/>
            </a:endParaRPr>
          </a:p>
          <a:p>
            <a:pPr eaLnBrk="1" hangingPunct="1"/>
            <a:r>
              <a:rPr lang="fr-FR" altLang="fr-FR" dirty="0">
                <a:latin typeface="Arial" panose="020B0604020202020204" pitchFamily="34" charset="0"/>
              </a:rPr>
              <a:t>– </a:t>
            </a:r>
            <a:r>
              <a:rPr lang="fr-FR" altLang="fr-FR" i="1" dirty="0">
                <a:latin typeface="Arial" panose="020B0604020202020204" pitchFamily="34" charset="0"/>
              </a:rPr>
              <a:t>R </a:t>
            </a:r>
            <a:r>
              <a:rPr lang="fr-FR" altLang="fr-FR" dirty="0">
                <a:latin typeface="Arial" panose="020B0604020202020204" pitchFamily="34" charset="0"/>
              </a:rPr>
              <a:t>est une relation sur </a:t>
            </a:r>
            <a:r>
              <a:rPr lang="fr-FR" altLang="fr-FR" i="1" dirty="0">
                <a:latin typeface="Arial" panose="020B0604020202020204" pitchFamily="34" charset="0"/>
              </a:rPr>
              <a:t>O × P </a:t>
            </a:r>
            <a:r>
              <a:rPr lang="fr-FR" altLang="fr-FR" dirty="0">
                <a:latin typeface="Arial" panose="020B0604020202020204" pitchFamily="34" charset="0"/>
              </a:rPr>
              <a:t>qui permet d’indiquer si un objet </a:t>
            </a:r>
            <a:r>
              <a:rPr lang="fr-FR" altLang="fr-FR" i="1" dirty="0">
                <a:latin typeface="Arial" panose="020B0604020202020204" pitchFamily="34" charset="0"/>
              </a:rPr>
              <a:t>x </a:t>
            </a:r>
            <a:r>
              <a:rPr lang="fr-FR" altLang="fr-FR" dirty="0">
                <a:latin typeface="Arial" panose="020B0604020202020204" pitchFamily="34" charset="0"/>
              </a:rPr>
              <a:t>a une propriété </a:t>
            </a:r>
            <a:r>
              <a:rPr lang="fr-FR" altLang="fr-FR" i="1" dirty="0">
                <a:latin typeface="Arial" panose="020B0604020202020204" pitchFamily="34" charset="0"/>
              </a:rPr>
              <a:t>p </a:t>
            </a:r>
            <a:r>
              <a:rPr lang="fr-FR" altLang="fr-FR" dirty="0">
                <a:latin typeface="Arial" panose="020B0604020202020204" pitchFamily="34" charset="0"/>
              </a:rPr>
              <a:t>(noté </a:t>
            </a:r>
            <a:r>
              <a:rPr lang="fr-FR" altLang="fr-FR" i="1" dirty="0">
                <a:latin typeface="Arial" panose="020B0604020202020204" pitchFamily="34" charset="0"/>
              </a:rPr>
              <a:t>x R p</a:t>
            </a:r>
            <a:r>
              <a:rPr lang="fr-FR" altLang="fr-FR" dirty="0">
                <a:latin typeface="Arial" panose="020B0604020202020204" pitchFamily="34" charset="0"/>
              </a:rPr>
              <a:t>) ou non.</a:t>
            </a:r>
            <a:endParaRPr lang="fr-FR" altLang="fr-FR"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Text Box 4"/>
          <p:cNvSpPr txBox="1"/>
          <p:nvPr/>
        </p:nvSpPr>
        <p:spPr>
          <a:xfrm>
            <a:off x="468313" y="476250"/>
            <a:ext cx="7632700" cy="1739900"/>
          </a:xfrm>
          <a:prstGeom prst="rect">
            <a:avLst/>
          </a:prstGeom>
          <a:noFill/>
          <a:ln w="9525">
            <a:noFill/>
          </a:ln>
        </p:spPr>
        <p:txBody>
          <a:bodyPr>
            <a:spAutoFit/>
          </a:bodyPr>
          <a:p>
            <a:pPr eaLnBrk="1" hangingPunct="1"/>
            <a:r>
              <a:rPr lang="fr-FR" altLang="fr-FR" dirty="0">
                <a:latin typeface="Arial" panose="020B0604020202020204" pitchFamily="34" charset="0"/>
              </a:rPr>
              <a:t>Exemple : l’analyse du panier dans un supermarché, </a:t>
            </a:r>
            <a:r>
              <a:rPr lang="fr-FR" altLang="fr-FR" i="1" dirty="0">
                <a:latin typeface="Arial" panose="020B0604020202020204" pitchFamily="34" charset="0"/>
              </a:rPr>
              <a:t>O </a:t>
            </a:r>
            <a:r>
              <a:rPr lang="fr-FR" altLang="fr-FR" dirty="0">
                <a:latin typeface="Arial" panose="020B0604020202020204" pitchFamily="34" charset="0"/>
              </a:rPr>
              <a:t>est l’ensemble des transactions d’achat, </a:t>
            </a:r>
            <a:r>
              <a:rPr lang="fr-FR" altLang="fr-FR" i="1" dirty="0">
                <a:latin typeface="Arial" panose="020B0604020202020204" pitchFamily="34" charset="0"/>
              </a:rPr>
              <a:t>P </a:t>
            </a:r>
            <a:r>
              <a:rPr lang="fr-FR" altLang="fr-FR" dirty="0">
                <a:latin typeface="Arial" panose="020B0604020202020204" pitchFamily="34" charset="0"/>
              </a:rPr>
              <a:t>est l’ensemble d’articles et </a:t>
            </a:r>
            <a:r>
              <a:rPr lang="fr-FR" altLang="fr-FR" i="1" dirty="0">
                <a:latin typeface="Arial" panose="020B0604020202020204" pitchFamily="34" charset="0"/>
              </a:rPr>
              <a:t>R </a:t>
            </a:r>
            <a:r>
              <a:rPr lang="fr-FR" altLang="fr-FR" dirty="0">
                <a:latin typeface="Arial" panose="020B0604020202020204" pitchFamily="34" charset="0"/>
              </a:rPr>
              <a:t>est la relation indiquant si un article </a:t>
            </a:r>
            <a:r>
              <a:rPr lang="fr-FR" altLang="fr-FR" i="1" dirty="0">
                <a:latin typeface="Arial" panose="020B0604020202020204" pitchFamily="34" charset="0"/>
              </a:rPr>
              <a:t>a </a:t>
            </a:r>
            <a:r>
              <a:rPr lang="fr-FR" altLang="fr-FR" dirty="0">
                <a:latin typeface="Arial" panose="020B0604020202020204" pitchFamily="34" charset="0"/>
              </a:rPr>
              <a:t>est acheté dans la transaction </a:t>
            </a:r>
            <a:r>
              <a:rPr lang="fr-FR" altLang="fr-FR" i="1" dirty="0">
                <a:latin typeface="Arial" panose="020B0604020202020204" pitchFamily="34" charset="0"/>
              </a:rPr>
              <a:t>t</a:t>
            </a:r>
            <a:r>
              <a:rPr lang="fr-FR" altLang="fr-FR" dirty="0">
                <a:latin typeface="Arial" panose="020B0604020202020204" pitchFamily="34" charset="0"/>
              </a:rPr>
              <a:t>.</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Considérons par exemple la base de données formelle suivante :</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p:txBody>
      </p:sp>
      <p:pic>
        <p:nvPicPr>
          <p:cNvPr id="4099" name="Picture 5"/>
          <p:cNvPicPr>
            <a:picLocks noChangeAspect="1"/>
          </p:cNvPicPr>
          <p:nvPr/>
        </p:nvPicPr>
        <p:blipFill>
          <a:blip r:embed="rId1"/>
          <a:stretch>
            <a:fillRect/>
          </a:stretch>
        </p:blipFill>
        <p:spPr>
          <a:xfrm>
            <a:off x="2987675" y="1916113"/>
            <a:ext cx="2828925" cy="2736850"/>
          </a:xfrm>
          <a:prstGeom prst="rect">
            <a:avLst/>
          </a:prstGeom>
          <a:noFill/>
          <a:ln w="9525">
            <a:noFill/>
          </a:ln>
        </p:spPr>
      </p:pic>
      <p:sp>
        <p:nvSpPr>
          <p:cNvPr id="4100" name="Text Box 6"/>
          <p:cNvSpPr txBox="1"/>
          <p:nvPr/>
        </p:nvSpPr>
        <p:spPr>
          <a:xfrm>
            <a:off x="539750" y="4941888"/>
            <a:ext cx="8064500" cy="1190625"/>
          </a:xfrm>
          <a:prstGeom prst="rect">
            <a:avLst/>
          </a:prstGeom>
          <a:noFill/>
          <a:ln w="9525">
            <a:noFill/>
          </a:ln>
        </p:spPr>
        <p:txBody>
          <a:bodyPr>
            <a:spAutoFit/>
          </a:bodyPr>
          <a:p>
            <a:pPr eaLnBrk="1" hangingPunct="1"/>
            <a:r>
              <a:rPr lang="fr-FR" altLang="fr-FR" dirty="0">
                <a:latin typeface="Arial" panose="020B0604020202020204" pitchFamily="34" charset="0"/>
              </a:rPr>
              <a:t>– </a:t>
            </a:r>
            <a:r>
              <a:rPr lang="fr-FR" altLang="fr-FR" i="1" dirty="0">
                <a:latin typeface="Arial" panose="020B0604020202020204" pitchFamily="34" charset="0"/>
              </a:rPr>
              <a:t>O </a:t>
            </a:r>
            <a:r>
              <a:rPr lang="fr-FR" altLang="fr-FR" dirty="0">
                <a:latin typeface="Arial" panose="020B0604020202020204" pitchFamily="34" charset="0"/>
              </a:rPr>
              <a:t>= </a:t>
            </a:r>
            <a:r>
              <a:rPr lang="fr-FR" altLang="fr-FR" i="1" dirty="0">
                <a:latin typeface="Arial" panose="020B0604020202020204" pitchFamily="34" charset="0"/>
              </a:rPr>
              <a:t>{x</a:t>
            </a:r>
            <a:r>
              <a:rPr lang="fr-FR" altLang="fr-FR" dirty="0">
                <a:latin typeface="Arial" panose="020B0604020202020204" pitchFamily="34" charset="0"/>
              </a:rPr>
              <a:t>1</a:t>
            </a:r>
            <a:r>
              <a:rPr lang="fr-FR" altLang="fr-FR" i="1" dirty="0">
                <a:latin typeface="Arial" panose="020B0604020202020204" pitchFamily="34" charset="0"/>
              </a:rPr>
              <a:t>, x</a:t>
            </a:r>
            <a:r>
              <a:rPr lang="fr-FR" altLang="fr-FR" dirty="0">
                <a:latin typeface="Arial" panose="020B0604020202020204" pitchFamily="34" charset="0"/>
              </a:rPr>
              <a:t>2</a:t>
            </a:r>
            <a:r>
              <a:rPr lang="fr-FR" altLang="fr-FR" i="1" dirty="0">
                <a:latin typeface="Arial" panose="020B0604020202020204" pitchFamily="34" charset="0"/>
              </a:rPr>
              <a:t>, x</a:t>
            </a:r>
            <a:r>
              <a:rPr lang="fr-FR" altLang="fr-FR" dirty="0">
                <a:latin typeface="Arial" panose="020B0604020202020204" pitchFamily="34" charset="0"/>
              </a:rPr>
              <a:t>3</a:t>
            </a:r>
            <a:r>
              <a:rPr lang="fr-FR" altLang="fr-FR" i="1" dirty="0">
                <a:latin typeface="Arial" panose="020B0604020202020204" pitchFamily="34" charset="0"/>
              </a:rPr>
              <a:t>, x</a:t>
            </a:r>
            <a:r>
              <a:rPr lang="fr-FR" altLang="fr-FR" dirty="0">
                <a:latin typeface="Arial" panose="020B0604020202020204" pitchFamily="34" charset="0"/>
              </a:rPr>
              <a:t>4</a:t>
            </a:r>
            <a:r>
              <a:rPr lang="fr-FR" altLang="fr-FR" i="1" dirty="0">
                <a:latin typeface="Arial" panose="020B0604020202020204" pitchFamily="34" charset="0"/>
              </a:rPr>
              <a:t>, x</a:t>
            </a:r>
            <a:r>
              <a:rPr lang="fr-FR" altLang="fr-FR" dirty="0">
                <a:latin typeface="Arial" panose="020B0604020202020204" pitchFamily="34" charset="0"/>
              </a:rPr>
              <a:t>5</a:t>
            </a:r>
            <a:r>
              <a:rPr lang="fr-FR" altLang="fr-FR" i="1" dirty="0">
                <a:latin typeface="Arial" panose="020B0604020202020204" pitchFamily="34" charset="0"/>
              </a:rPr>
              <a:t>, x</a:t>
            </a:r>
            <a:r>
              <a:rPr lang="fr-FR" altLang="fr-FR" dirty="0">
                <a:latin typeface="Arial" panose="020B0604020202020204" pitchFamily="34" charset="0"/>
              </a:rPr>
              <a:t>6</a:t>
            </a:r>
            <a:r>
              <a:rPr lang="fr-FR" altLang="fr-FR" i="1" dirty="0">
                <a:latin typeface="Arial" panose="020B0604020202020204" pitchFamily="34" charset="0"/>
              </a:rPr>
              <a:t>}</a:t>
            </a:r>
            <a:r>
              <a:rPr lang="fr-FR" altLang="fr-FR" dirty="0">
                <a:latin typeface="Arial" panose="020B0604020202020204" pitchFamily="34" charset="0"/>
              </a:rPr>
              <a:t>.</a:t>
            </a:r>
            <a:endParaRPr lang="fr-FR" altLang="fr-FR" dirty="0">
              <a:latin typeface="Arial" panose="020B0604020202020204" pitchFamily="34" charset="0"/>
            </a:endParaRPr>
          </a:p>
          <a:p>
            <a:pPr eaLnBrk="1" hangingPunct="1"/>
            <a:r>
              <a:rPr lang="fr-FR" altLang="fr-FR" dirty="0">
                <a:latin typeface="Arial" panose="020B0604020202020204" pitchFamily="34" charset="0"/>
              </a:rPr>
              <a:t>– </a:t>
            </a:r>
            <a:r>
              <a:rPr lang="fr-FR" altLang="fr-FR" i="1" dirty="0">
                <a:latin typeface="Arial" panose="020B0604020202020204" pitchFamily="34" charset="0"/>
              </a:rPr>
              <a:t>P </a:t>
            </a:r>
            <a:r>
              <a:rPr lang="fr-FR" altLang="fr-FR" dirty="0">
                <a:latin typeface="Arial" panose="020B0604020202020204" pitchFamily="34" charset="0"/>
              </a:rPr>
              <a:t>= </a:t>
            </a:r>
            <a:r>
              <a:rPr lang="fr-FR" altLang="fr-FR" i="1" dirty="0">
                <a:latin typeface="Arial" panose="020B0604020202020204" pitchFamily="34" charset="0"/>
              </a:rPr>
              <a:t>{a, b, c, d, e} </a:t>
            </a:r>
            <a:r>
              <a:rPr lang="fr-FR" altLang="fr-FR" dirty="0">
                <a:latin typeface="Arial" panose="020B0604020202020204" pitchFamily="34" charset="0"/>
              </a:rPr>
              <a:t>.</a:t>
            </a:r>
            <a:endParaRPr lang="fr-FR" altLang="fr-FR" dirty="0">
              <a:latin typeface="Arial" panose="020B0604020202020204" pitchFamily="34" charset="0"/>
            </a:endParaRPr>
          </a:p>
          <a:p>
            <a:pPr eaLnBrk="1" hangingPunct="1"/>
            <a:r>
              <a:rPr lang="fr-FR" altLang="fr-FR" dirty="0">
                <a:latin typeface="Arial" panose="020B0604020202020204" pitchFamily="34" charset="0"/>
              </a:rPr>
              <a:t>– </a:t>
            </a:r>
            <a:r>
              <a:rPr lang="fr-FR" altLang="fr-FR" i="1" dirty="0">
                <a:latin typeface="Arial" panose="020B0604020202020204" pitchFamily="34" charset="0"/>
              </a:rPr>
              <a:t>xRp </a:t>
            </a:r>
            <a:r>
              <a:rPr lang="fr-FR" altLang="fr-FR" dirty="0">
                <a:latin typeface="Arial" panose="020B0604020202020204" pitchFamily="34" charset="0"/>
              </a:rPr>
              <a:t>si et seulement si la ligne de </a:t>
            </a:r>
            <a:r>
              <a:rPr lang="fr-FR" altLang="fr-FR" i="1" dirty="0">
                <a:latin typeface="Arial" panose="020B0604020202020204" pitchFamily="34" charset="0"/>
              </a:rPr>
              <a:t>x </a:t>
            </a:r>
            <a:r>
              <a:rPr lang="fr-FR" altLang="fr-FR" dirty="0">
                <a:latin typeface="Arial" panose="020B0604020202020204" pitchFamily="34" charset="0"/>
              </a:rPr>
              <a:t>et la colonne de </a:t>
            </a:r>
            <a:r>
              <a:rPr lang="fr-FR" altLang="fr-FR" i="1" dirty="0">
                <a:latin typeface="Arial" panose="020B0604020202020204" pitchFamily="34" charset="0"/>
              </a:rPr>
              <a:t>p </a:t>
            </a:r>
            <a:r>
              <a:rPr lang="fr-FR" altLang="fr-FR" dirty="0">
                <a:latin typeface="Arial" panose="020B0604020202020204" pitchFamily="34" charset="0"/>
              </a:rPr>
              <a:t>se croisent sur un 1 (et pas sur un 0), par exemple :</a:t>
            </a:r>
            <a:r>
              <a:rPr lang="fr-FR" altLang="fr-FR" i="1" dirty="0">
                <a:latin typeface="Arial" panose="020B0604020202020204" pitchFamily="34" charset="0"/>
              </a:rPr>
              <a:t>x</a:t>
            </a:r>
            <a:r>
              <a:rPr lang="fr-FR" altLang="fr-FR" dirty="0">
                <a:latin typeface="Arial" panose="020B0604020202020204" pitchFamily="34" charset="0"/>
              </a:rPr>
              <a:t>1</a:t>
            </a:r>
            <a:r>
              <a:rPr lang="fr-FR" altLang="fr-FR" i="1" dirty="0">
                <a:latin typeface="Arial" panose="020B0604020202020204" pitchFamily="34" charset="0"/>
              </a:rPr>
              <a:t>Ra, x</a:t>
            </a:r>
            <a:r>
              <a:rPr lang="fr-FR" altLang="fr-FR" dirty="0">
                <a:latin typeface="Arial" panose="020B0604020202020204" pitchFamily="34" charset="0"/>
              </a:rPr>
              <a:t>1</a:t>
            </a:r>
            <a:r>
              <a:rPr lang="fr-FR" altLang="fr-FR" i="1" dirty="0">
                <a:latin typeface="Arial" panose="020B0604020202020204" pitchFamily="34" charset="0"/>
              </a:rPr>
              <a:t>Rc </a:t>
            </a:r>
            <a:r>
              <a:rPr lang="fr-FR" altLang="fr-FR" dirty="0">
                <a:latin typeface="Arial" panose="020B0604020202020204" pitchFamily="34" charset="0"/>
              </a:rPr>
              <a:t>et </a:t>
            </a:r>
            <a:r>
              <a:rPr lang="fr-FR" altLang="fr-FR" i="1" dirty="0">
                <a:latin typeface="Arial" panose="020B0604020202020204" pitchFamily="34" charset="0"/>
              </a:rPr>
              <a:t>x</a:t>
            </a:r>
            <a:r>
              <a:rPr lang="fr-FR" altLang="fr-FR" dirty="0">
                <a:latin typeface="Arial" panose="020B0604020202020204" pitchFamily="34" charset="0"/>
              </a:rPr>
              <a:t>1</a:t>
            </a:r>
            <a:r>
              <a:rPr lang="fr-FR" altLang="fr-FR" i="1" dirty="0">
                <a:latin typeface="Arial" panose="020B0604020202020204" pitchFamily="34" charset="0"/>
              </a:rPr>
              <a:t>Rd</a:t>
            </a:r>
            <a:r>
              <a:rPr lang="fr-FR" altLang="fr-FR" dirty="0">
                <a:latin typeface="Arial" panose="020B0604020202020204" pitchFamily="34" charset="0"/>
              </a:rPr>
              <a:t>.</a:t>
            </a:r>
            <a:endParaRPr lang="fr-FR" altLang="fr-FR"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ext Box 4"/>
          <p:cNvSpPr txBox="1"/>
          <p:nvPr/>
        </p:nvSpPr>
        <p:spPr>
          <a:xfrm>
            <a:off x="250825" y="404813"/>
            <a:ext cx="4897438" cy="366712"/>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2.1.2 Motif</a:t>
            </a:r>
            <a:endParaRPr lang="fr-FR" altLang="fr-FR" dirty="0">
              <a:latin typeface="Arial" panose="020B0604020202020204" pitchFamily="34" charset="0"/>
            </a:endParaRPr>
          </a:p>
        </p:txBody>
      </p:sp>
      <p:sp>
        <p:nvSpPr>
          <p:cNvPr id="5123" name="Text Box 5"/>
          <p:cNvSpPr txBox="1"/>
          <p:nvPr/>
        </p:nvSpPr>
        <p:spPr>
          <a:xfrm>
            <a:off x="323850" y="908050"/>
            <a:ext cx="8424863" cy="1465263"/>
          </a:xfrm>
          <a:prstGeom prst="rect">
            <a:avLst/>
          </a:prstGeom>
          <a:noFill/>
          <a:ln w="9525">
            <a:noFill/>
          </a:ln>
        </p:spPr>
        <p:txBody>
          <a:bodyPr>
            <a:spAutoFit/>
          </a:bodyPr>
          <a:p>
            <a:pPr eaLnBrk="1" hangingPunct="1"/>
            <a:r>
              <a:rPr lang="fr-FR" altLang="fr-FR" dirty="0">
                <a:latin typeface="Arial" panose="020B0604020202020204" pitchFamily="34" charset="0"/>
              </a:rPr>
              <a:t>Un motif d’une base de données formelle (</a:t>
            </a:r>
            <a:r>
              <a:rPr lang="fr-FR" altLang="fr-FR" i="1" dirty="0">
                <a:latin typeface="Arial" panose="020B0604020202020204" pitchFamily="34" charset="0"/>
              </a:rPr>
              <a:t>O, P,R</a:t>
            </a:r>
            <a:r>
              <a:rPr lang="fr-FR" altLang="fr-FR" dirty="0">
                <a:latin typeface="Arial" panose="020B0604020202020204" pitchFamily="34" charset="0"/>
              </a:rPr>
              <a:t>) est un sous-ensemble de </a:t>
            </a:r>
            <a:r>
              <a:rPr lang="fr-FR" altLang="fr-FR" i="1" dirty="0">
                <a:latin typeface="Arial" panose="020B0604020202020204" pitchFamily="34" charset="0"/>
              </a:rPr>
              <a:t>P</a:t>
            </a:r>
            <a:r>
              <a:rPr lang="fr-FR" altLang="fr-FR" dirty="0">
                <a:latin typeface="Arial" panose="020B0604020202020204" pitchFamily="34" charset="0"/>
              </a:rPr>
              <a:t>. L’ensemble de tous les motifs d’une base est donc l’ensemble des parties de </a:t>
            </a:r>
            <a:r>
              <a:rPr lang="fr-FR" altLang="fr-FR" i="1" dirty="0">
                <a:latin typeface="Arial" panose="020B0604020202020204" pitchFamily="34" charset="0"/>
              </a:rPr>
              <a:t>P</a:t>
            </a:r>
            <a:r>
              <a:rPr lang="fr-FR" altLang="fr-FR" dirty="0">
                <a:latin typeface="Arial" panose="020B0604020202020204" pitchFamily="34" charset="0"/>
              </a:rPr>
              <a:t>, noté 2</a:t>
            </a:r>
            <a:r>
              <a:rPr lang="fr-FR" altLang="fr-FR" i="1" baseline="30000" dirty="0">
                <a:latin typeface="Arial" panose="020B0604020202020204" pitchFamily="34" charset="0"/>
              </a:rPr>
              <a:t>P</a:t>
            </a:r>
            <a:r>
              <a:rPr lang="fr-FR" altLang="fr-FR" dirty="0">
                <a:latin typeface="Arial" panose="020B0604020202020204" pitchFamily="34" charset="0"/>
              </a:rPr>
              <a:t>. On dira qu’un objet </a:t>
            </a:r>
            <a:r>
              <a:rPr lang="fr-FR" altLang="fr-FR" i="1" dirty="0">
                <a:latin typeface="Arial" panose="020B0604020202020204" pitchFamily="34" charset="0"/>
              </a:rPr>
              <a:t>x ∈ O </a:t>
            </a:r>
            <a:r>
              <a:rPr lang="fr-FR" altLang="fr-FR" dirty="0">
                <a:latin typeface="Arial" panose="020B0604020202020204" pitchFamily="34" charset="0"/>
              </a:rPr>
              <a:t>possède un motif </a:t>
            </a:r>
            <a:r>
              <a:rPr lang="fr-FR" altLang="fr-FR" i="1" dirty="0">
                <a:latin typeface="Arial" panose="020B0604020202020204" pitchFamily="34" charset="0"/>
              </a:rPr>
              <a:t>m </a:t>
            </a:r>
            <a:r>
              <a:rPr lang="fr-FR" altLang="fr-FR" dirty="0">
                <a:latin typeface="Arial" panose="020B0604020202020204" pitchFamily="34" charset="0"/>
              </a:rPr>
              <a:t>si </a:t>
            </a:r>
            <a:r>
              <a:rPr lang="fr-FR" altLang="fr-FR" i="1" dirty="0">
                <a:latin typeface="Arial" panose="020B0604020202020204" pitchFamily="34" charset="0"/>
              </a:rPr>
              <a:t>∀ p ∈ m, xRp</a:t>
            </a:r>
            <a:r>
              <a:rPr lang="fr-FR" altLang="fr-FR" dirty="0">
                <a:latin typeface="Arial" panose="020B0604020202020204" pitchFamily="34" charset="0"/>
              </a:rPr>
              <a:t>. </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Exemple:</a:t>
            </a:r>
            <a:endParaRPr lang="fr-FR" altLang="fr-FR" dirty="0">
              <a:latin typeface="Arial" panose="020B0604020202020204" pitchFamily="34" charset="0"/>
            </a:endParaRPr>
          </a:p>
        </p:txBody>
      </p:sp>
      <p:pic>
        <p:nvPicPr>
          <p:cNvPr id="5124" name="Picture 6"/>
          <p:cNvPicPr>
            <a:picLocks noChangeAspect="1"/>
          </p:cNvPicPr>
          <p:nvPr/>
        </p:nvPicPr>
        <p:blipFill>
          <a:blip r:embed="rId1"/>
          <a:stretch>
            <a:fillRect/>
          </a:stretch>
        </p:blipFill>
        <p:spPr>
          <a:xfrm>
            <a:off x="323850" y="2670175"/>
            <a:ext cx="8351838" cy="299085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Text Box 4"/>
          <p:cNvSpPr txBox="1"/>
          <p:nvPr/>
        </p:nvSpPr>
        <p:spPr>
          <a:xfrm>
            <a:off x="539750" y="836613"/>
            <a:ext cx="7561263" cy="1190625"/>
          </a:xfrm>
          <a:prstGeom prst="rect">
            <a:avLst/>
          </a:prstGeom>
          <a:noFill/>
          <a:ln w="9525">
            <a:noFill/>
          </a:ln>
        </p:spPr>
        <p:txBody>
          <a:bodyPr>
            <a:spAutoFit/>
          </a:bodyPr>
          <a:p>
            <a:pPr eaLnBrk="1" hangingPunct="1"/>
            <a:r>
              <a:rPr lang="fr-FR" altLang="fr-FR" dirty="0">
                <a:latin typeface="Arial" panose="020B0604020202020204" pitchFamily="34" charset="0"/>
              </a:rPr>
              <a:t>Dans la base formelle précédente, </a:t>
            </a:r>
            <a:r>
              <a:rPr lang="fr-FR" altLang="fr-FR" i="1" dirty="0">
                <a:latin typeface="Arial" panose="020B0604020202020204" pitchFamily="34" charset="0"/>
              </a:rPr>
              <a:t>x</a:t>
            </a:r>
            <a:r>
              <a:rPr lang="fr-FR" altLang="fr-FR" dirty="0">
                <a:latin typeface="Arial" panose="020B0604020202020204" pitchFamily="34" charset="0"/>
              </a:rPr>
              <a:t>1 possède les motifs :</a:t>
            </a:r>
            <a:r>
              <a:rPr lang="fr-FR" altLang="fr-FR" i="1" dirty="0">
                <a:latin typeface="Arial" panose="020B0604020202020204" pitchFamily="34" charset="0"/>
              </a:rPr>
              <a:t>∅, a, c, d, ac, ad, cd </a:t>
            </a:r>
            <a:r>
              <a:rPr lang="fr-FR" altLang="fr-FR" dirty="0">
                <a:latin typeface="Arial" panose="020B0604020202020204" pitchFamily="34" charset="0"/>
              </a:rPr>
              <a:t>et </a:t>
            </a:r>
            <a:r>
              <a:rPr lang="fr-FR" altLang="fr-FR" i="1" dirty="0">
                <a:latin typeface="Arial" panose="020B0604020202020204" pitchFamily="34" charset="0"/>
              </a:rPr>
              <a:t>acd</a:t>
            </a:r>
            <a:r>
              <a:rPr lang="fr-FR" altLang="fr-FR" dirty="0">
                <a:latin typeface="Arial" panose="020B0604020202020204" pitchFamily="34" charset="0"/>
              </a:rPr>
              <a:t>. Parmi l’ensemble global de 2</a:t>
            </a:r>
            <a:r>
              <a:rPr lang="fr-FR" altLang="fr-FR" i="1" baseline="30000" dirty="0">
                <a:latin typeface="Arial" panose="020B0604020202020204" pitchFamily="34" charset="0"/>
              </a:rPr>
              <a:t>p</a:t>
            </a:r>
            <a:r>
              <a:rPr lang="fr-FR" altLang="fr-FR" i="1" dirty="0">
                <a:latin typeface="Arial" panose="020B0604020202020204" pitchFamily="34" charset="0"/>
              </a:rPr>
              <a:t> </a:t>
            </a:r>
            <a:r>
              <a:rPr lang="fr-FR" altLang="fr-FR" dirty="0">
                <a:latin typeface="Arial" panose="020B0604020202020204" pitchFamily="34" charset="0"/>
              </a:rPr>
              <a:t>motifs, on va chercher ceux qui apparaissent fréquemment. Pour cela, on introduira les notions de connexion de Galois et de support d’un motif.</a:t>
            </a:r>
            <a:endParaRPr lang="fr-FR" altLang="fr-FR" dirty="0">
              <a:latin typeface="Arial" panose="020B0604020202020204" pitchFamily="34" charset="0"/>
            </a:endParaRPr>
          </a:p>
        </p:txBody>
      </p:sp>
      <p:sp>
        <p:nvSpPr>
          <p:cNvPr id="6147" name="Text Box 5"/>
          <p:cNvSpPr txBox="1"/>
          <p:nvPr/>
        </p:nvSpPr>
        <p:spPr>
          <a:xfrm>
            <a:off x="539750" y="260350"/>
            <a:ext cx="5111750" cy="366713"/>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2.1.3 Connexion de Galois</a:t>
            </a:r>
            <a:endParaRPr lang="fr-FR" altLang="fr-FR" dirty="0">
              <a:latin typeface="Arial" panose="020B0604020202020204" pitchFamily="34" charset="0"/>
            </a:endParaRPr>
          </a:p>
        </p:txBody>
      </p:sp>
      <p:sp>
        <p:nvSpPr>
          <p:cNvPr id="6148" name="Text Box 6"/>
          <p:cNvSpPr txBox="1"/>
          <p:nvPr/>
        </p:nvSpPr>
        <p:spPr>
          <a:xfrm>
            <a:off x="684213" y="2276475"/>
            <a:ext cx="7056437" cy="641350"/>
          </a:xfrm>
          <a:prstGeom prst="rect">
            <a:avLst/>
          </a:prstGeom>
          <a:noFill/>
          <a:ln w="9525">
            <a:noFill/>
          </a:ln>
        </p:spPr>
        <p:txBody>
          <a:bodyPr>
            <a:spAutoFit/>
          </a:bodyPr>
          <a:p>
            <a:pPr eaLnBrk="1" hangingPunct="1"/>
            <a:r>
              <a:rPr lang="fr-FR" altLang="fr-FR" dirty="0">
                <a:latin typeface="Arial" panose="020B0604020202020204" pitchFamily="34" charset="0"/>
              </a:rPr>
              <a:t>La connexion de Galois associée à une base de données formelle (</a:t>
            </a:r>
            <a:r>
              <a:rPr lang="fr-FR" altLang="fr-FR" i="1" dirty="0">
                <a:latin typeface="Arial" panose="020B0604020202020204" pitchFamily="34" charset="0"/>
              </a:rPr>
              <a:t>O, P,R</a:t>
            </a:r>
            <a:r>
              <a:rPr lang="fr-FR" altLang="fr-FR" dirty="0">
                <a:latin typeface="Arial" panose="020B0604020202020204" pitchFamily="34" charset="0"/>
              </a:rPr>
              <a:t>) est le couple de fonctions (</a:t>
            </a:r>
            <a:r>
              <a:rPr lang="fr-FR" altLang="fr-FR" i="1" dirty="0">
                <a:latin typeface="Arial" panose="020B0604020202020204" pitchFamily="34" charset="0"/>
              </a:rPr>
              <a:t>f, g</a:t>
            </a:r>
            <a:r>
              <a:rPr lang="fr-FR" altLang="fr-FR" dirty="0">
                <a:latin typeface="Arial" panose="020B0604020202020204" pitchFamily="34" charset="0"/>
              </a:rPr>
              <a:t>) définies par :</a:t>
            </a:r>
            <a:endParaRPr lang="fr-FR" altLang="fr-FR" dirty="0">
              <a:latin typeface="Arial" panose="020B0604020202020204" pitchFamily="34" charset="0"/>
            </a:endParaRPr>
          </a:p>
        </p:txBody>
      </p:sp>
      <p:pic>
        <p:nvPicPr>
          <p:cNvPr id="6149" name="Picture 7"/>
          <p:cNvPicPr>
            <a:picLocks noChangeAspect="1"/>
          </p:cNvPicPr>
          <p:nvPr/>
        </p:nvPicPr>
        <p:blipFill>
          <a:blip r:embed="rId1"/>
          <a:stretch>
            <a:fillRect/>
          </a:stretch>
        </p:blipFill>
        <p:spPr>
          <a:xfrm>
            <a:off x="1979613" y="3068638"/>
            <a:ext cx="4781550" cy="1905000"/>
          </a:xfrm>
          <a:prstGeom prst="rect">
            <a:avLst/>
          </a:prstGeom>
          <a:noFill/>
          <a:ln w="9525">
            <a:noFill/>
          </a:ln>
        </p:spPr>
      </p:pic>
      <p:sp>
        <p:nvSpPr>
          <p:cNvPr id="6150" name="Text Box 8"/>
          <p:cNvSpPr txBox="1"/>
          <p:nvPr/>
        </p:nvSpPr>
        <p:spPr>
          <a:xfrm>
            <a:off x="755650" y="5300663"/>
            <a:ext cx="7488238" cy="641350"/>
          </a:xfrm>
          <a:prstGeom prst="rect">
            <a:avLst/>
          </a:prstGeom>
          <a:noFill/>
          <a:ln w="9525">
            <a:noFill/>
          </a:ln>
        </p:spPr>
        <p:txBody>
          <a:bodyPr>
            <a:spAutoFit/>
          </a:bodyPr>
          <a:p>
            <a:pPr eaLnBrk="1" hangingPunct="1">
              <a:spcBef>
                <a:spcPct val="50000"/>
              </a:spcBef>
            </a:pPr>
            <a:r>
              <a:rPr lang="fr-FR" altLang="fr-FR" i="1" dirty="0">
                <a:latin typeface="Arial" panose="020B0604020202020204" pitchFamily="34" charset="0"/>
              </a:rPr>
              <a:t>g </a:t>
            </a:r>
            <a:r>
              <a:rPr lang="fr-FR" altLang="fr-FR" dirty="0">
                <a:latin typeface="Arial" panose="020B0604020202020204" pitchFamily="34" charset="0"/>
              </a:rPr>
              <a:t>est dite duale de </a:t>
            </a:r>
            <a:r>
              <a:rPr lang="fr-FR" altLang="fr-FR" i="1" dirty="0">
                <a:latin typeface="Arial" panose="020B0604020202020204" pitchFamily="34" charset="0"/>
              </a:rPr>
              <a:t>f </a:t>
            </a:r>
            <a:r>
              <a:rPr lang="fr-FR" altLang="fr-FR" dirty="0">
                <a:latin typeface="Arial" panose="020B0604020202020204" pitchFamily="34" charset="0"/>
              </a:rPr>
              <a:t>et </a:t>
            </a:r>
            <a:r>
              <a:rPr lang="fr-FR" altLang="fr-FR" i="1" dirty="0">
                <a:latin typeface="Arial" panose="020B0604020202020204" pitchFamily="34" charset="0"/>
              </a:rPr>
              <a:t>f </a:t>
            </a:r>
            <a:r>
              <a:rPr lang="fr-FR" altLang="fr-FR" dirty="0">
                <a:latin typeface="Arial" panose="020B0604020202020204" pitchFamily="34" charset="0"/>
              </a:rPr>
              <a:t>duale de </a:t>
            </a:r>
            <a:r>
              <a:rPr lang="fr-FR" altLang="fr-FR" i="1" dirty="0">
                <a:latin typeface="Arial" panose="020B0604020202020204" pitchFamily="34" charset="0"/>
              </a:rPr>
              <a:t>g</a:t>
            </a:r>
            <a:r>
              <a:rPr lang="fr-FR" altLang="fr-FR" dirty="0">
                <a:latin typeface="Arial" panose="020B0604020202020204" pitchFamily="34" charset="0"/>
              </a:rPr>
              <a:t>. On dit parfois que </a:t>
            </a:r>
            <a:r>
              <a:rPr lang="fr-FR" altLang="fr-FR" i="1" dirty="0">
                <a:latin typeface="Arial" panose="020B0604020202020204" pitchFamily="34" charset="0"/>
              </a:rPr>
              <a:t>f</a:t>
            </a:r>
            <a:r>
              <a:rPr lang="fr-FR" altLang="fr-FR" dirty="0">
                <a:latin typeface="Arial" panose="020B0604020202020204" pitchFamily="34" charset="0"/>
              </a:rPr>
              <a:t>(</a:t>
            </a:r>
            <a:r>
              <a:rPr lang="fr-FR" altLang="fr-FR" i="1" dirty="0">
                <a:latin typeface="Arial" panose="020B0604020202020204" pitchFamily="34" charset="0"/>
              </a:rPr>
              <a:t>m</a:t>
            </a:r>
            <a:r>
              <a:rPr lang="fr-FR" altLang="fr-FR" dirty="0">
                <a:latin typeface="Arial" panose="020B0604020202020204" pitchFamily="34" charset="0"/>
              </a:rPr>
              <a:t>) est l’image du motif m.</a:t>
            </a:r>
            <a:endParaRPr lang="fr-FR" altLang="fr-FR"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ext Box 4"/>
          <p:cNvSpPr txBox="1"/>
          <p:nvPr/>
        </p:nvSpPr>
        <p:spPr>
          <a:xfrm>
            <a:off x="395288" y="404813"/>
            <a:ext cx="8497887" cy="366712"/>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2.1.4 Support d’un motif</a:t>
            </a:r>
            <a:endParaRPr lang="fr-FR" altLang="fr-FR" dirty="0">
              <a:latin typeface="Arial" panose="020B0604020202020204" pitchFamily="34" charset="0"/>
            </a:endParaRPr>
          </a:p>
        </p:txBody>
      </p:sp>
      <p:sp>
        <p:nvSpPr>
          <p:cNvPr id="7171" name="Text Box 5"/>
          <p:cNvSpPr txBox="1"/>
          <p:nvPr/>
        </p:nvSpPr>
        <p:spPr>
          <a:xfrm>
            <a:off x="468313" y="981075"/>
            <a:ext cx="8207375" cy="641350"/>
          </a:xfrm>
          <a:prstGeom prst="rect">
            <a:avLst/>
          </a:prstGeom>
          <a:noFill/>
          <a:ln w="9525">
            <a:noFill/>
          </a:ln>
        </p:spPr>
        <p:txBody>
          <a:bodyPr>
            <a:spAutoFit/>
          </a:bodyPr>
          <a:p>
            <a:pPr eaLnBrk="1" hangingPunct="1"/>
            <a:r>
              <a:rPr lang="fr-FR" altLang="fr-FR" dirty="0">
                <a:latin typeface="Arial" panose="020B0604020202020204" pitchFamily="34" charset="0"/>
              </a:rPr>
              <a:t>Soit </a:t>
            </a:r>
            <a:r>
              <a:rPr lang="fr-FR" altLang="fr-FR" i="1" dirty="0">
                <a:latin typeface="Arial" panose="020B0604020202020204" pitchFamily="34" charset="0"/>
              </a:rPr>
              <a:t>m ∈ </a:t>
            </a:r>
            <a:r>
              <a:rPr lang="fr-FR" altLang="fr-FR" dirty="0">
                <a:latin typeface="Arial" panose="020B0604020202020204" pitchFamily="34" charset="0"/>
              </a:rPr>
              <a:t>2</a:t>
            </a:r>
            <a:r>
              <a:rPr lang="fr-FR" altLang="fr-FR" i="1" baseline="30000" dirty="0">
                <a:latin typeface="Arial" panose="020B0604020202020204" pitchFamily="34" charset="0"/>
              </a:rPr>
              <a:t>P</a:t>
            </a:r>
            <a:r>
              <a:rPr lang="fr-FR" altLang="fr-FR" i="1" dirty="0">
                <a:latin typeface="Arial" panose="020B0604020202020204" pitchFamily="34" charset="0"/>
              </a:rPr>
              <a:t> </a:t>
            </a:r>
            <a:r>
              <a:rPr lang="fr-FR" altLang="fr-FR" dirty="0">
                <a:latin typeface="Arial" panose="020B0604020202020204" pitchFamily="34" charset="0"/>
              </a:rPr>
              <a:t>, un motif. Le support de </a:t>
            </a:r>
            <a:r>
              <a:rPr lang="fr-FR" altLang="fr-FR" i="1" dirty="0">
                <a:latin typeface="Arial" panose="020B0604020202020204" pitchFamily="34" charset="0"/>
              </a:rPr>
              <a:t>m </a:t>
            </a:r>
            <a:r>
              <a:rPr lang="fr-FR" altLang="fr-FR" dirty="0">
                <a:latin typeface="Arial" panose="020B0604020202020204" pitchFamily="34" charset="0"/>
              </a:rPr>
              <a:t>est la proportion d’objets dans </a:t>
            </a:r>
            <a:r>
              <a:rPr lang="fr-FR" altLang="fr-FR" i="1" dirty="0">
                <a:latin typeface="Arial" panose="020B0604020202020204" pitchFamily="34" charset="0"/>
              </a:rPr>
              <a:t>O </a:t>
            </a:r>
            <a:r>
              <a:rPr lang="fr-FR" altLang="fr-FR" dirty="0">
                <a:latin typeface="Arial" panose="020B0604020202020204" pitchFamily="34" charset="0"/>
              </a:rPr>
              <a:t>qui possèdent le motif :</a:t>
            </a:r>
            <a:endParaRPr lang="fr-FR" altLang="fr-FR" dirty="0">
              <a:latin typeface="Arial" panose="020B0604020202020204" pitchFamily="34" charset="0"/>
            </a:endParaRPr>
          </a:p>
        </p:txBody>
      </p:sp>
      <p:pic>
        <p:nvPicPr>
          <p:cNvPr id="7172" name="Picture 6"/>
          <p:cNvPicPr>
            <a:picLocks noChangeAspect="1"/>
          </p:cNvPicPr>
          <p:nvPr/>
        </p:nvPicPr>
        <p:blipFill>
          <a:blip r:embed="rId1"/>
          <a:stretch>
            <a:fillRect/>
          </a:stretch>
        </p:blipFill>
        <p:spPr>
          <a:xfrm>
            <a:off x="1979613" y="1700213"/>
            <a:ext cx="4152900" cy="923925"/>
          </a:xfrm>
          <a:prstGeom prst="rect">
            <a:avLst/>
          </a:prstGeom>
          <a:noFill/>
          <a:ln w="9525">
            <a:noFill/>
          </a:ln>
        </p:spPr>
      </p:pic>
      <p:sp>
        <p:nvSpPr>
          <p:cNvPr id="7173" name="Text Box 7"/>
          <p:cNvSpPr txBox="1"/>
          <p:nvPr/>
        </p:nvSpPr>
        <p:spPr>
          <a:xfrm>
            <a:off x="611188" y="2781300"/>
            <a:ext cx="5761037" cy="366713"/>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Par exemple dans la base précédente, on a :</a:t>
            </a:r>
            <a:endParaRPr lang="fr-FR" altLang="fr-FR" dirty="0">
              <a:latin typeface="Arial" panose="020B0604020202020204" pitchFamily="34" charset="0"/>
            </a:endParaRPr>
          </a:p>
        </p:txBody>
      </p:sp>
      <p:pic>
        <p:nvPicPr>
          <p:cNvPr id="7174" name="Picture 8"/>
          <p:cNvPicPr>
            <a:picLocks noChangeAspect="1"/>
          </p:cNvPicPr>
          <p:nvPr/>
        </p:nvPicPr>
        <p:blipFill>
          <a:blip r:embed="rId2"/>
          <a:stretch>
            <a:fillRect/>
          </a:stretch>
        </p:blipFill>
        <p:spPr>
          <a:xfrm>
            <a:off x="3132138" y="3213100"/>
            <a:ext cx="2543175" cy="229552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ext Box 4"/>
          <p:cNvSpPr txBox="1"/>
          <p:nvPr/>
        </p:nvSpPr>
        <p:spPr>
          <a:xfrm>
            <a:off x="468313" y="549275"/>
            <a:ext cx="5759450" cy="366713"/>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2.1.5 Motif fréquent</a:t>
            </a:r>
            <a:endParaRPr lang="fr-FR" altLang="fr-FR" dirty="0">
              <a:latin typeface="Arial" panose="020B0604020202020204" pitchFamily="34" charset="0"/>
            </a:endParaRPr>
          </a:p>
        </p:txBody>
      </p:sp>
      <p:sp>
        <p:nvSpPr>
          <p:cNvPr id="8195" name="Text Box 5"/>
          <p:cNvSpPr txBox="1"/>
          <p:nvPr/>
        </p:nvSpPr>
        <p:spPr>
          <a:xfrm>
            <a:off x="539750" y="1341438"/>
            <a:ext cx="8135938" cy="641350"/>
          </a:xfrm>
          <a:prstGeom prst="rect">
            <a:avLst/>
          </a:prstGeom>
          <a:noFill/>
          <a:ln w="9525">
            <a:noFill/>
          </a:ln>
        </p:spPr>
        <p:txBody>
          <a:bodyPr>
            <a:spAutoFit/>
          </a:bodyPr>
          <a:p>
            <a:pPr eaLnBrk="1" hangingPunct="1"/>
            <a:r>
              <a:rPr lang="fr-FR" altLang="fr-FR" dirty="0">
                <a:latin typeface="Arial" panose="020B0604020202020204" pitchFamily="34" charset="0"/>
              </a:rPr>
              <a:t>Soit </a:t>
            </a:r>
            <a:r>
              <a:rPr lang="fr-FR" altLang="fr-FR" i="1" dirty="0">
                <a:latin typeface="Arial" panose="020B0604020202020204" pitchFamily="34" charset="0"/>
              </a:rPr>
              <a:t>σ</a:t>
            </a:r>
            <a:r>
              <a:rPr lang="fr-FR" altLang="fr-FR" i="1" baseline="-25000" dirty="0">
                <a:latin typeface="Arial" panose="020B0604020202020204" pitchFamily="34" charset="0"/>
              </a:rPr>
              <a:t>s</a:t>
            </a:r>
            <a:r>
              <a:rPr lang="fr-FR" altLang="fr-FR" i="1" dirty="0">
                <a:latin typeface="Arial" panose="020B0604020202020204" pitchFamily="34" charset="0"/>
              </a:rPr>
              <a:t> ∈ </a:t>
            </a:r>
            <a:r>
              <a:rPr lang="fr-FR" altLang="fr-FR" dirty="0">
                <a:latin typeface="Arial" panose="020B0604020202020204" pitchFamily="34" charset="0"/>
              </a:rPr>
              <a:t>[0</a:t>
            </a:r>
            <a:r>
              <a:rPr lang="fr-FR" altLang="fr-FR" i="1" dirty="0">
                <a:latin typeface="Arial" panose="020B0604020202020204" pitchFamily="34" charset="0"/>
              </a:rPr>
              <a:t>, </a:t>
            </a:r>
            <a:r>
              <a:rPr lang="fr-FR" altLang="fr-FR" dirty="0">
                <a:latin typeface="Arial" panose="020B0604020202020204" pitchFamily="34" charset="0"/>
              </a:rPr>
              <a:t>1]. Un motif </a:t>
            </a:r>
            <a:r>
              <a:rPr lang="fr-FR" altLang="fr-FR" i="1" dirty="0">
                <a:latin typeface="Arial" panose="020B0604020202020204" pitchFamily="34" charset="0"/>
              </a:rPr>
              <a:t>m </a:t>
            </a:r>
            <a:r>
              <a:rPr lang="fr-FR" altLang="fr-FR" dirty="0">
                <a:latin typeface="Arial" panose="020B0604020202020204" pitchFamily="34" charset="0"/>
              </a:rPr>
              <a:t>est fréquent (sous-entendu, relativement au seuil </a:t>
            </a:r>
            <a:r>
              <a:rPr lang="fr-FR" altLang="fr-FR" i="1" dirty="0">
                <a:latin typeface="Arial" panose="020B0604020202020204" pitchFamily="34" charset="0"/>
              </a:rPr>
              <a:t>σ</a:t>
            </a:r>
            <a:r>
              <a:rPr lang="fr-FR" altLang="fr-FR" i="1" baseline="-25000" dirty="0">
                <a:latin typeface="Arial" panose="020B0604020202020204" pitchFamily="34" charset="0"/>
              </a:rPr>
              <a:t>s</a:t>
            </a:r>
            <a:r>
              <a:rPr lang="fr-FR" altLang="fr-FR" dirty="0">
                <a:latin typeface="Arial" panose="020B0604020202020204" pitchFamily="34" charset="0"/>
              </a:rPr>
              <a:t>) si </a:t>
            </a:r>
            <a:r>
              <a:rPr lang="fr-FR" altLang="fr-FR" i="1" dirty="0">
                <a:latin typeface="Arial" panose="020B0604020202020204" pitchFamily="34" charset="0"/>
              </a:rPr>
              <a:t>Support</a:t>
            </a:r>
            <a:r>
              <a:rPr lang="fr-FR" altLang="fr-FR" dirty="0">
                <a:latin typeface="Arial" panose="020B0604020202020204" pitchFamily="34" charset="0"/>
              </a:rPr>
              <a:t>(</a:t>
            </a:r>
            <a:r>
              <a:rPr lang="fr-FR" altLang="fr-FR" i="1" dirty="0">
                <a:latin typeface="Arial" panose="020B0604020202020204" pitchFamily="34" charset="0"/>
              </a:rPr>
              <a:t>m</a:t>
            </a:r>
            <a:r>
              <a:rPr lang="fr-FR" altLang="fr-FR" dirty="0">
                <a:latin typeface="Arial" panose="020B0604020202020204" pitchFamily="34" charset="0"/>
              </a:rPr>
              <a:t>) </a:t>
            </a:r>
            <a:r>
              <a:rPr lang="fr-FR" altLang="fr-FR" i="1" dirty="0">
                <a:latin typeface="Arial" panose="020B0604020202020204" pitchFamily="34" charset="0"/>
              </a:rPr>
              <a:t>≥ σ</a:t>
            </a:r>
            <a:r>
              <a:rPr lang="fr-FR" altLang="fr-FR" i="1" baseline="-25000" dirty="0">
                <a:latin typeface="Arial" panose="020B0604020202020204" pitchFamily="34" charset="0"/>
              </a:rPr>
              <a:t>s</a:t>
            </a:r>
            <a:r>
              <a:rPr lang="fr-FR" altLang="fr-FR" dirty="0">
                <a:latin typeface="Arial" panose="020B0604020202020204" pitchFamily="34" charset="0"/>
              </a:rPr>
              <a:t>. Sinon, il est dit non fréquent.</a:t>
            </a:r>
            <a:endParaRPr lang="fr-FR" altLang="fr-FR" dirty="0">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 Box 4"/>
          <p:cNvSpPr txBox="1"/>
          <p:nvPr/>
        </p:nvSpPr>
        <p:spPr>
          <a:xfrm>
            <a:off x="250825" y="333375"/>
            <a:ext cx="7705725" cy="366713"/>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2.2 Méthodes efficaces pour la recherche des modèles fréquents</a:t>
            </a:r>
            <a:endParaRPr lang="fr-FR" altLang="fr-FR" dirty="0">
              <a:latin typeface="Arial" panose="020B0604020202020204" pitchFamily="34" charset="0"/>
            </a:endParaRPr>
          </a:p>
        </p:txBody>
      </p:sp>
      <p:sp>
        <p:nvSpPr>
          <p:cNvPr id="9219" name="Text Box 5"/>
          <p:cNvSpPr txBox="1"/>
          <p:nvPr/>
        </p:nvSpPr>
        <p:spPr>
          <a:xfrm>
            <a:off x="395288" y="765175"/>
            <a:ext cx="8208962" cy="2006600"/>
          </a:xfrm>
          <a:prstGeom prst="rect">
            <a:avLst/>
          </a:prstGeom>
          <a:noFill/>
          <a:ln w="9525">
            <a:noFill/>
          </a:ln>
        </p:spPr>
        <p:txBody>
          <a:bodyPr>
            <a:spAutoFit/>
          </a:bodyPr>
          <a:p>
            <a:pPr eaLnBrk="1" hangingPunct="1"/>
            <a:r>
              <a:rPr lang="fr-FR" altLang="fr-FR" sz="1400" dirty="0">
                <a:latin typeface="Arial" panose="020B0604020202020204" pitchFamily="34" charset="0"/>
              </a:rPr>
              <a:t>L’algorithme Apriori proposé par Agrawal et ses co-auteurs en 1994 est un algorithme de base qui permet d’extraire des motifs fréquents dans une base ayant plusieurs milliers d’attributs et plusieurs millions d’enregistrements. L’idée est d’effectuer une extraction par niveaux selon le principe suivant :</a:t>
            </a:r>
            <a:endParaRPr lang="fr-FR" altLang="fr-FR" sz="1400" dirty="0">
              <a:latin typeface="Arial" panose="020B0604020202020204" pitchFamily="34" charset="0"/>
            </a:endParaRPr>
          </a:p>
          <a:p>
            <a:pPr eaLnBrk="1" hangingPunct="1"/>
            <a:r>
              <a:rPr lang="fr-FR" altLang="fr-FR" sz="1400" dirty="0">
                <a:latin typeface="Arial" panose="020B0604020202020204" pitchFamily="34" charset="0"/>
              </a:rPr>
              <a:t>– On commence par chercher les motifs fréquents de longueur 1 ;</a:t>
            </a:r>
            <a:endParaRPr lang="fr-FR" altLang="fr-FR" sz="1400" dirty="0">
              <a:latin typeface="Arial" panose="020B0604020202020204" pitchFamily="34" charset="0"/>
            </a:endParaRPr>
          </a:p>
          <a:p>
            <a:pPr eaLnBrk="1" hangingPunct="1"/>
            <a:r>
              <a:rPr lang="fr-FR" altLang="fr-FR" sz="1400" dirty="0">
                <a:latin typeface="Arial" panose="020B0604020202020204" pitchFamily="34" charset="0"/>
              </a:rPr>
              <a:t>– On combine ces motifs pour obtenir des motifs de longueur 2 et on ne garde que les fréquents parmi eux ;</a:t>
            </a:r>
            <a:endParaRPr lang="fr-FR" altLang="fr-FR" sz="1400" dirty="0">
              <a:latin typeface="Arial" panose="020B0604020202020204" pitchFamily="34" charset="0"/>
            </a:endParaRPr>
          </a:p>
          <a:p>
            <a:pPr eaLnBrk="1" hangingPunct="1"/>
            <a:r>
              <a:rPr lang="fr-FR" altLang="fr-FR" sz="1400" dirty="0">
                <a:latin typeface="Arial" panose="020B0604020202020204" pitchFamily="34" charset="0"/>
              </a:rPr>
              <a:t>– On combine ces motifs pour obtenir des motifs de longueur 3 et on ne garde que les fréquents parmi eux ;</a:t>
            </a:r>
            <a:endParaRPr lang="fr-FR" altLang="fr-FR" sz="1400" dirty="0">
              <a:latin typeface="Arial" panose="020B0604020202020204" pitchFamily="34" charset="0"/>
            </a:endParaRPr>
          </a:p>
          <a:p>
            <a:pPr eaLnBrk="1" hangingPunct="1"/>
            <a:r>
              <a:rPr lang="fr-FR" altLang="fr-FR" sz="1400" dirty="0">
                <a:latin typeface="Arial" panose="020B0604020202020204" pitchFamily="34" charset="0"/>
              </a:rPr>
              <a:t>– ... continuer jusqu’à la longueur maximale.</a:t>
            </a:r>
            <a:endParaRPr lang="fr-FR" altLang="fr-FR" sz="1400" dirty="0">
              <a:latin typeface="Arial" panose="020B0604020202020204" pitchFamily="34" charset="0"/>
            </a:endParaRPr>
          </a:p>
        </p:txBody>
      </p:sp>
      <p:pic>
        <p:nvPicPr>
          <p:cNvPr id="9220" name="Picture 6"/>
          <p:cNvPicPr>
            <a:picLocks noChangeAspect="1"/>
          </p:cNvPicPr>
          <p:nvPr/>
        </p:nvPicPr>
        <p:blipFill>
          <a:blip r:embed="rId1"/>
          <a:stretch>
            <a:fillRect/>
          </a:stretch>
        </p:blipFill>
        <p:spPr>
          <a:xfrm>
            <a:off x="250825" y="2708275"/>
            <a:ext cx="8424863" cy="4005263"/>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4"/>
          <p:cNvPicPr>
            <a:picLocks noChangeAspect="1"/>
          </p:cNvPicPr>
          <p:nvPr/>
        </p:nvPicPr>
        <p:blipFill>
          <a:blip r:embed="rId1"/>
          <a:stretch>
            <a:fillRect/>
          </a:stretch>
        </p:blipFill>
        <p:spPr>
          <a:xfrm>
            <a:off x="323850" y="115888"/>
            <a:ext cx="8496300" cy="6742112"/>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4"/>
          <p:cNvSpPr txBox="1"/>
          <p:nvPr/>
        </p:nvSpPr>
        <p:spPr>
          <a:xfrm>
            <a:off x="539750" y="404813"/>
            <a:ext cx="4752975" cy="366712"/>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2.3 Types de motifs fréquents</a:t>
            </a:r>
            <a:endParaRPr lang="fr-FR" altLang="fr-FR" dirty="0">
              <a:latin typeface="Arial" panose="020B0604020202020204" pitchFamily="34" charset="0"/>
            </a:endParaRPr>
          </a:p>
        </p:txBody>
      </p:sp>
      <p:sp>
        <p:nvSpPr>
          <p:cNvPr id="11267" name="Text Box 5"/>
          <p:cNvSpPr txBox="1"/>
          <p:nvPr/>
        </p:nvSpPr>
        <p:spPr>
          <a:xfrm>
            <a:off x="611188" y="836613"/>
            <a:ext cx="7056437" cy="366712"/>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Selon la nature des motifs fréquents on peut trouver deux types :</a:t>
            </a:r>
            <a:endParaRPr lang="fr-FR" altLang="fr-FR" dirty="0">
              <a:latin typeface="Arial" panose="020B0604020202020204" pitchFamily="34" charset="0"/>
            </a:endParaRPr>
          </a:p>
        </p:txBody>
      </p:sp>
      <p:sp>
        <p:nvSpPr>
          <p:cNvPr id="11268" name="Text Box 6"/>
          <p:cNvSpPr txBox="1"/>
          <p:nvPr/>
        </p:nvSpPr>
        <p:spPr>
          <a:xfrm>
            <a:off x="684213" y="1412875"/>
            <a:ext cx="7343775" cy="2014538"/>
          </a:xfrm>
          <a:prstGeom prst="rect">
            <a:avLst/>
          </a:prstGeom>
          <a:noFill/>
          <a:ln w="9525">
            <a:noFill/>
          </a:ln>
        </p:spPr>
        <p:txBody>
          <a:bodyPr>
            <a:spAutoFit/>
          </a:bodyPr>
          <a:p>
            <a:pPr eaLnBrk="1" hangingPunct="1"/>
            <a:r>
              <a:rPr lang="fr-FR" altLang="fr-FR" dirty="0">
                <a:latin typeface="Arial" panose="020B0604020202020204" pitchFamily="34" charset="0"/>
              </a:rPr>
              <a:t>Motif fréquent fermé :</a:t>
            </a:r>
            <a:endParaRPr lang="fr-FR" altLang="fr-FR" dirty="0">
              <a:latin typeface="Arial" panose="020B0604020202020204" pitchFamily="34" charset="0"/>
            </a:endParaRPr>
          </a:p>
          <a:p>
            <a:pPr eaLnBrk="1" hangingPunct="1"/>
            <a:r>
              <a:rPr lang="fr-FR" altLang="fr-FR" dirty="0">
                <a:latin typeface="Arial" panose="020B0604020202020204" pitchFamily="34" charset="0"/>
              </a:rPr>
              <a:t>Un motif fréquent est dit fermé s’il ne possède aucun sur-motif qui a le même support.</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Motif fréquent maximal:</a:t>
            </a:r>
            <a:endParaRPr lang="fr-FR" altLang="fr-FR" dirty="0">
              <a:latin typeface="Arial" panose="020B0604020202020204" pitchFamily="34" charset="0"/>
            </a:endParaRPr>
          </a:p>
          <a:p>
            <a:pPr eaLnBrk="1" hangingPunct="1"/>
            <a:r>
              <a:rPr lang="fr-FR" altLang="fr-FR" dirty="0">
                <a:latin typeface="Arial" panose="020B0604020202020204" pitchFamily="34" charset="0"/>
              </a:rPr>
              <a:t>Un motif fréquent est dit Maximal si aucun de ses sur-motifs immédiats n’est fréquent.</a:t>
            </a:r>
            <a:endParaRPr lang="fr-FR" altLang="fr-FR" dirty="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Text Box 4"/>
          <p:cNvSpPr txBox="1"/>
          <p:nvPr/>
        </p:nvSpPr>
        <p:spPr>
          <a:xfrm>
            <a:off x="539750" y="188913"/>
            <a:ext cx="8208963" cy="915987"/>
          </a:xfrm>
          <a:prstGeom prst="rect">
            <a:avLst/>
          </a:prstGeom>
          <a:noFill/>
          <a:ln w="9525">
            <a:noFill/>
          </a:ln>
        </p:spPr>
        <p:txBody>
          <a:bodyPr>
            <a:spAutoFit/>
          </a:bodyPr>
          <a:p>
            <a:pPr eaLnBrk="1" hangingPunct="1"/>
            <a:r>
              <a:rPr lang="fr-FR" altLang="fr-FR" dirty="0">
                <a:latin typeface="Arial" panose="020B0604020202020204" pitchFamily="34" charset="0"/>
              </a:rPr>
              <a:t>Exemple:</a:t>
            </a:r>
            <a:endParaRPr lang="fr-FR" altLang="fr-FR" dirty="0">
              <a:latin typeface="Arial" panose="020B0604020202020204" pitchFamily="34" charset="0"/>
            </a:endParaRPr>
          </a:p>
          <a:p>
            <a:pPr eaLnBrk="1" hangingPunct="1"/>
            <a:r>
              <a:rPr lang="fr-FR" altLang="fr-FR" dirty="0">
                <a:latin typeface="Arial" panose="020B0604020202020204" pitchFamily="34" charset="0"/>
              </a:rPr>
              <a:t>Le schéma suivant illustre la relation entre le motifs fréquents, fréquents fermés et fréquents maximaux :</a:t>
            </a:r>
            <a:endParaRPr lang="fr-FR" altLang="fr-FR" dirty="0">
              <a:latin typeface="Arial" panose="020B0604020202020204" pitchFamily="34" charset="0"/>
            </a:endParaRPr>
          </a:p>
        </p:txBody>
      </p:sp>
      <p:pic>
        <p:nvPicPr>
          <p:cNvPr id="12291" name="Picture 5"/>
          <p:cNvPicPr>
            <a:picLocks noChangeAspect="1"/>
          </p:cNvPicPr>
          <p:nvPr/>
        </p:nvPicPr>
        <p:blipFill>
          <a:blip r:embed="rId1"/>
          <a:stretch>
            <a:fillRect/>
          </a:stretch>
        </p:blipFill>
        <p:spPr>
          <a:xfrm>
            <a:off x="755650" y="1052513"/>
            <a:ext cx="7488238" cy="3744912"/>
          </a:xfrm>
          <a:prstGeom prst="rect">
            <a:avLst/>
          </a:prstGeom>
          <a:noFill/>
          <a:ln w="9525">
            <a:noFill/>
          </a:ln>
        </p:spPr>
      </p:pic>
      <p:sp>
        <p:nvSpPr>
          <p:cNvPr id="12292" name="Text Box 6"/>
          <p:cNvSpPr txBox="1"/>
          <p:nvPr/>
        </p:nvSpPr>
        <p:spPr>
          <a:xfrm>
            <a:off x="539750" y="4868863"/>
            <a:ext cx="8208963" cy="2014537"/>
          </a:xfrm>
          <a:prstGeom prst="rect">
            <a:avLst/>
          </a:prstGeom>
          <a:noFill/>
          <a:ln w="9525">
            <a:noFill/>
          </a:ln>
        </p:spPr>
        <p:txBody>
          <a:bodyPr>
            <a:spAutoFit/>
          </a:bodyPr>
          <a:p>
            <a:pPr eaLnBrk="1" hangingPunct="1"/>
            <a:r>
              <a:rPr lang="fr-FR" altLang="fr-FR" dirty="0">
                <a:latin typeface="Arial" panose="020B0604020202020204" pitchFamily="34" charset="0"/>
              </a:rPr>
              <a:t>– Les motifs encerclés par les lignes minces ne sont pas fréquents, les autres le sont.</a:t>
            </a:r>
            <a:endParaRPr lang="fr-FR" altLang="fr-FR" dirty="0">
              <a:latin typeface="Arial" panose="020B0604020202020204" pitchFamily="34" charset="0"/>
            </a:endParaRPr>
          </a:p>
          <a:p>
            <a:pPr eaLnBrk="1" hangingPunct="1"/>
            <a:r>
              <a:rPr lang="fr-FR" altLang="fr-FR" dirty="0">
                <a:latin typeface="Arial" panose="020B0604020202020204" pitchFamily="34" charset="0"/>
              </a:rPr>
              <a:t>– Les motifs encerclés par des lignes plus épais sont fermés.</a:t>
            </a:r>
            <a:endParaRPr lang="fr-FR" altLang="fr-FR" dirty="0">
              <a:latin typeface="Arial" panose="020B0604020202020204" pitchFamily="34" charset="0"/>
            </a:endParaRPr>
          </a:p>
          <a:p>
            <a:pPr eaLnBrk="1" hangingPunct="1"/>
            <a:r>
              <a:rPr lang="fr-FR" altLang="fr-FR" dirty="0">
                <a:latin typeface="Arial" panose="020B0604020202020204" pitchFamily="34" charset="0"/>
              </a:rPr>
              <a:t>– Les motifs colorés sont maximaux.</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Il est clair que :</a:t>
            </a:r>
            <a:endParaRPr lang="fr-FR" altLang="fr-FR" dirty="0">
              <a:latin typeface="Arial" panose="020B0604020202020204" pitchFamily="34" charset="0"/>
            </a:endParaRPr>
          </a:p>
          <a:p>
            <a:pPr eaLnBrk="1" hangingPunct="1"/>
            <a:r>
              <a:rPr lang="fr-FR" altLang="fr-FR" dirty="0">
                <a:latin typeface="Arial" panose="020B0604020202020204" pitchFamily="34" charset="0"/>
              </a:rPr>
              <a:t>Les motifs maximaux </a:t>
            </a:r>
            <a:r>
              <a:rPr lang="fr-FR" altLang="fr-FR" i="1" dirty="0">
                <a:latin typeface="Arial" panose="020B0604020202020204" pitchFamily="34" charset="0"/>
              </a:rPr>
              <a:t>⊂ </a:t>
            </a:r>
            <a:r>
              <a:rPr lang="fr-FR" altLang="fr-FR" dirty="0">
                <a:latin typeface="Arial" panose="020B0604020202020204" pitchFamily="34" charset="0"/>
              </a:rPr>
              <a:t>Les motifs fermés </a:t>
            </a:r>
            <a:r>
              <a:rPr lang="fr-FR" altLang="fr-FR" i="1" dirty="0">
                <a:latin typeface="Arial" panose="020B0604020202020204" pitchFamily="34" charset="0"/>
              </a:rPr>
              <a:t>⊂ </a:t>
            </a:r>
            <a:r>
              <a:rPr lang="fr-FR" altLang="fr-FR" dirty="0">
                <a:latin typeface="Arial" panose="020B0604020202020204" pitchFamily="34" charset="0"/>
              </a:rPr>
              <a:t>Les motifs fréquents</a:t>
            </a:r>
            <a:endParaRPr lang="fr-FR" altLang="fr-FR"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ext Box 4"/>
          <p:cNvSpPr txBox="1"/>
          <p:nvPr/>
        </p:nvSpPr>
        <p:spPr>
          <a:xfrm>
            <a:off x="323850" y="333375"/>
            <a:ext cx="7416800" cy="366713"/>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2.4 Passage aux règles d’association</a:t>
            </a:r>
            <a:endParaRPr lang="fr-FR" altLang="fr-FR" dirty="0">
              <a:latin typeface="Arial" panose="020B0604020202020204" pitchFamily="34" charset="0"/>
            </a:endParaRPr>
          </a:p>
        </p:txBody>
      </p:sp>
      <p:sp>
        <p:nvSpPr>
          <p:cNvPr id="13315" name="Text Box 5"/>
          <p:cNvSpPr txBox="1"/>
          <p:nvPr/>
        </p:nvSpPr>
        <p:spPr>
          <a:xfrm>
            <a:off x="395288" y="765175"/>
            <a:ext cx="8424862" cy="641350"/>
          </a:xfrm>
          <a:prstGeom prst="rect">
            <a:avLst/>
          </a:prstGeom>
          <a:noFill/>
          <a:ln w="9525">
            <a:noFill/>
          </a:ln>
        </p:spPr>
        <p:txBody>
          <a:bodyPr>
            <a:spAutoFit/>
          </a:bodyPr>
          <a:p>
            <a:pPr eaLnBrk="1" hangingPunct="1"/>
            <a:r>
              <a:rPr lang="fr-FR" altLang="fr-FR" dirty="0">
                <a:latin typeface="Arial" panose="020B0604020202020204" pitchFamily="34" charset="0"/>
              </a:rPr>
              <a:t>Cette phase consiste à trouver toutes les règles qui existent entre les items</a:t>
            </a:r>
            <a:endParaRPr lang="fr-FR" altLang="fr-FR" dirty="0">
              <a:latin typeface="Arial" panose="020B0604020202020204" pitchFamily="34" charset="0"/>
            </a:endParaRPr>
          </a:p>
          <a:p>
            <a:pPr eaLnBrk="1" hangingPunct="1"/>
            <a:r>
              <a:rPr lang="fr-FR" altLang="fr-FR" dirty="0">
                <a:latin typeface="Arial" panose="020B0604020202020204" pitchFamily="34" charset="0"/>
              </a:rPr>
              <a:t>fréquents.</a:t>
            </a:r>
            <a:endParaRPr lang="fr-FR" altLang="fr-FR" dirty="0">
              <a:latin typeface="Arial" panose="020B0604020202020204" pitchFamily="34" charset="0"/>
            </a:endParaRPr>
          </a:p>
        </p:txBody>
      </p:sp>
      <p:sp>
        <p:nvSpPr>
          <p:cNvPr id="13316" name="Text Box 6"/>
          <p:cNvSpPr txBox="1"/>
          <p:nvPr/>
        </p:nvSpPr>
        <p:spPr>
          <a:xfrm>
            <a:off x="539750" y="1557338"/>
            <a:ext cx="8208963" cy="1190625"/>
          </a:xfrm>
          <a:prstGeom prst="rect">
            <a:avLst/>
          </a:prstGeom>
          <a:noFill/>
          <a:ln w="9525">
            <a:noFill/>
          </a:ln>
        </p:spPr>
        <p:txBody>
          <a:bodyPr>
            <a:spAutoFit/>
          </a:bodyPr>
          <a:p>
            <a:pPr eaLnBrk="1" hangingPunct="1"/>
            <a:r>
              <a:rPr lang="fr-FR" altLang="fr-FR" dirty="0">
                <a:latin typeface="Arial" panose="020B0604020202020204" pitchFamily="34" charset="0"/>
              </a:rPr>
              <a:t>Exemple:</a:t>
            </a:r>
            <a:endParaRPr lang="fr-FR" altLang="fr-FR" dirty="0">
              <a:latin typeface="Arial" panose="020B0604020202020204" pitchFamily="34" charset="0"/>
            </a:endParaRPr>
          </a:p>
          <a:p>
            <a:pPr eaLnBrk="1" hangingPunct="1"/>
            <a:r>
              <a:rPr lang="fr-FR" altLang="fr-FR" dirty="0">
                <a:latin typeface="Arial" panose="020B0604020202020204" pitchFamily="34" charset="0"/>
              </a:rPr>
              <a:t>pour une règle telle que </a:t>
            </a:r>
            <a:r>
              <a:rPr lang="fr-FR" altLang="fr-FR" i="1" dirty="0">
                <a:latin typeface="Arial" panose="020B0604020202020204" pitchFamily="34" charset="0"/>
              </a:rPr>
              <a:t>{x</a:t>
            </a:r>
            <a:r>
              <a:rPr lang="fr-FR" altLang="fr-FR" dirty="0">
                <a:latin typeface="Arial" panose="020B0604020202020204" pitchFamily="34" charset="0"/>
              </a:rPr>
              <a:t>1</a:t>
            </a:r>
            <a:r>
              <a:rPr lang="fr-FR" altLang="fr-FR" i="1" dirty="0">
                <a:latin typeface="Arial" panose="020B0604020202020204" pitchFamily="34" charset="0"/>
              </a:rPr>
              <a:t>, x</a:t>
            </a:r>
            <a:r>
              <a:rPr lang="fr-FR" altLang="fr-FR" dirty="0">
                <a:latin typeface="Arial" panose="020B0604020202020204" pitchFamily="34" charset="0"/>
              </a:rPr>
              <a:t>2</a:t>
            </a:r>
            <a:r>
              <a:rPr lang="fr-FR" altLang="fr-FR" i="1" dirty="0">
                <a:latin typeface="Arial" panose="020B0604020202020204" pitchFamily="34" charset="0"/>
              </a:rPr>
              <a:t>, x</a:t>
            </a:r>
            <a:r>
              <a:rPr lang="fr-FR" altLang="fr-FR" dirty="0">
                <a:latin typeface="Arial" panose="020B0604020202020204" pitchFamily="34" charset="0"/>
              </a:rPr>
              <a:t>3</a:t>
            </a:r>
            <a:r>
              <a:rPr lang="fr-FR" altLang="fr-FR" i="1" dirty="0">
                <a:latin typeface="Arial" panose="020B0604020202020204" pitchFamily="34" charset="0"/>
              </a:rPr>
              <a:t>} ⇒ x</a:t>
            </a:r>
            <a:r>
              <a:rPr lang="fr-FR" altLang="fr-FR" dirty="0">
                <a:latin typeface="Arial" panose="020B0604020202020204" pitchFamily="34" charset="0"/>
              </a:rPr>
              <a:t>4, il faut premièrement que </a:t>
            </a:r>
            <a:r>
              <a:rPr lang="fr-FR" altLang="fr-FR" i="1" dirty="0">
                <a:latin typeface="Arial" panose="020B0604020202020204" pitchFamily="34" charset="0"/>
              </a:rPr>
              <a:t>{x</a:t>
            </a:r>
            <a:r>
              <a:rPr lang="fr-FR" altLang="fr-FR" dirty="0">
                <a:latin typeface="Arial" panose="020B0604020202020204" pitchFamily="34" charset="0"/>
              </a:rPr>
              <a:t>1</a:t>
            </a:r>
            <a:r>
              <a:rPr lang="fr-FR" altLang="fr-FR" i="1" dirty="0">
                <a:latin typeface="Arial" panose="020B0604020202020204" pitchFamily="34" charset="0"/>
              </a:rPr>
              <a:t>, x</a:t>
            </a:r>
            <a:r>
              <a:rPr lang="fr-FR" altLang="fr-FR" dirty="0">
                <a:latin typeface="Arial" panose="020B0604020202020204" pitchFamily="34" charset="0"/>
              </a:rPr>
              <a:t>2</a:t>
            </a:r>
            <a:r>
              <a:rPr lang="fr-FR" altLang="fr-FR" i="1" dirty="0">
                <a:latin typeface="Arial" panose="020B0604020202020204" pitchFamily="34" charset="0"/>
              </a:rPr>
              <a:t>, x</a:t>
            </a:r>
            <a:r>
              <a:rPr lang="fr-FR" altLang="fr-FR" dirty="0">
                <a:latin typeface="Arial" panose="020B0604020202020204" pitchFamily="34" charset="0"/>
              </a:rPr>
              <a:t>3</a:t>
            </a:r>
            <a:r>
              <a:rPr lang="fr-FR" altLang="fr-FR" i="1" dirty="0">
                <a:latin typeface="Arial" panose="020B0604020202020204" pitchFamily="34" charset="0"/>
              </a:rPr>
              <a:t>} </a:t>
            </a:r>
            <a:r>
              <a:rPr lang="fr-FR" altLang="fr-FR" dirty="0">
                <a:latin typeface="Arial" panose="020B0604020202020204" pitchFamily="34" charset="0"/>
              </a:rPr>
              <a:t>et </a:t>
            </a:r>
            <a:r>
              <a:rPr lang="fr-FR" altLang="fr-FR" i="1" dirty="0">
                <a:latin typeface="Arial" panose="020B0604020202020204" pitchFamily="34" charset="0"/>
              </a:rPr>
              <a:t>x</a:t>
            </a:r>
            <a:r>
              <a:rPr lang="fr-FR" altLang="fr-FR" dirty="0">
                <a:latin typeface="Arial" panose="020B0604020202020204" pitchFamily="34" charset="0"/>
              </a:rPr>
              <a:t>4 soient fréquents. Ensuite, il faut que la confidence de la règle dépasse</a:t>
            </a:r>
            <a:endParaRPr lang="fr-FR" altLang="fr-FR" dirty="0">
              <a:latin typeface="Arial" panose="020B0604020202020204" pitchFamily="34" charset="0"/>
            </a:endParaRPr>
          </a:p>
          <a:p>
            <a:pPr eaLnBrk="1" hangingPunct="1"/>
            <a:r>
              <a:rPr lang="fr-FR" altLang="fr-FR" dirty="0">
                <a:latin typeface="Arial" panose="020B0604020202020204" pitchFamily="34" charset="0"/>
              </a:rPr>
              <a:t>un certain seuil. La confidence est calculée comme suit :</a:t>
            </a:r>
            <a:endParaRPr lang="fr-FR" altLang="fr-FR" dirty="0">
              <a:latin typeface="Arial" panose="020B0604020202020204" pitchFamily="34" charset="0"/>
            </a:endParaRPr>
          </a:p>
        </p:txBody>
      </p:sp>
      <p:pic>
        <p:nvPicPr>
          <p:cNvPr id="13317" name="Picture 7"/>
          <p:cNvPicPr>
            <a:picLocks noChangeAspect="1"/>
          </p:cNvPicPr>
          <p:nvPr/>
        </p:nvPicPr>
        <p:blipFill>
          <a:blip r:embed="rId1"/>
          <a:stretch>
            <a:fillRect/>
          </a:stretch>
        </p:blipFill>
        <p:spPr>
          <a:xfrm>
            <a:off x="1692275" y="2924175"/>
            <a:ext cx="5400675" cy="865188"/>
          </a:xfrm>
          <a:prstGeom prst="rect">
            <a:avLst/>
          </a:prstGeom>
          <a:noFill/>
          <a:ln w="9525">
            <a:noFill/>
          </a:ln>
        </p:spPr>
      </p:pic>
      <p:sp>
        <p:nvSpPr>
          <p:cNvPr id="13318" name="Text Box 8"/>
          <p:cNvSpPr txBox="1"/>
          <p:nvPr/>
        </p:nvSpPr>
        <p:spPr>
          <a:xfrm>
            <a:off x="684213" y="4076700"/>
            <a:ext cx="7704137" cy="915988"/>
          </a:xfrm>
          <a:prstGeom prst="rect">
            <a:avLst/>
          </a:prstGeom>
          <a:noFill/>
          <a:ln w="9525">
            <a:noFill/>
          </a:ln>
        </p:spPr>
        <p:txBody>
          <a:bodyPr>
            <a:spAutoFit/>
          </a:bodyPr>
          <a:p>
            <a:pPr eaLnBrk="1" hangingPunct="1"/>
            <a:r>
              <a:rPr lang="fr-FR" altLang="fr-FR" dirty="0">
                <a:latin typeface="Arial" panose="020B0604020202020204" pitchFamily="34" charset="0"/>
              </a:rPr>
              <a:t>Où le </a:t>
            </a:r>
            <a:r>
              <a:rPr lang="fr-FR" altLang="fr-FR" i="1" dirty="0">
                <a:latin typeface="Arial" panose="020B0604020202020204" pitchFamily="34" charset="0"/>
              </a:rPr>
              <a:t>Support</a:t>
            </a:r>
            <a:r>
              <a:rPr lang="fr-FR" altLang="fr-FR" dirty="0">
                <a:latin typeface="Arial" panose="020B0604020202020204" pitchFamily="34" charset="0"/>
              </a:rPr>
              <a:t>(</a:t>
            </a:r>
            <a:r>
              <a:rPr lang="fr-FR" altLang="fr-FR" i="1" dirty="0">
                <a:latin typeface="Arial" panose="020B0604020202020204" pitchFamily="34" charset="0"/>
              </a:rPr>
              <a:t>x</a:t>
            </a:r>
            <a:r>
              <a:rPr lang="fr-FR" altLang="fr-FR" dirty="0">
                <a:latin typeface="Arial" panose="020B0604020202020204" pitchFamily="34" charset="0"/>
              </a:rPr>
              <a:t>) est le nombre d’enregistrements où apparait l’item </a:t>
            </a:r>
            <a:r>
              <a:rPr lang="fr-FR" altLang="fr-FR" i="1" dirty="0">
                <a:latin typeface="Arial" panose="020B0604020202020204" pitchFamily="34" charset="0"/>
              </a:rPr>
              <a:t>x</a:t>
            </a:r>
            <a:r>
              <a:rPr lang="fr-FR" altLang="fr-FR" dirty="0">
                <a:latin typeface="Arial" panose="020B0604020202020204" pitchFamily="34" charset="0"/>
              </a:rPr>
              <a:t>, et le </a:t>
            </a:r>
            <a:r>
              <a:rPr lang="fr-FR" altLang="fr-FR" i="1" dirty="0">
                <a:latin typeface="Arial" panose="020B0604020202020204" pitchFamily="34" charset="0"/>
              </a:rPr>
              <a:t>Support</a:t>
            </a:r>
            <a:r>
              <a:rPr lang="fr-FR" altLang="fr-FR" dirty="0">
                <a:latin typeface="Arial" panose="020B0604020202020204" pitchFamily="34" charset="0"/>
              </a:rPr>
              <a:t>(</a:t>
            </a:r>
            <a:r>
              <a:rPr lang="fr-FR" altLang="fr-FR" i="1" dirty="0">
                <a:latin typeface="Arial" panose="020B0604020202020204" pitchFamily="34" charset="0"/>
              </a:rPr>
              <a:t>{x</a:t>
            </a:r>
            <a:r>
              <a:rPr lang="fr-FR" altLang="fr-FR" dirty="0">
                <a:latin typeface="Arial" panose="020B0604020202020204" pitchFamily="34" charset="0"/>
              </a:rPr>
              <a:t>1</a:t>
            </a:r>
            <a:r>
              <a:rPr lang="fr-FR" altLang="fr-FR" i="1" dirty="0">
                <a:latin typeface="Arial" panose="020B0604020202020204" pitchFamily="34" charset="0"/>
              </a:rPr>
              <a:t>, x</a:t>
            </a:r>
            <a:r>
              <a:rPr lang="fr-FR" altLang="fr-FR" dirty="0">
                <a:latin typeface="Arial" panose="020B0604020202020204" pitchFamily="34" charset="0"/>
              </a:rPr>
              <a:t>2</a:t>
            </a:r>
            <a:r>
              <a:rPr lang="fr-FR" altLang="fr-FR" i="1" dirty="0">
                <a:latin typeface="Arial" panose="020B0604020202020204" pitchFamily="34" charset="0"/>
              </a:rPr>
              <a:t>, x</a:t>
            </a:r>
            <a:r>
              <a:rPr lang="fr-FR" altLang="fr-FR" dirty="0">
                <a:latin typeface="Arial" panose="020B0604020202020204" pitchFamily="34" charset="0"/>
              </a:rPr>
              <a:t>3</a:t>
            </a:r>
            <a:r>
              <a:rPr lang="fr-FR" altLang="fr-FR" i="1" dirty="0">
                <a:latin typeface="Arial" panose="020B0604020202020204" pitchFamily="34" charset="0"/>
              </a:rPr>
              <a:t>}</a:t>
            </a:r>
            <a:r>
              <a:rPr lang="fr-FR" altLang="fr-FR" dirty="0">
                <a:latin typeface="Arial" panose="020B0604020202020204" pitchFamily="34" charset="0"/>
              </a:rPr>
              <a:t>) est le nombre d’enregistrement où apparaissent les items </a:t>
            </a:r>
            <a:r>
              <a:rPr lang="fr-FR" altLang="fr-FR" i="1" dirty="0">
                <a:latin typeface="Arial" panose="020B0604020202020204" pitchFamily="34" charset="0"/>
              </a:rPr>
              <a:t>x</a:t>
            </a:r>
            <a:r>
              <a:rPr lang="fr-FR" altLang="fr-FR" dirty="0">
                <a:latin typeface="Arial" panose="020B0604020202020204" pitchFamily="34" charset="0"/>
              </a:rPr>
              <a:t>1</a:t>
            </a:r>
            <a:r>
              <a:rPr lang="fr-FR" altLang="fr-FR" i="1" dirty="0">
                <a:latin typeface="Arial" panose="020B0604020202020204" pitchFamily="34" charset="0"/>
              </a:rPr>
              <a:t>, x</a:t>
            </a:r>
            <a:r>
              <a:rPr lang="fr-FR" altLang="fr-FR" dirty="0">
                <a:latin typeface="Arial" panose="020B0604020202020204" pitchFamily="34" charset="0"/>
              </a:rPr>
              <a:t>2</a:t>
            </a:r>
            <a:r>
              <a:rPr lang="fr-FR" altLang="fr-FR" i="1" dirty="0">
                <a:latin typeface="Arial" panose="020B0604020202020204" pitchFamily="34" charset="0"/>
              </a:rPr>
              <a:t>, x</a:t>
            </a:r>
            <a:r>
              <a:rPr lang="fr-FR" altLang="fr-FR" dirty="0">
                <a:latin typeface="Arial" panose="020B0604020202020204" pitchFamily="34" charset="0"/>
              </a:rPr>
              <a:t>3 ensemble.</a:t>
            </a:r>
            <a:endParaRPr lang="fr-FR" altLang="fr-FR"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 Box 4"/>
          <p:cNvSpPr txBox="1"/>
          <p:nvPr/>
        </p:nvSpPr>
        <p:spPr>
          <a:xfrm>
            <a:off x="323850" y="333375"/>
            <a:ext cx="7200900" cy="366713"/>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Définition d’une règle d’association</a:t>
            </a:r>
            <a:endParaRPr lang="fr-FR" altLang="fr-FR" dirty="0">
              <a:latin typeface="Arial" panose="020B0604020202020204" pitchFamily="34" charset="0"/>
            </a:endParaRPr>
          </a:p>
        </p:txBody>
      </p:sp>
      <p:sp>
        <p:nvSpPr>
          <p:cNvPr id="14339" name="Text Box 5"/>
          <p:cNvSpPr txBox="1"/>
          <p:nvPr/>
        </p:nvSpPr>
        <p:spPr>
          <a:xfrm>
            <a:off x="323850" y="836613"/>
            <a:ext cx="8280400" cy="1190625"/>
          </a:xfrm>
          <a:prstGeom prst="rect">
            <a:avLst/>
          </a:prstGeom>
          <a:noFill/>
          <a:ln w="9525">
            <a:noFill/>
          </a:ln>
        </p:spPr>
        <p:txBody>
          <a:bodyPr>
            <a:spAutoFit/>
          </a:bodyPr>
          <a:p>
            <a:pPr eaLnBrk="1" hangingPunct="1"/>
            <a:r>
              <a:rPr lang="fr-FR" altLang="fr-FR" dirty="0">
                <a:latin typeface="Arial" panose="020B0604020202020204" pitchFamily="34" charset="0"/>
              </a:rPr>
              <a:t>Soit </a:t>
            </a:r>
            <a:r>
              <a:rPr lang="fr-FR" altLang="fr-FR" i="1" dirty="0">
                <a:latin typeface="Arial" panose="020B0604020202020204" pitchFamily="34" charset="0"/>
              </a:rPr>
              <a:t>m</a:t>
            </a:r>
            <a:r>
              <a:rPr lang="fr-FR" altLang="fr-FR" dirty="0">
                <a:latin typeface="Arial" panose="020B0604020202020204" pitchFamily="34" charset="0"/>
              </a:rPr>
              <a:t>1 et </a:t>
            </a:r>
            <a:r>
              <a:rPr lang="fr-FR" altLang="fr-FR" i="1" dirty="0">
                <a:latin typeface="Arial" panose="020B0604020202020204" pitchFamily="34" charset="0"/>
              </a:rPr>
              <a:t>m</a:t>
            </a:r>
            <a:r>
              <a:rPr lang="fr-FR" altLang="fr-FR" dirty="0">
                <a:latin typeface="Arial" panose="020B0604020202020204" pitchFamily="34" charset="0"/>
              </a:rPr>
              <a:t>2 deux motifs. Une règle d’association est une implication de la forme : </a:t>
            </a:r>
            <a:r>
              <a:rPr lang="fr-FR" altLang="fr-FR" i="1" dirty="0">
                <a:latin typeface="Arial" panose="020B0604020202020204" pitchFamily="34" charset="0"/>
              </a:rPr>
              <a:t>m</a:t>
            </a:r>
            <a:r>
              <a:rPr lang="fr-FR" altLang="fr-FR" dirty="0">
                <a:latin typeface="Arial" panose="020B0604020202020204" pitchFamily="34" charset="0"/>
              </a:rPr>
              <a:t>1 </a:t>
            </a:r>
            <a:r>
              <a:rPr lang="fr-FR" altLang="fr-FR" i="1" dirty="0">
                <a:latin typeface="Arial" panose="020B0604020202020204" pitchFamily="34" charset="0"/>
              </a:rPr>
              <a:t>⇒ m</a:t>
            </a:r>
            <a:r>
              <a:rPr lang="fr-FR" altLang="fr-FR" dirty="0">
                <a:latin typeface="Arial" panose="020B0604020202020204" pitchFamily="34" charset="0"/>
              </a:rPr>
              <a:t>2  Où </a:t>
            </a:r>
            <a:r>
              <a:rPr lang="fr-FR" altLang="fr-FR" i="1" dirty="0">
                <a:latin typeface="Arial" panose="020B0604020202020204" pitchFamily="34" charset="0"/>
              </a:rPr>
              <a:t>m</a:t>
            </a:r>
            <a:r>
              <a:rPr lang="fr-FR" altLang="fr-FR" dirty="0">
                <a:latin typeface="Arial" panose="020B0604020202020204" pitchFamily="34" charset="0"/>
              </a:rPr>
              <a:t>1</a:t>
            </a:r>
            <a:r>
              <a:rPr lang="fr-FR" altLang="fr-FR" i="1" dirty="0">
                <a:latin typeface="Arial" panose="020B0604020202020204" pitchFamily="34" charset="0"/>
              </a:rPr>
              <a:t>,m</a:t>
            </a:r>
            <a:r>
              <a:rPr lang="fr-FR" altLang="fr-FR" dirty="0">
                <a:latin typeface="Arial" panose="020B0604020202020204" pitchFamily="34" charset="0"/>
              </a:rPr>
              <a:t>2 </a:t>
            </a:r>
            <a:r>
              <a:rPr lang="fr-FR" altLang="fr-FR" i="1" dirty="0">
                <a:latin typeface="Arial" panose="020B0604020202020204" pitchFamily="34" charset="0"/>
              </a:rPr>
              <a:t>∈ </a:t>
            </a:r>
            <a:r>
              <a:rPr lang="fr-FR" altLang="fr-FR" dirty="0">
                <a:latin typeface="Arial" panose="020B0604020202020204" pitchFamily="34" charset="0"/>
              </a:rPr>
              <a:t>2</a:t>
            </a:r>
            <a:r>
              <a:rPr lang="fr-FR" altLang="fr-FR" i="1" baseline="30000" dirty="0">
                <a:latin typeface="Arial" panose="020B0604020202020204" pitchFamily="34" charset="0"/>
              </a:rPr>
              <a:t>P</a:t>
            </a:r>
            <a:r>
              <a:rPr lang="fr-FR" altLang="fr-FR" i="1" dirty="0">
                <a:latin typeface="Arial" panose="020B0604020202020204" pitchFamily="34" charset="0"/>
              </a:rPr>
              <a:t>, et m</a:t>
            </a:r>
            <a:r>
              <a:rPr lang="fr-FR" altLang="fr-FR" dirty="0">
                <a:latin typeface="Arial" panose="020B0604020202020204" pitchFamily="34" charset="0"/>
              </a:rPr>
              <a:t>1</a:t>
            </a:r>
            <a:r>
              <a:rPr lang="fr-FR" altLang="fr-FR" i="1" dirty="0">
                <a:latin typeface="Arial" panose="020B0604020202020204" pitchFamily="34" charset="0"/>
              </a:rPr>
              <a:t>∩ m</a:t>
            </a:r>
            <a:r>
              <a:rPr lang="fr-FR" altLang="fr-FR" dirty="0">
                <a:latin typeface="Arial" panose="020B0604020202020204" pitchFamily="34" charset="0"/>
              </a:rPr>
              <a:t>2 = </a:t>
            </a:r>
            <a:r>
              <a:rPr lang="fr-FR" altLang="fr-FR" i="1" dirty="0">
                <a:latin typeface="Arial" panose="020B0604020202020204" pitchFamily="34" charset="0"/>
              </a:rPr>
              <a:t>∅</a:t>
            </a:r>
            <a:endParaRPr lang="fr-FR" altLang="fr-FR" i="1" dirty="0">
              <a:latin typeface="Arial" panose="020B0604020202020204" pitchFamily="34" charset="0"/>
            </a:endParaRPr>
          </a:p>
          <a:p>
            <a:pPr eaLnBrk="1" hangingPunct="1"/>
            <a:r>
              <a:rPr lang="fr-FR" altLang="fr-FR" dirty="0">
                <a:latin typeface="Arial" panose="020B0604020202020204" pitchFamily="34" charset="0"/>
              </a:rPr>
              <a:t>La règle </a:t>
            </a:r>
            <a:r>
              <a:rPr lang="fr-FR" altLang="fr-FR" i="1" dirty="0">
                <a:latin typeface="Arial" panose="020B0604020202020204" pitchFamily="34" charset="0"/>
              </a:rPr>
              <a:t>m</a:t>
            </a:r>
            <a:r>
              <a:rPr lang="fr-FR" altLang="fr-FR" dirty="0">
                <a:latin typeface="Arial" panose="020B0604020202020204" pitchFamily="34" charset="0"/>
              </a:rPr>
              <a:t>1 </a:t>
            </a:r>
            <a:r>
              <a:rPr lang="fr-FR" altLang="fr-FR" i="1" dirty="0">
                <a:latin typeface="Arial" panose="020B0604020202020204" pitchFamily="34" charset="0"/>
              </a:rPr>
              <a:t>⇒ m</a:t>
            </a:r>
            <a:r>
              <a:rPr lang="fr-FR" altLang="fr-FR" dirty="0">
                <a:latin typeface="Arial" panose="020B0604020202020204" pitchFamily="34" charset="0"/>
              </a:rPr>
              <a:t>2 est vérifiée dans la base de donnée </a:t>
            </a:r>
            <a:r>
              <a:rPr lang="fr-FR" altLang="fr-FR" i="1" dirty="0">
                <a:latin typeface="Arial" panose="020B0604020202020204" pitchFamily="34" charset="0"/>
              </a:rPr>
              <a:t>D </a:t>
            </a:r>
            <a:r>
              <a:rPr lang="fr-FR" altLang="fr-FR" dirty="0">
                <a:latin typeface="Arial" panose="020B0604020202020204" pitchFamily="34" charset="0"/>
              </a:rPr>
              <a:t>avec un support </a:t>
            </a:r>
            <a:r>
              <a:rPr lang="fr-FR" altLang="fr-FR" i="1" dirty="0">
                <a:latin typeface="Arial" panose="020B0604020202020204" pitchFamily="34" charset="0"/>
              </a:rPr>
              <a:t>s</a:t>
            </a:r>
            <a:r>
              <a:rPr lang="fr-FR" altLang="fr-FR" dirty="0">
                <a:latin typeface="Arial" panose="020B0604020202020204" pitchFamily="34" charset="0"/>
              </a:rPr>
              <a:t>, où </a:t>
            </a:r>
            <a:r>
              <a:rPr lang="fr-FR" altLang="fr-FR" i="1" dirty="0">
                <a:latin typeface="Arial" panose="020B0604020202020204" pitchFamily="34" charset="0"/>
              </a:rPr>
              <a:t>s </a:t>
            </a:r>
            <a:r>
              <a:rPr lang="fr-FR" altLang="fr-FR" dirty="0">
                <a:latin typeface="Arial" panose="020B0604020202020204" pitchFamily="34" charset="0"/>
              </a:rPr>
              <a:t>est le pourcentage d’objets dans </a:t>
            </a:r>
            <a:r>
              <a:rPr lang="fr-FR" altLang="fr-FR" i="1" dirty="0">
                <a:latin typeface="Arial" panose="020B0604020202020204" pitchFamily="34" charset="0"/>
              </a:rPr>
              <a:t>D </a:t>
            </a:r>
            <a:r>
              <a:rPr lang="fr-FR" altLang="fr-FR" dirty="0">
                <a:latin typeface="Arial" panose="020B0604020202020204" pitchFamily="34" charset="0"/>
              </a:rPr>
              <a:t>contenant </a:t>
            </a:r>
            <a:r>
              <a:rPr lang="fr-FR" altLang="fr-FR" i="1" dirty="0">
                <a:latin typeface="Arial" panose="020B0604020202020204" pitchFamily="34" charset="0"/>
              </a:rPr>
              <a:t>m</a:t>
            </a:r>
            <a:r>
              <a:rPr lang="fr-FR" altLang="fr-FR" dirty="0">
                <a:latin typeface="Arial" panose="020B0604020202020204" pitchFamily="34" charset="0"/>
              </a:rPr>
              <a:t>1 </a:t>
            </a:r>
            <a:r>
              <a:rPr lang="fr-FR" altLang="fr-FR" i="1" dirty="0">
                <a:latin typeface="Arial" panose="020B0604020202020204" pitchFamily="34" charset="0"/>
              </a:rPr>
              <a:t>∪ m</a:t>
            </a:r>
            <a:r>
              <a:rPr lang="fr-FR" altLang="fr-FR" dirty="0">
                <a:latin typeface="Arial" panose="020B0604020202020204" pitchFamily="34" charset="0"/>
              </a:rPr>
              <a:t>2 :</a:t>
            </a:r>
            <a:endParaRPr lang="fr-FR" altLang="fr-FR" dirty="0">
              <a:latin typeface="Arial" panose="020B0604020202020204" pitchFamily="34" charset="0"/>
            </a:endParaRPr>
          </a:p>
        </p:txBody>
      </p:sp>
      <p:pic>
        <p:nvPicPr>
          <p:cNvPr id="14340" name="Picture 6"/>
          <p:cNvPicPr>
            <a:picLocks noChangeAspect="1"/>
          </p:cNvPicPr>
          <p:nvPr/>
        </p:nvPicPr>
        <p:blipFill>
          <a:blip r:embed="rId1"/>
          <a:stretch>
            <a:fillRect/>
          </a:stretch>
        </p:blipFill>
        <p:spPr>
          <a:xfrm>
            <a:off x="1403350" y="2133600"/>
            <a:ext cx="5210175" cy="647700"/>
          </a:xfrm>
          <a:prstGeom prst="rect">
            <a:avLst/>
          </a:prstGeom>
          <a:noFill/>
          <a:ln w="9525">
            <a:noFill/>
          </a:ln>
        </p:spPr>
      </p:pic>
      <p:sp>
        <p:nvSpPr>
          <p:cNvPr id="14341" name="Text Box 7"/>
          <p:cNvSpPr txBox="1"/>
          <p:nvPr/>
        </p:nvSpPr>
        <p:spPr>
          <a:xfrm>
            <a:off x="468313" y="2997200"/>
            <a:ext cx="8207375" cy="641350"/>
          </a:xfrm>
          <a:prstGeom prst="rect">
            <a:avLst/>
          </a:prstGeom>
          <a:noFill/>
          <a:ln w="9525">
            <a:noFill/>
          </a:ln>
        </p:spPr>
        <p:txBody>
          <a:bodyPr>
            <a:spAutoFit/>
          </a:bodyPr>
          <a:p>
            <a:pPr eaLnBrk="1" hangingPunct="1"/>
            <a:r>
              <a:rPr lang="fr-FR" altLang="fr-FR" dirty="0">
                <a:latin typeface="Arial" panose="020B0604020202020204" pitchFamily="34" charset="0"/>
              </a:rPr>
              <a:t>La confidence de la règle </a:t>
            </a:r>
            <a:r>
              <a:rPr lang="fr-FR" altLang="fr-FR" i="1" dirty="0">
                <a:latin typeface="Arial" panose="020B0604020202020204" pitchFamily="34" charset="0"/>
              </a:rPr>
              <a:t>m</a:t>
            </a:r>
            <a:r>
              <a:rPr lang="fr-FR" altLang="fr-FR" dirty="0">
                <a:latin typeface="Arial" panose="020B0604020202020204" pitchFamily="34" charset="0"/>
              </a:rPr>
              <a:t>1 </a:t>
            </a:r>
            <a:r>
              <a:rPr lang="fr-FR" altLang="fr-FR" i="1" dirty="0">
                <a:latin typeface="Arial" panose="020B0604020202020204" pitchFamily="34" charset="0"/>
              </a:rPr>
              <a:t>⇒ m</a:t>
            </a:r>
            <a:r>
              <a:rPr lang="fr-FR" altLang="fr-FR" dirty="0">
                <a:latin typeface="Arial" panose="020B0604020202020204" pitchFamily="34" charset="0"/>
              </a:rPr>
              <a:t>2 est définie par le pourcentage de transactions qui contiennent </a:t>
            </a:r>
            <a:r>
              <a:rPr lang="fr-FR" altLang="fr-FR" i="1" dirty="0">
                <a:latin typeface="Arial" panose="020B0604020202020204" pitchFamily="34" charset="0"/>
              </a:rPr>
              <a:t>m</a:t>
            </a:r>
            <a:r>
              <a:rPr lang="fr-FR" altLang="fr-FR" dirty="0">
                <a:latin typeface="Arial" panose="020B0604020202020204" pitchFamily="34" charset="0"/>
              </a:rPr>
              <a:t>1 </a:t>
            </a:r>
            <a:r>
              <a:rPr lang="fr-FR" altLang="fr-FR" i="1" dirty="0">
                <a:latin typeface="Arial" panose="020B0604020202020204" pitchFamily="34" charset="0"/>
              </a:rPr>
              <a:t>∪ m</a:t>
            </a:r>
            <a:r>
              <a:rPr lang="fr-FR" altLang="fr-FR" dirty="0">
                <a:latin typeface="Arial" panose="020B0604020202020204" pitchFamily="34" charset="0"/>
              </a:rPr>
              <a:t>2 dans les transaction contenant </a:t>
            </a:r>
            <a:r>
              <a:rPr lang="fr-FR" altLang="fr-FR" i="1" dirty="0">
                <a:latin typeface="Arial" panose="020B0604020202020204" pitchFamily="34" charset="0"/>
              </a:rPr>
              <a:t>m</a:t>
            </a:r>
            <a:r>
              <a:rPr lang="fr-FR" altLang="fr-FR" dirty="0">
                <a:latin typeface="Arial" panose="020B0604020202020204" pitchFamily="34" charset="0"/>
              </a:rPr>
              <a:t>1.</a:t>
            </a:r>
            <a:endParaRPr lang="fr-FR" altLang="fr-FR" dirty="0">
              <a:latin typeface="Arial" panose="020B0604020202020204" pitchFamily="34" charset="0"/>
            </a:endParaRPr>
          </a:p>
        </p:txBody>
      </p:sp>
      <p:pic>
        <p:nvPicPr>
          <p:cNvPr id="14342" name="Picture 8"/>
          <p:cNvPicPr>
            <a:picLocks noChangeAspect="1"/>
          </p:cNvPicPr>
          <p:nvPr/>
        </p:nvPicPr>
        <p:blipFill>
          <a:blip r:embed="rId2"/>
          <a:stretch>
            <a:fillRect/>
          </a:stretch>
        </p:blipFill>
        <p:spPr>
          <a:xfrm>
            <a:off x="1042988" y="3789363"/>
            <a:ext cx="6904037" cy="792162"/>
          </a:xfrm>
          <a:prstGeom prst="rect">
            <a:avLst/>
          </a:prstGeom>
          <a:noFill/>
          <a:ln w="9525">
            <a:noFill/>
          </a:ln>
        </p:spPr>
      </p:pic>
      <p:sp>
        <p:nvSpPr>
          <p:cNvPr id="14343" name="Text Box 9"/>
          <p:cNvSpPr txBox="1"/>
          <p:nvPr/>
        </p:nvSpPr>
        <p:spPr>
          <a:xfrm>
            <a:off x="611188" y="4797425"/>
            <a:ext cx="7848600" cy="641350"/>
          </a:xfrm>
          <a:prstGeom prst="rect">
            <a:avLst/>
          </a:prstGeom>
          <a:noFill/>
          <a:ln w="9525">
            <a:noFill/>
          </a:ln>
        </p:spPr>
        <p:txBody>
          <a:bodyPr>
            <a:spAutoFit/>
          </a:bodyPr>
          <a:p>
            <a:pPr eaLnBrk="1" hangingPunct="1"/>
            <a:r>
              <a:rPr lang="fr-FR" altLang="fr-FR" dirty="0">
                <a:latin typeface="Arial" panose="020B0604020202020204" pitchFamily="34" charset="0"/>
              </a:rPr>
              <a:t>Les règles qui dépassent un minimum de support et un minimum de confidence sont appelées règles solides.</a:t>
            </a:r>
            <a:endParaRPr lang="fr-FR" altLang="fr-FR" dirty="0">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ext Box 4"/>
          <p:cNvSpPr txBox="1"/>
          <p:nvPr/>
        </p:nvSpPr>
        <p:spPr>
          <a:xfrm>
            <a:off x="250825" y="333375"/>
            <a:ext cx="4176713" cy="366713"/>
          </a:xfrm>
          <a:prstGeom prst="rect">
            <a:avLst/>
          </a:prstGeom>
          <a:noFill/>
          <a:ln w="9525">
            <a:noFill/>
          </a:ln>
        </p:spPr>
        <p:txBody>
          <a:bodyPr>
            <a:spAutoFit/>
          </a:bodyPr>
          <a:p>
            <a:pPr eaLnBrk="1" hangingPunct="1">
              <a:spcBef>
                <a:spcPct val="50000"/>
              </a:spcBef>
            </a:pPr>
            <a:r>
              <a:rPr lang="fr-FR" altLang="fr-FR" dirty="0">
                <a:latin typeface="Arial" panose="020B0604020202020204" pitchFamily="34" charset="0"/>
              </a:rPr>
              <a:t>Exercice 1:</a:t>
            </a:r>
            <a:endParaRPr lang="fr-FR" altLang="fr-FR" dirty="0">
              <a:latin typeface="Arial" panose="020B0604020202020204" pitchFamily="34" charset="0"/>
            </a:endParaRPr>
          </a:p>
        </p:txBody>
      </p:sp>
      <p:sp>
        <p:nvSpPr>
          <p:cNvPr id="15363" name="Text Box 5"/>
          <p:cNvSpPr txBox="1"/>
          <p:nvPr/>
        </p:nvSpPr>
        <p:spPr>
          <a:xfrm>
            <a:off x="250825" y="836613"/>
            <a:ext cx="8497888" cy="4486275"/>
          </a:xfrm>
          <a:prstGeom prst="rect">
            <a:avLst/>
          </a:prstGeom>
          <a:noFill/>
          <a:ln w="9525">
            <a:noFill/>
          </a:ln>
        </p:spPr>
        <p:txBody>
          <a:bodyPr>
            <a:spAutoFit/>
          </a:bodyPr>
          <a:p>
            <a:pPr eaLnBrk="1" hangingPunct="1"/>
            <a:r>
              <a:rPr lang="fr-FR" altLang="fr-FR" dirty="0">
                <a:latin typeface="Arial" panose="020B0604020202020204" pitchFamily="34" charset="0"/>
              </a:rPr>
              <a:t>Dans un supermarché, on dispose de la base de transactions suivante :</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En utilisant l'algorithme Apriori avec un support minimum de 20% et une confiance minimale de 75%, trouver :</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1. Les motifs fréquents,</a:t>
            </a:r>
            <a:endParaRPr lang="fr-FR" altLang="fr-FR" dirty="0">
              <a:latin typeface="Arial" panose="020B0604020202020204" pitchFamily="34" charset="0"/>
            </a:endParaRPr>
          </a:p>
          <a:p>
            <a:pPr eaLnBrk="1" hangingPunct="1"/>
            <a:r>
              <a:rPr lang="fr-FR" altLang="fr-FR" dirty="0">
                <a:latin typeface="Arial" panose="020B0604020202020204" pitchFamily="34" charset="0"/>
              </a:rPr>
              <a:t>2. Les motifs fréquents fermés,</a:t>
            </a:r>
            <a:endParaRPr lang="fr-FR" altLang="fr-FR" dirty="0">
              <a:latin typeface="Arial" panose="020B0604020202020204" pitchFamily="34" charset="0"/>
            </a:endParaRPr>
          </a:p>
          <a:p>
            <a:pPr eaLnBrk="1" hangingPunct="1"/>
            <a:r>
              <a:rPr lang="fr-FR" altLang="fr-FR" dirty="0">
                <a:latin typeface="Arial" panose="020B0604020202020204" pitchFamily="34" charset="0"/>
              </a:rPr>
              <a:t>3. Les motifs fréquents maximaux,</a:t>
            </a:r>
            <a:endParaRPr lang="fr-FR" altLang="fr-FR" dirty="0">
              <a:latin typeface="Arial" panose="020B0604020202020204" pitchFamily="34" charset="0"/>
            </a:endParaRPr>
          </a:p>
          <a:p>
            <a:pPr eaLnBrk="1" hangingPunct="1"/>
            <a:r>
              <a:rPr lang="fr-FR" altLang="fr-FR" dirty="0">
                <a:latin typeface="Arial" panose="020B0604020202020204" pitchFamily="34" charset="0"/>
              </a:rPr>
              <a:t>4. Les règles solides d'association de type A, B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 C.</a:t>
            </a:r>
            <a:endParaRPr lang="fr-FR" altLang="fr-FR" dirty="0">
              <a:latin typeface="Arial" panose="020B0604020202020204" pitchFamily="34" charset="0"/>
            </a:endParaRPr>
          </a:p>
        </p:txBody>
      </p:sp>
      <p:pic>
        <p:nvPicPr>
          <p:cNvPr id="15364" name="Picture 6"/>
          <p:cNvPicPr>
            <a:picLocks noChangeAspect="1"/>
          </p:cNvPicPr>
          <p:nvPr/>
        </p:nvPicPr>
        <p:blipFill>
          <a:blip r:embed="rId1"/>
          <a:stretch>
            <a:fillRect/>
          </a:stretch>
        </p:blipFill>
        <p:spPr>
          <a:xfrm>
            <a:off x="468313" y="1196975"/>
            <a:ext cx="7056437" cy="201612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 Box 4"/>
          <p:cNvSpPr txBox="1"/>
          <p:nvPr/>
        </p:nvSpPr>
        <p:spPr>
          <a:xfrm>
            <a:off x="323850" y="260350"/>
            <a:ext cx="8496300" cy="6408738"/>
          </a:xfrm>
          <a:prstGeom prst="rect">
            <a:avLst/>
          </a:prstGeom>
          <a:noFill/>
          <a:ln w="9525">
            <a:noFill/>
          </a:ln>
        </p:spPr>
        <p:txBody>
          <a:bodyPr>
            <a:spAutoFit/>
          </a:bodyPr>
          <a:p>
            <a:pPr eaLnBrk="1" hangingPunct="1"/>
            <a:r>
              <a:rPr lang="fr-FR" altLang="fr-FR" b="1" dirty="0">
                <a:latin typeface="Arial" panose="020B0604020202020204" pitchFamily="34" charset="0"/>
              </a:rPr>
              <a:t>Réponse :</a:t>
            </a:r>
            <a:endParaRPr lang="fr-FR" altLang="fr-FR" b="1"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1. Les motifs fréquents :</a:t>
            </a:r>
            <a:endParaRPr lang="fr-FR" altLang="fr-FR" dirty="0">
              <a:latin typeface="Arial" panose="020B0604020202020204" pitchFamily="34" charset="0"/>
            </a:endParaRPr>
          </a:p>
          <a:p>
            <a:pPr eaLnBrk="1" hangingPunct="1"/>
            <a:r>
              <a:rPr lang="fr-FR" altLang="fr-FR" dirty="0">
                <a:latin typeface="Arial" panose="020B0604020202020204" pitchFamily="34" charset="0"/>
              </a:rPr>
              <a:t>F1={Lait, Couches, Pain, Beurre, Jus, Sucre}</a:t>
            </a:r>
            <a:endParaRPr lang="fr-FR" altLang="fr-FR" dirty="0">
              <a:latin typeface="Arial" panose="020B0604020202020204" pitchFamily="34" charset="0"/>
            </a:endParaRPr>
          </a:p>
          <a:p>
            <a:pPr eaLnBrk="1" hangingPunct="1"/>
            <a:r>
              <a:rPr lang="fr-FR" altLang="fr-FR" dirty="0">
                <a:latin typeface="Arial" panose="020B0604020202020204" pitchFamily="34" charset="0"/>
              </a:rPr>
              <a:t>F2= {Lait Couches, Lait Pain, Lait Beurre, Couches Pain, Couches Beurre, Couches Jus, Couches Sucre, Pain Beurre, Jus Sucre }</a:t>
            </a:r>
            <a:endParaRPr lang="fr-FR" altLang="fr-FR" dirty="0">
              <a:latin typeface="Arial" panose="020B0604020202020204" pitchFamily="34" charset="0"/>
            </a:endParaRPr>
          </a:p>
          <a:p>
            <a:pPr eaLnBrk="1" hangingPunct="1"/>
            <a:r>
              <a:rPr lang="fr-FR" altLang="fr-FR" dirty="0">
                <a:latin typeface="Arial" panose="020B0604020202020204" pitchFamily="34" charset="0"/>
              </a:rPr>
              <a:t>F3= {Lait Couches Pain, Lait Couches Beurre, Lait Pain Beurre, Couches Pain Beurre}</a:t>
            </a:r>
            <a:endParaRPr lang="fr-FR" altLang="fr-FR" dirty="0">
              <a:latin typeface="Arial" panose="020B0604020202020204" pitchFamily="34" charset="0"/>
            </a:endParaRPr>
          </a:p>
          <a:p>
            <a:pPr eaLnBrk="1" hangingPunct="1"/>
            <a:r>
              <a:rPr lang="fr-FR" altLang="fr-FR" dirty="0">
                <a:latin typeface="Arial" panose="020B0604020202020204" pitchFamily="34" charset="0"/>
              </a:rPr>
              <a:t>F4= {Lait Couches Pain Beurre }</a:t>
            </a:r>
            <a:endParaRPr lang="fr-FR" altLang="fr-FR" dirty="0">
              <a:latin typeface="Arial" panose="020B0604020202020204" pitchFamily="34" charset="0"/>
            </a:endParaRPr>
          </a:p>
          <a:p>
            <a:pPr eaLnBrk="1" hangingPunct="1"/>
            <a:r>
              <a:rPr lang="fr-FR" altLang="fr-FR" dirty="0">
                <a:latin typeface="Arial" panose="020B0604020202020204" pitchFamily="34" charset="0"/>
              </a:rPr>
              <a:t>Motifs fréquents = { F1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  F2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 F3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 F4}</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2. Motifs fréquents fermés = {Lait, Couches, Jus, Sucre, Lait Couches, Couches Jus, Couches Sucre, Pain Beurre, Jus Sucre , Lait Pain Beurre, Couches Pain Beurre, Lait Couches Pain Beure }</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3. Motifs fréquents maximaux = {Couches Jus, Couches Sucre, Jus Sucre, Lait Couches Pain Beure}</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4. Les règles solides d'association de type A, B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 C sont :</a:t>
            </a:r>
            <a:endParaRPr lang="fr-FR" altLang="fr-FR" dirty="0">
              <a:latin typeface="Arial" panose="020B0604020202020204" pitchFamily="34" charset="0"/>
            </a:endParaRPr>
          </a:p>
          <a:p>
            <a:pPr eaLnBrk="1" hangingPunct="1"/>
            <a:r>
              <a:rPr lang="fr-FR" altLang="fr-FR" dirty="0">
                <a:latin typeface="Arial" panose="020B0604020202020204" pitchFamily="34" charset="0"/>
              </a:rPr>
              <a:t>Lait Beurre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 Pain</a:t>
            </a:r>
            <a:endParaRPr lang="fr-FR" altLang="fr-FR" dirty="0">
              <a:latin typeface="Arial" panose="020B0604020202020204" pitchFamily="34" charset="0"/>
            </a:endParaRPr>
          </a:p>
          <a:p>
            <a:pPr eaLnBrk="1" hangingPunct="1"/>
            <a:r>
              <a:rPr lang="fr-FR" altLang="fr-FR" dirty="0">
                <a:latin typeface="Arial" panose="020B0604020202020204" pitchFamily="34" charset="0"/>
              </a:rPr>
              <a:t>Lait Pain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 Beurre</a:t>
            </a:r>
            <a:endParaRPr lang="fr-FR" altLang="fr-FR" dirty="0">
              <a:latin typeface="Arial" panose="020B0604020202020204" pitchFamily="34" charset="0"/>
            </a:endParaRPr>
          </a:p>
          <a:p>
            <a:pPr eaLnBrk="1" hangingPunct="1"/>
            <a:r>
              <a:rPr lang="fr-FR" altLang="fr-FR" dirty="0">
                <a:latin typeface="Arial" panose="020B0604020202020204" pitchFamily="34" charset="0"/>
              </a:rPr>
              <a:t>Couches Beurre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 Pain</a:t>
            </a:r>
            <a:endParaRPr lang="fr-FR" altLang="fr-FR" dirty="0">
              <a:latin typeface="Arial" panose="020B0604020202020204" pitchFamily="34" charset="0"/>
            </a:endParaRPr>
          </a:p>
          <a:p>
            <a:pPr eaLnBrk="1" hangingPunct="1"/>
            <a:r>
              <a:rPr lang="fr-FR" altLang="fr-FR" dirty="0">
                <a:latin typeface="Arial" panose="020B0604020202020204" pitchFamily="34" charset="0"/>
              </a:rPr>
              <a:t>Couches Pain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 Beurre</a:t>
            </a:r>
            <a:endParaRPr lang="fr-FR" altLang="fr-FR" dirty="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ext Box 4"/>
          <p:cNvSpPr txBox="1"/>
          <p:nvPr/>
        </p:nvSpPr>
        <p:spPr>
          <a:xfrm>
            <a:off x="250825" y="260350"/>
            <a:ext cx="7416800" cy="641350"/>
          </a:xfrm>
          <a:prstGeom prst="rect">
            <a:avLst/>
          </a:prstGeom>
          <a:noFill/>
          <a:ln w="9525">
            <a:noFill/>
          </a:ln>
        </p:spPr>
        <p:txBody>
          <a:bodyPr>
            <a:spAutoFit/>
          </a:bodyPr>
          <a:p>
            <a:pPr eaLnBrk="1" hangingPunct="1"/>
            <a:r>
              <a:rPr lang="fr-FR" altLang="fr-FR" b="1" dirty="0">
                <a:latin typeface="Arial" panose="020B0604020202020204" pitchFamily="34" charset="0"/>
              </a:rPr>
              <a:t>Exercice 2 :</a:t>
            </a:r>
            <a:endParaRPr lang="fr-FR" altLang="fr-FR" dirty="0">
              <a:latin typeface="Arial" panose="020B0604020202020204" pitchFamily="34" charset="0"/>
            </a:endParaRPr>
          </a:p>
          <a:p>
            <a:pPr eaLnBrk="1" hangingPunct="1"/>
            <a:r>
              <a:rPr lang="fr-FR" altLang="fr-FR" dirty="0">
                <a:latin typeface="Arial" panose="020B0604020202020204" pitchFamily="34" charset="0"/>
              </a:rPr>
              <a:t>Soit la base de données transactionnelle suivante :</a:t>
            </a:r>
            <a:endParaRPr lang="fr-FR" altLang="fr-FR" dirty="0">
              <a:latin typeface="Arial" panose="020B0604020202020204" pitchFamily="34" charset="0"/>
            </a:endParaRPr>
          </a:p>
        </p:txBody>
      </p:sp>
      <p:pic>
        <p:nvPicPr>
          <p:cNvPr id="17411" name="Picture 5"/>
          <p:cNvPicPr>
            <a:picLocks noChangeAspect="1"/>
          </p:cNvPicPr>
          <p:nvPr/>
        </p:nvPicPr>
        <p:blipFill>
          <a:blip r:embed="rId1"/>
          <a:stretch>
            <a:fillRect/>
          </a:stretch>
        </p:blipFill>
        <p:spPr>
          <a:xfrm>
            <a:off x="323850" y="1052513"/>
            <a:ext cx="6911975" cy="2232025"/>
          </a:xfrm>
          <a:prstGeom prst="rect">
            <a:avLst/>
          </a:prstGeom>
          <a:noFill/>
          <a:ln w="9525">
            <a:noFill/>
          </a:ln>
        </p:spPr>
      </p:pic>
      <p:sp>
        <p:nvSpPr>
          <p:cNvPr id="17412" name="Text Box 6"/>
          <p:cNvSpPr txBox="1"/>
          <p:nvPr/>
        </p:nvSpPr>
        <p:spPr>
          <a:xfrm>
            <a:off x="395288" y="3644900"/>
            <a:ext cx="8497887" cy="1739900"/>
          </a:xfrm>
          <a:prstGeom prst="rect">
            <a:avLst/>
          </a:prstGeom>
          <a:noFill/>
          <a:ln w="9525">
            <a:noFill/>
          </a:ln>
        </p:spPr>
        <p:txBody>
          <a:bodyPr>
            <a:spAutoFit/>
          </a:bodyPr>
          <a:p>
            <a:pPr eaLnBrk="1" hangingPunct="1"/>
            <a:r>
              <a:rPr lang="fr-FR" altLang="fr-FR" dirty="0">
                <a:latin typeface="Arial" panose="020B0604020202020204" pitchFamily="34" charset="0"/>
              </a:rPr>
              <a:t>En utilisant un support minimum de 25% et un minimum de confiance de 60%, trouver :</a:t>
            </a:r>
            <a:endParaRPr lang="fr-FR" altLang="fr-FR" dirty="0">
              <a:latin typeface="Arial" panose="020B0604020202020204" pitchFamily="34" charset="0"/>
            </a:endParaRPr>
          </a:p>
          <a:p>
            <a:pPr eaLnBrk="1" hangingPunct="1"/>
            <a:endParaRPr lang="fr-FR" altLang="fr-FR" dirty="0">
              <a:latin typeface="Arial" panose="020B0604020202020204" pitchFamily="34" charset="0"/>
            </a:endParaRPr>
          </a:p>
          <a:p>
            <a:pPr eaLnBrk="1" hangingPunct="1"/>
            <a:r>
              <a:rPr lang="fr-FR" altLang="fr-FR" dirty="0">
                <a:latin typeface="Arial" panose="020B0604020202020204" pitchFamily="34" charset="0"/>
              </a:rPr>
              <a:t>1. Les motifs fréquents maximaux (de taille maximale)</a:t>
            </a:r>
            <a:endParaRPr lang="fr-FR" altLang="fr-FR" dirty="0">
              <a:latin typeface="Arial" panose="020B0604020202020204" pitchFamily="34" charset="0"/>
            </a:endParaRPr>
          </a:p>
          <a:p>
            <a:pPr eaLnBrk="1" hangingPunct="1"/>
            <a:r>
              <a:rPr lang="fr-FR" altLang="fr-FR" dirty="0">
                <a:latin typeface="Arial" panose="020B0604020202020204" pitchFamily="34" charset="0"/>
              </a:rPr>
              <a:t>2. Les motifs fréquents fermés (qui ne sont sous ensemble d'aucun autre motif)</a:t>
            </a:r>
            <a:endParaRPr lang="fr-FR" altLang="fr-FR" dirty="0">
              <a:latin typeface="Arial" panose="020B0604020202020204" pitchFamily="34" charset="0"/>
            </a:endParaRPr>
          </a:p>
          <a:p>
            <a:pPr eaLnBrk="1" hangingPunct="1"/>
            <a:r>
              <a:rPr lang="fr-FR" altLang="fr-FR" dirty="0">
                <a:latin typeface="Arial" panose="020B0604020202020204" pitchFamily="34" charset="0"/>
              </a:rPr>
              <a:t>3. Les règles solides d'association.</a:t>
            </a:r>
            <a:endParaRPr lang="fr-FR" altLang="fr-FR" dirty="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4"/>
          <p:cNvSpPr txBox="1"/>
          <p:nvPr/>
        </p:nvSpPr>
        <p:spPr>
          <a:xfrm>
            <a:off x="323850" y="333375"/>
            <a:ext cx="7200900" cy="641350"/>
          </a:xfrm>
          <a:prstGeom prst="rect">
            <a:avLst/>
          </a:prstGeom>
          <a:noFill/>
          <a:ln w="9525">
            <a:noFill/>
          </a:ln>
        </p:spPr>
        <p:txBody>
          <a:bodyPr>
            <a:spAutoFit/>
          </a:bodyPr>
          <a:p>
            <a:pPr eaLnBrk="1" hangingPunct="1"/>
            <a:r>
              <a:rPr lang="fr-FR" altLang="fr-FR" b="1" dirty="0">
                <a:latin typeface="Arial" panose="020B0604020202020204" pitchFamily="34" charset="0"/>
              </a:rPr>
              <a:t>Exercice 3 :</a:t>
            </a:r>
            <a:endParaRPr lang="fr-FR" altLang="ko-KR" dirty="0">
              <a:latin typeface="Arial" panose="020B0604020202020204" pitchFamily="34" charset="0"/>
              <a:ea typeface="굴림" charset="-127"/>
            </a:endParaRPr>
          </a:p>
          <a:p>
            <a:pPr eaLnBrk="1" hangingPunct="1"/>
            <a:r>
              <a:rPr lang="fr-FR" altLang="ko-KR" dirty="0">
                <a:latin typeface="Arial" panose="020B0604020202020204" pitchFamily="34" charset="0"/>
                <a:ea typeface="굴림" charset="-127"/>
              </a:rPr>
              <a:t>Soit les transactions suivantes : </a:t>
            </a:r>
            <a:endParaRPr lang="fr-FR" altLang="fr-FR" dirty="0">
              <a:latin typeface="Arial" panose="020B0604020202020204" pitchFamily="34" charset="0"/>
            </a:endParaRPr>
          </a:p>
        </p:txBody>
      </p:sp>
      <p:pic>
        <p:nvPicPr>
          <p:cNvPr id="18435" name="Picture 5"/>
          <p:cNvPicPr>
            <a:picLocks noChangeAspect="1"/>
          </p:cNvPicPr>
          <p:nvPr/>
        </p:nvPicPr>
        <p:blipFill>
          <a:blip r:embed="rId1"/>
          <a:stretch>
            <a:fillRect/>
          </a:stretch>
        </p:blipFill>
        <p:spPr>
          <a:xfrm>
            <a:off x="611188" y="1052513"/>
            <a:ext cx="6913562" cy="2663825"/>
          </a:xfrm>
          <a:prstGeom prst="rect">
            <a:avLst/>
          </a:prstGeom>
          <a:noFill/>
          <a:ln w="9525">
            <a:noFill/>
          </a:ln>
        </p:spPr>
      </p:pic>
      <p:sp>
        <p:nvSpPr>
          <p:cNvPr id="18436" name="Text Box 6"/>
          <p:cNvSpPr txBox="1"/>
          <p:nvPr/>
        </p:nvSpPr>
        <p:spPr>
          <a:xfrm>
            <a:off x="611188" y="3933825"/>
            <a:ext cx="7559675" cy="1465263"/>
          </a:xfrm>
          <a:prstGeom prst="rect">
            <a:avLst/>
          </a:prstGeom>
          <a:noFill/>
          <a:ln w="9525">
            <a:noFill/>
          </a:ln>
        </p:spPr>
        <p:txBody>
          <a:bodyPr>
            <a:spAutoFit/>
          </a:bodyPr>
          <a:p>
            <a:pPr eaLnBrk="1" hangingPunct="1"/>
            <a:r>
              <a:rPr lang="fr-FR" altLang="fr-FR" dirty="0">
                <a:latin typeface="Arial" panose="020B0604020202020204" pitchFamily="34" charset="0"/>
              </a:rPr>
              <a:t>1. Avec un support minimum de 60%, trouver l'ensemble des motifs fréquents.</a:t>
            </a:r>
            <a:endParaRPr lang="fr-FR" altLang="fr-FR" dirty="0">
              <a:latin typeface="Arial" panose="020B0604020202020204" pitchFamily="34" charset="0"/>
            </a:endParaRPr>
          </a:p>
          <a:p>
            <a:pPr eaLnBrk="1" hangingPunct="1"/>
            <a:r>
              <a:rPr lang="fr-FR" altLang="fr-FR" dirty="0">
                <a:latin typeface="Arial" panose="020B0604020202020204" pitchFamily="34" charset="0"/>
              </a:rPr>
              <a:t>2. Trouver les motifs fréquents fermés et les motifs fréquents maximaux.</a:t>
            </a:r>
            <a:endParaRPr lang="fr-FR" altLang="fr-FR" dirty="0">
              <a:latin typeface="Arial" panose="020B0604020202020204" pitchFamily="34" charset="0"/>
            </a:endParaRPr>
          </a:p>
          <a:p>
            <a:pPr eaLnBrk="1" hangingPunct="1"/>
            <a:r>
              <a:rPr lang="fr-FR" altLang="fr-FR" dirty="0">
                <a:latin typeface="Arial" panose="020B0604020202020204" pitchFamily="34" charset="0"/>
              </a:rPr>
              <a:t>3. Avec un minimum de confidence de 70%, trouver les règles d'association de la forme A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 B, C.</a:t>
            </a:r>
            <a:endParaRPr lang="fr-FR" altLang="fr-FR" dirty="0">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 Box 4"/>
          <p:cNvSpPr txBox="1"/>
          <p:nvPr/>
        </p:nvSpPr>
        <p:spPr>
          <a:xfrm>
            <a:off x="323850" y="333375"/>
            <a:ext cx="8569325" cy="641350"/>
          </a:xfrm>
          <a:prstGeom prst="rect">
            <a:avLst/>
          </a:prstGeom>
          <a:noFill/>
          <a:ln w="9525">
            <a:noFill/>
          </a:ln>
        </p:spPr>
        <p:txBody>
          <a:bodyPr>
            <a:spAutoFit/>
          </a:bodyPr>
          <a:p>
            <a:pPr eaLnBrk="1" hangingPunct="1"/>
            <a:r>
              <a:rPr lang="fr-FR" altLang="fr-FR" b="1" dirty="0">
                <a:latin typeface="Arial" panose="020B0604020202020204" pitchFamily="34" charset="0"/>
              </a:rPr>
              <a:t>Exercice 4 :</a:t>
            </a:r>
            <a:endParaRPr lang="fr-FR" altLang="fr-FR" dirty="0">
              <a:latin typeface="Arial" panose="020B0604020202020204" pitchFamily="34" charset="0"/>
            </a:endParaRPr>
          </a:p>
          <a:p>
            <a:pPr eaLnBrk="1" hangingPunct="1"/>
            <a:r>
              <a:rPr lang="fr-FR" altLang="fr-FR" dirty="0">
                <a:latin typeface="Arial" panose="020B0604020202020204" pitchFamily="34" charset="0"/>
              </a:rPr>
              <a:t>Soit la table des transactions suivante :</a:t>
            </a:r>
            <a:endParaRPr lang="fr-FR" altLang="fr-FR" dirty="0">
              <a:latin typeface="Arial" panose="020B0604020202020204" pitchFamily="34" charset="0"/>
            </a:endParaRPr>
          </a:p>
        </p:txBody>
      </p:sp>
      <p:pic>
        <p:nvPicPr>
          <p:cNvPr id="19459" name="Picture 5"/>
          <p:cNvPicPr>
            <a:picLocks noChangeAspect="1"/>
          </p:cNvPicPr>
          <p:nvPr/>
        </p:nvPicPr>
        <p:blipFill>
          <a:blip r:embed="rId1"/>
          <a:stretch>
            <a:fillRect/>
          </a:stretch>
        </p:blipFill>
        <p:spPr>
          <a:xfrm>
            <a:off x="827088" y="1052513"/>
            <a:ext cx="4897437" cy="3346450"/>
          </a:xfrm>
          <a:prstGeom prst="rect">
            <a:avLst/>
          </a:prstGeom>
          <a:noFill/>
          <a:ln w="9525">
            <a:noFill/>
          </a:ln>
        </p:spPr>
      </p:pic>
      <p:sp>
        <p:nvSpPr>
          <p:cNvPr id="19460" name="Text Box 6"/>
          <p:cNvSpPr txBox="1"/>
          <p:nvPr/>
        </p:nvSpPr>
        <p:spPr>
          <a:xfrm>
            <a:off x="755650" y="4581525"/>
            <a:ext cx="7993063" cy="1465263"/>
          </a:xfrm>
          <a:prstGeom prst="rect">
            <a:avLst/>
          </a:prstGeom>
          <a:noFill/>
          <a:ln w="9525">
            <a:noFill/>
          </a:ln>
        </p:spPr>
        <p:txBody>
          <a:bodyPr>
            <a:spAutoFit/>
          </a:bodyPr>
          <a:p>
            <a:pPr eaLnBrk="1" hangingPunct="1"/>
            <a:r>
              <a:rPr lang="fr-FR" altLang="fr-FR" dirty="0">
                <a:latin typeface="Arial" panose="020B0604020202020204" pitchFamily="34" charset="0"/>
              </a:rPr>
              <a:t>1. Représenter cette table par une table formelle.</a:t>
            </a:r>
            <a:endParaRPr lang="fr-FR" altLang="fr-FR" dirty="0">
              <a:latin typeface="Arial" panose="020B0604020202020204" pitchFamily="34" charset="0"/>
            </a:endParaRPr>
          </a:p>
          <a:p>
            <a:pPr eaLnBrk="1" hangingPunct="1"/>
            <a:r>
              <a:rPr lang="fr-FR" altLang="fr-FR" dirty="0">
                <a:latin typeface="Arial" panose="020B0604020202020204" pitchFamily="34" charset="0"/>
              </a:rPr>
              <a:t>2. Trouver, en utilisant l'algorithme Apriori, les motifs fréquents sachant que </a:t>
            </a:r>
            <a:r>
              <a:rPr lang="fr-FR" altLang="fr-FR" dirty="0">
                <a:latin typeface="Arial" panose="020B0604020202020204" pitchFamily="34" charset="0"/>
                <a:sym typeface="Symbol" pitchFamily="18" charset="2"/>
              </a:rPr>
              <a:t></a:t>
            </a:r>
            <a:r>
              <a:rPr lang="fr-FR" altLang="fr-FR" dirty="0">
                <a:latin typeface="Arial" panose="020B0604020202020204" pitchFamily="34" charset="0"/>
              </a:rPr>
              <a:t>s = 2/9.</a:t>
            </a:r>
            <a:endParaRPr lang="fr-FR" altLang="fr-FR" dirty="0">
              <a:latin typeface="Arial" panose="020B0604020202020204" pitchFamily="34" charset="0"/>
            </a:endParaRPr>
          </a:p>
          <a:p>
            <a:pPr eaLnBrk="1" hangingPunct="1"/>
            <a:r>
              <a:rPr lang="fr-FR" altLang="fr-FR" dirty="0">
                <a:latin typeface="Arial" panose="020B0604020202020204" pitchFamily="34" charset="0"/>
              </a:rPr>
              <a:t>3. Calculer à partir du motif fréquent le plus long, les règles d'associations les plus fortes sachant que le seuil de confiance est de 70%.</a:t>
            </a:r>
            <a:endParaRPr lang="fr-FR" altLang="fr-FR" dirty="0">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4"/>
          <p:cNvSpPr txBox="1"/>
          <p:nvPr/>
        </p:nvSpPr>
        <p:spPr>
          <a:xfrm>
            <a:off x="323850" y="333375"/>
            <a:ext cx="8280400" cy="915988"/>
          </a:xfrm>
          <a:prstGeom prst="rect">
            <a:avLst/>
          </a:prstGeom>
          <a:noFill/>
          <a:ln w="9525">
            <a:noFill/>
          </a:ln>
        </p:spPr>
        <p:txBody>
          <a:bodyPr>
            <a:spAutoFit/>
          </a:bodyPr>
          <a:p>
            <a:pPr eaLnBrk="1" hangingPunct="1"/>
            <a:r>
              <a:rPr lang="fr-FR" altLang="fr-FR" b="1" dirty="0">
                <a:latin typeface="Arial" panose="020B0604020202020204" pitchFamily="34" charset="0"/>
              </a:rPr>
              <a:t>Exercice 5 :</a:t>
            </a:r>
            <a:endParaRPr lang="fr-FR" altLang="fr-FR" dirty="0">
              <a:latin typeface="Arial" panose="020B0604020202020204" pitchFamily="34" charset="0"/>
            </a:endParaRPr>
          </a:p>
          <a:p>
            <a:pPr eaLnBrk="1" hangingPunct="1"/>
            <a:r>
              <a:rPr lang="fr-FR" altLang="fr-FR" dirty="0">
                <a:latin typeface="Arial" panose="020B0604020202020204" pitchFamily="34" charset="0"/>
              </a:rPr>
              <a:t>Une base de données possède cinq transactions. On suppose que le support minimum est de 60% et la confiance minimale est de 80%.</a:t>
            </a:r>
            <a:endParaRPr lang="fr-FR" altLang="fr-FR" dirty="0">
              <a:latin typeface="Arial" panose="020B0604020202020204" pitchFamily="34" charset="0"/>
            </a:endParaRPr>
          </a:p>
        </p:txBody>
      </p:sp>
      <p:pic>
        <p:nvPicPr>
          <p:cNvPr id="20483" name="Picture 5"/>
          <p:cNvPicPr>
            <a:picLocks noChangeAspect="1"/>
          </p:cNvPicPr>
          <p:nvPr/>
        </p:nvPicPr>
        <p:blipFill>
          <a:blip r:embed="rId1"/>
          <a:stretch>
            <a:fillRect/>
          </a:stretch>
        </p:blipFill>
        <p:spPr>
          <a:xfrm>
            <a:off x="755650" y="1412875"/>
            <a:ext cx="4968875" cy="2447925"/>
          </a:xfrm>
          <a:prstGeom prst="rect">
            <a:avLst/>
          </a:prstGeom>
          <a:noFill/>
          <a:ln w="9525">
            <a:noFill/>
          </a:ln>
        </p:spPr>
      </p:pic>
      <p:sp>
        <p:nvSpPr>
          <p:cNvPr id="20484" name="Text Box 6"/>
          <p:cNvSpPr txBox="1"/>
          <p:nvPr/>
        </p:nvSpPr>
        <p:spPr>
          <a:xfrm>
            <a:off x="827088" y="3933825"/>
            <a:ext cx="6913562" cy="1739900"/>
          </a:xfrm>
          <a:prstGeom prst="rect">
            <a:avLst/>
          </a:prstGeom>
          <a:noFill/>
          <a:ln w="9525">
            <a:noFill/>
          </a:ln>
        </p:spPr>
        <p:txBody>
          <a:bodyPr>
            <a:spAutoFit/>
          </a:bodyPr>
          <a:p>
            <a:pPr eaLnBrk="1" hangingPunct="1"/>
            <a:r>
              <a:rPr lang="fr-FR" altLang="fr-FR" dirty="0">
                <a:latin typeface="Arial" panose="020B0604020202020204" pitchFamily="34" charset="0"/>
              </a:rPr>
              <a:t>1. Représenter cette table par une table formelle.</a:t>
            </a:r>
            <a:endParaRPr lang="fr-FR" altLang="fr-FR" dirty="0">
              <a:latin typeface="Arial" panose="020B0604020202020204" pitchFamily="34" charset="0"/>
            </a:endParaRPr>
          </a:p>
          <a:p>
            <a:pPr eaLnBrk="1" hangingPunct="1"/>
            <a:r>
              <a:rPr lang="fr-FR" altLang="fr-FR" dirty="0">
                <a:latin typeface="Arial" panose="020B0604020202020204" pitchFamily="34" charset="0"/>
              </a:rPr>
              <a:t>2. Trouver, en utilisant l'algorithme Apriori, les motifs fréquents.</a:t>
            </a:r>
            <a:endParaRPr lang="fr-FR" altLang="fr-FR" dirty="0">
              <a:latin typeface="Arial" panose="020B0604020202020204" pitchFamily="34" charset="0"/>
            </a:endParaRPr>
          </a:p>
          <a:p>
            <a:pPr eaLnBrk="1" hangingPunct="1"/>
            <a:r>
              <a:rPr lang="fr-FR" altLang="fr-FR" dirty="0">
                <a:latin typeface="Arial" panose="020B0604020202020204" pitchFamily="34" charset="0"/>
              </a:rPr>
              <a:t>3. Lister toutes les règles d'association fortes correspondant à la métarègle suivante, où X représente les clients et les itemi dénotent les articles achetés.</a:t>
            </a:r>
            <a:endParaRPr lang="fr-FR" altLang="fr-FR" b="1" dirty="0">
              <a:latin typeface="Arial" panose="020B0604020202020204" pitchFamily="34" charset="0"/>
            </a:endParaRPr>
          </a:p>
          <a:p>
            <a:pPr eaLnBrk="1" hangingPunct="1"/>
            <a:r>
              <a:rPr lang="fr-FR" altLang="fr-FR" b="1" dirty="0">
                <a:latin typeface="Arial" panose="020B0604020202020204" pitchFamily="34" charset="0"/>
              </a:rPr>
              <a:t>Acheter(X; item1) </a:t>
            </a:r>
            <a:r>
              <a:rPr lang="fr-FR" altLang="fr-FR" b="1" dirty="0">
                <a:latin typeface="Arial" panose="020B0604020202020204" pitchFamily="34" charset="0"/>
                <a:sym typeface="Symbol" pitchFamily="18" charset="2"/>
              </a:rPr>
              <a:t></a:t>
            </a:r>
            <a:r>
              <a:rPr lang="fr-FR" altLang="fr-FR" b="1" dirty="0">
                <a:latin typeface="Arial" panose="020B0604020202020204" pitchFamily="34" charset="0"/>
              </a:rPr>
              <a:t> Acheter(X; item2) </a:t>
            </a:r>
            <a:r>
              <a:rPr lang="fr-FR" altLang="fr-FR" b="1" dirty="0">
                <a:latin typeface="Arial" panose="020B0604020202020204" pitchFamily="34" charset="0"/>
                <a:sym typeface="Symbol" pitchFamily="18" charset="2"/>
              </a:rPr>
              <a:t></a:t>
            </a:r>
            <a:r>
              <a:rPr lang="fr-FR" altLang="fr-FR" b="1" dirty="0">
                <a:latin typeface="Arial" panose="020B0604020202020204" pitchFamily="34" charset="0"/>
              </a:rPr>
              <a:t> Acheter(X; item3)</a:t>
            </a:r>
            <a:endParaRPr lang="fr-FR" altLang="fr-FR" b="1"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7922</Words>
  <Application>WPS Presentation</Application>
  <PresentationFormat>Affichage à l'écran (4:3)</PresentationFormat>
  <Paragraphs>177</Paragraphs>
  <Slides>19</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19</vt:i4>
      </vt:variant>
    </vt:vector>
  </HeadingPairs>
  <TitlesOfParts>
    <vt:vector size="33" baseType="lpstr">
      <vt:lpstr>Arial</vt:lpstr>
      <vt:lpstr>SimSun</vt:lpstr>
      <vt:lpstr>Wingdings</vt:lpstr>
      <vt:lpstr>Calibri</vt:lpstr>
      <vt:lpstr>Trebuchet MS</vt:lpstr>
      <vt:lpstr>Symbol</vt:lpstr>
      <vt:lpstr>Gubbi</vt:lpstr>
      <vt:lpstr>굴림</vt:lpstr>
      <vt:lpstr>Noto Sans CJK HK</vt:lpstr>
      <vt:lpstr>Microsoft YaHei</vt:lpstr>
      <vt:lpstr>文泉驿微米黑</vt:lpstr>
      <vt:lpstr>Arial Unicode MS</vt:lpstr>
      <vt:lpstr>文泉驿正黑</vt:lpstr>
      <vt:lpstr>Modèle par défaut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Akram</dc:creator>
  <cp:lastModifiedBy>shito</cp:lastModifiedBy>
  <cp:revision>5</cp:revision>
  <dcterms:created xsi:type="dcterms:W3CDTF">2026-01-18T16:18:08Z</dcterms:created>
  <dcterms:modified xsi:type="dcterms:W3CDTF">2026-01-18T16:18:08Z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