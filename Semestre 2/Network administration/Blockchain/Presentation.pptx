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6"/>
  </p:notesMasterIdLst>
  <p:sldIdLst>
    <p:sldId id="256" r:id="rId2"/>
    <p:sldId id="257" r:id="rId3"/>
    <p:sldId id="263" r:id="rId4"/>
    <p:sldId id="258" r:id="rId5"/>
    <p:sldId id="277" r:id="rId6"/>
    <p:sldId id="259" r:id="rId7"/>
    <p:sldId id="278" r:id="rId8"/>
    <p:sldId id="279" r:id="rId9"/>
    <p:sldId id="266" r:id="rId10"/>
    <p:sldId id="280" r:id="rId11"/>
    <p:sldId id="281" r:id="rId12"/>
    <p:sldId id="282" r:id="rId13"/>
    <p:sldId id="283" r:id="rId14"/>
    <p:sldId id="271" r:id="rId15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Teko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54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0239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6092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0915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786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1" name="Google Shape;6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6023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1" name="Google Shape;6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9904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0712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685800" y="2206625"/>
            <a:ext cx="15695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5333100" y="58772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3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13" name="Google Shape;13;p3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3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" name="Google Shape;17;p3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5920175" y="51333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22" name="Google Shape;22;p4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23" name="Google Shape;2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4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17482" y="0"/>
            <a:ext cx="19012818" cy="105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661900" y="1029225"/>
            <a:ext cx="153075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6988213" y="73963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32" name="Google Shape;32;p5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33" name="Google Shape;33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" name="Google Shape;35;p5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6" name="Google Shape;36;p5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3166150" y="4899075"/>
            <a:ext cx="5489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8862089" y="4899075"/>
            <a:ext cx="5489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42" name="Google Shape;42;p6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43" name="Google Shape;43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Google Shape;45;p6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6" name="Google Shape;46;p6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17482" y="0"/>
            <a:ext cx="19012818" cy="105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2307251" y="5317575"/>
            <a:ext cx="61137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8644514" y="5317575"/>
            <a:ext cx="61167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grpSp>
        <p:nvGrpSpPr>
          <p:cNvPr id="52" name="Google Shape;52;p7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53" name="Google Shape;53;p7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54" name="Google Shape;54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" name="Google Shape;56;p7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7" name="Google Shape;57;p7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61" name="Google Shape;61;p8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62" name="Google Shape;62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" name="Google Shape;64;p8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5" name="Google Shape;65;p8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603275" y="3716800"/>
            <a:ext cx="155529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8469600" y="5251600"/>
            <a:ext cx="69957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3402200" y="5251600"/>
            <a:ext cx="49179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71" name="Google Shape;71;p9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72" name="Google Shape;72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" name="Google Shape;74;p9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75" name="Google Shape;75;p9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573125" y="4267200"/>
            <a:ext cx="15233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1579221" y="5937525"/>
            <a:ext cx="3487800" cy="2616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2280263" y="57028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9pPr>
          </a:lstStyle>
          <a:p>
            <a:endParaRPr/>
          </a:p>
        </p:txBody>
      </p:sp>
      <p:grpSp>
        <p:nvGrpSpPr>
          <p:cNvPr id="80" name="Google Shape;80;p10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81" name="Google Shape;81;p10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82" name="Google Shape;82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" name="Google Shape;84;p10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5" name="Google Shape;85;p10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Font typeface="Teko"/>
              <a:buNone/>
              <a:defRPr sz="120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95725" y="4723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68300" algn="l" rtl="0">
              <a:spcBef>
                <a:spcPts val="56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–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2pPr>
            <a:lvl3pPr marL="1371600" marR="0" lvl="2" indent="-3683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3pPr>
            <a:lvl4pPr marL="1828800" marR="0" lvl="3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–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4pPr>
            <a:lvl5pPr marL="2286000" marR="0" lvl="4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»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5pPr>
            <a:lvl6pPr marL="2743200" marR="0" lvl="5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6pPr>
            <a:lvl7pPr marL="3200400" marR="0" lvl="6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7pPr>
            <a:lvl8pPr marL="3657600" marR="0" lvl="7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8pPr>
            <a:lvl9pPr marL="4114800" marR="0" lvl="8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0225" y="-127638"/>
            <a:ext cx="18939100" cy="10542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1"/>
          <p:cNvGrpSpPr/>
          <p:nvPr/>
        </p:nvGrpSpPr>
        <p:grpSpPr>
          <a:xfrm>
            <a:off x="11566530" y="992243"/>
            <a:ext cx="5692770" cy="8137872"/>
            <a:chOff x="0" y="-47625"/>
            <a:chExt cx="1646718" cy="2354001"/>
          </a:xfrm>
        </p:grpSpPr>
        <p:sp>
          <p:nvSpPr>
            <p:cNvPr id="92" name="Google Shape;92;p11"/>
            <p:cNvSpPr/>
            <p:nvPr/>
          </p:nvSpPr>
          <p:spPr>
            <a:xfrm>
              <a:off x="0" y="0"/>
              <a:ext cx="1646718" cy="2306376"/>
            </a:xfrm>
            <a:custGeom>
              <a:avLst/>
              <a:gdLst/>
              <a:ahLst/>
              <a:cxnLst/>
              <a:rect l="l" t="t" r="r" b="b"/>
              <a:pathLst>
                <a:path w="1646718" h="2306376" extrusionOk="0">
                  <a:moveTo>
                    <a:pt x="0" y="0"/>
                  </a:moveTo>
                  <a:lnTo>
                    <a:pt x="1646718" y="0"/>
                  </a:lnTo>
                  <a:lnTo>
                    <a:pt x="1646718" y="2306376"/>
                  </a:lnTo>
                  <a:lnTo>
                    <a:pt x="0" y="2306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3" name="Google Shape;93;p11"/>
            <p:cNvSpPr txBox="1"/>
            <p:nvPr/>
          </p:nvSpPr>
          <p:spPr>
            <a:xfrm>
              <a:off x="0" y="-47625"/>
              <a:ext cx="1646718" cy="2354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1"/>
          <p:cNvGrpSpPr/>
          <p:nvPr/>
        </p:nvGrpSpPr>
        <p:grpSpPr>
          <a:xfrm>
            <a:off x="13080465" y="992241"/>
            <a:ext cx="2809881" cy="409797"/>
            <a:chOff x="0" y="-47625"/>
            <a:chExt cx="812800" cy="118539"/>
          </a:xfrm>
        </p:grpSpPr>
        <p:sp>
          <p:nvSpPr>
            <p:cNvPr id="95" name="Google Shape;95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96" name="Google Shape;96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1"/>
          <p:cNvGrpSpPr/>
          <p:nvPr/>
        </p:nvGrpSpPr>
        <p:grpSpPr>
          <a:xfrm rot="5400000">
            <a:off x="10366487" y="4938602"/>
            <a:ext cx="2809881" cy="409797"/>
            <a:chOff x="0" y="-47625"/>
            <a:chExt cx="812800" cy="118539"/>
          </a:xfrm>
        </p:grpSpPr>
        <p:sp>
          <p:nvSpPr>
            <p:cNvPr id="98" name="Google Shape;98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99" name="Google Shape;99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1"/>
          <p:cNvGrpSpPr/>
          <p:nvPr/>
        </p:nvGrpSpPr>
        <p:grpSpPr>
          <a:xfrm rot="5400000">
            <a:off x="15814104" y="4938602"/>
            <a:ext cx="2809881" cy="409797"/>
            <a:chOff x="0" y="-47625"/>
            <a:chExt cx="812800" cy="118539"/>
          </a:xfrm>
        </p:grpSpPr>
        <p:sp>
          <p:nvSpPr>
            <p:cNvPr id="101" name="Google Shape;101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02" name="Google Shape;102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1"/>
          <p:cNvGrpSpPr/>
          <p:nvPr/>
        </p:nvGrpSpPr>
        <p:grpSpPr>
          <a:xfrm>
            <a:off x="13080465" y="8720319"/>
            <a:ext cx="2809881" cy="409797"/>
            <a:chOff x="0" y="-47625"/>
            <a:chExt cx="812800" cy="118539"/>
          </a:xfrm>
        </p:grpSpPr>
        <p:sp>
          <p:nvSpPr>
            <p:cNvPr id="104" name="Google Shape;104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05" name="Google Shape;105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1"/>
          <p:cNvSpPr txBox="1"/>
          <p:nvPr/>
        </p:nvSpPr>
        <p:spPr>
          <a:xfrm>
            <a:off x="735301" y="2013366"/>
            <a:ext cx="1161600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 </a:t>
            </a:r>
            <a:r>
              <a:rPr lang="fr-FR" sz="10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La Blockchain dans la Cybersécurité</a:t>
            </a:r>
            <a:endParaRPr lang="fr-FR" sz="10000" dirty="0"/>
          </a:p>
        </p:txBody>
      </p:sp>
      <p:grpSp>
        <p:nvGrpSpPr>
          <p:cNvPr id="107" name="Google Shape;107;p11"/>
          <p:cNvGrpSpPr/>
          <p:nvPr/>
        </p:nvGrpSpPr>
        <p:grpSpPr>
          <a:xfrm>
            <a:off x="783919" y="7433807"/>
            <a:ext cx="5543582" cy="1989374"/>
            <a:chOff x="0" y="-47625"/>
            <a:chExt cx="1460038" cy="523950"/>
          </a:xfrm>
        </p:grpSpPr>
        <p:sp>
          <p:nvSpPr>
            <p:cNvPr id="108" name="Google Shape;108;p11"/>
            <p:cNvSpPr/>
            <p:nvPr/>
          </p:nvSpPr>
          <p:spPr>
            <a:xfrm>
              <a:off x="0" y="0"/>
              <a:ext cx="1460038" cy="476325"/>
            </a:xfrm>
            <a:custGeom>
              <a:avLst/>
              <a:gdLst/>
              <a:ahLst/>
              <a:cxnLst/>
              <a:rect l="l" t="t" r="r" b="b"/>
              <a:pathLst>
                <a:path w="1460038" h="476325" extrusionOk="0">
                  <a:moveTo>
                    <a:pt x="0" y="0"/>
                  </a:moveTo>
                  <a:lnTo>
                    <a:pt x="1460038" y="0"/>
                  </a:lnTo>
                  <a:lnTo>
                    <a:pt x="1460038" y="476325"/>
                  </a:lnTo>
                  <a:lnTo>
                    <a:pt x="0" y="4763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9" name="Google Shape;109;p11"/>
            <p:cNvSpPr txBox="1"/>
            <p:nvPr/>
          </p:nvSpPr>
          <p:spPr>
            <a:xfrm>
              <a:off x="0" y="-47625"/>
              <a:ext cx="1460038" cy="523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1"/>
          <p:cNvGrpSpPr/>
          <p:nvPr/>
        </p:nvGrpSpPr>
        <p:grpSpPr>
          <a:xfrm>
            <a:off x="906309" y="7556384"/>
            <a:ext cx="5543582" cy="1989374"/>
            <a:chOff x="0" y="-47625"/>
            <a:chExt cx="1460038" cy="523950"/>
          </a:xfrm>
        </p:grpSpPr>
        <p:sp>
          <p:nvSpPr>
            <p:cNvPr id="111" name="Google Shape;111;p11"/>
            <p:cNvSpPr/>
            <p:nvPr/>
          </p:nvSpPr>
          <p:spPr>
            <a:xfrm>
              <a:off x="0" y="0"/>
              <a:ext cx="1460038" cy="476325"/>
            </a:xfrm>
            <a:custGeom>
              <a:avLst/>
              <a:gdLst/>
              <a:ahLst/>
              <a:cxnLst/>
              <a:rect l="l" t="t" r="r" b="b"/>
              <a:pathLst>
                <a:path w="1460038" h="476325" extrusionOk="0">
                  <a:moveTo>
                    <a:pt x="0" y="0"/>
                  </a:moveTo>
                  <a:lnTo>
                    <a:pt x="1460038" y="0"/>
                  </a:lnTo>
                  <a:lnTo>
                    <a:pt x="1460038" y="476325"/>
                  </a:lnTo>
                  <a:lnTo>
                    <a:pt x="0" y="4763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12" name="Google Shape;112;p11"/>
            <p:cNvSpPr txBox="1"/>
            <p:nvPr/>
          </p:nvSpPr>
          <p:spPr>
            <a:xfrm>
              <a:off x="0" y="-47625"/>
              <a:ext cx="1460038" cy="523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1"/>
          <p:cNvSpPr txBox="1"/>
          <p:nvPr/>
        </p:nvSpPr>
        <p:spPr>
          <a:xfrm>
            <a:off x="1630639" y="7271526"/>
            <a:ext cx="5238968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Ramoul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Chouaib Taki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Eddine</a:t>
            </a:r>
            <a:endParaRPr lang="en-US" sz="3500" b="0" i="0" u="none" strike="noStrike" cap="none" dirty="0">
              <a:solidFill>
                <a:srgbClr val="FFFFFF"/>
              </a:solidFill>
              <a:latin typeface="Teko"/>
              <a:ea typeface="Teko"/>
              <a:cs typeface="Teko"/>
              <a:sym typeface="Tek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Selougha</a:t>
            </a:r>
            <a:r>
              <a:rPr lang="en-US" sz="3500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Mohamed </a:t>
            </a:r>
            <a:r>
              <a:rPr lang="en-US" sz="3500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Achraf</a:t>
            </a:r>
            <a:endParaRPr lang="en-US" sz="3500" dirty="0">
              <a:solidFill>
                <a:srgbClr val="FFFFFF"/>
              </a:solidFill>
              <a:latin typeface="Teko"/>
              <a:ea typeface="Teko"/>
              <a:cs typeface="Teko"/>
              <a:sym typeface="Tek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Benamrane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Mohamed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Achraf</a:t>
            </a:r>
            <a:endParaRPr lang="en-US" sz="3500" b="0" i="0" u="none" strike="noStrike" cap="none" dirty="0">
              <a:solidFill>
                <a:srgbClr val="FFFFFF"/>
              </a:solidFill>
              <a:latin typeface="Teko"/>
              <a:ea typeface="Teko"/>
              <a:cs typeface="Teko"/>
              <a:sym typeface="Teko"/>
            </a:endParaRPr>
          </a:p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	 </a:t>
            </a:r>
            <a:endParaRPr lang="en-US" sz="3500" dirty="0"/>
          </a:p>
        </p:txBody>
      </p:sp>
      <p:sp>
        <p:nvSpPr>
          <p:cNvPr id="120" name="Google Shape;120;p11"/>
          <p:cNvSpPr/>
          <p:nvPr/>
        </p:nvSpPr>
        <p:spPr>
          <a:xfrm>
            <a:off x="8814032" y="665925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21" name="Google Shape;12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8923" y="7239925"/>
            <a:ext cx="4632655" cy="24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31400" y="1677550"/>
            <a:ext cx="4527650" cy="6767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800" y="1554450"/>
            <a:ext cx="1131100" cy="523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75974" y="514112"/>
            <a:ext cx="7073814" cy="909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19;p11">
            <a:extLst>
              <a:ext uri="{FF2B5EF4-FFF2-40B4-BE49-F238E27FC236}">
                <a16:creationId xmlns:a16="http://schemas.microsoft.com/office/drawing/2014/main" id="{93D942ED-46A0-4030-A0E1-283BC3C69B40}"/>
              </a:ext>
            </a:extLst>
          </p:cNvPr>
          <p:cNvSpPr txBox="1"/>
          <p:nvPr/>
        </p:nvSpPr>
        <p:spPr>
          <a:xfrm>
            <a:off x="2195010" y="6852179"/>
            <a:ext cx="287738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Présenté</a:t>
            </a:r>
            <a:r>
              <a:rPr lang="en-US" sz="5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par :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	 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1107" y="422276"/>
            <a:ext cx="7209274" cy="9719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2"/>
          <p:cNvGrpSpPr/>
          <p:nvPr/>
        </p:nvGrpSpPr>
        <p:grpSpPr>
          <a:xfrm>
            <a:off x="1028700" y="1079104"/>
            <a:ext cx="9101392" cy="1989374"/>
            <a:chOff x="0" y="-47625"/>
            <a:chExt cx="2397075" cy="523950"/>
          </a:xfrm>
        </p:grpSpPr>
        <p:sp>
          <p:nvSpPr>
            <p:cNvPr id="132" name="Google Shape;132;p12"/>
            <p:cNvSpPr/>
            <p:nvPr/>
          </p:nvSpPr>
          <p:spPr>
            <a:xfrm>
              <a:off x="0" y="0"/>
              <a:ext cx="2397075" cy="476325"/>
            </a:xfrm>
            <a:custGeom>
              <a:avLst/>
              <a:gdLst/>
              <a:ahLst/>
              <a:cxnLst/>
              <a:rect l="l" t="t" r="r" b="b"/>
              <a:pathLst>
                <a:path w="2397075" h="476325" extrusionOk="0">
                  <a:moveTo>
                    <a:pt x="0" y="0"/>
                  </a:moveTo>
                  <a:lnTo>
                    <a:pt x="2397075" y="0"/>
                  </a:lnTo>
                  <a:lnTo>
                    <a:pt x="2397075" y="476325"/>
                  </a:lnTo>
                  <a:lnTo>
                    <a:pt x="0" y="4763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3" name="Google Shape;133;p12"/>
            <p:cNvSpPr txBox="1"/>
            <p:nvPr/>
          </p:nvSpPr>
          <p:spPr>
            <a:xfrm>
              <a:off x="0" y="-47625"/>
              <a:ext cx="2397075" cy="523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2"/>
          <p:cNvGrpSpPr/>
          <p:nvPr/>
        </p:nvGrpSpPr>
        <p:grpSpPr>
          <a:xfrm>
            <a:off x="1060714" y="4012448"/>
            <a:ext cx="1561274" cy="1500754"/>
            <a:chOff x="0" y="-47625"/>
            <a:chExt cx="456005" cy="503630"/>
          </a:xfrm>
        </p:grpSpPr>
        <p:sp>
          <p:nvSpPr>
            <p:cNvPr id="141" name="Google Shape;14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2" name="Google Shape;14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12"/>
          <p:cNvGrpSpPr/>
          <p:nvPr/>
        </p:nvGrpSpPr>
        <p:grpSpPr>
          <a:xfrm>
            <a:off x="1217789" y="4116620"/>
            <a:ext cx="1559837" cy="1529720"/>
            <a:chOff x="0" y="-47625"/>
            <a:chExt cx="456005" cy="503630"/>
          </a:xfrm>
        </p:grpSpPr>
        <p:sp>
          <p:nvSpPr>
            <p:cNvPr id="144" name="Google Shape;144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5" name="Google Shape;145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2"/>
          <p:cNvSpPr txBox="1"/>
          <p:nvPr/>
        </p:nvSpPr>
        <p:spPr>
          <a:xfrm>
            <a:off x="638379" y="5809424"/>
            <a:ext cx="366811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Pourquoi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la </a:t>
            </a:r>
          </a:p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         Blockchain ?</a:t>
            </a:r>
            <a:endParaRPr sz="3500" dirty="0"/>
          </a:p>
        </p:txBody>
      </p:sp>
      <p:sp>
        <p:nvSpPr>
          <p:cNvPr id="159" name="Google Shape;159;p12"/>
          <p:cNvSpPr txBox="1"/>
          <p:nvPr/>
        </p:nvSpPr>
        <p:spPr>
          <a:xfrm>
            <a:off x="1300414" y="3995420"/>
            <a:ext cx="1410687" cy="152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01.</a:t>
            </a:r>
            <a:endParaRPr lang="en-US" dirty="0"/>
          </a:p>
        </p:txBody>
      </p:sp>
      <p:sp>
        <p:nvSpPr>
          <p:cNvPr id="163" name="Google Shape;163;p12"/>
          <p:cNvSpPr txBox="1"/>
          <p:nvPr/>
        </p:nvSpPr>
        <p:spPr>
          <a:xfrm>
            <a:off x="1227647" y="1001301"/>
            <a:ext cx="9157897" cy="221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Table des matières</a:t>
            </a:r>
            <a:endParaRPr lang="en-US" dirty="0"/>
          </a:p>
        </p:txBody>
      </p:sp>
      <p:sp>
        <p:nvSpPr>
          <p:cNvPr id="168" name="Google Shape;168;p12"/>
          <p:cNvSpPr/>
          <p:nvPr/>
        </p:nvSpPr>
        <p:spPr>
          <a:xfrm>
            <a:off x="16053182" y="5676750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50" y="0"/>
                </a:lnTo>
                <a:lnTo>
                  <a:pt x="1469550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69" name="Google Shape;1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53775" y="717988"/>
            <a:ext cx="5255725" cy="271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440" y="3796387"/>
            <a:ext cx="1131100" cy="6442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02425" y="3785802"/>
            <a:ext cx="1131100" cy="59262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140;p12">
            <a:extLst>
              <a:ext uri="{FF2B5EF4-FFF2-40B4-BE49-F238E27FC236}">
                <a16:creationId xmlns:a16="http://schemas.microsoft.com/office/drawing/2014/main" id="{95162576-EE12-4BAF-96E4-E5165483803D}"/>
              </a:ext>
            </a:extLst>
          </p:cNvPr>
          <p:cNvGrpSpPr/>
          <p:nvPr/>
        </p:nvGrpSpPr>
        <p:grpSpPr>
          <a:xfrm>
            <a:off x="4600318" y="4012448"/>
            <a:ext cx="1561274" cy="1500754"/>
            <a:chOff x="0" y="-47625"/>
            <a:chExt cx="456005" cy="503630"/>
          </a:xfrm>
        </p:grpSpPr>
        <p:sp>
          <p:nvSpPr>
            <p:cNvPr id="64" name="Google Shape;141;p12">
              <a:extLst>
                <a:ext uri="{FF2B5EF4-FFF2-40B4-BE49-F238E27FC236}">
                  <a16:creationId xmlns:a16="http://schemas.microsoft.com/office/drawing/2014/main" id="{1DC56F3B-450D-4739-8851-18341AB0E5A0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5" name="Google Shape;142;p12">
              <a:extLst>
                <a:ext uri="{FF2B5EF4-FFF2-40B4-BE49-F238E27FC236}">
                  <a16:creationId xmlns:a16="http://schemas.microsoft.com/office/drawing/2014/main" id="{E969A260-2160-4205-B76D-86CFFF7EED33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143;p12">
            <a:extLst>
              <a:ext uri="{FF2B5EF4-FFF2-40B4-BE49-F238E27FC236}">
                <a16:creationId xmlns:a16="http://schemas.microsoft.com/office/drawing/2014/main" id="{3E992A8A-6446-4736-94EC-639F0EAA5034}"/>
              </a:ext>
            </a:extLst>
          </p:cNvPr>
          <p:cNvGrpSpPr/>
          <p:nvPr/>
        </p:nvGrpSpPr>
        <p:grpSpPr>
          <a:xfrm>
            <a:off x="4753020" y="4116620"/>
            <a:ext cx="1559837" cy="1529720"/>
            <a:chOff x="0" y="-47625"/>
            <a:chExt cx="456005" cy="503630"/>
          </a:xfrm>
        </p:grpSpPr>
        <p:sp>
          <p:nvSpPr>
            <p:cNvPr id="67" name="Google Shape;144;p12">
              <a:extLst>
                <a:ext uri="{FF2B5EF4-FFF2-40B4-BE49-F238E27FC236}">
                  <a16:creationId xmlns:a16="http://schemas.microsoft.com/office/drawing/2014/main" id="{0C454357-46D8-4CDC-A2A0-ED3858A3181E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8" name="Google Shape;145;p12">
              <a:extLst>
                <a:ext uri="{FF2B5EF4-FFF2-40B4-BE49-F238E27FC236}">
                  <a16:creationId xmlns:a16="http://schemas.microsoft.com/office/drawing/2014/main" id="{EF2375B7-5808-4803-AA35-1E050A25C9AE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Google Shape;140;p12">
            <a:extLst>
              <a:ext uri="{FF2B5EF4-FFF2-40B4-BE49-F238E27FC236}">
                <a16:creationId xmlns:a16="http://schemas.microsoft.com/office/drawing/2014/main" id="{C8522F1D-D113-455A-9B2F-F8EFCAC77C3D}"/>
              </a:ext>
            </a:extLst>
          </p:cNvPr>
          <p:cNvGrpSpPr/>
          <p:nvPr/>
        </p:nvGrpSpPr>
        <p:grpSpPr>
          <a:xfrm>
            <a:off x="8492377" y="4012448"/>
            <a:ext cx="1561274" cy="1500754"/>
            <a:chOff x="0" y="-47625"/>
            <a:chExt cx="456005" cy="503630"/>
          </a:xfrm>
        </p:grpSpPr>
        <p:sp>
          <p:nvSpPr>
            <p:cNvPr id="70" name="Google Shape;141;p12">
              <a:extLst>
                <a:ext uri="{FF2B5EF4-FFF2-40B4-BE49-F238E27FC236}">
                  <a16:creationId xmlns:a16="http://schemas.microsoft.com/office/drawing/2014/main" id="{FD16E9DC-A4A6-4473-97C5-3A9769B10FCE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1" name="Google Shape;142;p12">
              <a:extLst>
                <a:ext uri="{FF2B5EF4-FFF2-40B4-BE49-F238E27FC236}">
                  <a16:creationId xmlns:a16="http://schemas.microsoft.com/office/drawing/2014/main" id="{A2E9C4AD-8CBE-4128-9E0E-BD40C4DB292C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143;p12">
            <a:extLst>
              <a:ext uri="{FF2B5EF4-FFF2-40B4-BE49-F238E27FC236}">
                <a16:creationId xmlns:a16="http://schemas.microsoft.com/office/drawing/2014/main" id="{2BA2B577-25FE-49DB-8ECC-04113EA8661B}"/>
              </a:ext>
            </a:extLst>
          </p:cNvPr>
          <p:cNvGrpSpPr/>
          <p:nvPr/>
        </p:nvGrpSpPr>
        <p:grpSpPr>
          <a:xfrm>
            <a:off x="8649452" y="4116620"/>
            <a:ext cx="1559837" cy="1529720"/>
            <a:chOff x="0" y="-47625"/>
            <a:chExt cx="456005" cy="503630"/>
          </a:xfrm>
        </p:grpSpPr>
        <p:sp>
          <p:nvSpPr>
            <p:cNvPr id="73" name="Google Shape;144;p12">
              <a:extLst>
                <a:ext uri="{FF2B5EF4-FFF2-40B4-BE49-F238E27FC236}">
                  <a16:creationId xmlns:a16="http://schemas.microsoft.com/office/drawing/2014/main" id="{2326A372-42B0-4F98-B845-9770DB44BFF2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4" name="Google Shape;145;p12">
              <a:extLst>
                <a:ext uri="{FF2B5EF4-FFF2-40B4-BE49-F238E27FC236}">
                  <a16:creationId xmlns:a16="http://schemas.microsoft.com/office/drawing/2014/main" id="{8DF6F856-742E-4E62-AF88-1BD80244D399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140;p12">
            <a:extLst>
              <a:ext uri="{FF2B5EF4-FFF2-40B4-BE49-F238E27FC236}">
                <a16:creationId xmlns:a16="http://schemas.microsoft.com/office/drawing/2014/main" id="{D29A39B3-432F-43FE-BBB0-C0892470972C}"/>
              </a:ext>
            </a:extLst>
          </p:cNvPr>
          <p:cNvGrpSpPr/>
          <p:nvPr/>
        </p:nvGrpSpPr>
        <p:grpSpPr>
          <a:xfrm>
            <a:off x="12292840" y="4012448"/>
            <a:ext cx="1561274" cy="1500754"/>
            <a:chOff x="0" y="-47625"/>
            <a:chExt cx="456005" cy="503630"/>
          </a:xfrm>
        </p:grpSpPr>
        <p:sp>
          <p:nvSpPr>
            <p:cNvPr id="82" name="Google Shape;141;p12">
              <a:extLst>
                <a:ext uri="{FF2B5EF4-FFF2-40B4-BE49-F238E27FC236}">
                  <a16:creationId xmlns:a16="http://schemas.microsoft.com/office/drawing/2014/main" id="{3A5F983E-EB1B-4C6E-8B69-1A7DDEC68B7A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3" name="Google Shape;142;p12">
              <a:extLst>
                <a:ext uri="{FF2B5EF4-FFF2-40B4-BE49-F238E27FC236}">
                  <a16:creationId xmlns:a16="http://schemas.microsoft.com/office/drawing/2014/main" id="{53169CB2-CEE6-4388-9037-5CE5EF30C89B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143;p12">
            <a:extLst>
              <a:ext uri="{FF2B5EF4-FFF2-40B4-BE49-F238E27FC236}">
                <a16:creationId xmlns:a16="http://schemas.microsoft.com/office/drawing/2014/main" id="{E08CE172-9D62-4252-A92C-53BC40863FBE}"/>
              </a:ext>
            </a:extLst>
          </p:cNvPr>
          <p:cNvGrpSpPr/>
          <p:nvPr/>
        </p:nvGrpSpPr>
        <p:grpSpPr>
          <a:xfrm>
            <a:off x="12449915" y="4116620"/>
            <a:ext cx="1559837" cy="1529720"/>
            <a:chOff x="0" y="-47625"/>
            <a:chExt cx="456005" cy="503630"/>
          </a:xfrm>
        </p:grpSpPr>
        <p:sp>
          <p:nvSpPr>
            <p:cNvPr id="85" name="Google Shape;144;p12">
              <a:extLst>
                <a:ext uri="{FF2B5EF4-FFF2-40B4-BE49-F238E27FC236}">
                  <a16:creationId xmlns:a16="http://schemas.microsoft.com/office/drawing/2014/main" id="{E1B2F6A7-3F2D-4558-9C3D-669777DAC0C9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6" name="Google Shape;145;p12">
              <a:extLst>
                <a:ext uri="{FF2B5EF4-FFF2-40B4-BE49-F238E27FC236}">
                  <a16:creationId xmlns:a16="http://schemas.microsoft.com/office/drawing/2014/main" id="{4B403EFD-1CFD-440A-AAAD-8A9E3873E2AB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140;p12">
            <a:extLst>
              <a:ext uri="{FF2B5EF4-FFF2-40B4-BE49-F238E27FC236}">
                <a16:creationId xmlns:a16="http://schemas.microsoft.com/office/drawing/2014/main" id="{43E3BBEB-6EE5-4117-B269-227E06AE1E76}"/>
              </a:ext>
            </a:extLst>
          </p:cNvPr>
          <p:cNvGrpSpPr/>
          <p:nvPr/>
        </p:nvGrpSpPr>
        <p:grpSpPr>
          <a:xfrm>
            <a:off x="1028700" y="7016343"/>
            <a:ext cx="1561274" cy="1500754"/>
            <a:chOff x="0" y="-47625"/>
            <a:chExt cx="456005" cy="503630"/>
          </a:xfrm>
        </p:grpSpPr>
        <p:sp>
          <p:nvSpPr>
            <p:cNvPr id="88" name="Google Shape;141;p12">
              <a:extLst>
                <a:ext uri="{FF2B5EF4-FFF2-40B4-BE49-F238E27FC236}">
                  <a16:creationId xmlns:a16="http://schemas.microsoft.com/office/drawing/2014/main" id="{72880570-2B89-407F-A60B-DE8502BF49AF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9" name="Google Shape;142;p12">
              <a:extLst>
                <a:ext uri="{FF2B5EF4-FFF2-40B4-BE49-F238E27FC236}">
                  <a16:creationId xmlns:a16="http://schemas.microsoft.com/office/drawing/2014/main" id="{8ED28F39-67D3-43BA-A8D2-B4AD71351762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143;p12">
            <a:extLst>
              <a:ext uri="{FF2B5EF4-FFF2-40B4-BE49-F238E27FC236}">
                <a16:creationId xmlns:a16="http://schemas.microsoft.com/office/drawing/2014/main" id="{4FEAC75C-6668-4855-B24E-4F79C2BA2B12}"/>
              </a:ext>
            </a:extLst>
          </p:cNvPr>
          <p:cNvGrpSpPr/>
          <p:nvPr/>
        </p:nvGrpSpPr>
        <p:grpSpPr>
          <a:xfrm>
            <a:off x="1185775" y="7120515"/>
            <a:ext cx="1559837" cy="1529720"/>
            <a:chOff x="0" y="-47625"/>
            <a:chExt cx="456005" cy="503630"/>
          </a:xfrm>
        </p:grpSpPr>
        <p:sp>
          <p:nvSpPr>
            <p:cNvPr id="91" name="Google Shape;144;p12">
              <a:extLst>
                <a:ext uri="{FF2B5EF4-FFF2-40B4-BE49-F238E27FC236}">
                  <a16:creationId xmlns:a16="http://schemas.microsoft.com/office/drawing/2014/main" id="{B926B8CC-F958-41B0-9357-4641DD473103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2" name="Google Shape;145;p12">
              <a:extLst>
                <a:ext uri="{FF2B5EF4-FFF2-40B4-BE49-F238E27FC236}">
                  <a16:creationId xmlns:a16="http://schemas.microsoft.com/office/drawing/2014/main" id="{18A05F1A-C639-4BAE-8B50-0C4A851E831B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143;p12">
            <a:extLst>
              <a:ext uri="{FF2B5EF4-FFF2-40B4-BE49-F238E27FC236}">
                <a16:creationId xmlns:a16="http://schemas.microsoft.com/office/drawing/2014/main" id="{08AB0092-FEF5-407A-94C5-43B5E88FE004}"/>
              </a:ext>
            </a:extLst>
          </p:cNvPr>
          <p:cNvGrpSpPr/>
          <p:nvPr/>
        </p:nvGrpSpPr>
        <p:grpSpPr>
          <a:xfrm>
            <a:off x="4757393" y="7120515"/>
            <a:ext cx="1559837" cy="1529720"/>
            <a:chOff x="0" y="-47625"/>
            <a:chExt cx="456005" cy="503630"/>
          </a:xfrm>
        </p:grpSpPr>
        <p:sp>
          <p:nvSpPr>
            <p:cNvPr id="97" name="Google Shape;144;p12">
              <a:extLst>
                <a:ext uri="{FF2B5EF4-FFF2-40B4-BE49-F238E27FC236}">
                  <a16:creationId xmlns:a16="http://schemas.microsoft.com/office/drawing/2014/main" id="{68EBD0FD-BEA5-4E87-946A-6B6084E994ED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8" name="Google Shape;145;p12">
              <a:extLst>
                <a:ext uri="{FF2B5EF4-FFF2-40B4-BE49-F238E27FC236}">
                  <a16:creationId xmlns:a16="http://schemas.microsoft.com/office/drawing/2014/main" id="{27575B60-0A62-4A27-B8B0-021352931D1E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140;p12">
            <a:extLst>
              <a:ext uri="{FF2B5EF4-FFF2-40B4-BE49-F238E27FC236}">
                <a16:creationId xmlns:a16="http://schemas.microsoft.com/office/drawing/2014/main" id="{AED7E114-1C80-4C5C-8942-7044008787B9}"/>
              </a:ext>
            </a:extLst>
          </p:cNvPr>
          <p:cNvGrpSpPr/>
          <p:nvPr/>
        </p:nvGrpSpPr>
        <p:grpSpPr>
          <a:xfrm>
            <a:off x="8568818" y="7002521"/>
            <a:ext cx="1561274" cy="1500754"/>
            <a:chOff x="0" y="-47625"/>
            <a:chExt cx="456005" cy="503630"/>
          </a:xfrm>
        </p:grpSpPr>
        <p:sp>
          <p:nvSpPr>
            <p:cNvPr id="100" name="Google Shape;141;p12">
              <a:extLst>
                <a:ext uri="{FF2B5EF4-FFF2-40B4-BE49-F238E27FC236}">
                  <a16:creationId xmlns:a16="http://schemas.microsoft.com/office/drawing/2014/main" id="{6EA383AB-4CE1-405E-9EAF-F1D6E5E03D84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42;p12">
              <a:extLst>
                <a:ext uri="{FF2B5EF4-FFF2-40B4-BE49-F238E27FC236}">
                  <a16:creationId xmlns:a16="http://schemas.microsoft.com/office/drawing/2014/main" id="{99D44652-610D-4F5E-BFBB-7AB627B0D930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43;p12">
            <a:extLst>
              <a:ext uri="{FF2B5EF4-FFF2-40B4-BE49-F238E27FC236}">
                <a16:creationId xmlns:a16="http://schemas.microsoft.com/office/drawing/2014/main" id="{26CF7501-B85C-4196-939D-D834761A39A5}"/>
              </a:ext>
            </a:extLst>
          </p:cNvPr>
          <p:cNvGrpSpPr/>
          <p:nvPr/>
        </p:nvGrpSpPr>
        <p:grpSpPr>
          <a:xfrm>
            <a:off x="8725893" y="7106693"/>
            <a:ext cx="1559837" cy="1529720"/>
            <a:chOff x="0" y="-47625"/>
            <a:chExt cx="456005" cy="503630"/>
          </a:xfrm>
        </p:grpSpPr>
        <p:sp>
          <p:nvSpPr>
            <p:cNvPr id="103" name="Google Shape;144;p12">
              <a:extLst>
                <a:ext uri="{FF2B5EF4-FFF2-40B4-BE49-F238E27FC236}">
                  <a16:creationId xmlns:a16="http://schemas.microsoft.com/office/drawing/2014/main" id="{0F126D5A-C008-43F2-BF19-B79774DD6723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4" name="Google Shape;145;p12">
              <a:extLst>
                <a:ext uri="{FF2B5EF4-FFF2-40B4-BE49-F238E27FC236}">
                  <a16:creationId xmlns:a16="http://schemas.microsoft.com/office/drawing/2014/main" id="{32EB0B17-EC24-42E0-8379-F19D00C7865B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59;p12">
            <a:extLst>
              <a:ext uri="{FF2B5EF4-FFF2-40B4-BE49-F238E27FC236}">
                <a16:creationId xmlns:a16="http://schemas.microsoft.com/office/drawing/2014/main" id="{E11DCC49-4BDE-41F8-9AD6-5AABD7E546E4}"/>
              </a:ext>
            </a:extLst>
          </p:cNvPr>
          <p:cNvSpPr txBox="1"/>
          <p:nvPr/>
        </p:nvSpPr>
        <p:spPr>
          <a:xfrm>
            <a:off x="4801508" y="4026855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02.</a:t>
            </a:r>
            <a:endParaRPr lang="en-US" dirty="0"/>
          </a:p>
        </p:txBody>
      </p:sp>
      <p:sp>
        <p:nvSpPr>
          <p:cNvPr id="118" name="Google Shape;159;p12">
            <a:extLst>
              <a:ext uri="{FF2B5EF4-FFF2-40B4-BE49-F238E27FC236}">
                <a16:creationId xmlns:a16="http://schemas.microsoft.com/office/drawing/2014/main" id="{58CF79F5-B69F-40E3-AA47-3CE48E740983}"/>
              </a:ext>
            </a:extLst>
          </p:cNvPr>
          <p:cNvSpPr txBox="1"/>
          <p:nvPr/>
        </p:nvSpPr>
        <p:spPr>
          <a:xfrm>
            <a:off x="8698620" y="3977085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03.</a:t>
            </a:r>
          </a:p>
        </p:txBody>
      </p:sp>
      <p:sp>
        <p:nvSpPr>
          <p:cNvPr id="119" name="Google Shape;159;p12">
            <a:extLst>
              <a:ext uri="{FF2B5EF4-FFF2-40B4-BE49-F238E27FC236}">
                <a16:creationId xmlns:a16="http://schemas.microsoft.com/office/drawing/2014/main" id="{B3884733-1F4B-43B9-8DA6-C12F04AD60FD}"/>
              </a:ext>
            </a:extLst>
          </p:cNvPr>
          <p:cNvSpPr txBox="1"/>
          <p:nvPr/>
        </p:nvSpPr>
        <p:spPr>
          <a:xfrm>
            <a:off x="12376417" y="4026854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04.</a:t>
            </a:r>
            <a:endParaRPr lang="en-US" dirty="0"/>
          </a:p>
        </p:txBody>
      </p:sp>
      <p:sp>
        <p:nvSpPr>
          <p:cNvPr id="120" name="Google Shape;159;p12">
            <a:extLst>
              <a:ext uri="{FF2B5EF4-FFF2-40B4-BE49-F238E27FC236}">
                <a16:creationId xmlns:a16="http://schemas.microsoft.com/office/drawing/2014/main" id="{7F702462-32F9-40E4-A152-FF4457261286}"/>
              </a:ext>
            </a:extLst>
          </p:cNvPr>
          <p:cNvSpPr txBox="1"/>
          <p:nvPr/>
        </p:nvSpPr>
        <p:spPr>
          <a:xfrm>
            <a:off x="1185775" y="7002521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05.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60AA73-3C28-474A-9447-71108F630857}"/>
              </a:ext>
            </a:extLst>
          </p:cNvPr>
          <p:cNvGrpSpPr/>
          <p:nvPr/>
        </p:nvGrpSpPr>
        <p:grpSpPr>
          <a:xfrm>
            <a:off x="4600318" y="7002520"/>
            <a:ext cx="1611876" cy="1853905"/>
            <a:chOff x="4600318" y="7002520"/>
            <a:chExt cx="1611876" cy="1853905"/>
          </a:xfrm>
        </p:grpSpPr>
        <p:grpSp>
          <p:nvGrpSpPr>
            <p:cNvPr id="93" name="Google Shape;140;p12">
              <a:extLst>
                <a:ext uri="{FF2B5EF4-FFF2-40B4-BE49-F238E27FC236}">
                  <a16:creationId xmlns:a16="http://schemas.microsoft.com/office/drawing/2014/main" id="{60534C95-EC25-4B0D-9AB7-4FA3722BFCB2}"/>
                </a:ext>
              </a:extLst>
            </p:cNvPr>
            <p:cNvGrpSpPr/>
            <p:nvPr/>
          </p:nvGrpSpPr>
          <p:grpSpPr>
            <a:xfrm>
              <a:off x="4600318" y="7016343"/>
              <a:ext cx="1561274" cy="1500754"/>
              <a:chOff x="0" y="-47625"/>
              <a:chExt cx="456005" cy="503630"/>
            </a:xfrm>
          </p:grpSpPr>
          <p:sp>
            <p:nvSpPr>
              <p:cNvPr id="94" name="Google Shape;141;p12">
                <a:extLst>
                  <a:ext uri="{FF2B5EF4-FFF2-40B4-BE49-F238E27FC236}">
                    <a16:creationId xmlns:a16="http://schemas.microsoft.com/office/drawing/2014/main" id="{AD75445D-2177-4C71-9871-852FC517BC92}"/>
                  </a:ext>
                </a:extLst>
              </p:cNvPr>
              <p:cNvSpPr/>
              <p:nvPr/>
            </p:nvSpPr>
            <p:spPr>
              <a:xfrm>
                <a:off x="0" y="0"/>
                <a:ext cx="456005" cy="456005"/>
              </a:xfrm>
              <a:custGeom>
                <a:avLst/>
                <a:gdLst/>
                <a:ahLst/>
                <a:cxnLst/>
                <a:rect l="l" t="t" r="r" b="b"/>
                <a:pathLst>
                  <a:path w="456005" h="456005" extrusionOk="0">
                    <a:moveTo>
                      <a:pt x="0" y="0"/>
                    </a:moveTo>
                    <a:lnTo>
                      <a:pt x="456005" y="0"/>
                    </a:lnTo>
                    <a:lnTo>
                      <a:pt x="456005" y="456005"/>
                    </a:lnTo>
                    <a:lnTo>
                      <a:pt x="0" y="45600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5CE1E6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95" name="Google Shape;142;p12">
                <a:extLst>
                  <a:ext uri="{FF2B5EF4-FFF2-40B4-BE49-F238E27FC236}">
                    <a16:creationId xmlns:a16="http://schemas.microsoft.com/office/drawing/2014/main" id="{0CAC7D38-9641-4CE9-A492-D00677E9CF1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56005" cy="503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" name="Google Shape;159;p12">
              <a:extLst>
                <a:ext uri="{FF2B5EF4-FFF2-40B4-BE49-F238E27FC236}">
                  <a16:creationId xmlns:a16="http://schemas.microsoft.com/office/drawing/2014/main" id="{5B3D1271-D061-4E98-ACD2-D7F15ABCD134}"/>
                </a:ext>
              </a:extLst>
            </p:cNvPr>
            <p:cNvSpPr txBox="1"/>
            <p:nvPr/>
          </p:nvSpPr>
          <p:spPr>
            <a:xfrm>
              <a:off x="4801507" y="7002520"/>
              <a:ext cx="1410687" cy="185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39" b="0" i="0" u="none" strike="noStrike" cap="none" dirty="0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06.</a:t>
              </a:r>
              <a:endParaRPr lang="en-US" dirty="0"/>
            </a:p>
          </p:txBody>
        </p:sp>
      </p:grpSp>
      <p:sp>
        <p:nvSpPr>
          <p:cNvPr id="122" name="Google Shape;159;p12">
            <a:extLst>
              <a:ext uri="{FF2B5EF4-FFF2-40B4-BE49-F238E27FC236}">
                <a16:creationId xmlns:a16="http://schemas.microsoft.com/office/drawing/2014/main" id="{9E735E3E-EE1E-4387-9C6F-3215FF150710}"/>
              </a:ext>
            </a:extLst>
          </p:cNvPr>
          <p:cNvSpPr txBox="1"/>
          <p:nvPr/>
        </p:nvSpPr>
        <p:spPr>
          <a:xfrm>
            <a:off x="8739151" y="6944600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07.</a:t>
            </a:r>
            <a:endParaRPr lang="en-US" dirty="0"/>
          </a:p>
        </p:txBody>
      </p:sp>
      <p:sp>
        <p:nvSpPr>
          <p:cNvPr id="124" name="Google Shape;156;p12">
            <a:extLst>
              <a:ext uri="{FF2B5EF4-FFF2-40B4-BE49-F238E27FC236}">
                <a16:creationId xmlns:a16="http://schemas.microsoft.com/office/drawing/2014/main" id="{9D2E8F5B-A52E-4548-B3A5-CD4A046BF50D}"/>
              </a:ext>
            </a:extLst>
          </p:cNvPr>
          <p:cNvSpPr txBox="1"/>
          <p:nvPr/>
        </p:nvSpPr>
        <p:spPr>
          <a:xfrm>
            <a:off x="4000206" y="5726121"/>
            <a:ext cx="392138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Introduction à la</a:t>
            </a:r>
          </a:p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                Blockchain</a:t>
            </a:r>
            <a:endParaRPr lang="en-US" sz="3500" dirty="0"/>
          </a:p>
        </p:txBody>
      </p:sp>
      <p:sp>
        <p:nvSpPr>
          <p:cNvPr id="125" name="Google Shape;156;p12">
            <a:extLst>
              <a:ext uri="{FF2B5EF4-FFF2-40B4-BE49-F238E27FC236}">
                <a16:creationId xmlns:a16="http://schemas.microsoft.com/office/drawing/2014/main" id="{090E267F-13B7-4416-A76E-B77C84710978}"/>
              </a:ext>
            </a:extLst>
          </p:cNvPr>
          <p:cNvSpPr txBox="1"/>
          <p:nvPr/>
        </p:nvSpPr>
        <p:spPr>
          <a:xfrm>
            <a:off x="7945391" y="5760576"/>
            <a:ext cx="324445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Comment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fonctionne</a:t>
            </a:r>
            <a:r>
              <a:rPr lang="en-US" sz="3500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la    </a:t>
            </a:r>
          </a:p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	         Blockchain</a:t>
            </a:r>
            <a:endParaRPr lang="en-US" sz="3500" dirty="0"/>
          </a:p>
        </p:txBody>
      </p:sp>
      <p:sp>
        <p:nvSpPr>
          <p:cNvPr id="126" name="Google Shape;156;p12">
            <a:extLst>
              <a:ext uri="{FF2B5EF4-FFF2-40B4-BE49-F238E27FC236}">
                <a16:creationId xmlns:a16="http://schemas.microsoft.com/office/drawing/2014/main" id="{E28F5728-3B14-4922-9303-07E551EA4018}"/>
              </a:ext>
            </a:extLst>
          </p:cNvPr>
          <p:cNvSpPr txBox="1"/>
          <p:nvPr/>
        </p:nvSpPr>
        <p:spPr>
          <a:xfrm>
            <a:off x="11809873" y="5787729"/>
            <a:ext cx="345703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Caractéristiques clés de la 		Blockchain</a:t>
            </a:r>
            <a:endParaRPr lang="en-US" sz="3500" dirty="0"/>
          </a:p>
        </p:txBody>
      </p:sp>
      <p:sp>
        <p:nvSpPr>
          <p:cNvPr id="127" name="Google Shape;156;p12">
            <a:extLst>
              <a:ext uri="{FF2B5EF4-FFF2-40B4-BE49-F238E27FC236}">
                <a16:creationId xmlns:a16="http://schemas.microsoft.com/office/drawing/2014/main" id="{940A7388-8896-4596-988C-E0B0E3B6D038}"/>
              </a:ext>
            </a:extLst>
          </p:cNvPr>
          <p:cNvSpPr txBox="1"/>
          <p:nvPr/>
        </p:nvSpPr>
        <p:spPr>
          <a:xfrm>
            <a:off x="651421" y="8650178"/>
            <a:ext cx="366811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Blockchain et </a:t>
            </a:r>
          </a:p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	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cybersécurité</a:t>
            </a:r>
            <a:endParaRPr lang="en-US" sz="3500" dirty="0"/>
          </a:p>
        </p:txBody>
      </p:sp>
      <p:sp>
        <p:nvSpPr>
          <p:cNvPr id="128" name="Google Shape;156;p12">
            <a:extLst>
              <a:ext uri="{FF2B5EF4-FFF2-40B4-BE49-F238E27FC236}">
                <a16:creationId xmlns:a16="http://schemas.microsoft.com/office/drawing/2014/main" id="{D14F3168-C89B-4715-BD71-21FBF8FF7387}"/>
              </a:ext>
            </a:extLst>
          </p:cNvPr>
          <p:cNvSpPr txBox="1"/>
          <p:nvPr/>
        </p:nvSpPr>
        <p:spPr>
          <a:xfrm>
            <a:off x="4126841" y="8684035"/>
            <a:ext cx="366811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Exemples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concrets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		  	      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d’utilisation</a:t>
            </a:r>
            <a:endParaRPr lang="en-US" sz="3500" dirty="0"/>
          </a:p>
        </p:txBody>
      </p:sp>
      <p:sp>
        <p:nvSpPr>
          <p:cNvPr id="172" name="Google Shape;156;p12">
            <a:extLst>
              <a:ext uri="{FF2B5EF4-FFF2-40B4-BE49-F238E27FC236}">
                <a16:creationId xmlns:a16="http://schemas.microsoft.com/office/drawing/2014/main" id="{4DC50EAC-C4B9-44B9-868C-E6817BAD026B}"/>
              </a:ext>
            </a:extLst>
          </p:cNvPr>
          <p:cNvSpPr txBox="1"/>
          <p:nvPr/>
        </p:nvSpPr>
        <p:spPr>
          <a:xfrm>
            <a:off x="8591060" y="8836250"/>
            <a:ext cx="366811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Limites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et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défis</a:t>
            </a:r>
            <a:endParaRPr lang="en-US" sz="3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/>
          <p:nvPr/>
        </p:nvSpPr>
        <p:spPr>
          <a:xfrm>
            <a:off x="3483417" y="586552"/>
            <a:ext cx="114681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Pourquoi</a:t>
            </a:r>
            <a:r>
              <a:rPr lang="en-US" sz="10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la Blockchain ?</a:t>
            </a:r>
            <a:endParaRPr lang="en-US" sz="10000" dirty="0"/>
          </a:p>
        </p:txBody>
      </p:sp>
      <p:sp>
        <p:nvSpPr>
          <p:cNvPr id="383" name="Google Shape;383;p18"/>
          <p:cNvSpPr/>
          <p:nvPr/>
        </p:nvSpPr>
        <p:spPr>
          <a:xfrm>
            <a:off x="15195349" y="8178694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84" name="Google Shape;3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76375" y="1976375"/>
            <a:ext cx="4684310" cy="2422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0C73A7A-5F69-49A7-A5D3-2452E6C0983E}"/>
              </a:ext>
            </a:extLst>
          </p:cNvPr>
          <p:cNvGrpSpPr/>
          <p:nvPr/>
        </p:nvGrpSpPr>
        <p:grpSpPr>
          <a:xfrm>
            <a:off x="967515" y="3319444"/>
            <a:ext cx="5935909" cy="1905453"/>
            <a:chOff x="2009468" y="3767291"/>
            <a:chExt cx="5935909" cy="1905453"/>
          </a:xfrm>
        </p:grpSpPr>
        <p:pic>
          <p:nvPicPr>
            <p:cNvPr id="387" name="Google Shape;387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12568" y="4172276"/>
              <a:ext cx="792814" cy="11039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97CE458-AE2D-4DCE-9304-AA92AF81DF16}"/>
                </a:ext>
              </a:extLst>
            </p:cNvPr>
            <p:cNvGrpSpPr/>
            <p:nvPr/>
          </p:nvGrpSpPr>
          <p:grpSpPr>
            <a:xfrm>
              <a:off x="2009468" y="3767291"/>
              <a:ext cx="5935909" cy="1905453"/>
              <a:chOff x="2009468" y="3767291"/>
              <a:chExt cx="5935909" cy="1905453"/>
            </a:xfrm>
          </p:grpSpPr>
          <p:grpSp>
            <p:nvGrpSpPr>
              <p:cNvPr id="79" name="Google Shape;344;p18">
                <a:extLst>
                  <a:ext uri="{FF2B5EF4-FFF2-40B4-BE49-F238E27FC236}">
                    <a16:creationId xmlns:a16="http://schemas.microsoft.com/office/drawing/2014/main" id="{4FBDC3C6-C276-4F67-9737-15C0814183E7}"/>
                  </a:ext>
                </a:extLst>
              </p:cNvPr>
              <p:cNvGrpSpPr/>
              <p:nvPr/>
            </p:nvGrpSpPr>
            <p:grpSpPr>
              <a:xfrm>
                <a:off x="2009468" y="3767291"/>
                <a:ext cx="1603565" cy="1617397"/>
                <a:chOff x="0" y="-47625"/>
                <a:chExt cx="456005" cy="503630"/>
              </a:xfrm>
            </p:grpSpPr>
            <p:sp>
              <p:nvSpPr>
                <p:cNvPr id="80" name="Google Shape;345;p18">
                  <a:extLst>
                    <a:ext uri="{FF2B5EF4-FFF2-40B4-BE49-F238E27FC236}">
                      <a16:creationId xmlns:a16="http://schemas.microsoft.com/office/drawing/2014/main" id="{28796738-8837-4E98-9100-BB8ADBA6D70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06D59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81" name="Google Shape;346;p18">
                  <a:extLst>
                    <a:ext uri="{FF2B5EF4-FFF2-40B4-BE49-F238E27FC236}">
                      <a16:creationId xmlns:a16="http://schemas.microsoft.com/office/drawing/2014/main" id="{0E48AE91-D8DE-469F-BCDA-5D12F9178DBA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E2BA224-2088-49E1-8E81-F3B4108976C6}"/>
                  </a:ext>
                </a:extLst>
              </p:cNvPr>
              <p:cNvGrpSpPr/>
              <p:nvPr/>
            </p:nvGrpSpPr>
            <p:grpSpPr>
              <a:xfrm>
                <a:off x="2154884" y="3889565"/>
                <a:ext cx="5790493" cy="1783179"/>
                <a:chOff x="1061934" y="3222838"/>
                <a:chExt cx="5790493" cy="1783179"/>
              </a:xfrm>
            </p:grpSpPr>
            <p:sp>
              <p:nvSpPr>
                <p:cNvPr id="373" name="Google Shape;373;p18"/>
                <p:cNvSpPr txBox="1"/>
                <p:nvPr/>
              </p:nvSpPr>
              <p:spPr>
                <a:xfrm>
                  <a:off x="2981675" y="3390190"/>
                  <a:ext cx="3870752" cy="1615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fr-FR" sz="2500" b="0" i="0" u="none" strike="noStrike" cap="none" dirty="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❌ Manque de transparence dans les systèmes traditionnels</a:t>
                  </a:r>
                  <a:endParaRPr lang="en-US" sz="2500" dirty="0"/>
                </a:p>
              </p:txBody>
            </p:sp>
            <p:grpSp>
              <p:nvGrpSpPr>
                <p:cNvPr id="82" name="Google Shape;356;p18">
                  <a:extLst>
                    <a:ext uri="{FF2B5EF4-FFF2-40B4-BE49-F238E27FC236}">
                      <a16:creationId xmlns:a16="http://schemas.microsoft.com/office/drawing/2014/main" id="{CEA8CA76-6ECA-436E-B009-835E68122BF8}"/>
                    </a:ext>
                  </a:extLst>
                </p:cNvPr>
                <p:cNvGrpSpPr/>
                <p:nvPr/>
              </p:nvGrpSpPr>
              <p:grpSpPr>
                <a:xfrm>
                  <a:off x="1061934" y="3222838"/>
                  <a:ext cx="1612972" cy="1642287"/>
                  <a:chOff x="0" y="-47625"/>
                  <a:chExt cx="456005" cy="503630"/>
                </a:xfrm>
              </p:grpSpPr>
              <p:sp>
                <p:nvSpPr>
                  <p:cNvPr id="83" name="Google Shape;357;p18">
                    <a:extLst>
                      <a:ext uri="{FF2B5EF4-FFF2-40B4-BE49-F238E27FC236}">
                        <a16:creationId xmlns:a16="http://schemas.microsoft.com/office/drawing/2014/main" id="{15B1BE7B-E1C3-400A-8A09-3B9FED42897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84" name="Google Shape;358;p18">
                    <a:extLst>
                      <a:ext uri="{FF2B5EF4-FFF2-40B4-BE49-F238E27FC236}">
                        <a16:creationId xmlns:a16="http://schemas.microsoft.com/office/drawing/2014/main" id="{E5EB3C79-B418-4C8D-8CE0-CDA5F82110F2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10" name="Google Shape;368;p18">
            <a:extLst>
              <a:ext uri="{FF2B5EF4-FFF2-40B4-BE49-F238E27FC236}">
                <a16:creationId xmlns:a16="http://schemas.microsoft.com/office/drawing/2014/main" id="{E0976B14-4993-43A7-8AA1-0FF24D42826C}"/>
              </a:ext>
            </a:extLst>
          </p:cNvPr>
          <p:cNvSpPr txBox="1"/>
          <p:nvPr/>
        </p:nvSpPr>
        <p:spPr>
          <a:xfrm>
            <a:off x="2981675" y="2247061"/>
            <a:ext cx="11468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🌍 Problèmes du monde numérique actuel :</a:t>
            </a:r>
            <a:endParaRPr lang="en-US" sz="4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34786D-56DB-4F60-B7B2-7E74C51A2A20}"/>
              </a:ext>
            </a:extLst>
          </p:cNvPr>
          <p:cNvGrpSpPr/>
          <p:nvPr/>
        </p:nvGrpSpPr>
        <p:grpSpPr>
          <a:xfrm>
            <a:off x="925925" y="6344217"/>
            <a:ext cx="6071815" cy="2693045"/>
            <a:chOff x="925925" y="6344217"/>
            <a:chExt cx="6071815" cy="269304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B56AFD-D192-480B-B8E0-62DC96685F55}"/>
                </a:ext>
              </a:extLst>
            </p:cNvPr>
            <p:cNvGrpSpPr/>
            <p:nvPr/>
          </p:nvGrpSpPr>
          <p:grpSpPr>
            <a:xfrm>
              <a:off x="925925" y="6367592"/>
              <a:ext cx="1748981" cy="1748666"/>
              <a:chOff x="925925" y="6367592"/>
              <a:chExt cx="1748981" cy="1748666"/>
            </a:xfrm>
          </p:grpSpPr>
          <p:pic>
            <p:nvPicPr>
              <p:cNvPr id="385" name="Google Shape;385;p1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262350" y="6759146"/>
                <a:ext cx="1134650" cy="1071936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9A04977-B375-4551-89D1-881C69AFBA5C}"/>
                  </a:ext>
                </a:extLst>
              </p:cNvPr>
              <p:cNvGrpSpPr/>
              <p:nvPr/>
            </p:nvGrpSpPr>
            <p:grpSpPr>
              <a:xfrm>
                <a:off x="925925" y="6367592"/>
                <a:ext cx="1748981" cy="1748666"/>
                <a:chOff x="1094601" y="6342511"/>
                <a:chExt cx="1748981" cy="1748666"/>
              </a:xfrm>
            </p:grpSpPr>
            <p:grpSp>
              <p:nvGrpSpPr>
                <p:cNvPr id="91" name="Google Shape;344;p18">
                  <a:extLst>
                    <a:ext uri="{FF2B5EF4-FFF2-40B4-BE49-F238E27FC236}">
                      <a16:creationId xmlns:a16="http://schemas.microsoft.com/office/drawing/2014/main" id="{1F3FF879-FD68-4C03-8AE4-C1F6D43D3222}"/>
                    </a:ext>
                  </a:extLst>
                </p:cNvPr>
                <p:cNvGrpSpPr/>
                <p:nvPr/>
              </p:nvGrpSpPr>
              <p:grpSpPr>
                <a:xfrm>
                  <a:off x="1094601" y="6342511"/>
                  <a:ext cx="1603565" cy="1617397"/>
                  <a:chOff x="0" y="-47625"/>
                  <a:chExt cx="456005" cy="503630"/>
                </a:xfrm>
              </p:grpSpPr>
              <p:sp>
                <p:nvSpPr>
                  <p:cNvPr id="92" name="Google Shape;345;p18">
                    <a:extLst>
                      <a:ext uri="{FF2B5EF4-FFF2-40B4-BE49-F238E27FC236}">
                        <a16:creationId xmlns:a16="http://schemas.microsoft.com/office/drawing/2014/main" id="{790063BC-B001-49A0-B613-5FC0BCAA143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3" name="Google Shape;346;p18">
                    <a:extLst>
                      <a:ext uri="{FF2B5EF4-FFF2-40B4-BE49-F238E27FC236}">
                        <a16:creationId xmlns:a16="http://schemas.microsoft.com/office/drawing/2014/main" id="{18B3C2D3-C793-4606-856F-E8540BB4509B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" name="Google Shape;356;p18">
                  <a:extLst>
                    <a:ext uri="{FF2B5EF4-FFF2-40B4-BE49-F238E27FC236}">
                      <a16:creationId xmlns:a16="http://schemas.microsoft.com/office/drawing/2014/main" id="{F1A00F98-6609-4A10-AFEA-1486F1B91795}"/>
                    </a:ext>
                  </a:extLst>
                </p:cNvPr>
                <p:cNvGrpSpPr/>
                <p:nvPr/>
              </p:nvGrpSpPr>
              <p:grpSpPr>
                <a:xfrm>
                  <a:off x="1230610" y="6448890"/>
                  <a:ext cx="1612972" cy="1642287"/>
                  <a:chOff x="0" y="-47625"/>
                  <a:chExt cx="456005" cy="503630"/>
                </a:xfrm>
              </p:grpSpPr>
              <p:sp>
                <p:nvSpPr>
                  <p:cNvPr id="95" name="Google Shape;357;p18">
                    <a:extLst>
                      <a:ext uri="{FF2B5EF4-FFF2-40B4-BE49-F238E27FC236}">
                        <a16:creationId xmlns:a16="http://schemas.microsoft.com/office/drawing/2014/main" id="{80C46514-63A6-4B00-AD4B-720D804578E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6" name="Google Shape;358;p18">
                    <a:extLst>
                      <a:ext uri="{FF2B5EF4-FFF2-40B4-BE49-F238E27FC236}">
                        <a16:creationId xmlns:a16="http://schemas.microsoft.com/office/drawing/2014/main" id="{F2792A3A-4CDD-4B2E-B4A9-1B53441946A0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2" name="Google Shape;373;p18">
              <a:extLst>
                <a:ext uri="{FF2B5EF4-FFF2-40B4-BE49-F238E27FC236}">
                  <a16:creationId xmlns:a16="http://schemas.microsoft.com/office/drawing/2014/main" id="{AE7365EF-21A1-4773-B1DA-C8803D5E213A}"/>
                </a:ext>
              </a:extLst>
            </p:cNvPr>
            <p:cNvSpPr txBox="1"/>
            <p:nvPr/>
          </p:nvSpPr>
          <p:spPr>
            <a:xfrm>
              <a:off x="3126988" y="6344217"/>
              <a:ext cx="3870752" cy="269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🕰️ Lenteur des procédures, surtout dans les secteurs comme la construction ou l'administration</a:t>
              </a:r>
              <a:endParaRPr lang="en-US" sz="2500" dirty="0"/>
            </a:p>
          </p:txBody>
        </p:sp>
      </p:grpSp>
      <p:pic>
        <p:nvPicPr>
          <p:cNvPr id="343" name="Google Shape;34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921873" y="603696"/>
            <a:ext cx="23501435" cy="10706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F02D15B-78CD-4286-B8C8-96A029326B14}"/>
              </a:ext>
            </a:extLst>
          </p:cNvPr>
          <p:cNvGrpSpPr/>
          <p:nvPr/>
        </p:nvGrpSpPr>
        <p:grpSpPr>
          <a:xfrm>
            <a:off x="7413683" y="3380106"/>
            <a:ext cx="5913959" cy="1760079"/>
            <a:chOff x="7369345" y="3524967"/>
            <a:chExt cx="5913959" cy="176007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05AC0FD-ACB1-486E-9D68-E41BA2C5AFF7}"/>
                </a:ext>
              </a:extLst>
            </p:cNvPr>
            <p:cNvGrpSpPr/>
            <p:nvPr/>
          </p:nvGrpSpPr>
          <p:grpSpPr>
            <a:xfrm>
              <a:off x="7369345" y="3524967"/>
              <a:ext cx="1748981" cy="1748666"/>
              <a:chOff x="7533265" y="3162493"/>
              <a:chExt cx="1748981" cy="1748666"/>
            </a:xfrm>
          </p:grpSpPr>
          <p:pic>
            <p:nvPicPr>
              <p:cNvPr id="388" name="Google Shape;388;p18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994910" y="3568538"/>
                <a:ext cx="961700" cy="97204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C6AABDC-3F7C-4C6F-856B-EF7FFE33D966}"/>
                  </a:ext>
                </a:extLst>
              </p:cNvPr>
              <p:cNvGrpSpPr/>
              <p:nvPr/>
            </p:nvGrpSpPr>
            <p:grpSpPr>
              <a:xfrm>
                <a:off x="7533265" y="3162493"/>
                <a:ext cx="1748981" cy="1748666"/>
                <a:chOff x="7395615" y="3192932"/>
                <a:chExt cx="1748981" cy="1748666"/>
              </a:xfrm>
            </p:grpSpPr>
            <p:grpSp>
              <p:nvGrpSpPr>
                <p:cNvPr id="85" name="Google Shape;344;p18">
                  <a:extLst>
                    <a:ext uri="{FF2B5EF4-FFF2-40B4-BE49-F238E27FC236}">
                      <a16:creationId xmlns:a16="http://schemas.microsoft.com/office/drawing/2014/main" id="{64941F8F-2B00-4E15-9C70-D26EC9D44D9D}"/>
                    </a:ext>
                  </a:extLst>
                </p:cNvPr>
                <p:cNvGrpSpPr/>
                <p:nvPr/>
              </p:nvGrpSpPr>
              <p:grpSpPr>
                <a:xfrm>
                  <a:off x="7395615" y="3192932"/>
                  <a:ext cx="1603565" cy="1617397"/>
                  <a:chOff x="0" y="-47625"/>
                  <a:chExt cx="456005" cy="503630"/>
                </a:xfrm>
              </p:grpSpPr>
              <p:sp>
                <p:nvSpPr>
                  <p:cNvPr id="86" name="Google Shape;345;p18">
                    <a:extLst>
                      <a:ext uri="{FF2B5EF4-FFF2-40B4-BE49-F238E27FC236}">
                        <a16:creationId xmlns:a16="http://schemas.microsoft.com/office/drawing/2014/main" id="{CE6514F5-1B18-4E75-B4AC-96C49EB3E5C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" name="Google Shape;346;p18">
                    <a:extLst>
                      <a:ext uri="{FF2B5EF4-FFF2-40B4-BE49-F238E27FC236}">
                        <a16:creationId xmlns:a16="http://schemas.microsoft.com/office/drawing/2014/main" id="{612BBDE6-DB08-47EC-AEB2-E496E3A9B53A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8" name="Google Shape;356;p18">
                  <a:extLst>
                    <a:ext uri="{FF2B5EF4-FFF2-40B4-BE49-F238E27FC236}">
                      <a16:creationId xmlns:a16="http://schemas.microsoft.com/office/drawing/2014/main" id="{8B6FC868-1C6B-4331-B409-06FAC77E0322}"/>
                    </a:ext>
                  </a:extLst>
                </p:cNvPr>
                <p:cNvGrpSpPr/>
                <p:nvPr/>
              </p:nvGrpSpPr>
              <p:grpSpPr>
                <a:xfrm>
                  <a:off x="7531624" y="3299311"/>
                  <a:ext cx="1612972" cy="1642287"/>
                  <a:chOff x="0" y="-47625"/>
                  <a:chExt cx="456005" cy="503630"/>
                </a:xfrm>
              </p:grpSpPr>
              <p:sp>
                <p:nvSpPr>
                  <p:cNvPr id="89" name="Google Shape;357;p18">
                    <a:extLst>
                      <a:ext uri="{FF2B5EF4-FFF2-40B4-BE49-F238E27FC236}">
                        <a16:creationId xmlns:a16="http://schemas.microsoft.com/office/drawing/2014/main" id="{9E9D6F4F-1B66-4BA9-A97B-6762FCEC33A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0" name="Google Shape;358;p18">
                    <a:extLst>
                      <a:ext uri="{FF2B5EF4-FFF2-40B4-BE49-F238E27FC236}">
                        <a16:creationId xmlns:a16="http://schemas.microsoft.com/office/drawing/2014/main" id="{536282D0-E987-4716-8438-7CF9B783B1B1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3" name="Google Shape;373;p18">
              <a:extLst>
                <a:ext uri="{FF2B5EF4-FFF2-40B4-BE49-F238E27FC236}">
                  <a16:creationId xmlns:a16="http://schemas.microsoft.com/office/drawing/2014/main" id="{BF8CF4DD-BD07-4FD4-B6A7-DFFC0A93C786}"/>
                </a:ext>
              </a:extLst>
            </p:cNvPr>
            <p:cNvSpPr txBox="1"/>
            <p:nvPr/>
          </p:nvSpPr>
          <p:spPr>
            <a:xfrm>
              <a:off x="9412552" y="3669219"/>
              <a:ext cx="3870752" cy="16158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dirty="0"/>
                <a:t>📄</a:t>
              </a: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Dépendance au papier et à la centralisation</a:t>
              </a:r>
              <a:endParaRPr lang="en-US" sz="25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8C5C13-37AE-4BB1-8206-176E989F6690}"/>
              </a:ext>
            </a:extLst>
          </p:cNvPr>
          <p:cNvGrpSpPr/>
          <p:nvPr/>
        </p:nvGrpSpPr>
        <p:grpSpPr>
          <a:xfrm>
            <a:off x="7396096" y="6344217"/>
            <a:ext cx="5902301" cy="2440836"/>
            <a:chOff x="7421279" y="6473971"/>
            <a:chExt cx="5902301" cy="244083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4C4DF83-915D-49D0-8A4E-C61C7CB554A9}"/>
                </a:ext>
              </a:extLst>
            </p:cNvPr>
            <p:cNvGrpSpPr/>
            <p:nvPr/>
          </p:nvGrpSpPr>
          <p:grpSpPr>
            <a:xfrm>
              <a:off x="7421279" y="6473971"/>
              <a:ext cx="1748981" cy="1748666"/>
              <a:chOff x="7421279" y="6473971"/>
              <a:chExt cx="1748981" cy="1748666"/>
            </a:xfrm>
          </p:grpSpPr>
          <p:pic>
            <p:nvPicPr>
              <p:cNvPr id="386" name="Google Shape;386;p18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7912589" y="6980940"/>
                <a:ext cx="961710" cy="9296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48A2ED3-2B74-4BCA-918F-5C7CFEAE2227}"/>
                  </a:ext>
                </a:extLst>
              </p:cNvPr>
              <p:cNvGrpSpPr/>
              <p:nvPr/>
            </p:nvGrpSpPr>
            <p:grpSpPr>
              <a:xfrm>
                <a:off x="7421279" y="6473971"/>
                <a:ext cx="1748981" cy="1748666"/>
                <a:chOff x="7577930" y="6344217"/>
                <a:chExt cx="1748981" cy="1748666"/>
              </a:xfrm>
            </p:grpSpPr>
            <p:grpSp>
              <p:nvGrpSpPr>
                <p:cNvPr id="97" name="Google Shape;344;p18">
                  <a:extLst>
                    <a:ext uri="{FF2B5EF4-FFF2-40B4-BE49-F238E27FC236}">
                      <a16:creationId xmlns:a16="http://schemas.microsoft.com/office/drawing/2014/main" id="{E0B269C1-CFE8-44CA-B80C-4349C49EABD9}"/>
                    </a:ext>
                  </a:extLst>
                </p:cNvPr>
                <p:cNvGrpSpPr/>
                <p:nvPr/>
              </p:nvGrpSpPr>
              <p:grpSpPr>
                <a:xfrm>
                  <a:off x="7577930" y="6344217"/>
                  <a:ext cx="1603565" cy="1617397"/>
                  <a:chOff x="0" y="-47625"/>
                  <a:chExt cx="456005" cy="503630"/>
                </a:xfrm>
              </p:grpSpPr>
              <p:sp>
                <p:nvSpPr>
                  <p:cNvPr id="98" name="Google Shape;345;p18">
                    <a:extLst>
                      <a:ext uri="{FF2B5EF4-FFF2-40B4-BE49-F238E27FC236}">
                        <a16:creationId xmlns:a16="http://schemas.microsoft.com/office/drawing/2014/main" id="{D97D5730-FD11-4953-B59C-89B61917231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9" name="Google Shape;346;p18">
                    <a:extLst>
                      <a:ext uri="{FF2B5EF4-FFF2-40B4-BE49-F238E27FC236}">
                        <a16:creationId xmlns:a16="http://schemas.microsoft.com/office/drawing/2014/main" id="{642193A5-3960-4FCD-8BF9-97C1DCBDF12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0" name="Google Shape;356;p18">
                  <a:extLst>
                    <a:ext uri="{FF2B5EF4-FFF2-40B4-BE49-F238E27FC236}">
                      <a16:creationId xmlns:a16="http://schemas.microsoft.com/office/drawing/2014/main" id="{6F7553D6-76BB-4862-B2AD-334C431E4D0A}"/>
                    </a:ext>
                  </a:extLst>
                </p:cNvPr>
                <p:cNvGrpSpPr/>
                <p:nvPr/>
              </p:nvGrpSpPr>
              <p:grpSpPr>
                <a:xfrm>
                  <a:off x="7713939" y="6450596"/>
                  <a:ext cx="1612972" cy="1642287"/>
                  <a:chOff x="0" y="-47625"/>
                  <a:chExt cx="456005" cy="503630"/>
                </a:xfrm>
              </p:grpSpPr>
              <p:sp>
                <p:nvSpPr>
                  <p:cNvPr id="101" name="Google Shape;357;p18">
                    <a:extLst>
                      <a:ext uri="{FF2B5EF4-FFF2-40B4-BE49-F238E27FC236}">
                        <a16:creationId xmlns:a16="http://schemas.microsoft.com/office/drawing/2014/main" id="{E224CFDE-91D0-486F-9202-1CA035EB198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2" name="Google Shape;358;p18">
                    <a:extLst>
                      <a:ext uri="{FF2B5EF4-FFF2-40B4-BE49-F238E27FC236}">
                        <a16:creationId xmlns:a16="http://schemas.microsoft.com/office/drawing/2014/main" id="{C91F726E-81B3-4F4A-92F8-DEF643E61BF4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4" name="Google Shape;373;p18">
              <a:extLst>
                <a:ext uri="{FF2B5EF4-FFF2-40B4-BE49-F238E27FC236}">
                  <a16:creationId xmlns:a16="http://schemas.microsoft.com/office/drawing/2014/main" id="{81EDE9F4-2361-4A5D-8782-C40BD8AA8BFC}"/>
                </a:ext>
              </a:extLst>
            </p:cNvPr>
            <p:cNvSpPr txBox="1"/>
            <p:nvPr/>
          </p:nvSpPr>
          <p:spPr>
            <a:xfrm>
              <a:off x="9452828" y="6760371"/>
              <a:ext cx="3870752" cy="2154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🔐 Problèmes de sécurité et de confiance dans les données et les transactions</a:t>
              </a:r>
              <a:endParaRPr lang="en-US" sz="25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99EBFD-AD1A-42C7-B0BC-958AB96CDB88}"/>
              </a:ext>
            </a:extLst>
          </p:cNvPr>
          <p:cNvGrpSpPr/>
          <p:nvPr/>
        </p:nvGrpSpPr>
        <p:grpSpPr>
          <a:xfrm>
            <a:off x="12413129" y="4815328"/>
            <a:ext cx="5076776" cy="1949520"/>
            <a:chOff x="12302835" y="5031420"/>
            <a:chExt cx="5076776" cy="194952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ED0DD67-BD18-4044-927A-E527AF9A2AAD}"/>
                </a:ext>
              </a:extLst>
            </p:cNvPr>
            <p:cNvGrpSpPr/>
            <p:nvPr/>
          </p:nvGrpSpPr>
          <p:grpSpPr>
            <a:xfrm>
              <a:off x="12302835" y="5031420"/>
              <a:ext cx="1748981" cy="1748666"/>
              <a:chOff x="12302835" y="5031420"/>
              <a:chExt cx="1748981" cy="1748666"/>
            </a:xfrm>
          </p:grpSpPr>
          <p:grpSp>
            <p:nvGrpSpPr>
              <p:cNvPr id="103" name="Google Shape;344;p18">
                <a:extLst>
                  <a:ext uri="{FF2B5EF4-FFF2-40B4-BE49-F238E27FC236}">
                    <a16:creationId xmlns:a16="http://schemas.microsoft.com/office/drawing/2014/main" id="{D5145AD6-72BA-4A01-A6DC-40531278FB67}"/>
                  </a:ext>
                </a:extLst>
              </p:cNvPr>
              <p:cNvGrpSpPr/>
              <p:nvPr/>
            </p:nvGrpSpPr>
            <p:grpSpPr>
              <a:xfrm>
                <a:off x="12302835" y="5031420"/>
                <a:ext cx="1603565" cy="1617397"/>
                <a:chOff x="0" y="-47625"/>
                <a:chExt cx="456005" cy="503630"/>
              </a:xfrm>
            </p:grpSpPr>
            <p:sp>
              <p:nvSpPr>
                <p:cNvPr id="104" name="Google Shape;345;p18">
                  <a:extLst>
                    <a:ext uri="{FF2B5EF4-FFF2-40B4-BE49-F238E27FC236}">
                      <a16:creationId xmlns:a16="http://schemas.microsoft.com/office/drawing/2014/main" id="{2B24D0DB-2240-482D-A7A8-3C67AF535E5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06D59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105" name="Google Shape;346;p18">
                  <a:extLst>
                    <a:ext uri="{FF2B5EF4-FFF2-40B4-BE49-F238E27FC236}">
                      <a16:creationId xmlns:a16="http://schemas.microsoft.com/office/drawing/2014/main" id="{3F1C1B66-4697-4380-8306-4BFF9283FB1F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" name="Google Shape;356;p18">
                <a:extLst>
                  <a:ext uri="{FF2B5EF4-FFF2-40B4-BE49-F238E27FC236}">
                    <a16:creationId xmlns:a16="http://schemas.microsoft.com/office/drawing/2014/main" id="{3FAF7CFB-FAD6-4F4E-A141-D5D928250505}"/>
                  </a:ext>
                </a:extLst>
              </p:cNvPr>
              <p:cNvGrpSpPr/>
              <p:nvPr/>
            </p:nvGrpSpPr>
            <p:grpSpPr>
              <a:xfrm>
                <a:off x="12438844" y="5137799"/>
                <a:ext cx="1612972" cy="1642287"/>
                <a:chOff x="0" y="-47625"/>
                <a:chExt cx="456005" cy="503630"/>
              </a:xfrm>
            </p:grpSpPr>
            <p:sp>
              <p:nvSpPr>
                <p:cNvPr id="107" name="Google Shape;357;p18">
                  <a:extLst>
                    <a:ext uri="{FF2B5EF4-FFF2-40B4-BE49-F238E27FC236}">
                      <a16:creationId xmlns:a16="http://schemas.microsoft.com/office/drawing/2014/main" id="{5CAAF912-3570-4FF0-B680-D2859548460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5CE1E6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108" name="Google Shape;358;p18">
                  <a:extLst>
                    <a:ext uri="{FF2B5EF4-FFF2-40B4-BE49-F238E27FC236}">
                      <a16:creationId xmlns:a16="http://schemas.microsoft.com/office/drawing/2014/main" id="{1C8A3C9E-07C5-4A21-8B48-C7DE22D90DCB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09" name="Google Shape;273;p15">
                <a:extLst>
                  <a:ext uri="{FF2B5EF4-FFF2-40B4-BE49-F238E27FC236}">
                    <a16:creationId xmlns:a16="http://schemas.microsoft.com/office/drawing/2014/main" id="{D1FE3632-3704-4E3B-9F8D-95670825266E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2841251" y="5473917"/>
                <a:ext cx="949628" cy="9700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5" name="Google Shape;373;p18">
              <a:extLst>
                <a:ext uri="{FF2B5EF4-FFF2-40B4-BE49-F238E27FC236}">
                  <a16:creationId xmlns:a16="http://schemas.microsoft.com/office/drawing/2014/main" id="{2DEE4283-0DEA-4B78-9F00-8317E14C9E53}"/>
                </a:ext>
              </a:extLst>
            </p:cNvPr>
            <p:cNvSpPr txBox="1"/>
            <p:nvPr/>
          </p:nvSpPr>
          <p:spPr>
            <a:xfrm>
              <a:off x="14480638" y="5365113"/>
              <a:ext cx="2898973" cy="16158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💸 Risque de corruption et de fraude</a:t>
              </a:r>
              <a:endParaRPr lang="en-US" sz="2500" dirty="0"/>
            </a:p>
          </p:txBody>
        </p:sp>
      </p:grpSp>
      <p:grpSp>
        <p:nvGrpSpPr>
          <p:cNvPr id="169" name="Google Shape;140;p12">
            <a:extLst>
              <a:ext uri="{FF2B5EF4-FFF2-40B4-BE49-F238E27FC236}">
                <a16:creationId xmlns:a16="http://schemas.microsoft.com/office/drawing/2014/main" id="{49DA7ABD-15B9-45B0-B243-D51A6531F236}"/>
              </a:ext>
            </a:extLst>
          </p:cNvPr>
          <p:cNvGrpSpPr/>
          <p:nvPr/>
        </p:nvGrpSpPr>
        <p:grpSpPr>
          <a:xfrm>
            <a:off x="689978" y="939431"/>
            <a:ext cx="1561274" cy="1500754"/>
            <a:chOff x="0" y="-47625"/>
            <a:chExt cx="456005" cy="503630"/>
          </a:xfrm>
        </p:grpSpPr>
        <p:sp>
          <p:nvSpPr>
            <p:cNvPr id="170" name="Google Shape;141;p12">
              <a:extLst>
                <a:ext uri="{FF2B5EF4-FFF2-40B4-BE49-F238E27FC236}">
                  <a16:creationId xmlns:a16="http://schemas.microsoft.com/office/drawing/2014/main" id="{A286A193-490E-4661-AFA2-5EA54E053965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1" name="Google Shape;142;p12">
              <a:extLst>
                <a:ext uri="{FF2B5EF4-FFF2-40B4-BE49-F238E27FC236}">
                  <a16:creationId xmlns:a16="http://schemas.microsoft.com/office/drawing/2014/main" id="{B7269239-83B6-49E8-8D64-4291201E29EB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43;p12">
            <a:extLst>
              <a:ext uri="{FF2B5EF4-FFF2-40B4-BE49-F238E27FC236}">
                <a16:creationId xmlns:a16="http://schemas.microsoft.com/office/drawing/2014/main" id="{9EF5C367-E6BE-4684-9468-08BF4B7420D2}"/>
              </a:ext>
            </a:extLst>
          </p:cNvPr>
          <p:cNvGrpSpPr/>
          <p:nvPr/>
        </p:nvGrpSpPr>
        <p:grpSpPr>
          <a:xfrm>
            <a:off x="847053" y="1043603"/>
            <a:ext cx="1559837" cy="1529720"/>
            <a:chOff x="0" y="-47625"/>
            <a:chExt cx="456005" cy="503630"/>
          </a:xfrm>
        </p:grpSpPr>
        <p:sp>
          <p:nvSpPr>
            <p:cNvPr id="173" name="Google Shape;144;p12">
              <a:extLst>
                <a:ext uri="{FF2B5EF4-FFF2-40B4-BE49-F238E27FC236}">
                  <a16:creationId xmlns:a16="http://schemas.microsoft.com/office/drawing/2014/main" id="{722494F2-A647-43D7-BEED-4FCE8791209F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4" name="Google Shape;145;p12">
              <a:extLst>
                <a:ext uri="{FF2B5EF4-FFF2-40B4-BE49-F238E27FC236}">
                  <a16:creationId xmlns:a16="http://schemas.microsoft.com/office/drawing/2014/main" id="{0FB36DC0-C8E7-4CBB-8FE0-23F8321EA1F3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59;p12">
            <a:extLst>
              <a:ext uri="{FF2B5EF4-FFF2-40B4-BE49-F238E27FC236}">
                <a16:creationId xmlns:a16="http://schemas.microsoft.com/office/drawing/2014/main" id="{95E1B8B3-4BBE-4F8B-9F6F-BE381B33892D}"/>
              </a:ext>
            </a:extLst>
          </p:cNvPr>
          <p:cNvSpPr txBox="1"/>
          <p:nvPr/>
        </p:nvSpPr>
        <p:spPr>
          <a:xfrm>
            <a:off x="918384" y="889696"/>
            <a:ext cx="1410687" cy="152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01.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0275" y="460088"/>
            <a:ext cx="7209274" cy="926821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 txBox="1"/>
          <p:nvPr/>
        </p:nvSpPr>
        <p:spPr>
          <a:xfrm>
            <a:off x="2607886" y="1057171"/>
            <a:ext cx="1053846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Introduction à la Blockchain</a:t>
            </a:r>
            <a:endParaRPr lang="en-US" sz="8000" dirty="0"/>
          </a:p>
        </p:txBody>
      </p:sp>
      <p:grpSp>
        <p:nvGrpSpPr>
          <p:cNvPr id="192" name="Google Shape;192;p13"/>
          <p:cNvGrpSpPr/>
          <p:nvPr/>
        </p:nvGrpSpPr>
        <p:grpSpPr>
          <a:xfrm rot="5400000">
            <a:off x="10830856" y="4723071"/>
            <a:ext cx="2809881" cy="409797"/>
            <a:chOff x="0" y="-47625"/>
            <a:chExt cx="812800" cy="118539"/>
          </a:xfrm>
        </p:grpSpPr>
        <p:sp>
          <p:nvSpPr>
            <p:cNvPr id="193" name="Google Shape;193;p13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94" name="Google Shape;194;p13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3"/>
          <p:cNvGrpSpPr/>
          <p:nvPr/>
        </p:nvGrpSpPr>
        <p:grpSpPr>
          <a:xfrm rot="5400000">
            <a:off x="16059257" y="4723071"/>
            <a:ext cx="2809881" cy="409797"/>
            <a:chOff x="0" y="-47625"/>
            <a:chExt cx="812800" cy="118539"/>
          </a:xfrm>
        </p:grpSpPr>
        <p:sp>
          <p:nvSpPr>
            <p:cNvPr id="196" name="Google Shape;196;p13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97" name="Google Shape;197;p13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3"/>
          <p:cNvSpPr/>
          <p:nvPr/>
        </p:nvSpPr>
        <p:spPr>
          <a:xfrm>
            <a:off x="-734775" y="6589877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50" y="0"/>
                </a:lnTo>
                <a:lnTo>
                  <a:pt x="1469550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9" name="Google Shape;19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3050" y="1353100"/>
            <a:ext cx="5006251" cy="748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5373" y="2832552"/>
            <a:ext cx="2229017" cy="650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490213" y="5782350"/>
            <a:ext cx="3093295" cy="308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12975" y="9252048"/>
            <a:ext cx="731520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59;p12">
            <a:extLst>
              <a:ext uri="{FF2B5EF4-FFF2-40B4-BE49-F238E27FC236}">
                <a16:creationId xmlns:a16="http://schemas.microsoft.com/office/drawing/2014/main" id="{5C05CD19-C2BD-485F-B135-EB8466B25A09}"/>
              </a:ext>
            </a:extLst>
          </p:cNvPr>
          <p:cNvSpPr txBox="1"/>
          <p:nvPr/>
        </p:nvSpPr>
        <p:spPr>
          <a:xfrm>
            <a:off x="918384" y="88969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02.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014F05-A7F9-45D5-A682-A10D4DABAE80}"/>
              </a:ext>
            </a:extLst>
          </p:cNvPr>
          <p:cNvGrpSpPr/>
          <p:nvPr/>
        </p:nvGrpSpPr>
        <p:grpSpPr>
          <a:xfrm>
            <a:off x="3108135" y="2501285"/>
            <a:ext cx="7846429" cy="6612807"/>
            <a:chOff x="3108135" y="2501285"/>
            <a:chExt cx="7846429" cy="6612807"/>
          </a:xfrm>
        </p:grpSpPr>
        <p:sp>
          <p:nvSpPr>
            <p:cNvPr id="190" name="Google Shape;190;p13"/>
            <p:cNvSpPr txBox="1"/>
            <p:nvPr/>
          </p:nvSpPr>
          <p:spPr>
            <a:xfrm>
              <a:off x="3780364" y="3266337"/>
              <a:ext cx="7174200" cy="5847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just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C’est un registre numérique décentralisé qui enregistre les transactions.</a:t>
              </a:r>
            </a:p>
            <a:p>
              <a:pPr marR="0" lvl="0" algn="just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Les données sont stockées dans des blocs, reliés entre eux comme une chaîne.</a:t>
              </a:r>
            </a:p>
            <a:p>
              <a:pPr marR="0" lvl="0" algn="just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Chaque bloc contient :</a:t>
              </a:r>
            </a:p>
            <a:p>
              <a:pPr marR="0" lvl="0" algn="just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	les données de la transaction</a:t>
              </a:r>
            </a:p>
            <a:p>
              <a:pPr marR="0" lvl="0" algn="just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	un identifiant unique (appelé hash)</a:t>
              </a:r>
            </a:p>
            <a:p>
              <a:pPr marR="0" lvl="0" algn="just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	le hash du bloc précédent</a:t>
              </a:r>
            </a:p>
            <a:p>
              <a:pPr marR="0" lvl="0" algn="just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FE763AC-44F4-47C1-8496-4B369DD32AD8}"/>
                </a:ext>
              </a:extLst>
            </p:cNvPr>
            <p:cNvSpPr txBox="1"/>
            <p:nvPr/>
          </p:nvSpPr>
          <p:spPr>
            <a:xfrm>
              <a:off x="3108143" y="2501285"/>
              <a:ext cx="57784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600" b="1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52B82A-6D6B-4C07-B885-1DF934D63920}"/>
                </a:ext>
              </a:extLst>
            </p:cNvPr>
            <p:cNvSpPr txBox="1"/>
            <p:nvPr/>
          </p:nvSpPr>
          <p:spPr>
            <a:xfrm>
              <a:off x="3108140" y="3900603"/>
              <a:ext cx="57784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600" b="1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1609A9-7780-4069-A945-4E2CDCADA277}"/>
                </a:ext>
              </a:extLst>
            </p:cNvPr>
            <p:cNvSpPr txBox="1"/>
            <p:nvPr/>
          </p:nvSpPr>
          <p:spPr>
            <a:xfrm>
              <a:off x="3108135" y="5244503"/>
              <a:ext cx="57784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600" b="1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46" name="Google Shape;140;p12">
            <a:extLst>
              <a:ext uri="{FF2B5EF4-FFF2-40B4-BE49-F238E27FC236}">
                <a16:creationId xmlns:a16="http://schemas.microsoft.com/office/drawing/2014/main" id="{B377D9EB-3ED6-436F-BA51-4E3FB2E6C31C}"/>
              </a:ext>
            </a:extLst>
          </p:cNvPr>
          <p:cNvGrpSpPr/>
          <p:nvPr/>
        </p:nvGrpSpPr>
        <p:grpSpPr>
          <a:xfrm>
            <a:off x="720851" y="1000531"/>
            <a:ext cx="1561274" cy="1500754"/>
            <a:chOff x="0" y="-47625"/>
            <a:chExt cx="456005" cy="503630"/>
          </a:xfrm>
        </p:grpSpPr>
        <p:sp>
          <p:nvSpPr>
            <p:cNvPr id="47" name="Google Shape;141;p12">
              <a:extLst>
                <a:ext uri="{FF2B5EF4-FFF2-40B4-BE49-F238E27FC236}">
                  <a16:creationId xmlns:a16="http://schemas.microsoft.com/office/drawing/2014/main" id="{E81B97F3-2071-4472-BF1B-61EFA5B1F61C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8" name="Google Shape;142;p12">
              <a:extLst>
                <a:ext uri="{FF2B5EF4-FFF2-40B4-BE49-F238E27FC236}">
                  <a16:creationId xmlns:a16="http://schemas.microsoft.com/office/drawing/2014/main" id="{4F1715AC-2EE9-4AE2-BF93-3A4C28889246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" name="Google Shape;143;p12">
            <a:extLst>
              <a:ext uri="{FF2B5EF4-FFF2-40B4-BE49-F238E27FC236}">
                <a16:creationId xmlns:a16="http://schemas.microsoft.com/office/drawing/2014/main" id="{B6DD7C05-A9FE-470B-BB98-78AD721A50BF}"/>
              </a:ext>
            </a:extLst>
          </p:cNvPr>
          <p:cNvGrpSpPr/>
          <p:nvPr/>
        </p:nvGrpSpPr>
        <p:grpSpPr>
          <a:xfrm>
            <a:off x="873553" y="1104703"/>
            <a:ext cx="1559837" cy="1529720"/>
            <a:chOff x="0" y="-47625"/>
            <a:chExt cx="456005" cy="503630"/>
          </a:xfrm>
        </p:grpSpPr>
        <p:sp>
          <p:nvSpPr>
            <p:cNvPr id="50" name="Google Shape;144;p12">
              <a:extLst>
                <a:ext uri="{FF2B5EF4-FFF2-40B4-BE49-F238E27FC236}">
                  <a16:creationId xmlns:a16="http://schemas.microsoft.com/office/drawing/2014/main" id="{500D895B-C7D7-4950-A959-88D7370A5110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1" name="Google Shape;145;p12">
              <a:extLst>
                <a:ext uri="{FF2B5EF4-FFF2-40B4-BE49-F238E27FC236}">
                  <a16:creationId xmlns:a16="http://schemas.microsoft.com/office/drawing/2014/main" id="{783E04DC-D0D5-4CB6-8B3D-81F3DA963A15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0275" y="460088"/>
            <a:ext cx="7209274" cy="926821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 txBox="1"/>
          <p:nvPr/>
        </p:nvSpPr>
        <p:spPr>
          <a:xfrm>
            <a:off x="2607886" y="1057171"/>
            <a:ext cx="1053846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en-US" sz="8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Pourquoi</a:t>
            </a:r>
            <a:r>
              <a:rPr lang="en-US" sz="8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en-US" sz="8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c’est</a:t>
            </a:r>
            <a:r>
              <a:rPr lang="en-US" sz="8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important ?</a:t>
            </a:r>
            <a:endParaRPr lang="en-US" sz="8000" dirty="0"/>
          </a:p>
        </p:txBody>
      </p:sp>
      <p:grpSp>
        <p:nvGrpSpPr>
          <p:cNvPr id="192" name="Google Shape;192;p13"/>
          <p:cNvGrpSpPr/>
          <p:nvPr/>
        </p:nvGrpSpPr>
        <p:grpSpPr>
          <a:xfrm rot="5400000">
            <a:off x="9621277" y="5727048"/>
            <a:ext cx="3917603" cy="409798"/>
            <a:chOff x="0" y="-47625"/>
            <a:chExt cx="812800" cy="118539"/>
          </a:xfrm>
        </p:grpSpPr>
        <p:sp>
          <p:nvSpPr>
            <p:cNvPr id="193" name="Google Shape;193;p13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94" name="Google Shape;194;p13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3"/>
          <p:cNvGrpSpPr/>
          <p:nvPr/>
        </p:nvGrpSpPr>
        <p:grpSpPr>
          <a:xfrm rot="5400000">
            <a:off x="15410113" y="5712503"/>
            <a:ext cx="4062649" cy="438849"/>
            <a:chOff x="0" y="-47625"/>
            <a:chExt cx="812800" cy="118539"/>
          </a:xfrm>
        </p:grpSpPr>
        <p:sp>
          <p:nvSpPr>
            <p:cNvPr id="196" name="Google Shape;196;p13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97" name="Google Shape;197;p13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3"/>
          <p:cNvSpPr/>
          <p:nvPr/>
        </p:nvSpPr>
        <p:spPr>
          <a:xfrm>
            <a:off x="-734775" y="6589877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50" y="0"/>
                </a:lnTo>
                <a:lnTo>
                  <a:pt x="1469550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9" name="Google Shape;199;p13"/>
          <p:cNvPicPr preferRelativeResize="0"/>
          <p:nvPr/>
        </p:nvPicPr>
        <p:blipFill>
          <a:blip r:embed="rId5"/>
          <a:srcRect/>
          <a:stretch/>
        </p:blipFill>
        <p:spPr>
          <a:xfrm>
            <a:off x="11665528" y="3844390"/>
            <a:ext cx="5593774" cy="381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5373" y="2832552"/>
            <a:ext cx="2229017" cy="650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490213" y="5782350"/>
            <a:ext cx="3093295" cy="308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12975" y="9252048"/>
            <a:ext cx="731520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59;p12">
            <a:extLst>
              <a:ext uri="{FF2B5EF4-FFF2-40B4-BE49-F238E27FC236}">
                <a16:creationId xmlns:a16="http://schemas.microsoft.com/office/drawing/2014/main" id="{5C05CD19-C2BD-485F-B135-EB8466B25A09}"/>
              </a:ext>
            </a:extLst>
          </p:cNvPr>
          <p:cNvSpPr txBox="1"/>
          <p:nvPr/>
        </p:nvSpPr>
        <p:spPr>
          <a:xfrm>
            <a:off x="918384" y="88969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02.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014F05-A7F9-45D5-A682-A10D4DABAE80}"/>
              </a:ext>
            </a:extLst>
          </p:cNvPr>
          <p:cNvGrpSpPr/>
          <p:nvPr/>
        </p:nvGrpSpPr>
        <p:grpSpPr>
          <a:xfrm>
            <a:off x="3108135" y="3820334"/>
            <a:ext cx="7811355" cy="4062651"/>
            <a:chOff x="3108135" y="3820334"/>
            <a:chExt cx="7811355" cy="4062651"/>
          </a:xfrm>
        </p:grpSpPr>
        <p:sp>
          <p:nvSpPr>
            <p:cNvPr id="190" name="Google Shape;190;p13"/>
            <p:cNvSpPr txBox="1"/>
            <p:nvPr/>
          </p:nvSpPr>
          <p:spPr>
            <a:xfrm>
              <a:off x="3745290" y="3820334"/>
              <a:ext cx="7174200" cy="40626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3">
                <a:lnSpc>
                  <a:spcPct val="200000"/>
                </a:lnSpc>
                <a:buClr>
                  <a:schemeClr val="bg1"/>
                </a:buClr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Une fois enregistrées, les données ne peuvent plus être modifiées.</a:t>
              </a:r>
            </a:p>
            <a:p>
              <a:pPr lvl="3">
                <a:lnSpc>
                  <a:spcPct val="200000"/>
                </a:lnSpc>
                <a:buClr>
                  <a:schemeClr val="bg1"/>
                </a:buClr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Tout le monde dans le réseau peut vérifier l'information.</a:t>
              </a:r>
            </a:p>
            <a:p>
              <a:pPr lvl="3">
                <a:lnSpc>
                  <a:spcPct val="200000"/>
                </a:lnSpc>
                <a:buClr>
                  <a:schemeClr val="bg1"/>
                </a:buClr>
              </a:pPr>
              <a:r>
                <a:rPr lang="fr-FR" sz="22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Cela supprime le besoin d’un tiers de confiance (comme une banque ou un notaire).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52B82A-6D6B-4C07-B885-1DF934D63920}"/>
                </a:ext>
              </a:extLst>
            </p:cNvPr>
            <p:cNvSpPr txBox="1"/>
            <p:nvPr/>
          </p:nvSpPr>
          <p:spPr>
            <a:xfrm>
              <a:off x="3108140" y="3900603"/>
              <a:ext cx="57784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FR" sz="96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1609A9-7780-4069-A945-4E2CDCADA277}"/>
                </a:ext>
              </a:extLst>
            </p:cNvPr>
            <p:cNvSpPr txBox="1"/>
            <p:nvPr/>
          </p:nvSpPr>
          <p:spPr>
            <a:xfrm>
              <a:off x="3108135" y="5244503"/>
              <a:ext cx="57784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FR" sz="9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6C8A354-F0A2-4396-99C2-37247E2E3019}"/>
              </a:ext>
            </a:extLst>
          </p:cNvPr>
          <p:cNvSpPr txBox="1"/>
          <p:nvPr/>
        </p:nvSpPr>
        <p:spPr>
          <a:xfrm>
            <a:off x="3110080" y="3029979"/>
            <a:ext cx="5778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6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82C961-9501-4C77-A89D-82BA9A7E148F}"/>
              </a:ext>
            </a:extLst>
          </p:cNvPr>
          <p:cNvSpPr txBox="1"/>
          <p:nvPr/>
        </p:nvSpPr>
        <p:spPr>
          <a:xfrm>
            <a:off x="3110076" y="4373866"/>
            <a:ext cx="5778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6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318F2-F66B-42A1-A6C1-C08C9FA6ECB7}"/>
              </a:ext>
            </a:extLst>
          </p:cNvPr>
          <p:cNvSpPr txBox="1"/>
          <p:nvPr/>
        </p:nvSpPr>
        <p:spPr>
          <a:xfrm>
            <a:off x="3108143" y="5743252"/>
            <a:ext cx="5778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600" b="1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35" name="Google Shape;140;p12">
            <a:extLst>
              <a:ext uri="{FF2B5EF4-FFF2-40B4-BE49-F238E27FC236}">
                <a16:creationId xmlns:a16="http://schemas.microsoft.com/office/drawing/2014/main" id="{FBD2CA51-D551-4738-9B83-C757EBBDDB2F}"/>
              </a:ext>
            </a:extLst>
          </p:cNvPr>
          <p:cNvGrpSpPr/>
          <p:nvPr/>
        </p:nvGrpSpPr>
        <p:grpSpPr>
          <a:xfrm>
            <a:off x="767797" y="960804"/>
            <a:ext cx="1561274" cy="1500754"/>
            <a:chOff x="0" y="-47625"/>
            <a:chExt cx="456005" cy="503630"/>
          </a:xfrm>
        </p:grpSpPr>
        <p:sp>
          <p:nvSpPr>
            <p:cNvPr id="37" name="Google Shape;141;p12">
              <a:extLst>
                <a:ext uri="{FF2B5EF4-FFF2-40B4-BE49-F238E27FC236}">
                  <a16:creationId xmlns:a16="http://schemas.microsoft.com/office/drawing/2014/main" id="{222EA189-078F-4A4C-9866-CF0A6C60554F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" name="Google Shape;142;p12">
              <a:extLst>
                <a:ext uri="{FF2B5EF4-FFF2-40B4-BE49-F238E27FC236}">
                  <a16:creationId xmlns:a16="http://schemas.microsoft.com/office/drawing/2014/main" id="{0AC7A02F-F16F-4D03-A27B-D95B80CD65E0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143;p12">
            <a:extLst>
              <a:ext uri="{FF2B5EF4-FFF2-40B4-BE49-F238E27FC236}">
                <a16:creationId xmlns:a16="http://schemas.microsoft.com/office/drawing/2014/main" id="{24EC8F36-A399-4E16-B577-E89B01B6DD7F}"/>
              </a:ext>
            </a:extLst>
          </p:cNvPr>
          <p:cNvGrpSpPr/>
          <p:nvPr/>
        </p:nvGrpSpPr>
        <p:grpSpPr>
          <a:xfrm>
            <a:off x="920499" y="1064976"/>
            <a:ext cx="1559837" cy="1529720"/>
            <a:chOff x="0" y="-47625"/>
            <a:chExt cx="456005" cy="503630"/>
          </a:xfrm>
        </p:grpSpPr>
        <p:sp>
          <p:nvSpPr>
            <p:cNvPr id="41" name="Google Shape;144;p12">
              <a:extLst>
                <a:ext uri="{FF2B5EF4-FFF2-40B4-BE49-F238E27FC236}">
                  <a16:creationId xmlns:a16="http://schemas.microsoft.com/office/drawing/2014/main" id="{942DBBF4-2CAF-48E7-980F-667A998DE3B2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2" name="Google Shape;145;p12">
              <a:extLst>
                <a:ext uri="{FF2B5EF4-FFF2-40B4-BE49-F238E27FC236}">
                  <a16:creationId xmlns:a16="http://schemas.microsoft.com/office/drawing/2014/main" id="{9BE9A970-BCBC-4A7B-8BC3-6F36EAEB1B34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9861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7482" y="0"/>
            <a:ext cx="19012818" cy="105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4"/>
          <p:cNvSpPr txBox="1"/>
          <p:nvPr/>
        </p:nvSpPr>
        <p:spPr>
          <a:xfrm>
            <a:off x="2730674" y="8218696"/>
            <a:ext cx="15557326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Comment </a:t>
            </a:r>
            <a:r>
              <a:rPr lang="en-US" sz="96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fonctionne</a:t>
            </a:r>
            <a:r>
              <a:rPr lang="en-US" sz="96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la Blockchain</a:t>
            </a:r>
            <a:endParaRPr lang="en-US" sz="9600" dirty="0"/>
          </a:p>
        </p:txBody>
      </p:sp>
      <p:grpSp>
        <p:nvGrpSpPr>
          <p:cNvPr id="217" name="Google Shape;217;p14"/>
          <p:cNvGrpSpPr/>
          <p:nvPr/>
        </p:nvGrpSpPr>
        <p:grpSpPr>
          <a:xfrm rot="5400000">
            <a:off x="13165290" y="3992201"/>
            <a:ext cx="2809881" cy="409797"/>
            <a:chOff x="0" y="-47625"/>
            <a:chExt cx="812800" cy="118539"/>
          </a:xfrm>
        </p:grpSpPr>
        <p:sp>
          <p:nvSpPr>
            <p:cNvPr id="218" name="Google Shape;218;p14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219" name="Google Shape;219;p14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4"/>
          <p:cNvGrpSpPr/>
          <p:nvPr/>
        </p:nvGrpSpPr>
        <p:grpSpPr>
          <a:xfrm rot="5400000">
            <a:off x="2207620" y="4065045"/>
            <a:ext cx="2809881" cy="409797"/>
            <a:chOff x="0" y="-47625"/>
            <a:chExt cx="812800" cy="118539"/>
          </a:xfrm>
        </p:grpSpPr>
        <p:sp>
          <p:nvSpPr>
            <p:cNvPr id="221" name="Google Shape;221;p14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222" name="Google Shape;222;p14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14"/>
          <p:cNvSpPr/>
          <p:nvPr/>
        </p:nvSpPr>
        <p:spPr>
          <a:xfrm>
            <a:off x="899946" y="4650301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24" name="Google Shape;22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10275" y="1387838"/>
            <a:ext cx="4947075" cy="2558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4"/>
          <p:cNvPicPr preferRelativeResize="0"/>
          <p:nvPr/>
        </p:nvPicPr>
        <p:blipFill>
          <a:blip r:embed="rId6"/>
          <a:srcRect/>
          <a:stretch/>
        </p:blipFill>
        <p:spPr>
          <a:xfrm>
            <a:off x="3554508" y="767315"/>
            <a:ext cx="10881340" cy="76219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6" name="Google Shape;22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3636508" y="1618664"/>
            <a:ext cx="7021014" cy="374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573150" y="-582579"/>
            <a:ext cx="8154276" cy="17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697231" y="4098657"/>
            <a:ext cx="8154276" cy="2650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65325" y="8218696"/>
            <a:ext cx="769475" cy="16695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140;p12">
            <a:extLst>
              <a:ext uri="{FF2B5EF4-FFF2-40B4-BE49-F238E27FC236}">
                <a16:creationId xmlns:a16="http://schemas.microsoft.com/office/drawing/2014/main" id="{D7A34089-DB54-4197-A2B7-381FF00A75B5}"/>
              </a:ext>
            </a:extLst>
          </p:cNvPr>
          <p:cNvGrpSpPr/>
          <p:nvPr/>
        </p:nvGrpSpPr>
        <p:grpSpPr>
          <a:xfrm>
            <a:off x="656956" y="965744"/>
            <a:ext cx="1561274" cy="1500754"/>
            <a:chOff x="0" y="-47625"/>
            <a:chExt cx="456005" cy="503630"/>
          </a:xfrm>
        </p:grpSpPr>
        <p:sp>
          <p:nvSpPr>
            <p:cNvPr id="25" name="Google Shape;141;p12">
              <a:extLst>
                <a:ext uri="{FF2B5EF4-FFF2-40B4-BE49-F238E27FC236}">
                  <a16:creationId xmlns:a16="http://schemas.microsoft.com/office/drawing/2014/main" id="{83BE05C2-9569-4426-97F3-84654F504F9A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6" name="Google Shape;142;p12">
              <a:extLst>
                <a:ext uri="{FF2B5EF4-FFF2-40B4-BE49-F238E27FC236}">
                  <a16:creationId xmlns:a16="http://schemas.microsoft.com/office/drawing/2014/main" id="{E542628A-5543-482B-A63E-FC6574275281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143;p12">
            <a:extLst>
              <a:ext uri="{FF2B5EF4-FFF2-40B4-BE49-F238E27FC236}">
                <a16:creationId xmlns:a16="http://schemas.microsoft.com/office/drawing/2014/main" id="{A10CF9E1-EE11-4F7D-AFB8-B023D290D215}"/>
              </a:ext>
            </a:extLst>
          </p:cNvPr>
          <p:cNvGrpSpPr/>
          <p:nvPr/>
        </p:nvGrpSpPr>
        <p:grpSpPr>
          <a:xfrm>
            <a:off x="809658" y="1069916"/>
            <a:ext cx="1559837" cy="1529720"/>
            <a:chOff x="0" y="-47625"/>
            <a:chExt cx="456005" cy="503630"/>
          </a:xfrm>
        </p:grpSpPr>
        <p:sp>
          <p:nvSpPr>
            <p:cNvPr id="28" name="Google Shape;144;p12">
              <a:extLst>
                <a:ext uri="{FF2B5EF4-FFF2-40B4-BE49-F238E27FC236}">
                  <a16:creationId xmlns:a16="http://schemas.microsoft.com/office/drawing/2014/main" id="{72FD1A0B-84AC-4A99-A303-2FA4BE8BE8DE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9" name="Google Shape;145;p12">
              <a:extLst>
                <a:ext uri="{FF2B5EF4-FFF2-40B4-BE49-F238E27FC236}">
                  <a16:creationId xmlns:a16="http://schemas.microsoft.com/office/drawing/2014/main" id="{9DABE7E2-780A-49D4-9260-6772D21AF382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159;p12">
            <a:extLst>
              <a:ext uri="{FF2B5EF4-FFF2-40B4-BE49-F238E27FC236}">
                <a16:creationId xmlns:a16="http://schemas.microsoft.com/office/drawing/2014/main" id="{60EA0372-359A-4AC1-8D50-7229444EB7F5}"/>
              </a:ext>
            </a:extLst>
          </p:cNvPr>
          <p:cNvSpPr txBox="1"/>
          <p:nvPr/>
        </p:nvSpPr>
        <p:spPr>
          <a:xfrm>
            <a:off x="827440" y="923637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03.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11" y="-842275"/>
            <a:ext cx="17278177" cy="11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 txBox="1"/>
          <p:nvPr/>
        </p:nvSpPr>
        <p:spPr>
          <a:xfrm>
            <a:off x="4478917" y="1128727"/>
            <a:ext cx="652208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Caractéristiques clés </a:t>
            </a:r>
            <a:endParaRPr lang="en-US" sz="6000" dirty="0"/>
          </a:p>
        </p:txBody>
      </p:sp>
      <p:grpSp>
        <p:nvGrpSpPr>
          <p:cNvPr id="646" name="Google Shape;646;p25"/>
          <p:cNvGrpSpPr/>
          <p:nvPr/>
        </p:nvGrpSpPr>
        <p:grpSpPr>
          <a:xfrm>
            <a:off x="14320202" y="452860"/>
            <a:ext cx="698968" cy="698968"/>
            <a:chOff x="0" y="0"/>
            <a:chExt cx="812800" cy="812800"/>
          </a:xfrm>
        </p:grpSpPr>
        <p:sp>
          <p:nvSpPr>
            <p:cNvPr id="647" name="Google Shape;647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1" name="Google Shape;6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9507" y="1647321"/>
            <a:ext cx="4938238" cy="25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3DB9BA3-4EEB-41C0-9ECD-6C599E896598}"/>
              </a:ext>
            </a:extLst>
          </p:cNvPr>
          <p:cNvGrpSpPr/>
          <p:nvPr/>
        </p:nvGrpSpPr>
        <p:grpSpPr>
          <a:xfrm>
            <a:off x="928841" y="3523784"/>
            <a:ext cx="3413857" cy="5522198"/>
            <a:chOff x="928841" y="3523784"/>
            <a:chExt cx="3413857" cy="5522198"/>
          </a:xfrm>
        </p:grpSpPr>
        <p:sp>
          <p:nvSpPr>
            <p:cNvPr id="641" name="Google Shape;641;p25"/>
            <p:cNvSpPr txBox="1"/>
            <p:nvPr/>
          </p:nvSpPr>
          <p:spPr>
            <a:xfrm>
              <a:off x="977773" y="5728151"/>
              <a:ext cx="3364925" cy="3317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Décentralisation 🧩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La blockchain n’a pas de serveur central.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Chaque participant (appelé “nœud”) possède une copie du registre.</a:t>
              </a:r>
              <a:endParaRPr lang="en-US" b="1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0B90668-969D-4D41-B1AF-EA62A9F9EFDB}"/>
                </a:ext>
              </a:extLst>
            </p:cNvPr>
            <p:cNvGrpSpPr/>
            <p:nvPr/>
          </p:nvGrpSpPr>
          <p:grpSpPr>
            <a:xfrm>
              <a:off x="928841" y="3523784"/>
              <a:ext cx="1881918" cy="2023541"/>
              <a:chOff x="928841" y="3523784"/>
              <a:chExt cx="1881918" cy="2023541"/>
            </a:xfrm>
          </p:grpSpPr>
          <p:grpSp>
            <p:nvGrpSpPr>
              <p:cNvPr id="614" name="Google Shape;614;p25"/>
              <p:cNvGrpSpPr/>
              <p:nvPr/>
            </p:nvGrpSpPr>
            <p:grpSpPr>
              <a:xfrm>
                <a:off x="928841" y="3523784"/>
                <a:ext cx="1731395" cy="1912221"/>
                <a:chOff x="0" y="-47625"/>
                <a:chExt cx="456005" cy="503630"/>
              </a:xfrm>
            </p:grpSpPr>
            <p:sp>
              <p:nvSpPr>
                <p:cNvPr id="615" name="Google Shape;615;p25"/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06D59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616" name="Google Shape;616;p25"/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0" name="Google Shape;620;p25"/>
              <p:cNvGrpSpPr/>
              <p:nvPr/>
            </p:nvGrpSpPr>
            <p:grpSpPr>
              <a:xfrm>
                <a:off x="1079364" y="3635104"/>
                <a:ext cx="1731395" cy="1912221"/>
                <a:chOff x="0" y="-47625"/>
                <a:chExt cx="456005" cy="503630"/>
              </a:xfrm>
            </p:grpSpPr>
            <p:sp>
              <p:nvSpPr>
                <p:cNvPr id="621" name="Google Shape;621;p25"/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5CE1E6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622" name="Google Shape;622;p25"/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652" name="Google Shape;652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78143" y="4009336"/>
              <a:ext cx="808550" cy="99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oogle Shape;140;p12">
            <a:extLst>
              <a:ext uri="{FF2B5EF4-FFF2-40B4-BE49-F238E27FC236}">
                <a16:creationId xmlns:a16="http://schemas.microsoft.com/office/drawing/2014/main" id="{2D000727-04E8-4442-9DAB-137CB066FFFE}"/>
              </a:ext>
            </a:extLst>
          </p:cNvPr>
          <p:cNvGrpSpPr/>
          <p:nvPr/>
        </p:nvGrpSpPr>
        <p:grpSpPr>
          <a:xfrm>
            <a:off x="1425184" y="813693"/>
            <a:ext cx="1561274" cy="1500754"/>
            <a:chOff x="0" y="-47625"/>
            <a:chExt cx="456005" cy="503630"/>
          </a:xfrm>
        </p:grpSpPr>
        <p:sp>
          <p:nvSpPr>
            <p:cNvPr id="45" name="Google Shape;141;p12">
              <a:extLst>
                <a:ext uri="{FF2B5EF4-FFF2-40B4-BE49-F238E27FC236}">
                  <a16:creationId xmlns:a16="http://schemas.microsoft.com/office/drawing/2014/main" id="{AED968A3-4412-4875-AAFB-79A23C9369FE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" name="Google Shape;142;p12">
              <a:extLst>
                <a:ext uri="{FF2B5EF4-FFF2-40B4-BE49-F238E27FC236}">
                  <a16:creationId xmlns:a16="http://schemas.microsoft.com/office/drawing/2014/main" id="{91D9C10E-82D7-4FEE-AD38-B8CE6768D9A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143;p12">
            <a:extLst>
              <a:ext uri="{FF2B5EF4-FFF2-40B4-BE49-F238E27FC236}">
                <a16:creationId xmlns:a16="http://schemas.microsoft.com/office/drawing/2014/main" id="{9EAD4F50-3304-4F87-BBE0-659C67617001}"/>
              </a:ext>
            </a:extLst>
          </p:cNvPr>
          <p:cNvGrpSpPr/>
          <p:nvPr/>
        </p:nvGrpSpPr>
        <p:grpSpPr>
          <a:xfrm>
            <a:off x="1577886" y="917865"/>
            <a:ext cx="1559837" cy="1529720"/>
            <a:chOff x="0" y="-47625"/>
            <a:chExt cx="456005" cy="503630"/>
          </a:xfrm>
        </p:grpSpPr>
        <p:sp>
          <p:nvSpPr>
            <p:cNvPr id="48" name="Google Shape;144;p12">
              <a:extLst>
                <a:ext uri="{FF2B5EF4-FFF2-40B4-BE49-F238E27FC236}">
                  <a16:creationId xmlns:a16="http://schemas.microsoft.com/office/drawing/2014/main" id="{7A0DE171-14BC-427C-8A3F-E8C8B0712C58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" name="Google Shape;145;p12">
              <a:extLst>
                <a:ext uri="{FF2B5EF4-FFF2-40B4-BE49-F238E27FC236}">
                  <a16:creationId xmlns:a16="http://schemas.microsoft.com/office/drawing/2014/main" id="{A6983A8B-0455-4E29-9327-A830B2504E7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159;p12">
            <a:extLst>
              <a:ext uri="{FF2B5EF4-FFF2-40B4-BE49-F238E27FC236}">
                <a16:creationId xmlns:a16="http://schemas.microsoft.com/office/drawing/2014/main" id="{08B33DD3-379A-406D-A101-4F947F9BEF2C}"/>
              </a:ext>
            </a:extLst>
          </p:cNvPr>
          <p:cNvSpPr txBox="1"/>
          <p:nvPr/>
        </p:nvSpPr>
        <p:spPr>
          <a:xfrm>
            <a:off x="1575771" y="74051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04.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0F48FE-444E-47AC-B9C3-5D6CA142568C}"/>
              </a:ext>
            </a:extLst>
          </p:cNvPr>
          <p:cNvGrpSpPr/>
          <p:nvPr/>
        </p:nvGrpSpPr>
        <p:grpSpPr>
          <a:xfrm>
            <a:off x="8218834" y="3555593"/>
            <a:ext cx="6891080" cy="4130399"/>
            <a:chOff x="8218834" y="3555593"/>
            <a:chExt cx="6891080" cy="4130399"/>
          </a:xfrm>
        </p:grpSpPr>
        <p:sp>
          <p:nvSpPr>
            <p:cNvPr id="54" name="Google Shape;641;p25">
              <a:extLst>
                <a:ext uri="{FF2B5EF4-FFF2-40B4-BE49-F238E27FC236}">
                  <a16:creationId xmlns:a16="http://schemas.microsoft.com/office/drawing/2014/main" id="{49D7A947-54CC-4763-AFB8-5952054238E1}"/>
                </a:ext>
              </a:extLst>
            </p:cNvPr>
            <p:cNvSpPr txBox="1"/>
            <p:nvPr/>
          </p:nvSpPr>
          <p:spPr>
            <a:xfrm>
              <a:off x="11744989" y="5790088"/>
              <a:ext cx="3364925" cy="1895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Sécurité 🔐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Les données sont protégées par la cryptographie.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DE212A-E88E-4AD6-A411-DCC7FD193D2E}"/>
                </a:ext>
              </a:extLst>
            </p:cNvPr>
            <p:cNvGrpSpPr/>
            <p:nvPr/>
          </p:nvGrpSpPr>
          <p:grpSpPr>
            <a:xfrm>
              <a:off x="8218834" y="3555593"/>
              <a:ext cx="5399719" cy="2023541"/>
              <a:chOff x="8218834" y="3555593"/>
              <a:chExt cx="5399719" cy="2023541"/>
            </a:xfrm>
          </p:grpSpPr>
          <p:grpSp>
            <p:nvGrpSpPr>
              <p:cNvPr id="635" name="Google Shape;635;p25"/>
              <p:cNvGrpSpPr/>
              <p:nvPr/>
            </p:nvGrpSpPr>
            <p:grpSpPr>
              <a:xfrm>
                <a:off x="8218834" y="4334436"/>
                <a:ext cx="3526156" cy="409797"/>
                <a:chOff x="0" y="-47625"/>
                <a:chExt cx="1019993" cy="118539"/>
              </a:xfrm>
            </p:grpSpPr>
            <p:sp>
              <p:nvSpPr>
                <p:cNvPr id="636" name="Google Shape;636;p25"/>
                <p:cNvSpPr/>
                <p:nvPr/>
              </p:nvSpPr>
              <p:spPr>
                <a:xfrm>
                  <a:off x="0" y="0"/>
                  <a:ext cx="1019993" cy="7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993" h="70914" extrusionOk="0">
                      <a:moveTo>
                        <a:pt x="0" y="0"/>
                      </a:moveTo>
                      <a:lnTo>
                        <a:pt x="1019993" y="0"/>
                      </a:lnTo>
                      <a:lnTo>
                        <a:pt x="1019993" y="70914"/>
                      </a:lnTo>
                      <a:lnTo>
                        <a:pt x="0" y="70914"/>
                      </a:lnTo>
                      <a:close/>
                    </a:path>
                  </a:pathLst>
                </a:custGeom>
                <a:solidFill>
                  <a:srgbClr val="5CE1E6"/>
                </a:solidFill>
                <a:ln>
                  <a:noFill/>
                </a:ln>
              </p:spPr>
            </p:sp>
            <p:sp>
              <p:nvSpPr>
                <p:cNvPr id="637" name="Google Shape;637;p25"/>
                <p:cNvSpPr txBox="1"/>
                <p:nvPr/>
              </p:nvSpPr>
              <p:spPr>
                <a:xfrm>
                  <a:off x="0" y="-47625"/>
                  <a:ext cx="1019993" cy="1185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654" name="Google Shape;654;p2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2194122" y="3980344"/>
                <a:ext cx="993950" cy="999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BAED99D-7ED9-41B9-97DE-D527127B16DB}"/>
                  </a:ext>
                </a:extLst>
              </p:cNvPr>
              <p:cNvGrpSpPr/>
              <p:nvPr/>
            </p:nvGrpSpPr>
            <p:grpSpPr>
              <a:xfrm>
                <a:off x="11736635" y="3555593"/>
                <a:ext cx="1881918" cy="2023541"/>
                <a:chOff x="928841" y="3523784"/>
                <a:chExt cx="1881918" cy="2023541"/>
              </a:xfrm>
            </p:grpSpPr>
            <p:grpSp>
              <p:nvGrpSpPr>
                <p:cNvPr id="63" name="Google Shape;614;p25">
                  <a:extLst>
                    <a:ext uri="{FF2B5EF4-FFF2-40B4-BE49-F238E27FC236}">
                      <a16:creationId xmlns:a16="http://schemas.microsoft.com/office/drawing/2014/main" id="{2A6BD26B-7DBB-4AD3-9C37-6F962CF504AA}"/>
                    </a:ext>
                  </a:extLst>
                </p:cNvPr>
                <p:cNvGrpSpPr/>
                <p:nvPr/>
              </p:nvGrpSpPr>
              <p:grpSpPr>
                <a:xfrm>
                  <a:off x="928841" y="352378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7" name="Google Shape;615;p25">
                    <a:extLst>
                      <a:ext uri="{FF2B5EF4-FFF2-40B4-BE49-F238E27FC236}">
                        <a16:creationId xmlns:a16="http://schemas.microsoft.com/office/drawing/2014/main" id="{21011E9E-EAE6-4F91-93F9-073B34DA6DF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8" name="Google Shape;616;p25">
                    <a:extLst>
                      <a:ext uri="{FF2B5EF4-FFF2-40B4-BE49-F238E27FC236}">
                        <a16:creationId xmlns:a16="http://schemas.microsoft.com/office/drawing/2014/main" id="{4983E30D-588A-45C1-9D96-7B7998B2A28D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" name="Google Shape;620;p25">
                  <a:extLst>
                    <a:ext uri="{FF2B5EF4-FFF2-40B4-BE49-F238E27FC236}">
                      <a16:creationId xmlns:a16="http://schemas.microsoft.com/office/drawing/2014/main" id="{BA2FDA21-6F92-4365-968E-F0042D4D4102}"/>
                    </a:ext>
                  </a:extLst>
                </p:cNvPr>
                <p:cNvGrpSpPr/>
                <p:nvPr/>
              </p:nvGrpSpPr>
              <p:grpSpPr>
                <a:xfrm>
                  <a:off x="1079364" y="363510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5" name="Google Shape;621;p25">
                    <a:extLst>
                      <a:ext uri="{FF2B5EF4-FFF2-40B4-BE49-F238E27FC236}">
                        <a16:creationId xmlns:a16="http://schemas.microsoft.com/office/drawing/2014/main" id="{1CCC06DF-219E-433C-B51C-1913AB6AE95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6" name="Google Shape;622;p25">
                    <a:extLst>
                      <a:ext uri="{FF2B5EF4-FFF2-40B4-BE49-F238E27FC236}">
                        <a16:creationId xmlns:a16="http://schemas.microsoft.com/office/drawing/2014/main" id="{66443615-236B-4559-9649-874E73FF103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D3C2D4-5484-447A-A0BA-922A43985D8B}"/>
              </a:ext>
            </a:extLst>
          </p:cNvPr>
          <p:cNvGrpSpPr/>
          <p:nvPr/>
        </p:nvGrpSpPr>
        <p:grpSpPr>
          <a:xfrm>
            <a:off x="2810759" y="3558536"/>
            <a:ext cx="6663790" cy="5860524"/>
            <a:chOff x="2810759" y="3558536"/>
            <a:chExt cx="6663790" cy="5860524"/>
          </a:xfrm>
        </p:grpSpPr>
        <p:sp>
          <p:nvSpPr>
            <p:cNvPr id="53" name="Google Shape;641;p25">
              <a:extLst>
                <a:ext uri="{FF2B5EF4-FFF2-40B4-BE49-F238E27FC236}">
                  <a16:creationId xmlns:a16="http://schemas.microsoft.com/office/drawing/2014/main" id="{C8ED4039-213D-4C32-8B0A-9451332A5733}"/>
                </a:ext>
              </a:extLst>
            </p:cNvPr>
            <p:cNvSpPr txBox="1"/>
            <p:nvPr/>
          </p:nvSpPr>
          <p:spPr>
            <a:xfrm>
              <a:off x="6109624" y="5627253"/>
              <a:ext cx="3364925" cy="3791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Transparence 👁️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Toutes les transactions sont visibles par tous les membres du réseau.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Rien n’est caché, ce qui renforce la confiance.</a:t>
              </a:r>
              <a:endParaRPr lang="en-US" b="1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EDD35D-EDD9-4EA4-895C-90B696CE1956}"/>
                </a:ext>
              </a:extLst>
            </p:cNvPr>
            <p:cNvGrpSpPr/>
            <p:nvPr/>
          </p:nvGrpSpPr>
          <p:grpSpPr>
            <a:xfrm>
              <a:off x="2810759" y="3558536"/>
              <a:ext cx="5415064" cy="2023541"/>
              <a:chOff x="2810759" y="3558536"/>
              <a:chExt cx="5415064" cy="2023541"/>
            </a:xfrm>
          </p:grpSpPr>
          <p:grpSp>
            <p:nvGrpSpPr>
              <p:cNvPr id="632" name="Google Shape;632;p25"/>
              <p:cNvGrpSpPr/>
              <p:nvPr/>
            </p:nvGrpSpPr>
            <p:grpSpPr>
              <a:xfrm>
                <a:off x="2810759" y="4334436"/>
                <a:ext cx="3526156" cy="409797"/>
                <a:chOff x="0" y="-47625"/>
                <a:chExt cx="1019993" cy="118539"/>
              </a:xfrm>
            </p:grpSpPr>
            <p:sp>
              <p:nvSpPr>
                <p:cNvPr id="633" name="Google Shape;633;p25"/>
                <p:cNvSpPr/>
                <p:nvPr/>
              </p:nvSpPr>
              <p:spPr>
                <a:xfrm>
                  <a:off x="0" y="0"/>
                  <a:ext cx="1019993" cy="7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993" h="70914" extrusionOk="0">
                      <a:moveTo>
                        <a:pt x="0" y="0"/>
                      </a:moveTo>
                      <a:lnTo>
                        <a:pt x="1019993" y="0"/>
                      </a:lnTo>
                      <a:lnTo>
                        <a:pt x="1019993" y="70914"/>
                      </a:lnTo>
                      <a:lnTo>
                        <a:pt x="0" y="70914"/>
                      </a:lnTo>
                      <a:close/>
                    </a:path>
                  </a:pathLst>
                </a:custGeom>
                <a:solidFill>
                  <a:srgbClr val="5CE1E6"/>
                </a:solidFill>
                <a:ln>
                  <a:noFill/>
                </a:ln>
              </p:spPr>
            </p:sp>
            <p:sp>
              <p:nvSpPr>
                <p:cNvPr id="634" name="Google Shape;634;p25"/>
                <p:cNvSpPr txBox="1"/>
                <p:nvPr/>
              </p:nvSpPr>
              <p:spPr>
                <a:xfrm>
                  <a:off x="0" y="-47625"/>
                  <a:ext cx="1019993" cy="1185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61400AF-EB93-464E-829E-65CE8230DE20}"/>
                  </a:ext>
                </a:extLst>
              </p:cNvPr>
              <p:cNvGrpSpPr/>
              <p:nvPr/>
            </p:nvGrpSpPr>
            <p:grpSpPr>
              <a:xfrm>
                <a:off x="6343905" y="3558536"/>
                <a:ext cx="1881918" cy="2023541"/>
                <a:chOff x="6343905" y="3558536"/>
                <a:chExt cx="1881918" cy="2023541"/>
              </a:xfrm>
            </p:grpSpPr>
            <p:pic>
              <p:nvPicPr>
                <p:cNvPr id="653" name="Google Shape;653;p25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6730050" y="4136854"/>
                  <a:ext cx="1062037" cy="106203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634A9159-AA3E-47E2-B505-BDC7EAA21CE8}"/>
                    </a:ext>
                  </a:extLst>
                </p:cNvPr>
                <p:cNvGrpSpPr/>
                <p:nvPr/>
              </p:nvGrpSpPr>
              <p:grpSpPr>
                <a:xfrm>
                  <a:off x="6343905" y="3558536"/>
                  <a:ext cx="1881918" cy="2023541"/>
                  <a:chOff x="928841" y="3523784"/>
                  <a:chExt cx="1881918" cy="2023541"/>
                </a:xfrm>
              </p:grpSpPr>
              <p:grpSp>
                <p:nvGrpSpPr>
                  <p:cNvPr id="70" name="Google Shape;614;p25">
                    <a:extLst>
                      <a:ext uri="{FF2B5EF4-FFF2-40B4-BE49-F238E27FC236}">
                        <a16:creationId xmlns:a16="http://schemas.microsoft.com/office/drawing/2014/main" id="{57E2441E-6FDE-4E1E-878F-906E3A519276}"/>
                      </a:ext>
                    </a:extLst>
                  </p:cNvPr>
                  <p:cNvGrpSpPr/>
                  <p:nvPr/>
                </p:nvGrpSpPr>
                <p:grpSpPr>
                  <a:xfrm>
                    <a:off x="928841" y="352378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4" name="Google Shape;615;p25">
                      <a:extLst>
                        <a:ext uri="{FF2B5EF4-FFF2-40B4-BE49-F238E27FC236}">
                          <a16:creationId xmlns:a16="http://schemas.microsoft.com/office/drawing/2014/main" id="{1FEE5DCD-D8CE-4C5A-BF21-F8353414C4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06D59F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75" name="Google Shape;616;p25">
                      <a:extLst>
                        <a:ext uri="{FF2B5EF4-FFF2-40B4-BE49-F238E27FC236}">
                          <a16:creationId xmlns:a16="http://schemas.microsoft.com/office/drawing/2014/main" id="{226E7D3E-054E-4766-80AB-DFA5B23F5F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1" name="Google Shape;620;p25">
                    <a:extLst>
                      <a:ext uri="{FF2B5EF4-FFF2-40B4-BE49-F238E27FC236}">
                        <a16:creationId xmlns:a16="http://schemas.microsoft.com/office/drawing/2014/main" id="{8AF06112-4609-4C27-8721-DF811B50B159}"/>
                      </a:ext>
                    </a:extLst>
                  </p:cNvPr>
                  <p:cNvGrpSpPr/>
                  <p:nvPr/>
                </p:nvGrpSpPr>
                <p:grpSpPr>
                  <a:xfrm>
                    <a:off x="1079364" y="363510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2" name="Google Shape;621;p25">
                      <a:extLst>
                        <a:ext uri="{FF2B5EF4-FFF2-40B4-BE49-F238E27FC236}">
                          <a16:creationId xmlns:a16="http://schemas.microsoft.com/office/drawing/2014/main" id="{91236B16-96AE-445E-BF02-0EF2AB953B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5CE1E6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73" name="Google Shape;622;p25">
                      <a:extLst>
                        <a:ext uri="{FF2B5EF4-FFF2-40B4-BE49-F238E27FC236}">
                          <a16:creationId xmlns:a16="http://schemas.microsoft.com/office/drawing/2014/main" id="{EE4173F8-5D16-4EC5-B761-1F0CEE2F80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518136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11" y="-842275"/>
            <a:ext cx="17278177" cy="11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 txBox="1"/>
          <p:nvPr/>
        </p:nvSpPr>
        <p:spPr>
          <a:xfrm>
            <a:off x="4478917" y="1128727"/>
            <a:ext cx="652208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Caractéristiques clés </a:t>
            </a:r>
            <a:endParaRPr lang="en-US" sz="6000" dirty="0"/>
          </a:p>
        </p:txBody>
      </p:sp>
      <p:grpSp>
        <p:nvGrpSpPr>
          <p:cNvPr id="646" name="Google Shape;646;p25"/>
          <p:cNvGrpSpPr/>
          <p:nvPr/>
        </p:nvGrpSpPr>
        <p:grpSpPr>
          <a:xfrm>
            <a:off x="14320202" y="452860"/>
            <a:ext cx="698968" cy="698968"/>
            <a:chOff x="0" y="0"/>
            <a:chExt cx="812800" cy="812800"/>
          </a:xfrm>
        </p:grpSpPr>
        <p:sp>
          <p:nvSpPr>
            <p:cNvPr id="647" name="Google Shape;647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1" name="Google Shape;6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9507" y="1647321"/>
            <a:ext cx="4938238" cy="25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140;p12">
            <a:extLst>
              <a:ext uri="{FF2B5EF4-FFF2-40B4-BE49-F238E27FC236}">
                <a16:creationId xmlns:a16="http://schemas.microsoft.com/office/drawing/2014/main" id="{2D000727-04E8-4442-9DAB-137CB066FFFE}"/>
              </a:ext>
            </a:extLst>
          </p:cNvPr>
          <p:cNvGrpSpPr/>
          <p:nvPr/>
        </p:nvGrpSpPr>
        <p:grpSpPr>
          <a:xfrm>
            <a:off x="1425184" y="813693"/>
            <a:ext cx="1561274" cy="1500754"/>
            <a:chOff x="0" y="-47625"/>
            <a:chExt cx="456005" cy="503630"/>
          </a:xfrm>
        </p:grpSpPr>
        <p:sp>
          <p:nvSpPr>
            <p:cNvPr id="45" name="Google Shape;141;p12">
              <a:extLst>
                <a:ext uri="{FF2B5EF4-FFF2-40B4-BE49-F238E27FC236}">
                  <a16:creationId xmlns:a16="http://schemas.microsoft.com/office/drawing/2014/main" id="{AED968A3-4412-4875-AAFB-79A23C9369FE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" name="Google Shape;142;p12">
              <a:extLst>
                <a:ext uri="{FF2B5EF4-FFF2-40B4-BE49-F238E27FC236}">
                  <a16:creationId xmlns:a16="http://schemas.microsoft.com/office/drawing/2014/main" id="{91D9C10E-82D7-4FEE-AD38-B8CE6768D9A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143;p12">
            <a:extLst>
              <a:ext uri="{FF2B5EF4-FFF2-40B4-BE49-F238E27FC236}">
                <a16:creationId xmlns:a16="http://schemas.microsoft.com/office/drawing/2014/main" id="{9EAD4F50-3304-4F87-BBE0-659C67617001}"/>
              </a:ext>
            </a:extLst>
          </p:cNvPr>
          <p:cNvGrpSpPr/>
          <p:nvPr/>
        </p:nvGrpSpPr>
        <p:grpSpPr>
          <a:xfrm>
            <a:off x="1577886" y="917865"/>
            <a:ext cx="1559837" cy="1529720"/>
            <a:chOff x="0" y="-47625"/>
            <a:chExt cx="456005" cy="503630"/>
          </a:xfrm>
        </p:grpSpPr>
        <p:sp>
          <p:nvSpPr>
            <p:cNvPr id="48" name="Google Shape;144;p12">
              <a:extLst>
                <a:ext uri="{FF2B5EF4-FFF2-40B4-BE49-F238E27FC236}">
                  <a16:creationId xmlns:a16="http://schemas.microsoft.com/office/drawing/2014/main" id="{7A0DE171-14BC-427C-8A3F-E8C8B0712C58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" name="Google Shape;145;p12">
              <a:extLst>
                <a:ext uri="{FF2B5EF4-FFF2-40B4-BE49-F238E27FC236}">
                  <a16:creationId xmlns:a16="http://schemas.microsoft.com/office/drawing/2014/main" id="{A6983A8B-0455-4E29-9327-A830B2504E7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159;p12">
            <a:extLst>
              <a:ext uri="{FF2B5EF4-FFF2-40B4-BE49-F238E27FC236}">
                <a16:creationId xmlns:a16="http://schemas.microsoft.com/office/drawing/2014/main" id="{08B33DD3-379A-406D-A101-4F947F9BEF2C}"/>
              </a:ext>
            </a:extLst>
          </p:cNvPr>
          <p:cNvSpPr txBox="1"/>
          <p:nvPr/>
        </p:nvSpPr>
        <p:spPr>
          <a:xfrm>
            <a:off x="1575771" y="74051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04.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0F48FE-444E-47AC-B9C3-5D6CA142568C}"/>
              </a:ext>
            </a:extLst>
          </p:cNvPr>
          <p:cNvGrpSpPr/>
          <p:nvPr/>
        </p:nvGrpSpPr>
        <p:grpSpPr>
          <a:xfrm>
            <a:off x="8218834" y="3555593"/>
            <a:ext cx="9564254" cy="5552326"/>
            <a:chOff x="8218834" y="3555593"/>
            <a:chExt cx="9564254" cy="5552326"/>
          </a:xfrm>
        </p:grpSpPr>
        <p:sp>
          <p:nvSpPr>
            <p:cNvPr id="54" name="Google Shape;641;p25">
              <a:extLst>
                <a:ext uri="{FF2B5EF4-FFF2-40B4-BE49-F238E27FC236}">
                  <a16:creationId xmlns:a16="http://schemas.microsoft.com/office/drawing/2014/main" id="{49D7A947-54CC-4763-AFB8-5952054238E1}"/>
                </a:ext>
              </a:extLst>
            </p:cNvPr>
            <p:cNvSpPr txBox="1"/>
            <p:nvPr/>
          </p:nvSpPr>
          <p:spPr>
            <a:xfrm>
              <a:off x="11744989" y="5790088"/>
              <a:ext cx="6038099" cy="3317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Automatisation avec les contrats intelligents 🤖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Ce sont des programmes intégrés à la blockchain qui s’exécutent automatiquement.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Exemple : paiement automatique si une condition est remplie.</a:t>
              </a:r>
              <a:endParaRPr lang="en-US" b="1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DE212A-E88E-4AD6-A411-DCC7FD193D2E}"/>
                </a:ext>
              </a:extLst>
            </p:cNvPr>
            <p:cNvGrpSpPr/>
            <p:nvPr/>
          </p:nvGrpSpPr>
          <p:grpSpPr>
            <a:xfrm>
              <a:off x="8218834" y="3555593"/>
              <a:ext cx="5399719" cy="2023541"/>
              <a:chOff x="8218834" y="3555593"/>
              <a:chExt cx="5399719" cy="2023541"/>
            </a:xfrm>
          </p:grpSpPr>
          <p:grpSp>
            <p:nvGrpSpPr>
              <p:cNvPr id="635" name="Google Shape;635;p25"/>
              <p:cNvGrpSpPr/>
              <p:nvPr/>
            </p:nvGrpSpPr>
            <p:grpSpPr>
              <a:xfrm>
                <a:off x="8218834" y="4334436"/>
                <a:ext cx="3526156" cy="409797"/>
                <a:chOff x="0" y="-47625"/>
                <a:chExt cx="1019993" cy="118539"/>
              </a:xfrm>
            </p:grpSpPr>
            <p:sp>
              <p:nvSpPr>
                <p:cNvPr id="636" name="Google Shape;636;p25"/>
                <p:cNvSpPr/>
                <p:nvPr/>
              </p:nvSpPr>
              <p:spPr>
                <a:xfrm>
                  <a:off x="0" y="0"/>
                  <a:ext cx="1019993" cy="7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993" h="70914" extrusionOk="0">
                      <a:moveTo>
                        <a:pt x="0" y="0"/>
                      </a:moveTo>
                      <a:lnTo>
                        <a:pt x="1019993" y="0"/>
                      </a:lnTo>
                      <a:lnTo>
                        <a:pt x="1019993" y="70914"/>
                      </a:lnTo>
                      <a:lnTo>
                        <a:pt x="0" y="70914"/>
                      </a:lnTo>
                      <a:close/>
                    </a:path>
                  </a:pathLst>
                </a:custGeom>
                <a:solidFill>
                  <a:srgbClr val="5CE1E6"/>
                </a:solidFill>
                <a:ln>
                  <a:noFill/>
                </a:ln>
              </p:spPr>
            </p:sp>
            <p:sp>
              <p:nvSpPr>
                <p:cNvPr id="637" name="Google Shape;637;p25"/>
                <p:cNvSpPr txBox="1"/>
                <p:nvPr/>
              </p:nvSpPr>
              <p:spPr>
                <a:xfrm>
                  <a:off x="0" y="-47625"/>
                  <a:ext cx="1019993" cy="1185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654" name="Google Shape;654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2194122" y="3980344"/>
                <a:ext cx="993950" cy="999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BAED99D-7ED9-41B9-97DE-D527127B16DB}"/>
                  </a:ext>
                </a:extLst>
              </p:cNvPr>
              <p:cNvGrpSpPr/>
              <p:nvPr/>
            </p:nvGrpSpPr>
            <p:grpSpPr>
              <a:xfrm>
                <a:off x="11736635" y="3555593"/>
                <a:ext cx="1881918" cy="2023541"/>
                <a:chOff x="928841" y="3523784"/>
                <a:chExt cx="1881918" cy="2023541"/>
              </a:xfrm>
            </p:grpSpPr>
            <p:grpSp>
              <p:nvGrpSpPr>
                <p:cNvPr id="63" name="Google Shape;614;p25">
                  <a:extLst>
                    <a:ext uri="{FF2B5EF4-FFF2-40B4-BE49-F238E27FC236}">
                      <a16:creationId xmlns:a16="http://schemas.microsoft.com/office/drawing/2014/main" id="{2A6BD26B-7DBB-4AD3-9C37-6F962CF504AA}"/>
                    </a:ext>
                  </a:extLst>
                </p:cNvPr>
                <p:cNvGrpSpPr/>
                <p:nvPr/>
              </p:nvGrpSpPr>
              <p:grpSpPr>
                <a:xfrm>
                  <a:off x="928841" y="352378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7" name="Google Shape;615;p25">
                    <a:extLst>
                      <a:ext uri="{FF2B5EF4-FFF2-40B4-BE49-F238E27FC236}">
                        <a16:creationId xmlns:a16="http://schemas.microsoft.com/office/drawing/2014/main" id="{21011E9E-EAE6-4F91-93F9-073B34DA6DF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8" name="Google Shape;616;p25">
                    <a:extLst>
                      <a:ext uri="{FF2B5EF4-FFF2-40B4-BE49-F238E27FC236}">
                        <a16:creationId xmlns:a16="http://schemas.microsoft.com/office/drawing/2014/main" id="{4983E30D-588A-45C1-9D96-7B7998B2A28D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" name="Google Shape;620;p25">
                  <a:extLst>
                    <a:ext uri="{FF2B5EF4-FFF2-40B4-BE49-F238E27FC236}">
                      <a16:creationId xmlns:a16="http://schemas.microsoft.com/office/drawing/2014/main" id="{BA2FDA21-6F92-4365-968E-F0042D4D4102}"/>
                    </a:ext>
                  </a:extLst>
                </p:cNvPr>
                <p:cNvGrpSpPr/>
                <p:nvPr/>
              </p:nvGrpSpPr>
              <p:grpSpPr>
                <a:xfrm>
                  <a:off x="1079364" y="363510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5" name="Google Shape;621;p25">
                    <a:extLst>
                      <a:ext uri="{FF2B5EF4-FFF2-40B4-BE49-F238E27FC236}">
                        <a16:creationId xmlns:a16="http://schemas.microsoft.com/office/drawing/2014/main" id="{1CCC06DF-219E-433C-B51C-1913AB6AE95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6" name="Google Shape;622;p25">
                    <a:extLst>
                      <a:ext uri="{FF2B5EF4-FFF2-40B4-BE49-F238E27FC236}">
                        <a16:creationId xmlns:a16="http://schemas.microsoft.com/office/drawing/2014/main" id="{66443615-236B-4559-9649-874E73FF103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D3C2D4-5484-447A-A0BA-922A43985D8B}"/>
              </a:ext>
            </a:extLst>
          </p:cNvPr>
          <p:cNvGrpSpPr/>
          <p:nvPr/>
        </p:nvGrpSpPr>
        <p:grpSpPr>
          <a:xfrm>
            <a:off x="2810759" y="3558536"/>
            <a:ext cx="6663790" cy="5860524"/>
            <a:chOff x="2810759" y="3558536"/>
            <a:chExt cx="6663790" cy="5860524"/>
          </a:xfrm>
        </p:grpSpPr>
        <p:sp>
          <p:nvSpPr>
            <p:cNvPr id="53" name="Google Shape;641;p25">
              <a:extLst>
                <a:ext uri="{FF2B5EF4-FFF2-40B4-BE49-F238E27FC236}">
                  <a16:creationId xmlns:a16="http://schemas.microsoft.com/office/drawing/2014/main" id="{C8ED4039-213D-4C32-8B0A-9451332A5733}"/>
                </a:ext>
              </a:extLst>
            </p:cNvPr>
            <p:cNvSpPr txBox="1"/>
            <p:nvPr/>
          </p:nvSpPr>
          <p:spPr>
            <a:xfrm>
              <a:off x="6109624" y="5627253"/>
              <a:ext cx="3364925" cy="3791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Traçabilité 🧾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Chaque bloc garde l’historique complet des actions.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On peut facilement suivre l’origine et le parcours d’une donnée.</a:t>
              </a:r>
              <a:endParaRPr lang="en-US" b="1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EDD35D-EDD9-4EA4-895C-90B696CE1956}"/>
                </a:ext>
              </a:extLst>
            </p:cNvPr>
            <p:cNvGrpSpPr/>
            <p:nvPr/>
          </p:nvGrpSpPr>
          <p:grpSpPr>
            <a:xfrm>
              <a:off x="2810759" y="3558536"/>
              <a:ext cx="5415064" cy="2023541"/>
              <a:chOff x="2810759" y="3558536"/>
              <a:chExt cx="5415064" cy="2023541"/>
            </a:xfrm>
          </p:grpSpPr>
          <p:grpSp>
            <p:nvGrpSpPr>
              <p:cNvPr id="632" name="Google Shape;632;p25"/>
              <p:cNvGrpSpPr/>
              <p:nvPr/>
            </p:nvGrpSpPr>
            <p:grpSpPr>
              <a:xfrm>
                <a:off x="2810759" y="4334436"/>
                <a:ext cx="3526156" cy="409797"/>
                <a:chOff x="0" y="-47625"/>
                <a:chExt cx="1019993" cy="118539"/>
              </a:xfrm>
            </p:grpSpPr>
            <p:sp>
              <p:nvSpPr>
                <p:cNvPr id="633" name="Google Shape;633;p25"/>
                <p:cNvSpPr/>
                <p:nvPr/>
              </p:nvSpPr>
              <p:spPr>
                <a:xfrm>
                  <a:off x="0" y="0"/>
                  <a:ext cx="1019993" cy="7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993" h="70914" extrusionOk="0">
                      <a:moveTo>
                        <a:pt x="0" y="0"/>
                      </a:moveTo>
                      <a:lnTo>
                        <a:pt x="1019993" y="0"/>
                      </a:lnTo>
                      <a:lnTo>
                        <a:pt x="1019993" y="70914"/>
                      </a:lnTo>
                      <a:lnTo>
                        <a:pt x="0" y="70914"/>
                      </a:lnTo>
                      <a:close/>
                    </a:path>
                  </a:pathLst>
                </a:custGeom>
                <a:solidFill>
                  <a:srgbClr val="5CE1E6"/>
                </a:solidFill>
                <a:ln>
                  <a:noFill/>
                </a:ln>
              </p:spPr>
            </p:sp>
            <p:sp>
              <p:nvSpPr>
                <p:cNvPr id="634" name="Google Shape;634;p25"/>
                <p:cNvSpPr txBox="1"/>
                <p:nvPr/>
              </p:nvSpPr>
              <p:spPr>
                <a:xfrm>
                  <a:off x="0" y="-47625"/>
                  <a:ext cx="1019993" cy="1185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61400AF-EB93-464E-829E-65CE8230DE20}"/>
                  </a:ext>
                </a:extLst>
              </p:cNvPr>
              <p:cNvGrpSpPr/>
              <p:nvPr/>
            </p:nvGrpSpPr>
            <p:grpSpPr>
              <a:xfrm>
                <a:off x="6343905" y="3558536"/>
                <a:ext cx="1881918" cy="2023541"/>
                <a:chOff x="6343905" y="3558536"/>
                <a:chExt cx="1881918" cy="2023541"/>
              </a:xfrm>
            </p:grpSpPr>
            <p:pic>
              <p:nvPicPr>
                <p:cNvPr id="653" name="Google Shape;653;p25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6730050" y="4136854"/>
                  <a:ext cx="1062037" cy="106203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634A9159-AA3E-47E2-B505-BDC7EAA21CE8}"/>
                    </a:ext>
                  </a:extLst>
                </p:cNvPr>
                <p:cNvGrpSpPr/>
                <p:nvPr/>
              </p:nvGrpSpPr>
              <p:grpSpPr>
                <a:xfrm>
                  <a:off x="6343905" y="3558536"/>
                  <a:ext cx="1881918" cy="2023541"/>
                  <a:chOff x="928841" y="3523784"/>
                  <a:chExt cx="1881918" cy="2023541"/>
                </a:xfrm>
              </p:grpSpPr>
              <p:grpSp>
                <p:nvGrpSpPr>
                  <p:cNvPr id="70" name="Google Shape;614;p25">
                    <a:extLst>
                      <a:ext uri="{FF2B5EF4-FFF2-40B4-BE49-F238E27FC236}">
                        <a16:creationId xmlns:a16="http://schemas.microsoft.com/office/drawing/2014/main" id="{57E2441E-6FDE-4E1E-878F-906E3A519276}"/>
                      </a:ext>
                    </a:extLst>
                  </p:cNvPr>
                  <p:cNvGrpSpPr/>
                  <p:nvPr/>
                </p:nvGrpSpPr>
                <p:grpSpPr>
                  <a:xfrm>
                    <a:off x="928841" y="352378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4" name="Google Shape;615;p25">
                      <a:extLst>
                        <a:ext uri="{FF2B5EF4-FFF2-40B4-BE49-F238E27FC236}">
                          <a16:creationId xmlns:a16="http://schemas.microsoft.com/office/drawing/2014/main" id="{1FEE5DCD-D8CE-4C5A-BF21-F8353414C4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06D59F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75" name="Google Shape;616;p25">
                      <a:extLst>
                        <a:ext uri="{FF2B5EF4-FFF2-40B4-BE49-F238E27FC236}">
                          <a16:creationId xmlns:a16="http://schemas.microsoft.com/office/drawing/2014/main" id="{226E7D3E-054E-4766-80AB-DFA5B23F5F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1" name="Google Shape;620;p25">
                    <a:extLst>
                      <a:ext uri="{FF2B5EF4-FFF2-40B4-BE49-F238E27FC236}">
                        <a16:creationId xmlns:a16="http://schemas.microsoft.com/office/drawing/2014/main" id="{8AF06112-4609-4C27-8721-DF811B50B159}"/>
                      </a:ext>
                    </a:extLst>
                  </p:cNvPr>
                  <p:cNvGrpSpPr/>
                  <p:nvPr/>
                </p:nvGrpSpPr>
                <p:grpSpPr>
                  <a:xfrm>
                    <a:off x="1079364" y="363510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2" name="Google Shape;621;p25">
                      <a:extLst>
                        <a:ext uri="{FF2B5EF4-FFF2-40B4-BE49-F238E27FC236}">
                          <a16:creationId xmlns:a16="http://schemas.microsoft.com/office/drawing/2014/main" id="{91236B16-96AE-445E-BF02-0EF2AB953B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5CE1E6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3" name="Google Shape;622;p25">
                      <a:extLst>
                        <a:ext uri="{FF2B5EF4-FFF2-40B4-BE49-F238E27FC236}">
                          <a16:creationId xmlns:a16="http://schemas.microsoft.com/office/drawing/2014/main" id="{EE4173F8-5D16-4EC5-B761-1F0CEE2F80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25192AF-BAC6-47F2-905E-4BF76A56E63C}"/>
              </a:ext>
            </a:extLst>
          </p:cNvPr>
          <p:cNvGrpSpPr/>
          <p:nvPr/>
        </p:nvGrpSpPr>
        <p:grpSpPr>
          <a:xfrm>
            <a:off x="928841" y="3523784"/>
            <a:ext cx="3413857" cy="5522198"/>
            <a:chOff x="928841" y="3523784"/>
            <a:chExt cx="3413857" cy="552219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3DB9BA3-4EEB-41C0-9ECD-6C599E896598}"/>
                </a:ext>
              </a:extLst>
            </p:cNvPr>
            <p:cNvGrpSpPr/>
            <p:nvPr/>
          </p:nvGrpSpPr>
          <p:grpSpPr>
            <a:xfrm>
              <a:off x="928841" y="3523784"/>
              <a:ext cx="3413857" cy="5522198"/>
              <a:chOff x="928841" y="3523784"/>
              <a:chExt cx="3413857" cy="5522198"/>
            </a:xfrm>
          </p:grpSpPr>
          <p:sp>
            <p:nvSpPr>
              <p:cNvPr id="641" name="Google Shape;641;p25"/>
              <p:cNvSpPr txBox="1"/>
              <p:nvPr/>
            </p:nvSpPr>
            <p:spPr>
              <a:xfrm>
                <a:off x="977773" y="5728151"/>
                <a:ext cx="3364925" cy="3317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1">
                  <a:lnSpc>
                    <a:spcPct val="140000"/>
                  </a:lnSpc>
                </a:pPr>
                <a:r>
                  <a:rPr lang="fr-FR" sz="2200" b="1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Immuabilité 📜</a:t>
                </a:r>
              </a:p>
              <a:p>
                <a:pPr lvl="1">
                  <a:lnSpc>
                    <a:spcPct val="140000"/>
                  </a:lnSpc>
                </a:pPr>
                <a:r>
                  <a:rPr lang="fr-FR" sz="2200" b="1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 Il est impossible de modifier une ancienne transaction.</a:t>
                </a:r>
              </a:p>
              <a:p>
                <a:pPr lvl="1">
                  <a:lnSpc>
                    <a:spcPct val="140000"/>
                  </a:lnSpc>
                </a:pPr>
                <a:r>
                  <a:rPr lang="fr-FR" sz="2200" b="1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 Cela empêche la fraude ou les manipulations.</a:t>
                </a:r>
                <a:endParaRPr lang="en-US" b="1" dirty="0"/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0B90668-969D-4D41-B1AF-EA62A9F9EFDB}"/>
                  </a:ext>
                </a:extLst>
              </p:cNvPr>
              <p:cNvGrpSpPr/>
              <p:nvPr/>
            </p:nvGrpSpPr>
            <p:grpSpPr>
              <a:xfrm>
                <a:off x="928841" y="3523784"/>
                <a:ext cx="1881918" cy="2023541"/>
                <a:chOff x="928841" y="3523784"/>
                <a:chExt cx="1881918" cy="2023541"/>
              </a:xfrm>
            </p:grpSpPr>
            <p:grpSp>
              <p:nvGrpSpPr>
                <p:cNvPr id="614" name="Google Shape;614;p25"/>
                <p:cNvGrpSpPr/>
                <p:nvPr/>
              </p:nvGrpSpPr>
              <p:grpSpPr>
                <a:xfrm>
                  <a:off x="928841" y="352378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15" name="Google Shape;615;p25"/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16" name="Google Shape;616;p25"/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0" name="Google Shape;620;p25"/>
                <p:cNvGrpSpPr/>
                <p:nvPr/>
              </p:nvGrpSpPr>
              <p:grpSpPr>
                <a:xfrm>
                  <a:off x="1079364" y="363510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21" name="Google Shape;621;p25"/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22" name="Google Shape;622;p25"/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pic>
          <p:nvPicPr>
            <p:cNvPr id="55" name="Google Shape;272;p15">
              <a:extLst>
                <a:ext uri="{FF2B5EF4-FFF2-40B4-BE49-F238E27FC236}">
                  <a16:creationId xmlns:a16="http://schemas.microsoft.com/office/drawing/2014/main" id="{CB142AEE-66A1-4FAF-9FC9-F841731A76AF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23407" y="3990446"/>
              <a:ext cx="1131875" cy="109777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18503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952" y="23175"/>
            <a:ext cx="19109100" cy="10636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5" name="Google Shape;455;p21"/>
          <p:cNvGrpSpPr/>
          <p:nvPr/>
        </p:nvGrpSpPr>
        <p:grpSpPr>
          <a:xfrm>
            <a:off x="812149" y="1516557"/>
            <a:ext cx="2790098" cy="3081495"/>
            <a:chOff x="0" y="-47625"/>
            <a:chExt cx="456005" cy="503630"/>
          </a:xfrm>
        </p:grpSpPr>
        <p:sp>
          <p:nvSpPr>
            <p:cNvPr id="456" name="Google Shape;456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57" name="Google Shape;457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1"/>
          <p:cNvGrpSpPr/>
          <p:nvPr/>
        </p:nvGrpSpPr>
        <p:grpSpPr>
          <a:xfrm>
            <a:off x="5283645" y="1516557"/>
            <a:ext cx="2790098" cy="3081495"/>
            <a:chOff x="0" y="-47625"/>
            <a:chExt cx="456005" cy="503630"/>
          </a:xfrm>
        </p:grpSpPr>
        <p:sp>
          <p:nvSpPr>
            <p:cNvPr id="459" name="Google Shape;459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0" name="Google Shape;460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21"/>
          <p:cNvGrpSpPr/>
          <p:nvPr/>
        </p:nvGrpSpPr>
        <p:grpSpPr>
          <a:xfrm>
            <a:off x="1054713" y="1695946"/>
            <a:ext cx="2790098" cy="3081495"/>
            <a:chOff x="0" y="-47625"/>
            <a:chExt cx="456005" cy="503630"/>
          </a:xfrm>
        </p:grpSpPr>
        <p:sp>
          <p:nvSpPr>
            <p:cNvPr id="462" name="Google Shape;462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3" name="Google Shape;463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21"/>
          <p:cNvGrpSpPr/>
          <p:nvPr/>
        </p:nvGrpSpPr>
        <p:grpSpPr>
          <a:xfrm>
            <a:off x="5526210" y="1695946"/>
            <a:ext cx="2790098" cy="3081495"/>
            <a:chOff x="0" y="-47625"/>
            <a:chExt cx="456005" cy="503630"/>
          </a:xfrm>
        </p:grpSpPr>
        <p:sp>
          <p:nvSpPr>
            <p:cNvPr id="465" name="Google Shape;465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6" name="Google Shape;466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1"/>
          <p:cNvGrpSpPr/>
          <p:nvPr/>
        </p:nvGrpSpPr>
        <p:grpSpPr>
          <a:xfrm>
            <a:off x="5283645" y="5155893"/>
            <a:ext cx="3032662" cy="4334843"/>
            <a:chOff x="0" y="-47625"/>
            <a:chExt cx="495649" cy="708474"/>
          </a:xfrm>
        </p:grpSpPr>
        <p:sp>
          <p:nvSpPr>
            <p:cNvPr id="468" name="Google Shape;468;p21"/>
            <p:cNvSpPr/>
            <p:nvPr/>
          </p:nvSpPr>
          <p:spPr>
            <a:xfrm>
              <a:off x="0" y="0"/>
              <a:ext cx="495649" cy="660849"/>
            </a:xfrm>
            <a:custGeom>
              <a:avLst/>
              <a:gdLst/>
              <a:ahLst/>
              <a:cxnLst/>
              <a:rect l="l" t="t" r="r" b="b"/>
              <a:pathLst>
                <a:path w="495649" h="660849" extrusionOk="0">
                  <a:moveTo>
                    <a:pt x="0" y="0"/>
                  </a:moveTo>
                  <a:lnTo>
                    <a:pt x="495649" y="0"/>
                  </a:lnTo>
                  <a:lnTo>
                    <a:pt x="495649" y="660849"/>
                  </a:lnTo>
                  <a:lnTo>
                    <a:pt x="0" y="660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9" name="Google Shape;469;p21"/>
            <p:cNvSpPr txBox="1"/>
            <p:nvPr/>
          </p:nvSpPr>
          <p:spPr>
            <a:xfrm>
              <a:off x="0" y="-47625"/>
              <a:ext cx="495649" cy="708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0" name="Google Shape;470;p21"/>
          <p:cNvGrpSpPr/>
          <p:nvPr/>
        </p:nvGrpSpPr>
        <p:grpSpPr>
          <a:xfrm>
            <a:off x="812149" y="5155893"/>
            <a:ext cx="3032662" cy="4334843"/>
            <a:chOff x="0" y="-47625"/>
            <a:chExt cx="495649" cy="708474"/>
          </a:xfrm>
        </p:grpSpPr>
        <p:sp>
          <p:nvSpPr>
            <p:cNvPr id="471" name="Google Shape;471;p21"/>
            <p:cNvSpPr/>
            <p:nvPr/>
          </p:nvSpPr>
          <p:spPr>
            <a:xfrm>
              <a:off x="0" y="0"/>
              <a:ext cx="495649" cy="660849"/>
            </a:xfrm>
            <a:custGeom>
              <a:avLst/>
              <a:gdLst/>
              <a:ahLst/>
              <a:cxnLst/>
              <a:rect l="l" t="t" r="r" b="b"/>
              <a:pathLst>
                <a:path w="495649" h="660849" extrusionOk="0">
                  <a:moveTo>
                    <a:pt x="0" y="0"/>
                  </a:moveTo>
                  <a:lnTo>
                    <a:pt x="495649" y="0"/>
                  </a:lnTo>
                  <a:lnTo>
                    <a:pt x="495649" y="660849"/>
                  </a:lnTo>
                  <a:lnTo>
                    <a:pt x="0" y="660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72" name="Google Shape;472;p21"/>
            <p:cNvSpPr txBox="1"/>
            <p:nvPr/>
          </p:nvSpPr>
          <p:spPr>
            <a:xfrm>
              <a:off x="0" y="-47625"/>
              <a:ext cx="495649" cy="708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3" name="Google Shape;473;p21"/>
          <p:cNvGrpSpPr/>
          <p:nvPr/>
        </p:nvGrpSpPr>
        <p:grpSpPr>
          <a:xfrm>
            <a:off x="9757306" y="5155893"/>
            <a:ext cx="3032662" cy="4334843"/>
            <a:chOff x="0" y="-47625"/>
            <a:chExt cx="495649" cy="708474"/>
          </a:xfrm>
        </p:grpSpPr>
        <p:sp>
          <p:nvSpPr>
            <p:cNvPr id="474" name="Google Shape;474;p21"/>
            <p:cNvSpPr/>
            <p:nvPr/>
          </p:nvSpPr>
          <p:spPr>
            <a:xfrm>
              <a:off x="0" y="0"/>
              <a:ext cx="495649" cy="660849"/>
            </a:xfrm>
            <a:custGeom>
              <a:avLst/>
              <a:gdLst/>
              <a:ahLst/>
              <a:cxnLst/>
              <a:rect l="l" t="t" r="r" b="b"/>
              <a:pathLst>
                <a:path w="495649" h="660849" extrusionOk="0">
                  <a:moveTo>
                    <a:pt x="0" y="0"/>
                  </a:moveTo>
                  <a:lnTo>
                    <a:pt x="495649" y="0"/>
                  </a:lnTo>
                  <a:lnTo>
                    <a:pt x="495649" y="660849"/>
                  </a:lnTo>
                  <a:lnTo>
                    <a:pt x="0" y="660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75" name="Google Shape;475;p21"/>
            <p:cNvSpPr txBox="1"/>
            <p:nvPr/>
          </p:nvSpPr>
          <p:spPr>
            <a:xfrm>
              <a:off x="0" y="-47625"/>
              <a:ext cx="495649" cy="708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6" name="Google Shape;476;p21"/>
          <p:cNvGrpSpPr/>
          <p:nvPr/>
        </p:nvGrpSpPr>
        <p:grpSpPr>
          <a:xfrm>
            <a:off x="14228802" y="5155893"/>
            <a:ext cx="3032662" cy="4334843"/>
            <a:chOff x="0" y="-47625"/>
            <a:chExt cx="495649" cy="708474"/>
          </a:xfrm>
        </p:grpSpPr>
        <p:sp>
          <p:nvSpPr>
            <p:cNvPr id="477" name="Google Shape;477;p21"/>
            <p:cNvSpPr/>
            <p:nvPr/>
          </p:nvSpPr>
          <p:spPr>
            <a:xfrm>
              <a:off x="0" y="0"/>
              <a:ext cx="495649" cy="660849"/>
            </a:xfrm>
            <a:custGeom>
              <a:avLst/>
              <a:gdLst/>
              <a:ahLst/>
              <a:cxnLst/>
              <a:rect l="l" t="t" r="r" b="b"/>
              <a:pathLst>
                <a:path w="495649" h="660849" extrusionOk="0">
                  <a:moveTo>
                    <a:pt x="0" y="0"/>
                  </a:moveTo>
                  <a:lnTo>
                    <a:pt x="495649" y="0"/>
                  </a:lnTo>
                  <a:lnTo>
                    <a:pt x="495649" y="660849"/>
                  </a:lnTo>
                  <a:lnTo>
                    <a:pt x="0" y="660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78" name="Google Shape;478;p21"/>
            <p:cNvSpPr txBox="1"/>
            <p:nvPr/>
          </p:nvSpPr>
          <p:spPr>
            <a:xfrm>
              <a:off x="0" y="-47625"/>
              <a:ext cx="495649" cy="708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21"/>
          <p:cNvGrpSpPr/>
          <p:nvPr/>
        </p:nvGrpSpPr>
        <p:grpSpPr>
          <a:xfrm>
            <a:off x="9755142" y="1516557"/>
            <a:ext cx="2790098" cy="3081495"/>
            <a:chOff x="0" y="-47625"/>
            <a:chExt cx="456005" cy="503630"/>
          </a:xfrm>
        </p:grpSpPr>
        <p:sp>
          <p:nvSpPr>
            <p:cNvPr id="480" name="Google Shape;480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81" name="Google Shape;481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p21"/>
          <p:cNvGrpSpPr/>
          <p:nvPr/>
        </p:nvGrpSpPr>
        <p:grpSpPr>
          <a:xfrm>
            <a:off x="9997706" y="1695946"/>
            <a:ext cx="2790098" cy="3081495"/>
            <a:chOff x="0" y="-47625"/>
            <a:chExt cx="456005" cy="503630"/>
          </a:xfrm>
        </p:grpSpPr>
        <p:sp>
          <p:nvSpPr>
            <p:cNvPr id="483" name="Google Shape;483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84" name="Google Shape;484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p21"/>
          <p:cNvGrpSpPr/>
          <p:nvPr/>
        </p:nvGrpSpPr>
        <p:grpSpPr>
          <a:xfrm>
            <a:off x="14226638" y="1516557"/>
            <a:ext cx="2790098" cy="3081495"/>
            <a:chOff x="0" y="-47625"/>
            <a:chExt cx="456005" cy="503630"/>
          </a:xfrm>
        </p:grpSpPr>
        <p:sp>
          <p:nvSpPr>
            <p:cNvPr id="486" name="Google Shape;486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87" name="Google Shape;487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8" name="Google Shape;488;p21"/>
          <p:cNvGrpSpPr/>
          <p:nvPr/>
        </p:nvGrpSpPr>
        <p:grpSpPr>
          <a:xfrm>
            <a:off x="14469202" y="1695946"/>
            <a:ext cx="2790098" cy="3081495"/>
            <a:chOff x="0" y="-47625"/>
            <a:chExt cx="456005" cy="503630"/>
          </a:xfrm>
        </p:grpSpPr>
        <p:sp>
          <p:nvSpPr>
            <p:cNvPr id="489" name="Google Shape;489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0" name="Google Shape;490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2" name="Google Shape;492;p21"/>
          <p:cNvGrpSpPr/>
          <p:nvPr/>
        </p:nvGrpSpPr>
        <p:grpSpPr>
          <a:xfrm>
            <a:off x="463151" y="452860"/>
            <a:ext cx="698968" cy="698968"/>
            <a:chOff x="0" y="0"/>
            <a:chExt cx="812800" cy="812800"/>
          </a:xfrm>
        </p:grpSpPr>
        <p:sp>
          <p:nvSpPr>
            <p:cNvPr id="493" name="Google Shape;493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21"/>
          <p:cNvSpPr txBox="1"/>
          <p:nvPr/>
        </p:nvSpPr>
        <p:spPr>
          <a:xfrm>
            <a:off x="5795598" y="6575347"/>
            <a:ext cx="2568300" cy="155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Chaque transaction est enregistrée et horodatée.</a:t>
            </a:r>
            <a:endParaRPr lang="en-US" sz="2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9997706" y="6134511"/>
            <a:ext cx="2568300" cy="233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Les échanges se font directement entre utilisateurs, sans besoin de tiers (ex. : banque, notaire).</a:t>
            </a:r>
            <a:endParaRPr lang="en-US" sz="2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21"/>
          <p:cNvSpPr txBox="1"/>
          <p:nvPr/>
        </p:nvSpPr>
        <p:spPr>
          <a:xfrm>
            <a:off x="14580100" y="6022228"/>
            <a:ext cx="2568300" cy="272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La blockchain peut être utilisée pour vérifier l’identité des utilisateurs de manière sécurisée.</a:t>
            </a:r>
            <a:endParaRPr lang="en-US" sz="2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21"/>
          <p:cNvSpPr txBox="1"/>
          <p:nvPr/>
        </p:nvSpPr>
        <p:spPr>
          <a:xfrm>
            <a:off x="1088116" y="6134511"/>
            <a:ext cx="2568300" cy="233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Une fois une information enregistrée dans la blockchain, elle ne peut plus être modifiée.</a:t>
            </a:r>
            <a:endParaRPr lang="en-US" sz="2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09" name="Google Shape;509;p21"/>
          <p:cNvGrpSpPr/>
          <p:nvPr/>
        </p:nvGrpSpPr>
        <p:grpSpPr>
          <a:xfrm rot="5400000">
            <a:off x="11140151" y="4907468"/>
            <a:ext cx="669849" cy="409797"/>
            <a:chOff x="0" y="-47625"/>
            <a:chExt cx="193764" cy="118539"/>
          </a:xfrm>
        </p:grpSpPr>
        <p:sp>
          <p:nvSpPr>
            <p:cNvPr id="510" name="Google Shape;510;p21"/>
            <p:cNvSpPr/>
            <p:nvPr/>
          </p:nvSpPr>
          <p:spPr>
            <a:xfrm>
              <a:off x="0" y="0"/>
              <a:ext cx="193764" cy="70914"/>
            </a:xfrm>
            <a:custGeom>
              <a:avLst/>
              <a:gdLst/>
              <a:ahLst/>
              <a:cxnLst/>
              <a:rect l="l" t="t" r="r" b="b"/>
              <a:pathLst>
                <a:path w="193764" h="70914" extrusionOk="0">
                  <a:moveTo>
                    <a:pt x="0" y="0"/>
                  </a:moveTo>
                  <a:lnTo>
                    <a:pt x="193764" y="0"/>
                  </a:lnTo>
                  <a:lnTo>
                    <a:pt x="193764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11" name="Google Shape;511;p21"/>
            <p:cNvSpPr txBox="1"/>
            <p:nvPr/>
          </p:nvSpPr>
          <p:spPr>
            <a:xfrm>
              <a:off x="0" y="-47625"/>
              <a:ext cx="193764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2" name="Google Shape;512;p21"/>
          <p:cNvGrpSpPr/>
          <p:nvPr/>
        </p:nvGrpSpPr>
        <p:grpSpPr>
          <a:xfrm rot="5400000">
            <a:off x="15668065" y="4908195"/>
            <a:ext cx="669849" cy="409797"/>
            <a:chOff x="0" y="-47625"/>
            <a:chExt cx="193764" cy="118539"/>
          </a:xfrm>
        </p:grpSpPr>
        <p:sp>
          <p:nvSpPr>
            <p:cNvPr id="513" name="Google Shape;513;p21"/>
            <p:cNvSpPr/>
            <p:nvPr/>
          </p:nvSpPr>
          <p:spPr>
            <a:xfrm>
              <a:off x="0" y="0"/>
              <a:ext cx="193764" cy="70914"/>
            </a:xfrm>
            <a:custGeom>
              <a:avLst/>
              <a:gdLst/>
              <a:ahLst/>
              <a:cxnLst/>
              <a:rect l="l" t="t" r="r" b="b"/>
              <a:pathLst>
                <a:path w="193764" h="70914" extrusionOk="0">
                  <a:moveTo>
                    <a:pt x="0" y="0"/>
                  </a:moveTo>
                  <a:lnTo>
                    <a:pt x="193764" y="0"/>
                  </a:lnTo>
                  <a:lnTo>
                    <a:pt x="193764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14" name="Google Shape;514;p21"/>
            <p:cNvSpPr txBox="1"/>
            <p:nvPr/>
          </p:nvSpPr>
          <p:spPr>
            <a:xfrm>
              <a:off x="0" y="-47625"/>
              <a:ext cx="193764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5" name="Google Shape;515;p21"/>
          <p:cNvGrpSpPr/>
          <p:nvPr/>
        </p:nvGrpSpPr>
        <p:grpSpPr>
          <a:xfrm rot="5400000">
            <a:off x="6537051" y="4908195"/>
            <a:ext cx="669849" cy="409797"/>
            <a:chOff x="0" y="-47625"/>
            <a:chExt cx="193764" cy="118539"/>
          </a:xfrm>
        </p:grpSpPr>
        <p:sp>
          <p:nvSpPr>
            <p:cNvPr id="516" name="Google Shape;516;p21"/>
            <p:cNvSpPr/>
            <p:nvPr/>
          </p:nvSpPr>
          <p:spPr>
            <a:xfrm>
              <a:off x="0" y="0"/>
              <a:ext cx="193764" cy="70914"/>
            </a:xfrm>
            <a:custGeom>
              <a:avLst/>
              <a:gdLst/>
              <a:ahLst/>
              <a:cxnLst/>
              <a:rect l="l" t="t" r="r" b="b"/>
              <a:pathLst>
                <a:path w="193764" h="70914" extrusionOk="0">
                  <a:moveTo>
                    <a:pt x="0" y="0"/>
                  </a:moveTo>
                  <a:lnTo>
                    <a:pt x="193764" y="0"/>
                  </a:lnTo>
                  <a:lnTo>
                    <a:pt x="193764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17" name="Google Shape;517;p21"/>
            <p:cNvSpPr txBox="1"/>
            <p:nvPr/>
          </p:nvSpPr>
          <p:spPr>
            <a:xfrm>
              <a:off x="0" y="-47625"/>
              <a:ext cx="193764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21"/>
          <p:cNvGrpSpPr/>
          <p:nvPr/>
        </p:nvGrpSpPr>
        <p:grpSpPr>
          <a:xfrm rot="10800000">
            <a:off x="6093992" y="9376561"/>
            <a:ext cx="1414134" cy="409797"/>
            <a:chOff x="0" y="-47625"/>
            <a:chExt cx="409059" cy="118539"/>
          </a:xfrm>
        </p:grpSpPr>
        <p:sp>
          <p:nvSpPr>
            <p:cNvPr id="519" name="Google Shape;519;p21"/>
            <p:cNvSpPr/>
            <p:nvPr/>
          </p:nvSpPr>
          <p:spPr>
            <a:xfrm>
              <a:off x="0" y="0"/>
              <a:ext cx="409059" cy="70914"/>
            </a:xfrm>
            <a:custGeom>
              <a:avLst/>
              <a:gdLst/>
              <a:ahLst/>
              <a:cxnLst/>
              <a:rect l="l" t="t" r="r" b="b"/>
              <a:pathLst>
                <a:path w="409059" h="70914" extrusionOk="0">
                  <a:moveTo>
                    <a:pt x="0" y="0"/>
                  </a:moveTo>
                  <a:lnTo>
                    <a:pt x="409059" y="0"/>
                  </a:lnTo>
                  <a:lnTo>
                    <a:pt x="409059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20" name="Google Shape;520;p21"/>
            <p:cNvSpPr txBox="1"/>
            <p:nvPr/>
          </p:nvSpPr>
          <p:spPr>
            <a:xfrm>
              <a:off x="0" y="-47625"/>
              <a:ext cx="409059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" name="Google Shape;521;p21"/>
          <p:cNvGrpSpPr/>
          <p:nvPr/>
        </p:nvGrpSpPr>
        <p:grpSpPr>
          <a:xfrm rot="10800000">
            <a:off x="1497542" y="9376561"/>
            <a:ext cx="1414134" cy="409797"/>
            <a:chOff x="0" y="-47625"/>
            <a:chExt cx="409059" cy="118539"/>
          </a:xfrm>
        </p:grpSpPr>
        <p:sp>
          <p:nvSpPr>
            <p:cNvPr id="522" name="Google Shape;522;p21"/>
            <p:cNvSpPr/>
            <p:nvPr/>
          </p:nvSpPr>
          <p:spPr>
            <a:xfrm>
              <a:off x="0" y="0"/>
              <a:ext cx="409059" cy="70914"/>
            </a:xfrm>
            <a:custGeom>
              <a:avLst/>
              <a:gdLst/>
              <a:ahLst/>
              <a:cxnLst/>
              <a:rect l="l" t="t" r="r" b="b"/>
              <a:pathLst>
                <a:path w="409059" h="70914" extrusionOk="0">
                  <a:moveTo>
                    <a:pt x="0" y="0"/>
                  </a:moveTo>
                  <a:lnTo>
                    <a:pt x="409059" y="0"/>
                  </a:lnTo>
                  <a:lnTo>
                    <a:pt x="409059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23" name="Google Shape;523;p21"/>
            <p:cNvSpPr txBox="1"/>
            <p:nvPr/>
          </p:nvSpPr>
          <p:spPr>
            <a:xfrm>
              <a:off x="0" y="-47625"/>
              <a:ext cx="409059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21"/>
          <p:cNvGrpSpPr/>
          <p:nvPr/>
        </p:nvGrpSpPr>
        <p:grpSpPr>
          <a:xfrm rot="10800000">
            <a:off x="10563111" y="9376561"/>
            <a:ext cx="1414134" cy="409797"/>
            <a:chOff x="0" y="-47625"/>
            <a:chExt cx="409059" cy="118539"/>
          </a:xfrm>
        </p:grpSpPr>
        <p:sp>
          <p:nvSpPr>
            <p:cNvPr id="525" name="Google Shape;525;p21"/>
            <p:cNvSpPr/>
            <p:nvPr/>
          </p:nvSpPr>
          <p:spPr>
            <a:xfrm>
              <a:off x="0" y="0"/>
              <a:ext cx="409059" cy="70914"/>
            </a:xfrm>
            <a:custGeom>
              <a:avLst/>
              <a:gdLst/>
              <a:ahLst/>
              <a:cxnLst/>
              <a:rect l="l" t="t" r="r" b="b"/>
              <a:pathLst>
                <a:path w="409059" h="70914" extrusionOk="0">
                  <a:moveTo>
                    <a:pt x="0" y="0"/>
                  </a:moveTo>
                  <a:lnTo>
                    <a:pt x="409059" y="0"/>
                  </a:lnTo>
                  <a:lnTo>
                    <a:pt x="409059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26" name="Google Shape;526;p21"/>
            <p:cNvSpPr txBox="1"/>
            <p:nvPr/>
          </p:nvSpPr>
          <p:spPr>
            <a:xfrm>
              <a:off x="0" y="-47625"/>
              <a:ext cx="409059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21"/>
          <p:cNvGrpSpPr/>
          <p:nvPr/>
        </p:nvGrpSpPr>
        <p:grpSpPr>
          <a:xfrm rot="10800000">
            <a:off x="15157184" y="9376561"/>
            <a:ext cx="1414134" cy="409797"/>
            <a:chOff x="0" y="-47625"/>
            <a:chExt cx="409059" cy="118539"/>
          </a:xfrm>
        </p:grpSpPr>
        <p:sp>
          <p:nvSpPr>
            <p:cNvPr id="528" name="Google Shape;528;p21"/>
            <p:cNvSpPr/>
            <p:nvPr/>
          </p:nvSpPr>
          <p:spPr>
            <a:xfrm>
              <a:off x="0" y="0"/>
              <a:ext cx="409059" cy="70914"/>
            </a:xfrm>
            <a:custGeom>
              <a:avLst/>
              <a:gdLst/>
              <a:ahLst/>
              <a:cxnLst/>
              <a:rect l="l" t="t" r="r" b="b"/>
              <a:pathLst>
                <a:path w="409059" h="70914" extrusionOk="0">
                  <a:moveTo>
                    <a:pt x="0" y="0"/>
                  </a:moveTo>
                  <a:lnTo>
                    <a:pt x="409059" y="0"/>
                  </a:lnTo>
                  <a:lnTo>
                    <a:pt x="409059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29" name="Google Shape;529;p21"/>
            <p:cNvSpPr txBox="1"/>
            <p:nvPr/>
          </p:nvSpPr>
          <p:spPr>
            <a:xfrm>
              <a:off x="0" y="-47625"/>
              <a:ext cx="409059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0" name="Google Shape;530;p21"/>
          <p:cNvGrpSpPr/>
          <p:nvPr/>
        </p:nvGrpSpPr>
        <p:grpSpPr>
          <a:xfrm rot="5400000">
            <a:off x="2074582" y="4908195"/>
            <a:ext cx="669849" cy="409797"/>
            <a:chOff x="0" y="-47625"/>
            <a:chExt cx="193764" cy="118539"/>
          </a:xfrm>
        </p:grpSpPr>
        <p:sp>
          <p:nvSpPr>
            <p:cNvPr id="531" name="Google Shape;531;p21"/>
            <p:cNvSpPr/>
            <p:nvPr/>
          </p:nvSpPr>
          <p:spPr>
            <a:xfrm>
              <a:off x="0" y="0"/>
              <a:ext cx="193764" cy="70914"/>
            </a:xfrm>
            <a:custGeom>
              <a:avLst/>
              <a:gdLst/>
              <a:ahLst/>
              <a:cxnLst/>
              <a:rect l="l" t="t" r="r" b="b"/>
              <a:pathLst>
                <a:path w="193764" h="70914" extrusionOk="0">
                  <a:moveTo>
                    <a:pt x="0" y="0"/>
                  </a:moveTo>
                  <a:lnTo>
                    <a:pt x="193764" y="0"/>
                  </a:lnTo>
                  <a:lnTo>
                    <a:pt x="193764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32" name="Google Shape;532;p21"/>
            <p:cNvSpPr txBox="1"/>
            <p:nvPr/>
          </p:nvSpPr>
          <p:spPr>
            <a:xfrm>
              <a:off x="0" y="-47625"/>
              <a:ext cx="193764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638;p25">
            <a:extLst>
              <a:ext uri="{FF2B5EF4-FFF2-40B4-BE49-F238E27FC236}">
                <a16:creationId xmlns:a16="http://schemas.microsoft.com/office/drawing/2014/main" id="{0D19BF97-B70B-4051-A8AE-D74BED62AC63}"/>
              </a:ext>
            </a:extLst>
          </p:cNvPr>
          <p:cNvSpPr txBox="1"/>
          <p:nvPr/>
        </p:nvSpPr>
        <p:spPr>
          <a:xfrm>
            <a:off x="5527013" y="371631"/>
            <a:ext cx="652208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Blockchain et cybersécurité</a:t>
            </a:r>
            <a:endParaRPr lang="en-US" sz="6000" dirty="0"/>
          </a:p>
        </p:txBody>
      </p:sp>
      <p:grpSp>
        <p:nvGrpSpPr>
          <p:cNvPr id="82" name="Google Shape;140;p12">
            <a:extLst>
              <a:ext uri="{FF2B5EF4-FFF2-40B4-BE49-F238E27FC236}">
                <a16:creationId xmlns:a16="http://schemas.microsoft.com/office/drawing/2014/main" id="{1C620C8D-545B-41A4-8D20-DE3C8089AE50}"/>
              </a:ext>
            </a:extLst>
          </p:cNvPr>
          <p:cNvGrpSpPr/>
          <p:nvPr/>
        </p:nvGrpSpPr>
        <p:grpSpPr>
          <a:xfrm>
            <a:off x="3479806" y="-21127"/>
            <a:ext cx="1561274" cy="1500754"/>
            <a:chOff x="0" y="-47625"/>
            <a:chExt cx="456005" cy="503630"/>
          </a:xfrm>
        </p:grpSpPr>
        <p:sp>
          <p:nvSpPr>
            <p:cNvPr id="83" name="Google Shape;141;p12">
              <a:extLst>
                <a:ext uri="{FF2B5EF4-FFF2-40B4-BE49-F238E27FC236}">
                  <a16:creationId xmlns:a16="http://schemas.microsoft.com/office/drawing/2014/main" id="{2C1620DB-16E4-4D52-8FA7-0C5586E9BCED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4" name="Google Shape;142;p12">
              <a:extLst>
                <a:ext uri="{FF2B5EF4-FFF2-40B4-BE49-F238E27FC236}">
                  <a16:creationId xmlns:a16="http://schemas.microsoft.com/office/drawing/2014/main" id="{B724A05F-5679-4EB7-A43D-3207167EE544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143;p12">
            <a:extLst>
              <a:ext uri="{FF2B5EF4-FFF2-40B4-BE49-F238E27FC236}">
                <a16:creationId xmlns:a16="http://schemas.microsoft.com/office/drawing/2014/main" id="{5E94E2AF-1EF6-42E2-8E0D-1A22B94B08AD}"/>
              </a:ext>
            </a:extLst>
          </p:cNvPr>
          <p:cNvGrpSpPr/>
          <p:nvPr/>
        </p:nvGrpSpPr>
        <p:grpSpPr>
          <a:xfrm>
            <a:off x="3632508" y="83045"/>
            <a:ext cx="1559837" cy="1529720"/>
            <a:chOff x="0" y="-47625"/>
            <a:chExt cx="456005" cy="503630"/>
          </a:xfrm>
        </p:grpSpPr>
        <p:sp>
          <p:nvSpPr>
            <p:cNvPr id="86" name="Google Shape;144;p12">
              <a:extLst>
                <a:ext uri="{FF2B5EF4-FFF2-40B4-BE49-F238E27FC236}">
                  <a16:creationId xmlns:a16="http://schemas.microsoft.com/office/drawing/2014/main" id="{F7A19CB2-A4C4-4B67-8A0C-DBF653015803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7" name="Google Shape;145;p12">
              <a:extLst>
                <a:ext uri="{FF2B5EF4-FFF2-40B4-BE49-F238E27FC236}">
                  <a16:creationId xmlns:a16="http://schemas.microsoft.com/office/drawing/2014/main" id="{07172B01-2446-4C88-B865-786E89313179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159;p12">
            <a:extLst>
              <a:ext uri="{FF2B5EF4-FFF2-40B4-BE49-F238E27FC236}">
                <a16:creationId xmlns:a16="http://schemas.microsoft.com/office/drawing/2014/main" id="{D9890BC4-9677-4CFE-B5A5-59D2B407A13F}"/>
              </a:ext>
            </a:extLst>
          </p:cNvPr>
          <p:cNvSpPr txBox="1"/>
          <p:nvPr/>
        </p:nvSpPr>
        <p:spPr>
          <a:xfrm>
            <a:off x="3676043" y="-45951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05.</a:t>
            </a:r>
            <a:endParaRPr lang="en-US" dirty="0"/>
          </a:p>
        </p:txBody>
      </p:sp>
      <p:sp>
        <p:nvSpPr>
          <p:cNvPr id="89" name="Google Shape;502;p21">
            <a:extLst>
              <a:ext uri="{FF2B5EF4-FFF2-40B4-BE49-F238E27FC236}">
                <a16:creationId xmlns:a16="http://schemas.microsoft.com/office/drawing/2014/main" id="{C84DC5A1-7075-4334-AF45-6DBC934E1BAB}"/>
              </a:ext>
            </a:extLst>
          </p:cNvPr>
          <p:cNvSpPr txBox="1"/>
          <p:nvPr/>
        </p:nvSpPr>
        <p:spPr>
          <a:xfrm>
            <a:off x="855935" y="2350168"/>
            <a:ext cx="303266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Intégrité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des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données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📁</a:t>
            </a:r>
            <a:endParaRPr lang="en-US" sz="4000" dirty="0"/>
          </a:p>
        </p:txBody>
      </p:sp>
      <p:sp>
        <p:nvSpPr>
          <p:cNvPr id="90" name="Google Shape;502;p21">
            <a:extLst>
              <a:ext uri="{FF2B5EF4-FFF2-40B4-BE49-F238E27FC236}">
                <a16:creationId xmlns:a16="http://schemas.microsoft.com/office/drawing/2014/main" id="{004483ED-57D4-4DB7-8638-1BFEEF23CF90}"/>
              </a:ext>
            </a:extLst>
          </p:cNvPr>
          <p:cNvSpPr txBox="1"/>
          <p:nvPr/>
        </p:nvSpPr>
        <p:spPr>
          <a:xfrm>
            <a:off x="5188201" y="2000470"/>
            <a:ext cx="3032662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Traçabilité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</a:p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des actions</a:t>
            </a:r>
          </a:p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👣 </a:t>
            </a:r>
            <a:endParaRPr lang="en-US" sz="4000" dirty="0"/>
          </a:p>
        </p:txBody>
      </p:sp>
      <p:sp>
        <p:nvSpPr>
          <p:cNvPr id="91" name="Google Shape;502;p21">
            <a:extLst>
              <a:ext uri="{FF2B5EF4-FFF2-40B4-BE49-F238E27FC236}">
                <a16:creationId xmlns:a16="http://schemas.microsoft.com/office/drawing/2014/main" id="{5A87EC3B-8A11-4823-91DA-94A7EC5E7FE7}"/>
              </a:ext>
            </a:extLst>
          </p:cNvPr>
          <p:cNvSpPr txBox="1"/>
          <p:nvPr/>
        </p:nvSpPr>
        <p:spPr>
          <a:xfrm>
            <a:off x="9743797" y="2083332"/>
            <a:ext cx="3032662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Suppression </a:t>
            </a:r>
          </a:p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Des</a:t>
            </a:r>
          </a:p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intermédiaires</a:t>
            </a:r>
            <a:endParaRPr lang="en-US" sz="4000" dirty="0"/>
          </a:p>
        </p:txBody>
      </p:sp>
      <p:sp>
        <p:nvSpPr>
          <p:cNvPr id="92" name="Google Shape;502;p21">
            <a:extLst>
              <a:ext uri="{FF2B5EF4-FFF2-40B4-BE49-F238E27FC236}">
                <a16:creationId xmlns:a16="http://schemas.microsoft.com/office/drawing/2014/main" id="{FCE93B46-1A9D-4DBF-8C52-9FD4B20CF486}"/>
              </a:ext>
            </a:extLst>
          </p:cNvPr>
          <p:cNvSpPr txBox="1"/>
          <p:nvPr/>
        </p:nvSpPr>
        <p:spPr>
          <a:xfrm>
            <a:off x="14240195" y="2318640"/>
            <a:ext cx="303266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Authentification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décentralisée</a:t>
            </a:r>
            <a:endParaRPr lang="en-US" sz="4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952" y="23175"/>
            <a:ext cx="19109100" cy="10636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21"/>
          <p:cNvGrpSpPr/>
          <p:nvPr/>
        </p:nvGrpSpPr>
        <p:grpSpPr>
          <a:xfrm>
            <a:off x="6525129" y="1243026"/>
            <a:ext cx="3225000" cy="3337944"/>
            <a:chOff x="0" y="-47625"/>
            <a:chExt cx="456005" cy="503630"/>
          </a:xfrm>
        </p:grpSpPr>
        <p:sp>
          <p:nvSpPr>
            <p:cNvPr id="459" name="Google Shape;459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0" name="Google Shape;460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21"/>
          <p:cNvGrpSpPr/>
          <p:nvPr/>
        </p:nvGrpSpPr>
        <p:grpSpPr>
          <a:xfrm>
            <a:off x="6697357" y="1425445"/>
            <a:ext cx="3225000" cy="3337944"/>
            <a:chOff x="0" y="-47625"/>
            <a:chExt cx="456005" cy="503630"/>
          </a:xfrm>
        </p:grpSpPr>
        <p:sp>
          <p:nvSpPr>
            <p:cNvPr id="465" name="Google Shape;465;p21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6" name="Google Shape;466;p21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1"/>
          <p:cNvGrpSpPr/>
          <p:nvPr/>
        </p:nvGrpSpPr>
        <p:grpSpPr>
          <a:xfrm>
            <a:off x="6803848" y="5163265"/>
            <a:ext cx="3032662" cy="4334843"/>
            <a:chOff x="0" y="-47625"/>
            <a:chExt cx="495649" cy="708474"/>
          </a:xfrm>
        </p:grpSpPr>
        <p:sp>
          <p:nvSpPr>
            <p:cNvPr id="468" name="Google Shape;468;p21"/>
            <p:cNvSpPr/>
            <p:nvPr/>
          </p:nvSpPr>
          <p:spPr>
            <a:xfrm>
              <a:off x="0" y="0"/>
              <a:ext cx="495649" cy="660849"/>
            </a:xfrm>
            <a:custGeom>
              <a:avLst/>
              <a:gdLst/>
              <a:ahLst/>
              <a:cxnLst/>
              <a:rect l="l" t="t" r="r" b="b"/>
              <a:pathLst>
                <a:path w="495649" h="660849" extrusionOk="0">
                  <a:moveTo>
                    <a:pt x="0" y="0"/>
                  </a:moveTo>
                  <a:lnTo>
                    <a:pt x="495649" y="0"/>
                  </a:lnTo>
                  <a:lnTo>
                    <a:pt x="495649" y="660849"/>
                  </a:lnTo>
                  <a:lnTo>
                    <a:pt x="0" y="660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9" name="Google Shape;469;p21"/>
            <p:cNvSpPr txBox="1"/>
            <p:nvPr/>
          </p:nvSpPr>
          <p:spPr>
            <a:xfrm>
              <a:off x="0" y="-47625"/>
              <a:ext cx="495649" cy="708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2" name="Google Shape;492;p21"/>
          <p:cNvGrpSpPr/>
          <p:nvPr/>
        </p:nvGrpSpPr>
        <p:grpSpPr>
          <a:xfrm>
            <a:off x="463151" y="452860"/>
            <a:ext cx="698968" cy="698968"/>
            <a:chOff x="0" y="0"/>
            <a:chExt cx="812800" cy="812800"/>
          </a:xfrm>
        </p:grpSpPr>
        <p:sp>
          <p:nvSpPr>
            <p:cNvPr id="493" name="Google Shape;493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21"/>
          <p:cNvSpPr txBox="1"/>
          <p:nvPr/>
        </p:nvSpPr>
        <p:spPr>
          <a:xfrm>
            <a:off x="7108028" y="6293067"/>
            <a:ext cx="2568300" cy="233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Grâce à sa structure distribuée, il est très difficile de pirater l’ensemble du réseau.</a:t>
            </a:r>
            <a:endParaRPr lang="en-US" sz="2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5" name="Google Shape;515;p21"/>
          <p:cNvGrpSpPr/>
          <p:nvPr/>
        </p:nvGrpSpPr>
        <p:grpSpPr>
          <a:xfrm rot="5400000">
            <a:off x="8057254" y="4915567"/>
            <a:ext cx="669849" cy="409797"/>
            <a:chOff x="0" y="-47625"/>
            <a:chExt cx="193764" cy="118539"/>
          </a:xfrm>
        </p:grpSpPr>
        <p:sp>
          <p:nvSpPr>
            <p:cNvPr id="516" name="Google Shape;516;p21"/>
            <p:cNvSpPr/>
            <p:nvPr/>
          </p:nvSpPr>
          <p:spPr>
            <a:xfrm>
              <a:off x="0" y="0"/>
              <a:ext cx="193764" cy="70914"/>
            </a:xfrm>
            <a:custGeom>
              <a:avLst/>
              <a:gdLst/>
              <a:ahLst/>
              <a:cxnLst/>
              <a:rect l="l" t="t" r="r" b="b"/>
              <a:pathLst>
                <a:path w="193764" h="70914" extrusionOk="0">
                  <a:moveTo>
                    <a:pt x="0" y="0"/>
                  </a:moveTo>
                  <a:lnTo>
                    <a:pt x="193764" y="0"/>
                  </a:lnTo>
                  <a:lnTo>
                    <a:pt x="193764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17" name="Google Shape;517;p21"/>
            <p:cNvSpPr txBox="1"/>
            <p:nvPr/>
          </p:nvSpPr>
          <p:spPr>
            <a:xfrm>
              <a:off x="0" y="-47625"/>
              <a:ext cx="193764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21"/>
          <p:cNvGrpSpPr/>
          <p:nvPr/>
        </p:nvGrpSpPr>
        <p:grpSpPr>
          <a:xfrm rot="10800000">
            <a:off x="7613112" y="9379708"/>
            <a:ext cx="1414134" cy="409797"/>
            <a:chOff x="0" y="-47625"/>
            <a:chExt cx="409059" cy="118539"/>
          </a:xfrm>
        </p:grpSpPr>
        <p:sp>
          <p:nvSpPr>
            <p:cNvPr id="519" name="Google Shape;519;p21"/>
            <p:cNvSpPr/>
            <p:nvPr/>
          </p:nvSpPr>
          <p:spPr>
            <a:xfrm>
              <a:off x="0" y="0"/>
              <a:ext cx="409059" cy="70914"/>
            </a:xfrm>
            <a:custGeom>
              <a:avLst/>
              <a:gdLst/>
              <a:ahLst/>
              <a:cxnLst/>
              <a:rect l="l" t="t" r="r" b="b"/>
              <a:pathLst>
                <a:path w="409059" h="70914" extrusionOk="0">
                  <a:moveTo>
                    <a:pt x="0" y="0"/>
                  </a:moveTo>
                  <a:lnTo>
                    <a:pt x="409059" y="0"/>
                  </a:lnTo>
                  <a:lnTo>
                    <a:pt x="409059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20" name="Google Shape;520;p21"/>
            <p:cNvSpPr txBox="1"/>
            <p:nvPr/>
          </p:nvSpPr>
          <p:spPr>
            <a:xfrm>
              <a:off x="0" y="-47625"/>
              <a:ext cx="409059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638;p25">
            <a:extLst>
              <a:ext uri="{FF2B5EF4-FFF2-40B4-BE49-F238E27FC236}">
                <a16:creationId xmlns:a16="http://schemas.microsoft.com/office/drawing/2014/main" id="{0D19BF97-B70B-4051-A8AE-D74BED62AC63}"/>
              </a:ext>
            </a:extLst>
          </p:cNvPr>
          <p:cNvSpPr txBox="1"/>
          <p:nvPr/>
        </p:nvSpPr>
        <p:spPr>
          <a:xfrm>
            <a:off x="5527013" y="371631"/>
            <a:ext cx="652208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Blockchain et cybersécurité</a:t>
            </a:r>
            <a:endParaRPr lang="en-US" sz="6000" dirty="0"/>
          </a:p>
        </p:txBody>
      </p:sp>
      <p:grpSp>
        <p:nvGrpSpPr>
          <p:cNvPr id="82" name="Google Shape;140;p12">
            <a:extLst>
              <a:ext uri="{FF2B5EF4-FFF2-40B4-BE49-F238E27FC236}">
                <a16:creationId xmlns:a16="http://schemas.microsoft.com/office/drawing/2014/main" id="{1C620C8D-545B-41A4-8D20-DE3C8089AE50}"/>
              </a:ext>
            </a:extLst>
          </p:cNvPr>
          <p:cNvGrpSpPr/>
          <p:nvPr/>
        </p:nvGrpSpPr>
        <p:grpSpPr>
          <a:xfrm>
            <a:off x="3479806" y="-21127"/>
            <a:ext cx="1561274" cy="1500754"/>
            <a:chOff x="0" y="-47625"/>
            <a:chExt cx="456005" cy="503630"/>
          </a:xfrm>
        </p:grpSpPr>
        <p:sp>
          <p:nvSpPr>
            <p:cNvPr id="83" name="Google Shape;141;p12">
              <a:extLst>
                <a:ext uri="{FF2B5EF4-FFF2-40B4-BE49-F238E27FC236}">
                  <a16:creationId xmlns:a16="http://schemas.microsoft.com/office/drawing/2014/main" id="{2C1620DB-16E4-4D52-8FA7-0C5586E9BCED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4" name="Google Shape;142;p12">
              <a:extLst>
                <a:ext uri="{FF2B5EF4-FFF2-40B4-BE49-F238E27FC236}">
                  <a16:creationId xmlns:a16="http://schemas.microsoft.com/office/drawing/2014/main" id="{B724A05F-5679-4EB7-A43D-3207167EE544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143;p12">
            <a:extLst>
              <a:ext uri="{FF2B5EF4-FFF2-40B4-BE49-F238E27FC236}">
                <a16:creationId xmlns:a16="http://schemas.microsoft.com/office/drawing/2014/main" id="{5E94E2AF-1EF6-42E2-8E0D-1A22B94B08AD}"/>
              </a:ext>
            </a:extLst>
          </p:cNvPr>
          <p:cNvGrpSpPr/>
          <p:nvPr/>
        </p:nvGrpSpPr>
        <p:grpSpPr>
          <a:xfrm>
            <a:off x="3632508" y="83045"/>
            <a:ext cx="1559837" cy="1529720"/>
            <a:chOff x="0" y="-47625"/>
            <a:chExt cx="456005" cy="503630"/>
          </a:xfrm>
        </p:grpSpPr>
        <p:sp>
          <p:nvSpPr>
            <p:cNvPr id="86" name="Google Shape;144;p12">
              <a:extLst>
                <a:ext uri="{FF2B5EF4-FFF2-40B4-BE49-F238E27FC236}">
                  <a16:creationId xmlns:a16="http://schemas.microsoft.com/office/drawing/2014/main" id="{F7A19CB2-A4C4-4B67-8A0C-DBF653015803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7" name="Google Shape;145;p12">
              <a:extLst>
                <a:ext uri="{FF2B5EF4-FFF2-40B4-BE49-F238E27FC236}">
                  <a16:creationId xmlns:a16="http://schemas.microsoft.com/office/drawing/2014/main" id="{07172B01-2446-4C88-B865-786E89313179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159;p12">
            <a:extLst>
              <a:ext uri="{FF2B5EF4-FFF2-40B4-BE49-F238E27FC236}">
                <a16:creationId xmlns:a16="http://schemas.microsoft.com/office/drawing/2014/main" id="{D9890BC4-9677-4CFE-B5A5-59D2B407A13F}"/>
              </a:ext>
            </a:extLst>
          </p:cNvPr>
          <p:cNvSpPr txBox="1"/>
          <p:nvPr/>
        </p:nvSpPr>
        <p:spPr>
          <a:xfrm>
            <a:off x="3676043" y="-45951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05.</a:t>
            </a:r>
            <a:endParaRPr lang="en-US" dirty="0"/>
          </a:p>
        </p:txBody>
      </p:sp>
      <p:sp>
        <p:nvSpPr>
          <p:cNvPr id="90" name="Google Shape;502;p21">
            <a:extLst>
              <a:ext uri="{FF2B5EF4-FFF2-40B4-BE49-F238E27FC236}">
                <a16:creationId xmlns:a16="http://schemas.microsoft.com/office/drawing/2014/main" id="{004483ED-57D4-4DB7-8638-1BFEEF23CF90}"/>
              </a:ext>
            </a:extLst>
          </p:cNvPr>
          <p:cNvSpPr txBox="1"/>
          <p:nvPr/>
        </p:nvSpPr>
        <p:spPr>
          <a:xfrm>
            <a:off x="6697357" y="2037609"/>
            <a:ext cx="3032662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Protection contre les cyberattaques 🔒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37453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11" y="-842275"/>
            <a:ext cx="17278177" cy="11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 txBox="1"/>
          <p:nvPr/>
        </p:nvSpPr>
        <p:spPr>
          <a:xfrm>
            <a:off x="4580322" y="642252"/>
            <a:ext cx="652208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Exemples concrets d’utilisation</a:t>
            </a:r>
            <a:endParaRPr lang="en-US" sz="6000" dirty="0"/>
          </a:p>
        </p:txBody>
      </p:sp>
      <p:grpSp>
        <p:nvGrpSpPr>
          <p:cNvPr id="646" name="Google Shape;646;p25"/>
          <p:cNvGrpSpPr/>
          <p:nvPr/>
        </p:nvGrpSpPr>
        <p:grpSpPr>
          <a:xfrm>
            <a:off x="14320202" y="452860"/>
            <a:ext cx="698968" cy="698968"/>
            <a:chOff x="0" y="0"/>
            <a:chExt cx="812800" cy="812800"/>
          </a:xfrm>
        </p:grpSpPr>
        <p:sp>
          <p:nvSpPr>
            <p:cNvPr id="647" name="Google Shape;647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1" name="Google Shape;6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9507" y="1647321"/>
            <a:ext cx="4938238" cy="25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3DB9BA3-4EEB-41C0-9ECD-6C599E896598}"/>
              </a:ext>
            </a:extLst>
          </p:cNvPr>
          <p:cNvGrpSpPr/>
          <p:nvPr/>
        </p:nvGrpSpPr>
        <p:grpSpPr>
          <a:xfrm>
            <a:off x="928841" y="3523784"/>
            <a:ext cx="3413857" cy="6771771"/>
            <a:chOff x="928841" y="3523784"/>
            <a:chExt cx="3413857" cy="6771771"/>
          </a:xfrm>
        </p:grpSpPr>
        <p:sp>
          <p:nvSpPr>
            <p:cNvPr id="641" name="Google Shape;641;p25"/>
            <p:cNvSpPr txBox="1"/>
            <p:nvPr/>
          </p:nvSpPr>
          <p:spPr>
            <a:xfrm>
              <a:off x="977773" y="5728151"/>
              <a:ext cx="3364925" cy="4567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🗳️ Vote en ligne sécurisé 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Assure que chaque vote est compté une seule fois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Impossible de tricher ou de modifier les résultats</a:t>
              </a:r>
            </a:p>
            <a:p>
              <a:pPr lvl="1">
                <a:lnSpc>
                  <a:spcPct val="140000"/>
                </a:lnSpc>
              </a:pPr>
              <a:endParaRPr lang="fr-FR" sz="2200" b="1" dirty="0">
                <a:solidFill>
                  <a:srgbClr val="FFFFFF"/>
                </a:solidFill>
                <a:latin typeface="Montserrat"/>
                <a:sym typeface="Montserrat"/>
              </a:endParaRPr>
            </a:p>
            <a:p>
              <a:pPr lvl="1">
                <a:lnSpc>
                  <a:spcPct val="140000"/>
                </a:lnSpc>
              </a:pPr>
              <a:endParaRPr lang="en-US" b="1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0B90668-969D-4D41-B1AF-EA62A9F9EFDB}"/>
                </a:ext>
              </a:extLst>
            </p:cNvPr>
            <p:cNvGrpSpPr/>
            <p:nvPr/>
          </p:nvGrpSpPr>
          <p:grpSpPr>
            <a:xfrm>
              <a:off x="928841" y="3523784"/>
              <a:ext cx="1881918" cy="2023541"/>
              <a:chOff x="928841" y="3523784"/>
              <a:chExt cx="1881918" cy="2023541"/>
            </a:xfrm>
          </p:grpSpPr>
          <p:grpSp>
            <p:nvGrpSpPr>
              <p:cNvPr id="614" name="Google Shape;614;p25"/>
              <p:cNvGrpSpPr/>
              <p:nvPr/>
            </p:nvGrpSpPr>
            <p:grpSpPr>
              <a:xfrm>
                <a:off x="928841" y="3523784"/>
                <a:ext cx="1731395" cy="1912221"/>
                <a:chOff x="0" y="-47625"/>
                <a:chExt cx="456005" cy="503630"/>
              </a:xfrm>
            </p:grpSpPr>
            <p:sp>
              <p:nvSpPr>
                <p:cNvPr id="615" name="Google Shape;615;p25"/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06D59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616" name="Google Shape;616;p25"/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0" name="Google Shape;620;p25"/>
              <p:cNvGrpSpPr/>
              <p:nvPr/>
            </p:nvGrpSpPr>
            <p:grpSpPr>
              <a:xfrm>
                <a:off x="1079364" y="3635104"/>
                <a:ext cx="1731395" cy="1912221"/>
                <a:chOff x="0" y="-47625"/>
                <a:chExt cx="456005" cy="503630"/>
              </a:xfrm>
            </p:grpSpPr>
            <p:sp>
              <p:nvSpPr>
                <p:cNvPr id="621" name="Google Shape;621;p25"/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5CE1E6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622" name="Google Shape;622;p25"/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652" name="Google Shape;652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78143" y="4009336"/>
              <a:ext cx="808550" cy="99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oogle Shape;140;p12">
            <a:extLst>
              <a:ext uri="{FF2B5EF4-FFF2-40B4-BE49-F238E27FC236}">
                <a16:creationId xmlns:a16="http://schemas.microsoft.com/office/drawing/2014/main" id="{2D000727-04E8-4442-9DAB-137CB066FFFE}"/>
              </a:ext>
            </a:extLst>
          </p:cNvPr>
          <p:cNvGrpSpPr/>
          <p:nvPr/>
        </p:nvGrpSpPr>
        <p:grpSpPr>
          <a:xfrm>
            <a:off x="1425184" y="813693"/>
            <a:ext cx="1561274" cy="1500754"/>
            <a:chOff x="0" y="-47625"/>
            <a:chExt cx="456005" cy="503630"/>
          </a:xfrm>
        </p:grpSpPr>
        <p:sp>
          <p:nvSpPr>
            <p:cNvPr id="45" name="Google Shape;141;p12">
              <a:extLst>
                <a:ext uri="{FF2B5EF4-FFF2-40B4-BE49-F238E27FC236}">
                  <a16:creationId xmlns:a16="http://schemas.microsoft.com/office/drawing/2014/main" id="{AED968A3-4412-4875-AAFB-79A23C9369FE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" name="Google Shape;142;p12">
              <a:extLst>
                <a:ext uri="{FF2B5EF4-FFF2-40B4-BE49-F238E27FC236}">
                  <a16:creationId xmlns:a16="http://schemas.microsoft.com/office/drawing/2014/main" id="{91D9C10E-82D7-4FEE-AD38-B8CE6768D9A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143;p12">
            <a:extLst>
              <a:ext uri="{FF2B5EF4-FFF2-40B4-BE49-F238E27FC236}">
                <a16:creationId xmlns:a16="http://schemas.microsoft.com/office/drawing/2014/main" id="{9EAD4F50-3304-4F87-BBE0-659C67617001}"/>
              </a:ext>
            </a:extLst>
          </p:cNvPr>
          <p:cNvGrpSpPr/>
          <p:nvPr/>
        </p:nvGrpSpPr>
        <p:grpSpPr>
          <a:xfrm>
            <a:off x="1577886" y="917865"/>
            <a:ext cx="1559837" cy="1529720"/>
            <a:chOff x="0" y="-47625"/>
            <a:chExt cx="456005" cy="503630"/>
          </a:xfrm>
        </p:grpSpPr>
        <p:sp>
          <p:nvSpPr>
            <p:cNvPr id="48" name="Google Shape;144;p12">
              <a:extLst>
                <a:ext uri="{FF2B5EF4-FFF2-40B4-BE49-F238E27FC236}">
                  <a16:creationId xmlns:a16="http://schemas.microsoft.com/office/drawing/2014/main" id="{7A0DE171-14BC-427C-8A3F-E8C8B0712C58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" name="Google Shape;145;p12">
              <a:extLst>
                <a:ext uri="{FF2B5EF4-FFF2-40B4-BE49-F238E27FC236}">
                  <a16:creationId xmlns:a16="http://schemas.microsoft.com/office/drawing/2014/main" id="{A6983A8B-0455-4E29-9327-A830B2504E7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159;p12">
            <a:extLst>
              <a:ext uri="{FF2B5EF4-FFF2-40B4-BE49-F238E27FC236}">
                <a16:creationId xmlns:a16="http://schemas.microsoft.com/office/drawing/2014/main" id="{08B33DD3-379A-406D-A101-4F947F9BEF2C}"/>
              </a:ext>
            </a:extLst>
          </p:cNvPr>
          <p:cNvSpPr txBox="1"/>
          <p:nvPr/>
        </p:nvSpPr>
        <p:spPr>
          <a:xfrm>
            <a:off x="1575771" y="74051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06.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0F48FE-444E-47AC-B9C3-5D6CA142568C}"/>
              </a:ext>
            </a:extLst>
          </p:cNvPr>
          <p:cNvGrpSpPr/>
          <p:nvPr/>
        </p:nvGrpSpPr>
        <p:grpSpPr>
          <a:xfrm>
            <a:off x="8218834" y="3555593"/>
            <a:ext cx="6891080" cy="5078350"/>
            <a:chOff x="8218834" y="3555593"/>
            <a:chExt cx="6891080" cy="5078350"/>
          </a:xfrm>
        </p:grpSpPr>
        <p:sp>
          <p:nvSpPr>
            <p:cNvPr id="54" name="Google Shape;641;p25">
              <a:extLst>
                <a:ext uri="{FF2B5EF4-FFF2-40B4-BE49-F238E27FC236}">
                  <a16:creationId xmlns:a16="http://schemas.microsoft.com/office/drawing/2014/main" id="{49D7A947-54CC-4763-AFB8-5952054238E1}"/>
                </a:ext>
              </a:extLst>
            </p:cNvPr>
            <p:cNvSpPr txBox="1"/>
            <p:nvPr/>
          </p:nvSpPr>
          <p:spPr>
            <a:xfrm>
              <a:off x="11744989" y="5790088"/>
              <a:ext cx="3364925" cy="2843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💰 Finance et banque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Transferts d’argent plus rapides et moins chers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Moins de fraudes et plus de transparence</a:t>
              </a:r>
              <a:endParaRPr lang="en-US" b="1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DE212A-E88E-4AD6-A411-DCC7FD193D2E}"/>
                </a:ext>
              </a:extLst>
            </p:cNvPr>
            <p:cNvGrpSpPr/>
            <p:nvPr/>
          </p:nvGrpSpPr>
          <p:grpSpPr>
            <a:xfrm>
              <a:off x="8218834" y="3555593"/>
              <a:ext cx="5399719" cy="2023541"/>
              <a:chOff x="8218834" y="3555593"/>
              <a:chExt cx="5399719" cy="2023541"/>
            </a:xfrm>
          </p:grpSpPr>
          <p:grpSp>
            <p:nvGrpSpPr>
              <p:cNvPr id="635" name="Google Shape;635;p25"/>
              <p:cNvGrpSpPr/>
              <p:nvPr/>
            </p:nvGrpSpPr>
            <p:grpSpPr>
              <a:xfrm>
                <a:off x="8218834" y="4334436"/>
                <a:ext cx="3526156" cy="409797"/>
                <a:chOff x="0" y="-47625"/>
                <a:chExt cx="1019993" cy="118539"/>
              </a:xfrm>
            </p:grpSpPr>
            <p:sp>
              <p:nvSpPr>
                <p:cNvPr id="636" name="Google Shape;636;p25"/>
                <p:cNvSpPr/>
                <p:nvPr/>
              </p:nvSpPr>
              <p:spPr>
                <a:xfrm>
                  <a:off x="0" y="0"/>
                  <a:ext cx="1019993" cy="7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993" h="70914" extrusionOk="0">
                      <a:moveTo>
                        <a:pt x="0" y="0"/>
                      </a:moveTo>
                      <a:lnTo>
                        <a:pt x="1019993" y="0"/>
                      </a:lnTo>
                      <a:lnTo>
                        <a:pt x="1019993" y="70914"/>
                      </a:lnTo>
                      <a:lnTo>
                        <a:pt x="0" y="70914"/>
                      </a:lnTo>
                      <a:close/>
                    </a:path>
                  </a:pathLst>
                </a:custGeom>
                <a:solidFill>
                  <a:srgbClr val="5CE1E6"/>
                </a:solidFill>
                <a:ln>
                  <a:noFill/>
                </a:ln>
              </p:spPr>
            </p:sp>
            <p:sp>
              <p:nvSpPr>
                <p:cNvPr id="637" name="Google Shape;637;p25"/>
                <p:cNvSpPr txBox="1"/>
                <p:nvPr/>
              </p:nvSpPr>
              <p:spPr>
                <a:xfrm>
                  <a:off x="0" y="-47625"/>
                  <a:ext cx="1019993" cy="1185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654" name="Google Shape;654;p2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2194122" y="3980344"/>
                <a:ext cx="993950" cy="999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BAED99D-7ED9-41B9-97DE-D527127B16DB}"/>
                  </a:ext>
                </a:extLst>
              </p:cNvPr>
              <p:cNvGrpSpPr/>
              <p:nvPr/>
            </p:nvGrpSpPr>
            <p:grpSpPr>
              <a:xfrm>
                <a:off x="11736635" y="3555593"/>
                <a:ext cx="1881918" cy="2023541"/>
                <a:chOff x="928841" y="3523784"/>
                <a:chExt cx="1881918" cy="2023541"/>
              </a:xfrm>
            </p:grpSpPr>
            <p:grpSp>
              <p:nvGrpSpPr>
                <p:cNvPr id="63" name="Google Shape;614;p25">
                  <a:extLst>
                    <a:ext uri="{FF2B5EF4-FFF2-40B4-BE49-F238E27FC236}">
                      <a16:creationId xmlns:a16="http://schemas.microsoft.com/office/drawing/2014/main" id="{2A6BD26B-7DBB-4AD3-9C37-6F962CF504AA}"/>
                    </a:ext>
                  </a:extLst>
                </p:cNvPr>
                <p:cNvGrpSpPr/>
                <p:nvPr/>
              </p:nvGrpSpPr>
              <p:grpSpPr>
                <a:xfrm>
                  <a:off x="928841" y="352378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7" name="Google Shape;615;p25">
                    <a:extLst>
                      <a:ext uri="{FF2B5EF4-FFF2-40B4-BE49-F238E27FC236}">
                        <a16:creationId xmlns:a16="http://schemas.microsoft.com/office/drawing/2014/main" id="{21011E9E-EAE6-4F91-93F9-073B34DA6DF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8" name="Google Shape;616;p25">
                    <a:extLst>
                      <a:ext uri="{FF2B5EF4-FFF2-40B4-BE49-F238E27FC236}">
                        <a16:creationId xmlns:a16="http://schemas.microsoft.com/office/drawing/2014/main" id="{4983E30D-588A-45C1-9D96-7B7998B2A28D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" name="Google Shape;620;p25">
                  <a:extLst>
                    <a:ext uri="{FF2B5EF4-FFF2-40B4-BE49-F238E27FC236}">
                      <a16:creationId xmlns:a16="http://schemas.microsoft.com/office/drawing/2014/main" id="{BA2FDA21-6F92-4365-968E-F0042D4D4102}"/>
                    </a:ext>
                  </a:extLst>
                </p:cNvPr>
                <p:cNvGrpSpPr/>
                <p:nvPr/>
              </p:nvGrpSpPr>
              <p:grpSpPr>
                <a:xfrm>
                  <a:off x="1079364" y="3635104"/>
                  <a:ext cx="1731395" cy="1912221"/>
                  <a:chOff x="0" y="-47625"/>
                  <a:chExt cx="456005" cy="503630"/>
                </a:xfrm>
              </p:grpSpPr>
              <p:sp>
                <p:nvSpPr>
                  <p:cNvPr id="65" name="Google Shape;621;p25">
                    <a:extLst>
                      <a:ext uri="{FF2B5EF4-FFF2-40B4-BE49-F238E27FC236}">
                        <a16:creationId xmlns:a16="http://schemas.microsoft.com/office/drawing/2014/main" id="{1CCC06DF-219E-433C-B51C-1913AB6AE95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66" name="Google Shape;622;p25">
                    <a:extLst>
                      <a:ext uri="{FF2B5EF4-FFF2-40B4-BE49-F238E27FC236}">
                        <a16:creationId xmlns:a16="http://schemas.microsoft.com/office/drawing/2014/main" id="{66443615-236B-4559-9649-874E73FF103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D3C2D4-5484-447A-A0BA-922A43985D8B}"/>
              </a:ext>
            </a:extLst>
          </p:cNvPr>
          <p:cNvGrpSpPr/>
          <p:nvPr/>
        </p:nvGrpSpPr>
        <p:grpSpPr>
          <a:xfrm>
            <a:off x="2810759" y="3558536"/>
            <a:ext cx="6663790" cy="4912572"/>
            <a:chOff x="2810759" y="3558536"/>
            <a:chExt cx="6663790" cy="4912572"/>
          </a:xfrm>
        </p:grpSpPr>
        <p:sp>
          <p:nvSpPr>
            <p:cNvPr id="53" name="Google Shape;641;p25">
              <a:extLst>
                <a:ext uri="{FF2B5EF4-FFF2-40B4-BE49-F238E27FC236}">
                  <a16:creationId xmlns:a16="http://schemas.microsoft.com/office/drawing/2014/main" id="{C8ED4039-213D-4C32-8B0A-9451332A5733}"/>
                </a:ext>
              </a:extLst>
            </p:cNvPr>
            <p:cNvSpPr txBox="1"/>
            <p:nvPr/>
          </p:nvSpPr>
          <p:spPr>
            <a:xfrm>
              <a:off x="6109624" y="5627253"/>
              <a:ext cx="3364925" cy="2843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🏥 Santé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Stockage sécurisé des dossiers médicaux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Accès contrôlé uniquement par les personnes autorisées</a:t>
              </a:r>
              <a:endParaRPr lang="en-US" b="1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EDD35D-EDD9-4EA4-895C-90B696CE1956}"/>
                </a:ext>
              </a:extLst>
            </p:cNvPr>
            <p:cNvGrpSpPr/>
            <p:nvPr/>
          </p:nvGrpSpPr>
          <p:grpSpPr>
            <a:xfrm>
              <a:off x="2810759" y="3558536"/>
              <a:ext cx="5415064" cy="2023541"/>
              <a:chOff x="2810759" y="3558536"/>
              <a:chExt cx="5415064" cy="2023541"/>
            </a:xfrm>
          </p:grpSpPr>
          <p:grpSp>
            <p:nvGrpSpPr>
              <p:cNvPr id="632" name="Google Shape;632;p25"/>
              <p:cNvGrpSpPr/>
              <p:nvPr/>
            </p:nvGrpSpPr>
            <p:grpSpPr>
              <a:xfrm>
                <a:off x="2810759" y="4334436"/>
                <a:ext cx="3526156" cy="409797"/>
                <a:chOff x="0" y="-47625"/>
                <a:chExt cx="1019993" cy="118539"/>
              </a:xfrm>
            </p:grpSpPr>
            <p:sp>
              <p:nvSpPr>
                <p:cNvPr id="633" name="Google Shape;633;p25"/>
                <p:cNvSpPr/>
                <p:nvPr/>
              </p:nvSpPr>
              <p:spPr>
                <a:xfrm>
                  <a:off x="0" y="0"/>
                  <a:ext cx="1019993" cy="7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993" h="70914" extrusionOk="0">
                      <a:moveTo>
                        <a:pt x="0" y="0"/>
                      </a:moveTo>
                      <a:lnTo>
                        <a:pt x="1019993" y="0"/>
                      </a:lnTo>
                      <a:lnTo>
                        <a:pt x="1019993" y="70914"/>
                      </a:lnTo>
                      <a:lnTo>
                        <a:pt x="0" y="70914"/>
                      </a:lnTo>
                      <a:close/>
                    </a:path>
                  </a:pathLst>
                </a:custGeom>
                <a:solidFill>
                  <a:srgbClr val="5CE1E6"/>
                </a:solidFill>
                <a:ln>
                  <a:noFill/>
                </a:ln>
              </p:spPr>
            </p:sp>
            <p:sp>
              <p:nvSpPr>
                <p:cNvPr id="634" name="Google Shape;634;p25"/>
                <p:cNvSpPr txBox="1"/>
                <p:nvPr/>
              </p:nvSpPr>
              <p:spPr>
                <a:xfrm>
                  <a:off x="0" y="-47625"/>
                  <a:ext cx="1019993" cy="1185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61400AF-EB93-464E-829E-65CE8230DE20}"/>
                  </a:ext>
                </a:extLst>
              </p:cNvPr>
              <p:cNvGrpSpPr/>
              <p:nvPr/>
            </p:nvGrpSpPr>
            <p:grpSpPr>
              <a:xfrm>
                <a:off x="6343905" y="3558536"/>
                <a:ext cx="1881918" cy="2023541"/>
                <a:chOff x="6343905" y="3558536"/>
                <a:chExt cx="1881918" cy="2023541"/>
              </a:xfrm>
            </p:grpSpPr>
            <p:pic>
              <p:nvPicPr>
                <p:cNvPr id="653" name="Google Shape;653;p25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6730050" y="4136854"/>
                  <a:ext cx="1062037" cy="106203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634A9159-AA3E-47E2-B505-BDC7EAA21CE8}"/>
                    </a:ext>
                  </a:extLst>
                </p:cNvPr>
                <p:cNvGrpSpPr/>
                <p:nvPr/>
              </p:nvGrpSpPr>
              <p:grpSpPr>
                <a:xfrm>
                  <a:off x="6343905" y="3558536"/>
                  <a:ext cx="1881918" cy="2023541"/>
                  <a:chOff x="928841" y="3523784"/>
                  <a:chExt cx="1881918" cy="2023541"/>
                </a:xfrm>
              </p:grpSpPr>
              <p:grpSp>
                <p:nvGrpSpPr>
                  <p:cNvPr id="70" name="Google Shape;614;p25">
                    <a:extLst>
                      <a:ext uri="{FF2B5EF4-FFF2-40B4-BE49-F238E27FC236}">
                        <a16:creationId xmlns:a16="http://schemas.microsoft.com/office/drawing/2014/main" id="{57E2441E-6FDE-4E1E-878F-906E3A519276}"/>
                      </a:ext>
                    </a:extLst>
                  </p:cNvPr>
                  <p:cNvGrpSpPr/>
                  <p:nvPr/>
                </p:nvGrpSpPr>
                <p:grpSpPr>
                  <a:xfrm>
                    <a:off x="928841" y="352378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4" name="Google Shape;615;p25">
                      <a:extLst>
                        <a:ext uri="{FF2B5EF4-FFF2-40B4-BE49-F238E27FC236}">
                          <a16:creationId xmlns:a16="http://schemas.microsoft.com/office/drawing/2014/main" id="{1FEE5DCD-D8CE-4C5A-BF21-F8353414C4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06D59F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75" name="Google Shape;616;p25">
                      <a:extLst>
                        <a:ext uri="{FF2B5EF4-FFF2-40B4-BE49-F238E27FC236}">
                          <a16:creationId xmlns:a16="http://schemas.microsoft.com/office/drawing/2014/main" id="{226E7D3E-054E-4766-80AB-DFA5B23F5F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1" name="Google Shape;620;p25">
                    <a:extLst>
                      <a:ext uri="{FF2B5EF4-FFF2-40B4-BE49-F238E27FC236}">
                        <a16:creationId xmlns:a16="http://schemas.microsoft.com/office/drawing/2014/main" id="{8AF06112-4609-4C27-8721-DF811B50B159}"/>
                      </a:ext>
                    </a:extLst>
                  </p:cNvPr>
                  <p:cNvGrpSpPr/>
                  <p:nvPr/>
                </p:nvGrpSpPr>
                <p:grpSpPr>
                  <a:xfrm>
                    <a:off x="1079364" y="363510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2" name="Google Shape;621;p25">
                      <a:extLst>
                        <a:ext uri="{FF2B5EF4-FFF2-40B4-BE49-F238E27FC236}">
                          <a16:creationId xmlns:a16="http://schemas.microsoft.com/office/drawing/2014/main" id="{91236B16-96AE-445E-BF02-0EF2AB953B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5CE1E6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73" name="Google Shape;622;p25">
                      <a:extLst>
                        <a:ext uri="{FF2B5EF4-FFF2-40B4-BE49-F238E27FC236}">
                          <a16:creationId xmlns:a16="http://schemas.microsoft.com/office/drawing/2014/main" id="{EE4173F8-5D16-4EC5-B761-1F0CEE2F80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372017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11" y="-842275"/>
            <a:ext cx="17278177" cy="11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 txBox="1"/>
          <p:nvPr/>
        </p:nvSpPr>
        <p:spPr>
          <a:xfrm>
            <a:off x="4580322" y="642252"/>
            <a:ext cx="652208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Exemples concrets d’utilisation</a:t>
            </a:r>
            <a:endParaRPr lang="en-US" sz="6000" dirty="0"/>
          </a:p>
        </p:txBody>
      </p:sp>
      <p:grpSp>
        <p:nvGrpSpPr>
          <p:cNvPr id="646" name="Google Shape;646;p25"/>
          <p:cNvGrpSpPr/>
          <p:nvPr/>
        </p:nvGrpSpPr>
        <p:grpSpPr>
          <a:xfrm>
            <a:off x="14320202" y="452860"/>
            <a:ext cx="698968" cy="698968"/>
            <a:chOff x="0" y="0"/>
            <a:chExt cx="812800" cy="812800"/>
          </a:xfrm>
        </p:grpSpPr>
        <p:sp>
          <p:nvSpPr>
            <p:cNvPr id="647" name="Google Shape;647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1" name="Google Shape;6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9507" y="1647321"/>
            <a:ext cx="4938238" cy="25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3DB9BA3-4EEB-41C0-9ECD-6C599E896598}"/>
              </a:ext>
            </a:extLst>
          </p:cNvPr>
          <p:cNvGrpSpPr/>
          <p:nvPr/>
        </p:nvGrpSpPr>
        <p:grpSpPr>
          <a:xfrm>
            <a:off x="928841" y="3523784"/>
            <a:ext cx="5180783" cy="3626295"/>
            <a:chOff x="928841" y="3523784"/>
            <a:chExt cx="5180783" cy="3626295"/>
          </a:xfrm>
        </p:grpSpPr>
        <p:sp>
          <p:nvSpPr>
            <p:cNvPr id="641" name="Google Shape;641;p25"/>
            <p:cNvSpPr txBox="1"/>
            <p:nvPr/>
          </p:nvSpPr>
          <p:spPr>
            <a:xfrm>
              <a:off x="977773" y="5728151"/>
              <a:ext cx="5131851" cy="1421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⚖️ Contrats intelligents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Exécution automatique des conditions d’un contrat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0B90668-969D-4D41-B1AF-EA62A9F9EFDB}"/>
                </a:ext>
              </a:extLst>
            </p:cNvPr>
            <p:cNvGrpSpPr/>
            <p:nvPr/>
          </p:nvGrpSpPr>
          <p:grpSpPr>
            <a:xfrm>
              <a:off x="928841" y="3523784"/>
              <a:ext cx="1881918" cy="2023541"/>
              <a:chOff x="928841" y="3523784"/>
              <a:chExt cx="1881918" cy="2023541"/>
            </a:xfrm>
          </p:grpSpPr>
          <p:grpSp>
            <p:nvGrpSpPr>
              <p:cNvPr id="614" name="Google Shape;614;p25"/>
              <p:cNvGrpSpPr/>
              <p:nvPr/>
            </p:nvGrpSpPr>
            <p:grpSpPr>
              <a:xfrm>
                <a:off x="928841" y="3523784"/>
                <a:ext cx="1731395" cy="1912221"/>
                <a:chOff x="0" y="-47625"/>
                <a:chExt cx="456005" cy="503630"/>
              </a:xfrm>
            </p:grpSpPr>
            <p:sp>
              <p:nvSpPr>
                <p:cNvPr id="615" name="Google Shape;615;p25"/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06D59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616" name="Google Shape;616;p25"/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0" name="Google Shape;620;p25"/>
              <p:cNvGrpSpPr/>
              <p:nvPr/>
            </p:nvGrpSpPr>
            <p:grpSpPr>
              <a:xfrm>
                <a:off x="1079364" y="3635104"/>
                <a:ext cx="1731395" cy="1912221"/>
                <a:chOff x="0" y="-47625"/>
                <a:chExt cx="456005" cy="503630"/>
              </a:xfrm>
            </p:grpSpPr>
            <p:sp>
              <p:nvSpPr>
                <p:cNvPr id="621" name="Google Shape;621;p25"/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5CE1E6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622" name="Google Shape;622;p25"/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652" name="Google Shape;652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78143" y="4009336"/>
              <a:ext cx="808550" cy="99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oogle Shape;140;p12">
            <a:extLst>
              <a:ext uri="{FF2B5EF4-FFF2-40B4-BE49-F238E27FC236}">
                <a16:creationId xmlns:a16="http://schemas.microsoft.com/office/drawing/2014/main" id="{2D000727-04E8-4442-9DAB-137CB066FFFE}"/>
              </a:ext>
            </a:extLst>
          </p:cNvPr>
          <p:cNvGrpSpPr/>
          <p:nvPr/>
        </p:nvGrpSpPr>
        <p:grpSpPr>
          <a:xfrm>
            <a:off x="1425184" y="813693"/>
            <a:ext cx="1561274" cy="1500754"/>
            <a:chOff x="0" y="-47625"/>
            <a:chExt cx="456005" cy="503630"/>
          </a:xfrm>
        </p:grpSpPr>
        <p:sp>
          <p:nvSpPr>
            <p:cNvPr id="45" name="Google Shape;141;p12">
              <a:extLst>
                <a:ext uri="{FF2B5EF4-FFF2-40B4-BE49-F238E27FC236}">
                  <a16:creationId xmlns:a16="http://schemas.microsoft.com/office/drawing/2014/main" id="{AED968A3-4412-4875-AAFB-79A23C9369FE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" name="Google Shape;142;p12">
              <a:extLst>
                <a:ext uri="{FF2B5EF4-FFF2-40B4-BE49-F238E27FC236}">
                  <a16:creationId xmlns:a16="http://schemas.microsoft.com/office/drawing/2014/main" id="{91D9C10E-82D7-4FEE-AD38-B8CE6768D9A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143;p12">
            <a:extLst>
              <a:ext uri="{FF2B5EF4-FFF2-40B4-BE49-F238E27FC236}">
                <a16:creationId xmlns:a16="http://schemas.microsoft.com/office/drawing/2014/main" id="{9EAD4F50-3304-4F87-BBE0-659C67617001}"/>
              </a:ext>
            </a:extLst>
          </p:cNvPr>
          <p:cNvGrpSpPr/>
          <p:nvPr/>
        </p:nvGrpSpPr>
        <p:grpSpPr>
          <a:xfrm>
            <a:off x="1577886" y="917865"/>
            <a:ext cx="1559837" cy="1529720"/>
            <a:chOff x="0" y="-47625"/>
            <a:chExt cx="456005" cy="503630"/>
          </a:xfrm>
        </p:grpSpPr>
        <p:sp>
          <p:nvSpPr>
            <p:cNvPr id="48" name="Google Shape;144;p12">
              <a:extLst>
                <a:ext uri="{FF2B5EF4-FFF2-40B4-BE49-F238E27FC236}">
                  <a16:creationId xmlns:a16="http://schemas.microsoft.com/office/drawing/2014/main" id="{7A0DE171-14BC-427C-8A3F-E8C8B0712C58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" name="Google Shape;145;p12">
              <a:extLst>
                <a:ext uri="{FF2B5EF4-FFF2-40B4-BE49-F238E27FC236}">
                  <a16:creationId xmlns:a16="http://schemas.microsoft.com/office/drawing/2014/main" id="{A6983A8B-0455-4E29-9327-A830B2504E7D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159;p12">
            <a:extLst>
              <a:ext uri="{FF2B5EF4-FFF2-40B4-BE49-F238E27FC236}">
                <a16:creationId xmlns:a16="http://schemas.microsoft.com/office/drawing/2014/main" id="{08B33DD3-379A-406D-A101-4F947F9BEF2C}"/>
              </a:ext>
            </a:extLst>
          </p:cNvPr>
          <p:cNvSpPr txBox="1"/>
          <p:nvPr/>
        </p:nvSpPr>
        <p:spPr>
          <a:xfrm>
            <a:off x="1575771" y="74051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06.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D3C2D4-5484-447A-A0BA-922A43985D8B}"/>
              </a:ext>
            </a:extLst>
          </p:cNvPr>
          <p:cNvGrpSpPr/>
          <p:nvPr/>
        </p:nvGrpSpPr>
        <p:grpSpPr>
          <a:xfrm>
            <a:off x="2810759" y="3558536"/>
            <a:ext cx="6856996" cy="4920719"/>
            <a:chOff x="2810759" y="3558536"/>
            <a:chExt cx="6856996" cy="4920719"/>
          </a:xfrm>
        </p:grpSpPr>
        <p:sp>
          <p:nvSpPr>
            <p:cNvPr id="53" name="Google Shape;641;p25">
              <a:extLst>
                <a:ext uri="{FF2B5EF4-FFF2-40B4-BE49-F238E27FC236}">
                  <a16:creationId xmlns:a16="http://schemas.microsoft.com/office/drawing/2014/main" id="{C8ED4039-213D-4C32-8B0A-9451332A5733}"/>
                </a:ext>
              </a:extLst>
            </p:cNvPr>
            <p:cNvSpPr txBox="1"/>
            <p:nvPr/>
          </p:nvSpPr>
          <p:spPr>
            <a:xfrm>
              <a:off x="6302830" y="5635400"/>
              <a:ext cx="3364925" cy="2843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🎓 Éducation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Certification des diplômes sur la blockchain</a:t>
              </a:r>
            </a:p>
            <a:p>
              <a:pPr lvl="1">
                <a:lnSpc>
                  <a:spcPct val="140000"/>
                </a:lnSpc>
              </a:pPr>
              <a:r>
                <a:rPr lang="fr-FR" sz="22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Plus de triche ou de faux diplômes</a:t>
              </a:r>
              <a:endParaRPr lang="en-US" b="1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EDD35D-EDD9-4EA4-895C-90B696CE1956}"/>
                </a:ext>
              </a:extLst>
            </p:cNvPr>
            <p:cNvGrpSpPr/>
            <p:nvPr/>
          </p:nvGrpSpPr>
          <p:grpSpPr>
            <a:xfrm>
              <a:off x="2810759" y="3558536"/>
              <a:ext cx="5415064" cy="2023541"/>
              <a:chOff x="2810759" y="3558536"/>
              <a:chExt cx="5415064" cy="2023541"/>
            </a:xfrm>
          </p:grpSpPr>
          <p:grpSp>
            <p:nvGrpSpPr>
              <p:cNvPr id="632" name="Google Shape;632;p25"/>
              <p:cNvGrpSpPr/>
              <p:nvPr/>
            </p:nvGrpSpPr>
            <p:grpSpPr>
              <a:xfrm>
                <a:off x="2810759" y="4334436"/>
                <a:ext cx="3526156" cy="409797"/>
                <a:chOff x="0" y="-47625"/>
                <a:chExt cx="1019993" cy="118539"/>
              </a:xfrm>
            </p:grpSpPr>
            <p:sp>
              <p:nvSpPr>
                <p:cNvPr id="633" name="Google Shape;633;p25"/>
                <p:cNvSpPr/>
                <p:nvPr/>
              </p:nvSpPr>
              <p:spPr>
                <a:xfrm>
                  <a:off x="0" y="0"/>
                  <a:ext cx="1019993" cy="7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993" h="70914" extrusionOk="0">
                      <a:moveTo>
                        <a:pt x="0" y="0"/>
                      </a:moveTo>
                      <a:lnTo>
                        <a:pt x="1019993" y="0"/>
                      </a:lnTo>
                      <a:lnTo>
                        <a:pt x="1019993" y="70914"/>
                      </a:lnTo>
                      <a:lnTo>
                        <a:pt x="0" y="70914"/>
                      </a:lnTo>
                      <a:close/>
                    </a:path>
                  </a:pathLst>
                </a:custGeom>
                <a:solidFill>
                  <a:srgbClr val="5CE1E6"/>
                </a:solidFill>
                <a:ln>
                  <a:noFill/>
                </a:ln>
              </p:spPr>
            </p:sp>
            <p:sp>
              <p:nvSpPr>
                <p:cNvPr id="634" name="Google Shape;634;p25"/>
                <p:cNvSpPr txBox="1"/>
                <p:nvPr/>
              </p:nvSpPr>
              <p:spPr>
                <a:xfrm>
                  <a:off x="0" y="-47625"/>
                  <a:ext cx="1019993" cy="1185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61400AF-EB93-464E-829E-65CE8230DE20}"/>
                  </a:ext>
                </a:extLst>
              </p:cNvPr>
              <p:cNvGrpSpPr/>
              <p:nvPr/>
            </p:nvGrpSpPr>
            <p:grpSpPr>
              <a:xfrm>
                <a:off x="6343905" y="3558536"/>
                <a:ext cx="1881918" cy="2023541"/>
                <a:chOff x="6343905" y="3558536"/>
                <a:chExt cx="1881918" cy="2023541"/>
              </a:xfrm>
            </p:grpSpPr>
            <p:pic>
              <p:nvPicPr>
                <p:cNvPr id="653" name="Google Shape;653;p25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6730050" y="4136854"/>
                  <a:ext cx="1062037" cy="106203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634A9159-AA3E-47E2-B505-BDC7EAA21CE8}"/>
                    </a:ext>
                  </a:extLst>
                </p:cNvPr>
                <p:cNvGrpSpPr/>
                <p:nvPr/>
              </p:nvGrpSpPr>
              <p:grpSpPr>
                <a:xfrm>
                  <a:off x="6343905" y="3558536"/>
                  <a:ext cx="1881918" cy="2023541"/>
                  <a:chOff x="928841" y="3523784"/>
                  <a:chExt cx="1881918" cy="2023541"/>
                </a:xfrm>
              </p:grpSpPr>
              <p:grpSp>
                <p:nvGrpSpPr>
                  <p:cNvPr id="70" name="Google Shape;614;p25">
                    <a:extLst>
                      <a:ext uri="{FF2B5EF4-FFF2-40B4-BE49-F238E27FC236}">
                        <a16:creationId xmlns:a16="http://schemas.microsoft.com/office/drawing/2014/main" id="{57E2441E-6FDE-4E1E-878F-906E3A519276}"/>
                      </a:ext>
                    </a:extLst>
                  </p:cNvPr>
                  <p:cNvGrpSpPr/>
                  <p:nvPr/>
                </p:nvGrpSpPr>
                <p:grpSpPr>
                  <a:xfrm>
                    <a:off x="928841" y="352378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4" name="Google Shape;615;p25">
                      <a:extLst>
                        <a:ext uri="{FF2B5EF4-FFF2-40B4-BE49-F238E27FC236}">
                          <a16:creationId xmlns:a16="http://schemas.microsoft.com/office/drawing/2014/main" id="{1FEE5DCD-D8CE-4C5A-BF21-F8353414C4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06D59F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75" name="Google Shape;616;p25">
                      <a:extLst>
                        <a:ext uri="{FF2B5EF4-FFF2-40B4-BE49-F238E27FC236}">
                          <a16:creationId xmlns:a16="http://schemas.microsoft.com/office/drawing/2014/main" id="{226E7D3E-054E-4766-80AB-DFA5B23F5F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1" name="Google Shape;620;p25">
                    <a:extLst>
                      <a:ext uri="{FF2B5EF4-FFF2-40B4-BE49-F238E27FC236}">
                        <a16:creationId xmlns:a16="http://schemas.microsoft.com/office/drawing/2014/main" id="{8AF06112-4609-4C27-8721-DF811B50B159}"/>
                      </a:ext>
                    </a:extLst>
                  </p:cNvPr>
                  <p:cNvGrpSpPr/>
                  <p:nvPr/>
                </p:nvGrpSpPr>
                <p:grpSpPr>
                  <a:xfrm>
                    <a:off x="1079364" y="3635104"/>
                    <a:ext cx="1731395" cy="1912221"/>
                    <a:chOff x="0" y="-47625"/>
                    <a:chExt cx="456005" cy="503630"/>
                  </a:xfrm>
                </p:grpSpPr>
                <p:sp>
                  <p:nvSpPr>
                    <p:cNvPr id="72" name="Google Shape;621;p25">
                      <a:extLst>
                        <a:ext uri="{FF2B5EF4-FFF2-40B4-BE49-F238E27FC236}">
                          <a16:creationId xmlns:a16="http://schemas.microsoft.com/office/drawing/2014/main" id="{91236B16-96AE-445E-BF02-0EF2AB953B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456005" cy="4560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005" h="456005" extrusionOk="0">
                          <a:moveTo>
                            <a:pt x="0" y="0"/>
                          </a:moveTo>
                          <a:lnTo>
                            <a:pt x="456005" y="0"/>
                          </a:lnTo>
                          <a:lnTo>
                            <a:pt x="456005" y="456005"/>
                          </a:lnTo>
                          <a:lnTo>
                            <a:pt x="0" y="45600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38100" cap="sq" cmpd="sng">
                      <a:solidFill>
                        <a:srgbClr val="5CE1E6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73" name="Google Shape;622;p25">
                      <a:extLst>
                        <a:ext uri="{FF2B5EF4-FFF2-40B4-BE49-F238E27FC236}">
                          <a16:creationId xmlns:a16="http://schemas.microsoft.com/office/drawing/2014/main" id="{EE4173F8-5D16-4EC5-B761-1F0CEE2F80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47625"/>
                      <a:ext cx="456005" cy="503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50800" tIns="50800" rIns="50800" bIns="50800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86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</p:grpSp>
      <p:pic>
        <p:nvPicPr>
          <p:cNvPr id="55" name="Google Shape;343;p18">
            <a:extLst>
              <a:ext uri="{FF2B5EF4-FFF2-40B4-BE49-F238E27FC236}">
                <a16:creationId xmlns:a16="http://schemas.microsoft.com/office/drawing/2014/main" id="{6FCA4349-4EAD-421F-8ACF-A5D2DCC9666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02024" y="813693"/>
            <a:ext cx="23501435" cy="1070647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383;p18">
            <a:extLst>
              <a:ext uri="{FF2B5EF4-FFF2-40B4-BE49-F238E27FC236}">
                <a16:creationId xmlns:a16="http://schemas.microsoft.com/office/drawing/2014/main" id="{74F25460-3793-4C40-BC32-43B0F7B8CBCD}"/>
              </a:ext>
            </a:extLst>
          </p:cNvPr>
          <p:cNvSpPr/>
          <p:nvPr/>
        </p:nvSpPr>
        <p:spPr>
          <a:xfrm>
            <a:off x="-5901573" y="7897830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4354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/>
          <p:nvPr/>
        </p:nvSpPr>
        <p:spPr>
          <a:xfrm>
            <a:off x="3428614" y="1184526"/>
            <a:ext cx="114681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Limites et défis de la Blockchain</a:t>
            </a:r>
            <a:endParaRPr lang="en-US" sz="7000" dirty="0"/>
          </a:p>
        </p:txBody>
      </p:sp>
      <p:sp>
        <p:nvSpPr>
          <p:cNvPr id="383" name="Google Shape;383;p18"/>
          <p:cNvSpPr/>
          <p:nvPr/>
        </p:nvSpPr>
        <p:spPr>
          <a:xfrm>
            <a:off x="16094310" y="8498653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84" name="Google Shape;3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76375" y="1976375"/>
            <a:ext cx="4684310" cy="2422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0C73A7A-5F69-49A7-A5D3-2452E6C0983E}"/>
              </a:ext>
            </a:extLst>
          </p:cNvPr>
          <p:cNvGrpSpPr/>
          <p:nvPr/>
        </p:nvGrpSpPr>
        <p:grpSpPr>
          <a:xfrm>
            <a:off x="967515" y="3344270"/>
            <a:ext cx="7841352" cy="2154436"/>
            <a:chOff x="2009468" y="3748236"/>
            <a:chExt cx="7841352" cy="2154436"/>
          </a:xfrm>
        </p:grpSpPr>
        <p:pic>
          <p:nvPicPr>
            <p:cNvPr id="387" name="Google Shape;387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12568" y="4172276"/>
              <a:ext cx="792814" cy="11039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97CE458-AE2D-4DCE-9304-AA92AF81DF16}"/>
                </a:ext>
              </a:extLst>
            </p:cNvPr>
            <p:cNvGrpSpPr/>
            <p:nvPr/>
          </p:nvGrpSpPr>
          <p:grpSpPr>
            <a:xfrm>
              <a:off x="2009468" y="3748236"/>
              <a:ext cx="7841352" cy="2154436"/>
              <a:chOff x="2009468" y="3748236"/>
              <a:chExt cx="7841352" cy="2154436"/>
            </a:xfrm>
          </p:grpSpPr>
          <p:grpSp>
            <p:nvGrpSpPr>
              <p:cNvPr id="79" name="Google Shape;344;p18">
                <a:extLst>
                  <a:ext uri="{FF2B5EF4-FFF2-40B4-BE49-F238E27FC236}">
                    <a16:creationId xmlns:a16="http://schemas.microsoft.com/office/drawing/2014/main" id="{4FBDC3C6-C276-4F67-9737-15C0814183E7}"/>
                  </a:ext>
                </a:extLst>
              </p:cNvPr>
              <p:cNvGrpSpPr/>
              <p:nvPr/>
            </p:nvGrpSpPr>
            <p:grpSpPr>
              <a:xfrm>
                <a:off x="2009468" y="3767291"/>
                <a:ext cx="1603565" cy="1617397"/>
                <a:chOff x="0" y="-47625"/>
                <a:chExt cx="456005" cy="503630"/>
              </a:xfrm>
            </p:grpSpPr>
            <p:sp>
              <p:nvSpPr>
                <p:cNvPr id="80" name="Google Shape;345;p18">
                  <a:extLst>
                    <a:ext uri="{FF2B5EF4-FFF2-40B4-BE49-F238E27FC236}">
                      <a16:creationId xmlns:a16="http://schemas.microsoft.com/office/drawing/2014/main" id="{28796738-8837-4E98-9100-BB8ADBA6D70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456005" cy="4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05" h="456005" extrusionOk="0">
                      <a:moveTo>
                        <a:pt x="0" y="0"/>
                      </a:moveTo>
                      <a:lnTo>
                        <a:pt x="456005" y="0"/>
                      </a:lnTo>
                      <a:lnTo>
                        <a:pt x="456005" y="456005"/>
                      </a:lnTo>
                      <a:lnTo>
                        <a:pt x="0" y="456005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06D59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</p:sp>
            <p:sp>
              <p:nvSpPr>
                <p:cNvPr id="81" name="Google Shape;346;p18">
                  <a:extLst>
                    <a:ext uri="{FF2B5EF4-FFF2-40B4-BE49-F238E27FC236}">
                      <a16:creationId xmlns:a16="http://schemas.microsoft.com/office/drawing/2014/main" id="{0E48AE91-D8DE-469F-BCDA-5D12F9178DBA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456005" cy="5036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E2BA224-2088-49E1-8E81-F3B4108976C6}"/>
                  </a:ext>
                </a:extLst>
              </p:cNvPr>
              <p:cNvGrpSpPr/>
              <p:nvPr/>
            </p:nvGrpSpPr>
            <p:grpSpPr>
              <a:xfrm>
                <a:off x="2154884" y="3748236"/>
                <a:ext cx="7695936" cy="2154436"/>
                <a:chOff x="1061934" y="3081509"/>
                <a:chExt cx="7695936" cy="2154436"/>
              </a:xfrm>
            </p:grpSpPr>
            <p:sp>
              <p:nvSpPr>
                <p:cNvPr id="373" name="Google Shape;373;p18"/>
                <p:cNvSpPr txBox="1"/>
                <p:nvPr/>
              </p:nvSpPr>
              <p:spPr>
                <a:xfrm>
                  <a:off x="2969132" y="3081509"/>
                  <a:ext cx="5788738" cy="21544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fr-FR" sz="2500" b="0" i="0" u="none" strike="noStrike" cap="none" dirty="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🐢 Vitesse et performance</a:t>
                  </a:r>
                </a:p>
                <a:p>
                  <a:pPr marL="0" marR="0" lvl="0" indent="0" algn="l" rtl="0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fr-FR" sz="2500" b="0" i="0" u="none" strike="noStrike" cap="none" dirty="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→ Les transactions peuvent être lentes, surtout avec certaines blockchains (ex. : Bitcoin)</a:t>
                  </a:r>
                  <a:endParaRPr lang="en-US" sz="2500" dirty="0"/>
                </a:p>
              </p:txBody>
            </p:sp>
            <p:grpSp>
              <p:nvGrpSpPr>
                <p:cNvPr id="82" name="Google Shape;356;p18">
                  <a:extLst>
                    <a:ext uri="{FF2B5EF4-FFF2-40B4-BE49-F238E27FC236}">
                      <a16:creationId xmlns:a16="http://schemas.microsoft.com/office/drawing/2014/main" id="{CEA8CA76-6ECA-436E-B009-835E68122BF8}"/>
                    </a:ext>
                  </a:extLst>
                </p:cNvPr>
                <p:cNvGrpSpPr/>
                <p:nvPr/>
              </p:nvGrpSpPr>
              <p:grpSpPr>
                <a:xfrm>
                  <a:off x="1061934" y="3222838"/>
                  <a:ext cx="1612972" cy="1642287"/>
                  <a:chOff x="0" y="-47625"/>
                  <a:chExt cx="456005" cy="503630"/>
                </a:xfrm>
              </p:grpSpPr>
              <p:sp>
                <p:nvSpPr>
                  <p:cNvPr id="83" name="Google Shape;357;p18">
                    <a:extLst>
                      <a:ext uri="{FF2B5EF4-FFF2-40B4-BE49-F238E27FC236}">
                        <a16:creationId xmlns:a16="http://schemas.microsoft.com/office/drawing/2014/main" id="{15B1BE7B-E1C3-400A-8A09-3B9FED42897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84" name="Google Shape;358;p18">
                    <a:extLst>
                      <a:ext uri="{FF2B5EF4-FFF2-40B4-BE49-F238E27FC236}">
                        <a16:creationId xmlns:a16="http://schemas.microsoft.com/office/drawing/2014/main" id="{E5EB3C79-B418-4C8D-8CE0-CDA5F82110F2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34786D-56DB-4F60-B7B2-7E74C51A2A20}"/>
              </a:ext>
            </a:extLst>
          </p:cNvPr>
          <p:cNvGrpSpPr/>
          <p:nvPr/>
        </p:nvGrpSpPr>
        <p:grpSpPr>
          <a:xfrm>
            <a:off x="925925" y="6344217"/>
            <a:ext cx="8218075" cy="2154436"/>
            <a:chOff x="925925" y="6344217"/>
            <a:chExt cx="8218075" cy="215443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B56AFD-D192-480B-B8E0-62DC96685F55}"/>
                </a:ext>
              </a:extLst>
            </p:cNvPr>
            <p:cNvGrpSpPr/>
            <p:nvPr/>
          </p:nvGrpSpPr>
          <p:grpSpPr>
            <a:xfrm>
              <a:off x="925925" y="6367592"/>
              <a:ext cx="1748981" cy="1748666"/>
              <a:chOff x="925925" y="6367592"/>
              <a:chExt cx="1748981" cy="1748666"/>
            </a:xfrm>
          </p:grpSpPr>
          <p:pic>
            <p:nvPicPr>
              <p:cNvPr id="385" name="Google Shape;385;p1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262350" y="6759146"/>
                <a:ext cx="1134650" cy="1071936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9A04977-B375-4551-89D1-881C69AFBA5C}"/>
                  </a:ext>
                </a:extLst>
              </p:cNvPr>
              <p:cNvGrpSpPr/>
              <p:nvPr/>
            </p:nvGrpSpPr>
            <p:grpSpPr>
              <a:xfrm>
                <a:off x="925925" y="6367592"/>
                <a:ext cx="1748981" cy="1748666"/>
                <a:chOff x="1094601" y="6342511"/>
                <a:chExt cx="1748981" cy="1748666"/>
              </a:xfrm>
            </p:grpSpPr>
            <p:grpSp>
              <p:nvGrpSpPr>
                <p:cNvPr id="91" name="Google Shape;344;p18">
                  <a:extLst>
                    <a:ext uri="{FF2B5EF4-FFF2-40B4-BE49-F238E27FC236}">
                      <a16:creationId xmlns:a16="http://schemas.microsoft.com/office/drawing/2014/main" id="{1F3FF879-FD68-4C03-8AE4-C1F6D43D3222}"/>
                    </a:ext>
                  </a:extLst>
                </p:cNvPr>
                <p:cNvGrpSpPr/>
                <p:nvPr/>
              </p:nvGrpSpPr>
              <p:grpSpPr>
                <a:xfrm>
                  <a:off x="1094601" y="6342511"/>
                  <a:ext cx="1603565" cy="1617397"/>
                  <a:chOff x="0" y="-47625"/>
                  <a:chExt cx="456005" cy="503630"/>
                </a:xfrm>
              </p:grpSpPr>
              <p:sp>
                <p:nvSpPr>
                  <p:cNvPr id="92" name="Google Shape;345;p18">
                    <a:extLst>
                      <a:ext uri="{FF2B5EF4-FFF2-40B4-BE49-F238E27FC236}">
                        <a16:creationId xmlns:a16="http://schemas.microsoft.com/office/drawing/2014/main" id="{790063BC-B001-49A0-B613-5FC0BCAA143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3" name="Google Shape;346;p18">
                    <a:extLst>
                      <a:ext uri="{FF2B5EF4-FFF2-40B4-BE49-F238E27FC236}">
                        <a16:creationId xmlns:a16="http://schemas.microsoft.com/office/drawing/2014/main" id="{18B3C2D3-C793-4606-856F-E8540BB4509B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" name="Google Shape;356;p18">
                  <a:extLst>
                    <a:ext uri="{FF2B5EF4-FFF2-40B4-BE49-F238E27FC236}">
                      <a16:creationId xmlns:a16="http://schemas.microsoft.com/office/drawing/2014/main" id="{F1A00F98-6609-4A10-AFEA-1486F1B91795}"/>
                    </a:ext>
                  </a:extLst>
                </p:cNvPr>
                <p:cNvGrpSpPr/>
                <p:nvPr/>
              </p:nvGrpSpPr>
              <p:grpSpPr>
                <a:xfrm>
                  <a:off x="1230610" y="6448890"/>
                  <a:ext cx="1612972" cy="1642287"/>
                  <a:chOff x="0" y="-47625"/>
                  <a:chExt cx="456005" cy="503630"/>
                </a:xfrm>
              </p:grpSpPr>
              <p:sp>
                <p:nvSpPr>
                  <p:cNvPr id="95" name="Google Shape;357;p18">
                    <a:extLst>
                      <a:ext uri="{FF2B5EF4-FFF2-40B4-BE49-F238E27FC236}">
                        <a16:creationId xmlns:a16="http://schemas.microsoft.com/office/drawing/2014/main" id="{80C46514-63A6-4B00-AD4B-720D804578E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6" name="Google Shape;358;p18">
                    <a:extLst>
                      <a:ext uri="{FF2B5EF4-FFF2-40B4-BE49-F238E27FC236}">
                        <a16:creationId xmlns:a16="http://schemas.microsoft.com/office/drawing/2014/main" id="{F2792A3A-4CDD-4B2E-B4A9-1B53441946A0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2" name="Google Shape;373;p18">
              <a:extLst>
                <a:ext uri="{FF2B5EF4-FFF2-40B4-BE49-F238E27FC236}">
                  <a16:creationId xmlns:a16="http://schemas.microsoft.com/office/drawing/2014/main" id="{AE7365EF-21A1-4773-B1DA-C8803D5E213A}"/>
                </a:ext>
              </a:extLst>
            </p:cNvPr>
            <p:cNvSpPr txBox="1"/>
            <p:nvPr/>
          </p:nvSpPr>
          <p:spPr>
            <a:xfrm>
              <a:off x="3126988" y="6344217"/>
              <a:ext cx="6017012" cy="2154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⚡ Consommation d’énergie</a:t>
              </a: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Le mécanisme de validation (comme la preuve de travail) demande beaucoup d’électricité.</a:t>
              </a:r>
              <a:endParaRPr lang="en-US" sz="2500" dirty="0"/>
            </a:p>
          </p:txBody>
        </p:sp>
      </p:grpSp>
      <p:pic>
        <p:nvPicPr>
          <p:cNvPr id="343" name="Google Shape;34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892682" y="793381"/>
            <a:ext cx="23501435" cy="10706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F02D15B-78CD-4286-B8C8-96A029326B14}"/>
              </a:ext>
            </a:extLst>
          </p:cNvPr>
          <p:cNvGrpSpPr/>
          <p:nvPr/>
        </p:nvGrpSpPr>
        <p:grpSpPr>
          <a:xfrm>
            <a:off x="8814829" y="3291983"/>
            <a:ext cx="6307983" cy="2298688"/>
            <a:chOff x="7369345" y="3524967"/>
            <a:chExt cx="6307983" cy="229868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05AC0FD-ACB1-486E-9D68-E41BA2C5AFF7}"/>
                </a:ext>
              </a:extLst>
            </p:cNvPr>
            <p:cNvGrpSpPr/>
            <p:nvPr/>
          </p:nvGrpSpPr>
          <p:grpSpPr>
            <a:xfrm>
              <a:off x="7369345" y="3524967"/>
              <a:ext cx="1748981" cy="1748666"/>
              <a:chOff x="7533265" y="3162493"/>
              <a:chExt cx="1748981" cy="1748666"/>
            </a:xfrm>
          </p:grpSpPr>
          <p:pic>
            <p:nvPicPr>
              <p:cNvPr id="388" name="Google Shape;388;p18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994910" y="3568538"/>
                <a:ext cx="961700" cy="97204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C6AABDC-3F7C-4C6F-856B-EF7FFE33D966}"/>
                  </a:ext>
                </a:extLst>
              </p:cNvPr>
              <p:cNvGrpSpPr/>
              <p:nvPr/>
            </p:nvGrpSpPr>
            <p:grpSpPr>
              <a:xfrm>
                <a:off x="7533265" y="3162493"/>
                <a:ext cx="1748981" cy="1748666"/>
                <a:chOff x="7395615" y="3192932"/>
                <a:chExt cx="1748981" cy="1748666"/>
              </a:xfrm>
            </p:grpSpPr>
            <p:grpSp>
              <p:nvGrpSpPr>
                <p:cNvPr id="85" name="Google Shape;344;p18">
                  <a:extLst>
                    <a:ext uri="{FF2B5EF4-FFF2-40B4-BE49-F238E27FC236}">
                      <a16:creationId xmlns:a16="http://schemas.microsoft.com/office/drawing/2014/main" id="{64941F8F-2B00-4E15-9C70-D26EC9D44D9D}"/>
                    </a:ext>
                  </a:extLst>
                </p:cNvPr>
                <p:cNvGrpSpPr/>
                <p:nvPr/>
              </p:nvGrpSpPr>
              <p:grpSpPr>
                <a:xfrm>
                  <a:off x="7395615" y="3192932"/>
                  <a:ext cx="1603565" cy="1617397"/>
                  <a:chOff x="0" y="-47625"/>
                  <a:chExt cx="456005" cy="503630"/>
                </a:xfrm>
              </p:grpSpPr>
              <p:sp>
                <p:nvSpPr>
                  <p:cNvPr id="86" name="Google Shape;345;p18">
                    <a:extLst>
                      <a:ext uri="{FF2B5EF4-FFF2-40B4-BE49-F238E27FC236}">
                        <a16:creationId xmlns:a16="http://schemas.microsoft.com/office/drawing/2014/main" id="{CE6514F5-1B18-4E75-B4AC-96C49EB3E5C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" name="Google Shape;346;p18">
                    <a:extLst>
                      <a:ext uri="{FF2B5EF4-FFF2-40B4-BE49-F238E27FC236}">
                        <a16:creationId xmlns:a16="http://schemas.microsoft.com/office/drawing/2014/main" id="{612BBDE6-DB08-47EC-AEB2-E496E3A9B53A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8" name="Google Shape;356;p18">
                  <a:extLst>
                    <a:ext uri="{FF2B5EF4-FFF2-40B4-BE49-F238E27FC236}">
                      <a16:creationId xmlns:a16="http://schemas.microsoft.com/office/drawing/2014/main" id="{8B6FC868-1C6B-4331-B409-06FAC77E0322}"/>
                    </a:ext>
                  </a:extLst>
                </p:cNvPr>
                <p:cNvGrpSpPr/>
                <p:nvPr/>
              </p:nvGrpSpPr>
              <p:grpSpPr>
                <a:xfrm>
                  <a:off x="7531624" y="3299311"/>
                  <a:ext cx="1612972" cy="1642287"/>
                  <a:chOff x="0" y="-47625"/>
                  <a:chExt cx="456005" cy="503630"/>
                </a:xfrm>
              </p:grpSpPr>
              <p:sp>
                <p:nvSpPr>
                  <p:cNvPr id="89" name="Google Shape;357;p18">
                    <a:extLst>
                      <a:ext uri="{FF2B5EF4-FFF2-40B4-BE49-F238E27FC236}">
                        <a16:creationId xmlns:a16="http://schemas.microsoft.com/office/drawing/2014/main" id="{9E9D6F4F-1B66-4BA9-A97B-6762FCEC33A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0" name="Google Shape;358;p18">
                    <a:extLst>
                      <a:ext uri="{FF2B5EF4-FFF2-40B4-BE49-F238E27FC236}">
                        <a16:creationId xmlns:a16="http://schemas.microsoft.com/office/drawing/2014/main" id="{536282D0-E987-4716-8438-7CF9B783B1B1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3" name="Google Shape;373;p18">
              <a:extLst>
                <a:ext uri="{FF2B5EF4-FFF2-40B4-BE49-F238E27FC236}">
                  <a16:creationId xmlns:a16="http://schemas.microsoft.com/office/drawing/2014/main" id="{BF8CF4DD-BD07-4FD4-B6A7-DFFC0A93C786}"/>
                </a:ext>
              </a:extLst>
            </p:cNvPr>
            <p:cNvSpPr txBox="1"/>
            <p:nvPr/>
          </p:nvSpPr>
          <p:spPr>
            <a:xfrm>
              <a:off x="9412552" y="3669219"/>
              <a:ext cx="4264776" cy="2154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dirty="0">
                  <a:solidFill>
                    <a:schemeClr val="bg1"/>
                  </a:solidFill>
                </a:rPr>
                <a:t>😕 Complexité technique</a:t>
              </a: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dirty="0">
                  <a:solidFill>
                    <a:schemeClr val="bg1"/>
                  </a:solidFill>
                </a:rPr>
                <a:t>→ Besoin de compétences techniques pour la développer ou l’utiliser</a:t>
              </a:r>
              <a:endParaRPr lang="en-US" sz="2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8C5C13-37AE-4BB1-8206-176E989F6690}"/>
              </a:ext>
            </a:extLst>
          </p:cNvPr>
          <p:cNvGrpSpPr/>
          <p:nvPr/>
        </p:nvGrpSpPr>
        <p:grpSpPr>
          <a:xfrm>
            <a:off x="8808867" y="6188958"/>
            <a:ext cx="7285443" cy="3231654"/>
            <a:chOff x="7421279" y="6294763"/>
            <a:chExt cx="7285443" cy="323165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4C4DF83-915D-49D0-8A4E-C61C7CB554A9}"/>
                </a:ext>
              </a:extLst>
            </p:cNvPr>
            <p:cNvGrpSpPr/>
            <p:nvPr/>
          </p:nvGrpSpPr>
          <p:grpSpPr>
            <a:xfrm>
              <a:off x="7421279" y="6473971"/>
              <a:ext cx="1748981" cy="1748666"/>
              <a:chOff x="7421279" y="6473971"/>
              <a:chExt cx="1748981" cy="1748666"/>
            </a:xfrm>
          </p:grpSpPr>
          <p:pic>
            <p:nvPicPr>
              <p:cNvPr id="386" name="Google Shape;386;p18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7912589" y="6980940"/>
                <a:ext cx="961710" cy="9296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48A2ED3-2B74-4BCA-918F-5C7CFEAE2227}"/>
                  </a:ext>
                </a:extLst>
              </p:cNvPr>
              <p:cNvGrpSpPr/>
              <p:nvPr/>
            </p:nvGrpSpPr>
            <p:grpSpPr>
              <a:xfrm>
                <a:off x="7421279" y="6473971"/>
                <a:ext cx="1748981" cy="1748666"/>
                <a:chOff x="7577930" y="6344217"/>
                <a:chExt cx="1748981" cy="1748666"/>
              </a:xfrm>
            </p:grpSpPr>
            <p:grpSp>
              <p:nvGrpSpPr>
                <p:cNvPr id="97" name="Google Shape;344;p18">
                  <a:extLst>
                    <a:ext uri="{FF2B5EF4-FFF2-40B4-BE49-F238E27FC236}">
                      <a16:creationId xmlns:a16="http://schemas.microsoft.com/office/drawing/2014/main" id="{E0B269C1-CFE8-44CA-B80C-4349C49EABD9}"/>
                    </a:ext>
                  </a:extLst>
                </p:cNvPr>
                <p:cNvGrpSpPr/>
                <p:nvPr/>
              </p:nvGrpSpPr>
              <p:grpSpPr>
                <a:xfrm>
                  <a:off x="7577930" y="6344217"/>
                  <a:ext cx="1603565" cy="1617397"/>
                  <a:chOff x="0" y="-47625"/>
                  <a:chExt cx="456005" cy="503630"/>
                </a:xfrm>
              </p:grpSpPr>
              <p:sp>
                <p:nvSpPr>
                  <p:cNvPr id="98" name="Google Shape;345;p18">
                    <a:extLst>
                      <a:ext uri="{FF2B5EF4-FFF2-40B4-BE49-F238E27FC236}">
                        <a16:creationId xmlns:a16="http://schemas.microsoft.com/office/drawing/2014/main" id="{D97D5730-FD11-4953-B59C-89B61917231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06D59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99" name="Google Shape;346;p18">
                    <a:extLst>
                      <a:ext uri="{FF2B5EF4-FFF2-40B4-BE49-F238E27FC236}">
                        <a16:creationId xmlns:a16="http://schemas.microsoft.com/office/drawing/2014/main" id="{642193A5-3960-4FCD-8BF9-97C1DCBDF12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0" name="Google Shape;356;p18">
                  <a:extLst>
                    <a:ext uri="{FF2B5EF4-FFF2-40B4-BE49-F238E27FC236}">
                      <a16:creationId xmlns:a16="http://schemas.microsoft.com/office/drawing/2014/main" id="{6F7553D6-76BB-4862-B2AD-334C431E4D0A}"/>
                    </a:ext>
                  </a:extLst>
                </p:cNvPr>
                <p:cNvGrpSpPr/>
                <p:nvPr/>
              </p:nvGrpSpPr>
              <p:grpSpPr>
                <a:xfrm>
                  <a:off x="7695765" y="6450596"/>
                  <a:ext cx="1631146" cy="1642287"/>
                  <a:chOff x="-5138" y="-47625"/>
                  <a:chExt cx="461143" cy="503630"/>
                </a:xfrm>
              </p:grpSpPr>
              <p:sp>
                <p:nvSpPr>
                  <p:cNvPr id="101" name="Google Shape;357;p18">
                    <a:extLst>
                      <a:ext uri="{FF2B5EF4-FFF2-40B4-BE49-F238E27FC236}">
                        <a16:creationId xmlns:a16="http://schemas.microsoft.com/office/drawing/2014/main" id="{E224CFDE-91D0-486F-9202-1CA035EB198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456005" cy="456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005" h="456005" extrusionOk="0">
                        <a:moveTo>
                          <a:pt x="0" y="0"/>
                        </a:moveTo>
                        <a:lnTo>
                          <a:pt x="456005" y="0"/>
                        </a:lnTo>
                        <a:lnTo>
                          <a:pt x="456005" y="456005"/>
                        </a:lnTo>
                        <a:lnTo>
                          <a:pt x="0" y="456005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38100" cap="sq" cmpd="sng">
                    <a:solidFill>
                      <a:srgbClr val="5CE1E6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</p:sp>
              <p:sp>
                <p:nvSpPr>
                  <p:cNvPr id="102" name="Google Shape;358;p18">
                    <a:extLst>
                      <a:ext uri="{FF2B5EF4-FFF2-40B4-BE49-F238E27FC236}">
                        <a16:creationId xmlns:a16="http://schemas.microsoft.com/office/drawing/2014/main" id="{C91F726E-81B3-4F4A-92F8-DEF643E61BF4}"/>
                      </a:ext>
                    </a:extLst>
                  </p:cNvPr>
                  <p:cNvSpPr txBox="1"/>
                  <p:nvPr/>
                </p:nvSpPr>
                <p:spPr>
                  <a:xfrm>
                    <a:off x="-5138" y="-47625"/>
                    <a:ext cx="456005" cy="503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0800" tIns="50800" rIns="50800" bIns="508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8661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4" name="Google Shape;373;p18">
              <a:extLst>
                <a:ext uri="{FF2B5EF4-FFF2-40B4-BE49-F238E27FC236}">
                  <a16:creationId xmlns:a16="http://schemas.microsoft.com/office/drawing/2014/main" id="{81EDE9F4-2361-4A5D-8782-C40BD8AA8BFC}"/>
                </a:ext>
              </a:extLst>
            </p:cNvPr>
            <p:cNvSpPr txBox="1"/>
            <p:nvPr/>
          </p:nvSpPr>
          <p:spPr>
            <a:xfrm>
              <a:off x="9452827" y="6294763"/>
              <a:ext cx="5253895" cy="3231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💰 Coût élevé au départ</a:t>
              </a: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Mettre en place une solution blockchain demande du temps et de l’argent.</a:t>
              </a: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Pas toujours rentable pour</a:t>
              </a: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500" b="0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les petits projets.</a:t>
              </a:r>
              <a:endParaRPr lang="en-US" sz="2500" dirty="0"/>
            </a:p>
          </p:txBody>
        </p:sp>
      </p:grpSp>
      <p:grpSp>
        <p:nvGrpSpPr>
          <p:cNvPr id="169" name="Google Shape;140;p12">
            <a:extLst>
              <a:ext uri="{FF2B5EF4-FFF2-40B4-BE49-F238E27FC236}">
                <a16:creationId xmlns:a16="http://schemas.microsoft.com/office/drawing/2014/main" id="{49DA7ABD-15B9-45B0-B243-D51A6531F236}"/>
              </a:ext>
            </a:extLst>
          </p:cNvPr>
          <p:cNvGrpSpPr/>
          <p:nvPr/>
        </p:nvGrpSpPr>
        <p:grpSpPr>
          <a:xfrm>
            <a:off x="689978" y="939431"/>
            <a:ext cx="1561274" cy="1500754"/>
            <a:chOff x="0" y="-47625"/>
            <a:chExt cx="456005" cy="503630"/>
          </a:xfrm>
        </p:grpSpPr>
        <p:sp>
          <p:nvSpPr>
            <p:cNvPr id="170" name="Google Shape;141;p12">
              <a:extLst>
                <a:ext uri="{FF2B5EF4-FFF2-40B4-BE49-F238E27FC236}">
                  <a16:creationId xmlns:a16="http://schemas.microsoft.com/office/drawing/2014/main" id="{A286A193-490E-4661-AFA2-5EA54E053965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1" name="Google Shape;142;p12">
              <a:extLst>
                <a:ext uri="{FF2B5EF4-FFF2-40B4-BE49-F238E27FC236}">
                  <a16:creationId xmlns:a16="http://schemas.microsoft.com/office/drawing/2014/main" id="{B7269239-83B6-49E8-8D64-4291201E29EB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43;p12">
            <a:extLst>
              <a:ext uri="{FF2B5EF4-FFF2-40B4-BE49-F238E27FC236}">
                <a16:creationId xmlns:a16="http://schemas.microsoft.com/office/drawing/2014/main" id="{9EF5C367-E6BE-4684-9468-08BF4B7420D2}"/>
              </a:ext>
            </a:extLst>
          </p:cNvPr>
          <p:cNvGrpSpPr/>
          <p:nvPr/>
        </p:nvGrpSpPr>
        <p:grpSpPr>
          <a:xfrm>
            <a:off x="847053" y="1043603"/>
            <a:ext cx="1559837" cy="1529720"/>
            <a:chOff x="0" y="-47625"/>
            <a:chExt cx="456005" cy="503630"/>
          </a:xfrm>
        </p:grpSpPr>
        <p:sp>
          <p:nvSpPr>
            <p:cNvPr id="173" name="Google Shape;144;p12">
              <a:extLst>
                <a:ext uri="{FF2B5EF4-FFF2-40B4-BE49-F238E27FC236}">
                  <a16:creationId xmlns:a16="http://schemas.microsoft.com/office/drawing/2014/main" id="{722494F2-A647-43D7-BEED-4FCE8791209F}"/>
                </a:ext>
              </a:extLst>
            </p:cNvPr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4" name="Google Shape;145;p12">
              <a:extLst>
                <a:ext uri="{FF2B5EF4-FFF2-40B4-BE49-F238E27FC236}">
                  <a16:creationId xmlns:a16="http://schemas.microsoft.com/office/drawing/2014/main" id="{0FB36DC0-C8E7-4CBB-8FE0-23F8321EA1F3}"/>
                </a:ext>
              </a:extLst>
            </p:cNvPr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59;p12">
            <a:extLst>
              <a:ext uri="{FF2B5EF4-FFF2-40B4-BE49-F238E27FC236}">
                <a16:creationId xmlns:a16="http://schemas.microsoft.com/office/drawing/2014/main" id="{95E1B8B3-4BBE-4F8B-9F6F-BE381B33892D}"/>
              </a:ext>
            </a:extLst>
          </p:cNvPr>
          <p:cNvSpPr txBox="1"/>
          <p:nvPr/>
        </p:nvSpPr>
        <p:spPr>
          <a:xfrm>
            <a:off x="918384" y="88969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9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6"/>
          <p:cNvSpPr txBox="1"/>
          <p:nvPr/>
        </p:nvSpPr>
        <p:spPr>
          <a:xfrm>
            <a:off x="4181555" y="3372405"/>
            <a:ext cx="10138647" cy="664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MERCI POUR VOTRE</a:t>
            </a:r>
          </a:p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		ATTENTION</a:t>
            </a:r>
            <a:r>
              <a:rPr lang="en-US" sz="12002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</a:t>
            </a:r>
          </a:p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dirty="0">
                <a:solidFill>
                  <a:srgbClr val="FFFFFF"/>
                </a:solidFill>
                <a:latin typeface="Teko"/>
                <a:cs typeface="Teko"/>
                <a:sym typeface="Teko"/>
              </a:rPr>
              <a:t>		</a:t>
            </a:r>
            <a:endParaRPr dirty="0"/>
          </a:p>
        </p:txBody>
      </p:sp>
      <p:grpSp>
        <p:nvGrpSpPr>
          <p:cNvPr id="662" name="Google Shape;662;p26"/>
          <p:cNvGrpSpPr/>
          <p:nvPr/>
        </p:nvGrpSpPr>
        <p:grpSpPr>
          <a:xfrm>
            <a:off x="14320202" y="452860"/>
            <a:ext cx="698968" cy="698968"/>
            <a:chOff x="0" y="0"/>
            <a:chExt cx="812800" cy="812800"/>
          </a:xfrm>
        </p:grpSpPr>
        <p:sp>
          <p:nvSpPr>
            <p:cNvPr id="663" name="Google Shape;663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7" name="Google Shape;6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00" y="493975"/>
            <a:ext cx="7209250" cy="926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ntroduction to Cyber Crime Slides   ">
  <a:themeElements>
    <a:clrScheme name="Office">
      <a:dk1>
        <a:srgbClr val="000000"/>
      </a:dk1>
      <a:lt1>
        <a:srgbClr val="FFFFFF"/>
      </a:lt1>
      <a:dk2>
        <a:srgbClr val="0F1A38"/>
      </a:dk2>
      <a:lt2>
        <a:srgbClr val="5CE1E6"/>
      </a:lt2>
      <a:accent1>
        <a:srgbClr val="06D59F"/>
      </a:accent1>
      <a:accent2>
        <a:srgbClr val="888888"/>
      </a:accent2>
      <a:accent3>
        <a:srgbClr val="FFFFFF"/>
      </a:accent3>
      <a:accent4>
        <a:srgbClr val="0F1A38"/>
      </a:accent4>
      <a:accent5>
        <a:srgbClr val="5CE1E6"/>
      </a:accent5>
      <a:accent6>
        <a:srgbClr val="06D59F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707</Words>
  <Application>Microsoft Office PowerPoint</Application>
  <PresentationFormat>Custom</PresentationFormat>
  <Paragraphs>127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Teko</vt:lpstr>
      <vt:lpstr>Montserrat</vt:lpstr>
      <vt:lpstr>Calibri</vt:lpstr>
      <vt:lpstr>Introduction to Cyber Crime Slides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Chouaib RML</cp:lastModifiedBy>
  <cp:revision>35</cp:revision>
  <dcterms:modified xsi:type="dcterms:W3CDTF">2025-05-12T19:44:55Z</dcterms:modified>
</cp:coreProperties>
</file>