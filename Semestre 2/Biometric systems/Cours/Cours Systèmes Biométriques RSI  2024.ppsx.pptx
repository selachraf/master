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slideshow.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1.xml" ContentType="application/vnd.openxmlformats-officedocument.presentationml.notesSl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notesSlides/notesSlide2.xml" ContentType="application/vnd.openxmlformats-officedocument.presentationml.notesSl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91" r:id="rId2"/>
    <p:sldId id="292" r:id="rId3"/>
    <p:sldId id="293" r:id="rId4"/>
    <p:sldId id="294" r:id="rId5"/>
    <p:sldId id="295"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5" r:id="rId20"/>
    <p:sldId id="276" r:id="rId21"/>
    <p:sldId id="277" r:id="rId22"/>
    <p:sldId id="278" r:id="rId23"/>
    <p:sldId id="279" r:id="rId24"/>
    <p:sldId id="280" r:id="rId25"/>
    <p:sldId id="281" r:id="rId26"/>
    <p:sldId id="282" r:id="rId27"/>
    <p:sldId id="271" r:id="rId28"/>
    <p:sldId id="272" r:id="rId29"/>
    <p:sldId id="273" r:id="rId30"/>
    <p:sldId id="274" r:id="rId31"/>
    <p:sldId id="283" r:id="rId32"/>
    <p:sldId id="284" r:id="rId33"/>
    <p:sldId id="285" r:id="rId34"/>
    <p:sldId id="286" r:id="rId35"/>
    <p:sldId id="287" r:id="rId36"/>
    <p:sldId id="288" r:id="rId37"/>
    <p:sldId id="289" r:id="rId38"/>
    <p:sldId id="290" r:id="rId39"/>
    <p:sldId id="296" r:id="rId40"/>
    <p:sldId id="298" r:id="rId41"/>
    <p:sldId id="297" r:id="rId42"/>
    <p:sldId id="299" r:id="rId43"/>
    <p:sldId id="300" r:id="rId44"/>
    <p:sldId id="301" r:id="rId45"/>
    <p:sldId id="308" r:id="rId46"/>
    <p:sldId id="306" r:id="rId47"/>
    <p:sldId id="307" r:id="rId48"/>
    <p:sldId id="305" r:id="rId49"/>
    <p:sldId id="309" r:id="rId50"/>
    <p:sldId id="310" r:id="rId51"/>
    <p:sldId id="311" r:id="rId52"/>
    <p:sldId id="313" r:id="rId53"/>
    <p:sldId id="312" r:id="rId54"/>
    <p:sldId id="314" r:id="rId55"/>
    <p:sldId id="315" r:id="rId56"/>
    <p:sldId id="316" r:id="rId57"/>
    <p:sldId id="302" r:id="rId58"/>
    <p:sldId id="303" r:id="rId59"/>
    <p:sldId id="304" r:id="rId60"/>
    <p:sldId id="317" r:id="rId6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6962" autoAdjust="0"/>
    <p:restoredTop sz="94660"/>
  </p:normalViewPr>
  <p:slideViewPr>
    <p:cSldViewPr>
      <p:cViewPr varScale="1">
        <p:scale>
          <a:sx n="65" d="100"/>
          <a:sy n="65" d="100"/>
        </p:scale>
        <p:origin x="-120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EF9DD2-BE0B-4FFE-805F-FA3BF9F0FFE5}" type="datetimeFigureOut">
              <a:rPr lang="fr-FR" smtClean="0"/>
              <a:t>05/05/2024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861E02-0DBD-4384-90E1-FFD3E9910234}" type="slidenum">
              <a:rPr lang="fr-FR" smtClean="0"/>
              <a:t>‹N°›</a:t>
            </a:fld>
            <a:endParaRPr lang="fr-FR"/>
          </a:p>
        </p:txBody>
      </p:sp>
    </p:spTree>
    <p:extLst>
      <p:ext uri="{BB962C8B-B14F-4D97-AF65-F5344CB8AC3E}">
        <p14:creationId xmlns:p14="http://schemas.microsoft.com/office/powerpoint/2010/main" val="2446845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A0C818A-B4AD-4F8C-919B-7B94E4BE2713}" type="slidenum">
              <a:rPr lang="fr-FR" smtClean="0">
                <a:solidFill>
                  <a:prstClr val="black"/>
                </a:solidFill>
              </a:rPr>
              <a:pPr/>
              <a:t>9</a:t>
            </a:fld>
            <a:endParaRPr lang="fr-FR">
              <a:solidFill>
                <a:prstClr val="black"/>
              </a:solidFill>
            </a:endParaRPr>
          </a:p>
        </p:txBody>
      </p:sp>
    </p:spTree>
    <p:extLst>
      <p:ext uri="{BB962C8B-B14F-4D97-AF65-F5344CB8AC3E}">
        <p14:creationId xmlns:p14="http://schemas.microsoft.com/office/powerpoint/2010/main" val="3465194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A0C818A-B4AD-4F8C-919B-7B94E4BE2713}" type="slidenum">
              <a:rPr lang="fr-FR" smtClean="0">
                <a:solidFill>
                  <a:prstClr val="black"/>
                </a:solidFill>
              </a:rPr>
              <a:pPr/>
              <a:t>15</a:t>
            </a:fld>
            <a:endParaRPr lang="fr-FR">
              <a:solidFill>
                <a:prstClr val="black"/>
              </a:solidFill>
            </a:endParaRPr>
          </a:p>
        </p:txBody>
      </p:sp>
    </p:spTree>
    <p:extLst>
      <p:ext uri="{BB962C8B-B14F-4D97-AF65-F5344CB8AC3E}">
        <p14:creationId xmlns:p14="http://schemas.microsoft.com/office/powerpoint/2010/main" val="113196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2" name="Titr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fr-FR" smtClean="0"/>
              <a:t>Modifiez le style du titre</a:t>
            </a:r>
            <a:endParaRPr kumimoji="0" lang="en-US"/>
          </a:p>
        </p:txBody>
      </p:sp>
      <p:sp>
        <p:nvSpPr>
          <p:cNvPr id="3" name="Sous-titr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fr-FR" smtClean="0"/>
              <a:t>Modifiez le style des sous-titres du masque</a:t>
            </a:r>
            <a:endParaRPr kumimoji="0" lang="en-US"/>
          </a:p>
        </p:txBody>
      </p:sp>
      <p:sp>
        <p:nvSpPr>
          <p:cNvPr id="4" name="Espace réservé de la date 3"/>
          <p:cNvSpPr>
            <a:spLocks noGrp="1"/>
          </p:cNvSpPr>
          <p:nvPr>
            <p:ph type="dt" sz="half" idx="10"/>
          </p:nvPr>
        </p:nvSpPr>
        <p:spPr/>
        <p:txBody>
          <a:bodyPr/>
          <a:lstStyle/>
          <a:p>
            <a:fld id="{425C83F4-5F4A-43DF-A5FE-EE3A85CCE9AD}" type="datetime1">
              <a:rPr lang="fr-FR" smtClean="0">
                <a:solidFill>
                  <a:prstClr val="white">
                    <a:tint val="95000"/>
                  </a:prstClr>
                </a:solidFill>
              </a:rPr>
              <a:pPr/>
              <a:t>05/05/2024</a:t>
            </a:fld>
            <a:endParaRPr lang="fr-FR">
              <a:solidFill>
                <a:prstClr val="white">
                  <a:tint val="95000"/>
                </a:prstClr>
              </a:solidFill>
            </a:endParaRPr>
          </a:p>
        </p:txBody>
      </p:sp>
      <p:sp>
        <p:nvSpPr>
          <p:cNvPr id="5" name="Espace réservé du pied de page 4"/>
          <p:cNvSpPr>
            <a:spLocks noGrp="1"/>
          </p:cNvSpPr>
          <p:nvPr>
            <p:ph type="ftr" sz="quarter" idx="11"/>
          </p:nvPr>
        </p:nvSpPr>
        <p:spPr/>
        <p:txBody>
          <a:bodyPr/>
          <a:lstStyle/>
          <a:p>
            <a:endParaRPr lang="fr-FR">
              <a:solidFill>
                <a:prstClr val="white">
                  <a:tint val="95000"/>
                </a:prstClr>
              </a:solidFill>
            </a:endParaRP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solidFill>
                  <a:prstClr val="white">
                    <a:tint val="95000"/>
                  </a:prstClr>
                </a:solidFill>
              </a:rPr>
              <a:pPr/>
              <a:t>‹N°›</a:t>
            </a:fld>
            <a:endParaRPr lang="fr-FR">
              <a:solidFill>
                <a:prstClr val="white">
                  <a:tint val="95000"/>
                </a:prstClr>
              </a:solidFill>
            </a:endParaRPr>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Tree>
    <p:extLst>
      <p:ext uri="{BB962C8B-B14F-4D97-AF65-F5344CB8AC3E}">
        <p14:creationId xmlns:p14="http://schemas.microsoft.com/office/powerpoint/2010/main" val="20097211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55448"/>
            <a:ext cx="8229600" cy="1252728"/>
          </a:xfrm>
        </p:spPr>
        <p:txBody>
          <a:bodyPr/>
          <a:lstStyle>
            <a:extLst/>
          </a:lstStyle>
          <a:p>
            <a:r>
              <a:rPr kumimoji="0" lang="fr-FR" smtClean="0"/>
              <a:t>Modifiez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07608939-FAB4-4CA4-BA56-DFCDF8987542}" type="datetime1">
              <a:rPr lang="fr-FR" smtClean="0">
                <a:solidFill>
                  <a:prstClr val="black">
                    <a:tint val="95000"/>
                  </a:prstClr>
                </a:solidFill>
              </a:rPr>
              <a:pPr/>
              <a:t>05/05/2024</a:t>
            </a:fld>
            <a:endParaRPr lang="fr-FR">
              <a:solidFill>
                <a:prstClr val="black">
                  <a:tint val="95000"/>
                </a:prstClr>
              </a:solidFill>
            </a:endParaRPr>
          </a:p>
        </p:txBody>
      </p:sp>
      <p:sp>
        <p:nvSpPr>
          <p:cNvPr id="5" name="Espace réservé du pied de page 4"/>
          <p:cNvSpPr>
            <a:spLocks noGrp="1"/>
          </p:cNvSpPr>
          <p:nvPr>
            <p:ph type="ftr" sz="quarter" idx="11"/>
          </p:nvPr>
        </p:nvSpPr>
        <p:spPr/>
        <p:txBody>
          <a:bodyPr/>
          <a:lstStyle/>
          <a:p>
            <a:endParaRPr lang="fr-FR">
              <a:solidFill>
                <a:prstClr val="black">
                  <a:tint val="95000"/>
                </a:prstClr>
              </a:solidFill>
            </a:endParaRP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4226323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2" name="Titr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fr-FR" smtClean="0"/>
              <a:t>Modifiez les styles du texte du masque</a:t>
            </a:r>
          </a:p>
        </p:txBody>
      </p:sp>
      <p:sp>
        <p:nvSpPr>
          <p:cNvPr id="4" name="Espace réservé de la date 3"/>
          <p:cNvSpPr>
            <a:spLocks noGrp="1"/>
          </p:cNvSpPr>
          <p:nvPr>
            <p:ph type="dt" sz="half" idx="10"/>
          </p:nvPr>
        </p:nvSpPr>
        <p:spPr/>
        <p:txBody>
          <a:bodyPr/>
          <a:lstStyle/>
          <a:p>
            <a:fld id="{690ABDBD-71CC-41E4-B6AE-6E24035509BD}" type="datetime1">
              <a:rPr lang="fr-FR" smtClean="0">
                <a:solidFill>
                  <a:prstClr val="white">
                    <a:tint val="95000"/>
                  </a:prstClr>
                </a:solidFill>
              </a:rPr>
              <a:pPr/>
              <a:t>05/05/2024</a:t>
            </a:fld>
            <a:endParaRPr lang="fr-FR">
              <a:solidFill>
                <a:prstClr val="white">
                  <a:tint val="95000"/>
                </a:prstClr>
              </a:solidFill>
            </a:endParaRPr>
          </a:p>
        </p:txBody>
      </p:sp>
      <p:sp>
        <p:nvSpPr>
          <p:cNvPr id="5" name="Espace réservé du pied de page 4"/>
          <p:cNvSpPr>
            <a:spLocks noGrp="1"/>
          </p:cNvSpPr>
          <p:nvPr>
            <p:ph type="ftr" sz="quarter" idx="11"/>
          </p:nvPr>
        </p:nvSpPr>
        <p:spPr/>
        <p:txBody>
          <a:bodyPr/>
          <a:lstStyle/>
          <a:p>
            <a:endParaRPr lang="fr-FR">
              <a:solidFill>
                <a:prstClr val="white">
                  <a:tint val="95000"/>
                </a:prstClr>
              </a:solidFill>
            </a:endParaRP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solidFill>
                  <a:prstClr val="white">
                    <a:tint val="95000"/>
                  </a:prstClr>
                </a:solidFill>
              </a:rPr>
              <a:pPr/>
              <a:t>‹N°›</a:t>
            </a:fld>
            <a:endParaRPr lang="fr-FR">
              <a:solidFill>
                <a:prstClr val="white">
                  <a:tint val="95000"/>
                </a:prstClr>
              </a:solidFill>
            </a:endParaRPr>
          </a:p>
        </p:txBody>
      </p:sp>
    </p:spTree>
    <p:extLst>
      <p:ext uri="{BB962C8B-B14F-4D97-AF65-F5344CB8AC3E}">
        <p14:creationId xmlns:p14="http://schemas.microsoft.com/office/powerpoint/2010/main" val="358207107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u contenu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F80EFFE4-4003-4AB5-9D0F-EF9397E8451E}" type="datetime1">
              <a:rPr lang="fr-FR" smtClean="0">
                <a:solidFill>
                  <a:prstClr val="black">
                    <a:tint val="95000"/>
                  </a:prstClr>
                </a:solidFill>
              </a:rPr>
              <a:pPr/>
              <a:t>05/05/2024</a:t>
            </a:fld>
            <a:endParaRPr lang="fr-FR">
              <a:solidFill>
                <a:prstClr val="black">
                  <a:tint val="95000"/>
                </a:prstClr>
              </a:solidFill>
            </a:endParaRPr>
          </a:p>
        </p:txBody>
      </p:sp>
      <p:sp>
        <p:nvSpPr>
          <p:cNvPr id="6" name="Espace réservé du pied de page 5"/>
          <p:cNvSpPr>
            <a:spLocks noGrp="1"/>
          </p:cNvSpPr>
          <p:nvPr>
            <p:ph type="ftr" sz="quarter" idx="11"/>
          </p:nvPr>
        </p:nvSpPr>
        <p:spPr/>
        <p:txBody>
          <a:bodyPr/>
          <a:lstStyle/>
          <a:p>
            <a:endParaRPr lang="fr-FR">
              <a:solidFill>
                <a:prstClr val="black">
                  <a:tint val="95000"/>
                </a:prstClr>
              </a:solidFill>
            </a:endParaRPr>
          </a:p>
        </p:txBody>
      </p:sp>
      <p:sp>
        <p:nvSpPr>
          <p:cNvPr id="7" name="Espace réservé du numéro de diapositive 6"/>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1101609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fr-FR" smtClean="0"/>
              <a:t>Modifiez les styles du texte du masque</a:t>
            </a:r>
          </a:p>
        </p:txBody>
      </p:sp>
      <p:sp>
        <p:nvSpPr>
          <p:cNvPr id="4" name="Espace réservé du contenu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u texte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fr-FR" smtClean="0"/>
              <a:t>Modifiez les styles du texte du masque</a:t>
            </a:r>
          </a:p>
        </p:txBody>
      </p:sp>
      <p:sp>
        <p:nvSpPr>
          <p:cNvPr id="6" name="Espace réservé du contenu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8C73F448-DE91-40A3-A658-2F709A08A3C5}" type="datetime1">
              <a:rPr lang="fr-FR" smtClean="0">
                <a:solidFill>
                  <a:prstClr val="black">
                    <a:tint val="95000"/>
                  </a:prstClr>
                </a:solidFill>
              </a:rPr>
              <a:pPr/>
              <a:t>05/05/2024</a:t>
            </a:fld>
            <a:endParaRPr lang="fr-FR">
              <a:solidFill>
                <a:prstClr val="black">
                  <a:tint val="95000"/>
                </a:prstClr>
              </a:solidFill>
            </a:endParaRPr>
          </a:p>
        </p:txBody>
      </p:sp>
      <p:sp>
        <p:nvSpPr>
          <p:cNvPr id="8" name="Espace réservé du pied de page 7"/>
          <p:cNvSpPr>
            <a:spLocks noGrp="1"/>
          </p:cNvSpPr>
          <p:nvPr>
            <p:ph type="ftr" sz="quarter" idx="11"/>
          </p:nvPr>
        </p:nvSpPr>
        <p:spPr/>
        <p:txBody>
          <a:bodyPr/>
          <a:lstStyle/>
          <a:p>
            <a:endParaRPr lang="fr-FR">
              <a:solidFill>
                <a:prstClr val="black">
                  <a:tint val="95000"/>
                </a:prstClr>
              </a:solidFill>
            </a:endParaRPr>
          </a:p>
        </p:txBody>
      </p:sp>
      <p:sp>
        <p:nvSpPr>
          <p:cNvPr id="9" name="Espace réservé du numéro de diapositive 8"/>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1578795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e la date 2"/>
          <p:cNvSpPr>
            <a:spLocks noGrp="1"/>
          </p:cNvSpPr>
          <p:nvPr>
            <p:ph type="dt" sz="half" idx="10"/>
          </p:nvPr>
        </p:nvSpPr>
        <p:spPr/>
        <p:txBody>
          <a:bodyPr/>
          <a:lstStyle/>
          <a:p>
            <a:fld id="{45DD61D7-1531-453B-9793-76B3EE8C17BC}" type="datetime1">
              <a:rPr lang="fr-FR" smtClean="0">
                <a:solidFill>
                  <a:prstClr val="black">
                    <a:tint val="95000"/>
                  </a:prstClr>
                </a:solidFill>
              </a:rPr>
              <a:pPr/>
              <a:t>05/05/2024</a:t>
            </a:fld>
            <a:endParaRPr lang="fr-FR">
              <a:solidFill>
                <a:prstClr val="black">
                  <a:tint val="95000"/>
                </a:prstClr>
              </a:solidFill>
            </a:endParaRPr>
          </a:p>
        </p:txBody>
      </p:sp>
      <p:sp>
        <p:nvSpPr>
          <p:cNvPr id="4" name="Espace réservé du pied de page 3"/>
          <p:cNvSpPr>
            <a:spLocks noGrp="1"/>
          </p:cNvSpPr>
          <p:nvPr>
            <p:ph type="ftr" sz="quarter" idx="11"/>
          </p:nvPr>
        </p:nvSpPr>
        <p:spPr/>
        <p:txBody>
          <a:bodyPr/>
          <a:lstStyle/>
          <a:p>
            <a:endParaRPr lang="fr-FR">
              <a:solidFill>
                <a:prstClr val="black">
                  <a:tint val="95000"/>
                </a:prstClr>
              </a:solidFill>
            </a:endParaRPr>
          </a:p>
        </p:txBody>
      </p:sp>
      <p:sp>
        <p:nvSpPr>
          <p:cNvPr id="5" name="Espace réservé du numéro de diapositive 4"/>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3058490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D27FD2A-4A95-4AA1-8C11-9E30A2F864B3}" type="datetime1">
              <a:rPr lang="fr-FR" smtClean="0">
                <a:solidFill>
                  <a:prstClr val="black">
                    <a:tint val="95000"/>
                  </a:prstClr>
                </a:solidFill>
              </a:rPr>
              <a:pPr/>
              <a:t>05/05/2024</a:t>
            </a:fld>
            <a:endParaRPr lang="fr-FR">
              <a:solidFill>
                <a:prstClr val="black">
                  <a:tint val="95000"/>
                </a:prstClr>
              </a:solidFill>
            </a:endParaRPr>
          </a:p>
        </p:txBody>
      </p:sp>
      <p:sp>
        <p:nvSpPr>
          <p:cNvPr id="3" name="Espace réservé du pied de page 2"/>
          <p:cNvSpPr>
            <a:spLocks noGrp="1"/>
          </p:cNvSpPr>
          <p:nvPr>
            <p:ph type="ftr" sz="quarter" idx="11"/>
          </p:nvPr>
        </p:nvSpPr>
        <p:spPr/>
        <p:txBody>
          <a:bodyPr/>
          <a:lstStyle/>
          <a:p>
            <a:endParaRPr lang="fr-FR">
              <a:solidFill>
                <a:prstClr val="black">
                  <a:tint val="95000"/>
                </a:prstClr>
              </a:solidFill>
            </a:endParaRPr>
          </a:p>
        </p:txBody>
      </p:sp>
      <p:sp>
        <p:nvSpPr>
          <p:cNvPr id="4" name="Espace réservé du numéro de diapositive 3"/>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1460862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fr-FR" smtClean="0"/>
              <a:t>Modifiez le style du titre</a:t>
            </a:r>
            <a:endParaRPr kumimoji="0" lang="en-US"/>
          </a:p>
        </p:txBody>
      </p:sp>
      <p:sp>
        <p:nvSpPr>
          <p:cNvPr id="3" name="Espace réservé du contenu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texte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fr-FR" smtClean="0"/>
              <a:t>Modifiez les styles du texte du masque</a:t>
            </a:r>
          </a:p>
        </p:txBody>
      </p:sp>
      <p:sp>
        <p:nvSpPr>
          <p:cNvPr id="5" name="Espace réservé de la date 4"/>
          <p:cNvSpPr>
            <a:spLocks noGrp="1"/>
          </p:cNvSpPr>
          <p:nvPr>
            <p:ph type="dt" sz="half" idx="10"/>
          </p:nvPr>
        </p:nvSpPr>
        <p:spPr/>
        <p:txBody>
          <a:bodyPr/>
          <a:lstStyle/>
          <a:p>
            <a:fld id="{B3616008-0D9A-462E-817D-4EEECD0C88FF}" type="datetime1">
              <a:rPr lang="fr-FR" smtClean="0">
                <a:solidFill>
                  <a:prstClr val="black">
                    <a:tint val="95000"/>
                  </a:prstClr>
                </a:solidFill>
              </a:rPr>
              <a:pPr/>
              <a:t>05/05/2024</a:t>
            </a:fld>
            <a:endParaRPr lang="fr-FR">
              <a:solidFill>
                <a:prstClr val="black">
                  <a:tint val="95000"/>
                </a:prstClr>
              </a:solidFill>
            </a:endParaRPr>
          </a:p>
        </p:txBody>
      </p:sp>
      <p:sp>
        <p:nvSpPr>
          <p:cNvPr id="6" name="Espace réservé du pied de page 5"/>
          <p:cNvSpPr>
            <a:spLocks noGrp="1"/>
          </p:cNvSpPr>
          <p:nvPr>
            <p:ph type="ftr" sz="quarter" idx="11"/>
          </p:nvPr>
        </p:nvSpPr>
        <p:spPr/>
        <p:txBody>
          <a:bodyPr/>
          <a:lstStyle/>
          <a:p>
            <a:endParaRPr lang="fr-FR">
              <a:solidFill>
                <a:prstClr val="black">
                  <a:tint val="95000"/>
                </a:prstClr>
              </a:solidFill>
            </a:endParaRPr>
          </a:p>
        </p:txBody>
      </p:sp>
      <p:sp>
        <p:nvSpPr>
          <p:cNvPr id="7" name="Espace réservé du numéro de diapositive 6"/>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Tree>
    <p:extLst>
      <p:ext uri="{BB962C8B-B14F-4D97-AF65-F5344CB8AC3E}">
        <p14:creationId xmlns:p14="http://schemas.microsoft.com/office/powerpoint/2010/main" val="4231415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fr-FR" smtClean="0"/>
              <a:t>Modifiez le style du titre</a:t>
            </a:r>
            <a:endParaRPr kumimoji="0" lang="en-US"/>
          </a:p>
        </p:txBody>
      </p:sp>
      <p:sp>
        <p:nvSpPr>
          <p:cNvPr id="3" name="Espace réservé pour une image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fr-FR" smtClean="0"/>
              <a:t>Modifiez les styles du texte du masque</a:t>
            </a:r>
          </a:p>
        </p:txBody>
      </p:sp>
      <p:sp>
        <p:nvSpPr>
          <p:cNvPr id="5" name="Espace réservé de la date 4"/>
          <p:cNvSpPr>
            <a:spLocks noGrp="1"/>
          </p:cNvSpPr>
          <p:nvPr>
            <p:ph type="dt" sz="half" idx="10"/>
          </p:nvPr>
        </p:nvSpPr>
        <p:spPr>
          <a:xfrm>
            <a:off x="164592" y="1170432"/>
            <a:ext cx="2523744" cy="201168"/>
          </a:xfrm>
        </p:spPr>
        <p:txBody>
          <a:bodyPr/>
          <a:lstStyle/>
          <a:p>
            <a:fld id="{FDDCE143-B677-45D4-BFFE-36D3004D78B7}" type="datetime1">
              <a:rPr lang="fr-FR" smtClean="0">
                <a:solidFill>
                  <a:prstClr val="black">
                    <a:tint val="95000"/>
                  </a:prstClr>
                </a:solidFill>
              </a:rPr>
              <a:pPr/>
              <a:t>05/05/2024</a:t>
            </a:fld>
            <a:endParaRPr lang="fr-FR">
              <a:solidFill>
                <a:prstClr val="black">
                  <a:tint val="95000"/>
                </a:prstClr>
              </a:solidFill>
            </a:endParaRP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6" name="Espace réservé du pied de page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fr-FR">
              <a:solidFill>
                <a:prstClr val="white">
                  <a:shade val="50000"/>
                </a:prstClr>
              </a:solidFill>
            </a:endParaRPr>
          </a:p>
        </p:txBody>
      </p:sp>
      <p:sp>
        <p:nvSpPr>
          <p:cNvPr id="7" name="Espace réservé du numéro de diapositive 6"/>
          <p:cNvSpPr>
            <a:spLocks noGrp="1"/>
          </p:cNvSpPr>
          <p:nvPr>
            <p:ph type="sldNum" sz="quarter" idx="12"/>
          </p:nvPr>
        </p:nvSpPr>
        <p:spPr>
          <a:xfrm>
            <a:off x="8339328" y="1170432"/>
            <a:ext cx="733864" cy="201168"/>
          </a:xfrm>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111144670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15B6F1BD-5EAB-4291-ACFE-505A5D171693}" type="datetime1">
              <a:rPr lang="fr-FR" smtClean="0">
                <a:solidFill>
                  <a:prstClr val="black">
                    <a:tint val="95000"/>
                  </a:prstClr>
                </a:solidFill>
              </a:rPr>
              <a:pPr/>
              <a:t>05/05/2024</a:t>
            </a:fld>
            <a:endParaRPr lang="fr-FR">
              <a:solidFill>
                <a:prstClr val="black">
                  <a:tint val="95000"/>
                </a:prstClr>
              </a:solidFill>
            </a:endParaRPr>
          </a:p>
        </p:txBody>
      </p:sp>
      <p:sp>
        <p:nvSpPr>
          <p:cNvPr id="5" name="Espace réservé du pied de page 4"/>
          <p:cNvSpPr>
            <a:spLocks noGrp="1"/>
          </p:cNvSpPr>
          <p:nvPr>
            <p:ph type="ftr" sz="quarter" idx="11"/>
          </p:nvPr>
        </p:nvSpPr>
        <p:spPr/>
        <p:txBody>
          <a:bodyPr/>
          <a:lstStyle/>
          <a:p>
            <a:endParaRPr lang="fr-FR">
              <a:solidFill>
                <a:prstClr val="black">
                  <a:tint val="95000"/>
                </a:prstClr>
              </a:solidFill>
            </a:endParaRP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3351177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2" name="Titre vertical 1"/>
          <p:cNvSpPr>
            <a:spLocks noGrp="1"/>
          </p:cNvSpPr>
          <p:nvPr>
            <p:ph type="title" orient="vert"/>
          </p:nvPr>
        </p:nvSpPr>
        <p:spPr>
          <a:xfrm>
            <a:off x="6781800" y="274640"/>
            <a:ext cx="1905000" cy="5851525"/>
          </a:xfrm>
        </p:spPr>
        <p:txBody>
          <a:bodyPr vert="eaVert"/>
          <a:lstStyle>
            <a:extLs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a:xfrm>
            <a:off x="457200" y="304800"/>
            <a:ext cx="6019800" cy="5851525"/>
          </a:xfrm>
        </p:spPr>
        <p:txBody>
          <a:bodyPr vert="eaVert"/>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222A2AB8-48BB-4CA8-A88F-CAA92A5B6810}" type="datetime1">
              <a:rPr lang="fr-FR" smtClean="0">
                <a:solidFill>
                  <a:prstClr val="black">
                    <a:tint val="95000"/>
                  </a:prstClr>
                </a:solidFill>
              </a:rPr>
              <a:pPr/>
              <a:t>05/05/2024</a:t>
            </a:fld>
            <a:endParaRPr lang="fr-FR">
              <a:solidFill>
                <a:prstClr val="black">
                  <a:tint val="95000"/>
                </a:prstClr>
              </a:solidFill>
            </a:endParaRPr>
          </a:p>
        </p:txBody>
      </p:sp>
      <p:sp>
        <p:nvSpPr>
          <p:cNvPr id="5" name="Espace réservé du pied de page 4"/>
          <p:cNvSpPr>
            <a:spLocks noGrp="1"/>
          </p:cNvSpPr>
          <p:nvPr>
            <p:ph type="ftr" sz="quarter" idx="11"/>
          </p:nvPr>
        </p:nvSpPr>
        <p:spPr>
          <a:xfrm>
            <a:off x="2640597" y="6377459"/>
            <a:ext cx="3836404" cy="365125"/>
          </a:xfrm>
        </p:spPr>
        <p:txBody>
          <a:bodyPr/>
          <a:lstStyle/>
          <a:p>
            <a:endParaRPr lang="fr-FR">
              <a:solidFill>
                <a:prstClr val="black">
                  <a:tint val="95000"/>
                </a:prstClr>
              </a:solidFill>
            </a:endParaRP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4271549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a:endParaRPr lang="en-US">
              <a:solidFill>
                <a:prstClr val="white"/>
              </a:solidFill>
            </a:endParaRPr>
          </a:p>
        </p:txBody>
      </p:sp>
      <p:sp>
        <p:nvSpPr>
          <p:cNvPr id="2" name="Espace réservé du titre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fr-FR" smtClean="0"/>
              <a:t>Modifiez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4" name="Espace réservé de la date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957F70C6-85EA-4A2C-9F11-8E5D46AC4568}" type="datetime1">
              <a:rPr lang="fr-FR" smtClean="0">
                <a:solidFill>
                  <a:prstClr val="black">
                    <a:tint val="95000"/>
                  </a:prstClr>
                </a:solidFill>
              </a:rPr>
              <a:pPr/>
              <a:t>05/05/2024</a:t>
            </a:fld>
            <a:endParaRPr lang="fr-FR">
              <a:solidFill>
                <a:prstClr val="black">
                  <a:tint val="95000"/>
                </a:prstClr>
              </a:solidFill>
            </a:endParaRPr>
          </a:p>
        </p:txBody>
      </p:sp>
      <p:sp>
        <p:nvSpPr>
          <p:cNvPr id="5" name="Espace réservé du pied de page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fr-FR">
              <a:solidFill>
                <a:prstClr val="black">
                  <a:tint val="95000"/>
                </a:prstClr>
              </a:solidFill>
            </a:endParaRPr>
          </a:p>
        </p:txBody>
      </p:sp>
      <p:sp>
        <p:nvSpPr>
          <p:cNvPr id="6" name="Espace réservé du numéro de diapositive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CB0B82E8-BC3F-45FF-92DD-C0AD1BA54385}" type="slidenum">
              <a:rPr lang="fr-FR" smtClean="0">
                <a:solidFill>
                  <a:prstClr val="black">
                    <a:tint val="95000"/>
                  </a:prstClr>
                </a:solidFill>
              </a:rPr>
              <a:pPr/>
              <a:t>‹N°›</a:t>
            </a:fld>
            <a:endParaRPr lang="fr-FR">
              <a:solidFill>
                <a:prstClr val="black">
                  <a:tint val="95000"/>
                </a:prstClr>
              </a:solidFill>
            </a:endParaRPr>
          </a:p>
        </p:txBody>
      </p:sp>
    </p:spTree>
    <p:extLst>
      <p:ext uri="{BB962C8B-B14F-4D97-AF65-F5344CB8AC3E}">
        <p14:creationId xmlns:p14="http://schemas.microsoft.com/office/powerpoint/2010/main" val="1953120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slideLayout" Target="../slideLayouts/slideLayout7.xml"/><Relationship Id="rId1" Type="http://schemas.openxmlformats.org/officeDocument/2006/relationships/themeOverride" Target="../theme/themeOverride1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hemeOverride" Target="../theme/themeOverride1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hemeOverride" Target="../theme/themeOverride1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6.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8.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9.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3.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5.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6.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themeOverride" Target="../theme/themeOverride2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9.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0.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1.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3.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themeOverride" Target="../theme/themeOverride34.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6.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7.xml"/><Relationship Id="rId1" Type="http://schemas.openxmlformats.org/officeDocument/2006/relationships/themeOverride" Target="../theme/themeOverride3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8.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9.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0.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1.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hemeOverride" Target="../theme/themeOverride4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3.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5.xm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xml"/><Relationship Id="rId1" Type="http://schemas.openxmlformats.org/officeDocument/2006/relationships/themeOverride" Target="../theme/themeOverride46.xml"/></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themeOverride" Target="../theme/themeOverride47.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7.xml"/><Relationship Id="rId1" Type="http://schemas.openxmlformats.org/officeDocument/2006/relationships/themeOverride" Target="../theme/themeOverride48.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7.xml"/><Relationship Id="rId1" Type="http://schemas.openxmlformats.org/officeDocument/2006/relationships/themeOverride" Target="../theme/themeOverride49.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0.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1.xml"/></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7.xml"/><Relationship Id="rId1" Type="http://schemas.openxmlformats.org/officeDocument/2006/relationships/themeOverride" Target="../theme/themeOverride5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3.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7.xml"/><Relationship Id="rId1" Type="http://schemas.openxmlformats.org/officeDocument/2006/relationships/themeOverride" Target="../theme/themeOverride54.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0"/>
            <a:ext cx="4572000" cy="5085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p:cNvSpPr txBox="1"/>
          <p:nvPr/>
        </p:nvSpPr>
        <p:spPr>
          <a:xfrm>
            <a:off x="0" y="603845"/>
            <a:ext cx="4572000" cy="954107"/>
          </a:xfrm>
          <a:prstGeom prst="rect">
            <a:avLst/>
          </a:prstGeom>
          <a:noFill/>
        </p:spPr>
        <p:txBody>
          <a:bodyPr wrap="square" rtlCol="0">
            <a:spAutoFit/>
          </a:bodyPr>
          <a:lstStyle/>
          <a:p>
            <a:pPr algn="ctr"/>
            <a:r>
              <a:rPr lang="en-US" sz="2800" b="1" dirty="0" err="1" smtClean="0"/>
              <a:t>Cours</a:t>
            </a:r>
            <a:r>
              <a:rPr lang="en-US" sz="2800" b="1" dirty="0" smtClean="0"/>
              <a:t> de</a:t>
            </a:r>
          </a:p>
          <a:p>
            <a:pPr algn="ctr"/>
            <a:r>
              <a:rPr lang="en-US" sz="2800" b="1" dirty="0" err="1" smtClean="0"/>
              <a:t>Systèmes</a:t>
            </a:r>
            <a:r>
              <a:rPr lang="en-US" sz="2800" b="1" dirty="0" smtClean="0"/>
              <a:t> </a:t>
            </a:r>
            <a:r>
              <a:rPr lang="en-US" sz="2800" b="1" dirty="0" err="1" smtClean="0"/>
              <a:t>Biométriques</a:t>
            </a:r>
            <a:endParaRPr lang="fr-FR" sz="2800" b="1" dirty="0"/>
          </a:p>
        </p:txBody>
      </p:sp>
      <p:sp>
        <p:nvSpPr>
          <p:cNvPr id="5" name="ZoneTexte 4"/>
          <p:cNvSpPr txBox="1"/>
          <p:nvPr/>
        </p:nvSpPr>
        <p:spPr>
          <a:xfrm>
            <a:off x="161764" y="3068960"/>
            <a:ext cx="4248472" cy="646331"/>
          </a:xfrm>
          <a:prstGeom prst="rect">
            <a:avLst/>
          </a:prstGeom>
          <a:noFill/>
        </p:spPr>
        <p:txBody>
          <a:bodyPr wrap="square" rtlCol="0">
            <a:spAutoFit/>
          </a:bodyPr>
          <a:lstStyle/>
          <a:p>
            <a:r>
              <a:rPr lang="fr-FR" dirty="0" smtClean="0"/>
              <a:t>Préparé par :  MAA. DEBBECHE </a:t>
            </a:r>
            <a:r>
              <a:rPr lang="fr-FR" dirty="0" err="1" smtClean="0"/>
              <a:t>Feriel</a:t>
            </a:r>
            <a:endParaRPr lang="fr-FR" dirty="0" smtClean="0"/>
          </a:p>
          <a:p>
            <a:endParaRPr lang="fr-FR" dirty="0"/>
          </a:p>
        </p:txBody>
      </p:sp>
      <p:sp>
        <p:nvSpPr>
          <p:cNvPr id="6" name="ZoneTexte 5"/>
          <p:cNvSpPr txBox="1"/>
          <p:nvPr/>
        </p:nvSpPr>
        <p:spPr>
          <a:xfrm>
            <a:off x="1331640" y="5384998"/>
            <a:ext cx="5976664" cy="1015663"/>
          </a:xfrm>
          <a:prstGeom prst="rect">
            <a:avLst/>
          </a:prstGeom>
          <a:noFill/>
        </p:spPr>
        <p:txBody>
          <a:bodyPr wrap="square" rtlCol="0">
            <a:spAutoFit/>
          </a:bodyPr>
          <a:lstStyle/>
          <a:p>
            <a:pPr algn="ctr"/>
            <a:r>
              <a:rPr lang="fr-FR" sz="2000" b="1" dirty="0" smtClean="0"/>
              <a:t>Master 1, RSI</a:t>
            </a:r>
          </a:p>
          <a:p>
            <a:pPr algn="ctr"/>
            <a:r>
              <a:rPr lang="fr-FR" sz="2000" b="1" dirty="0" smtClean="0"/>
              <a:t>Université </a:t>
            </a:r>
            <a:r>
              <a:rPr lang="fr-FR" sz="2000" b="1" dirty="0" err="1" smtClean="0"/>
              <a:t>Badji</a:t>
            </a:r>
            <a:r>
              <a:rPr lang="fr-FR" sz="2000" b="1" dirty="0" smtClean="0"/>
              <a:t> Mokhtar, ANNABA</a:t>
            </a:r>
          </a:p>
          <a:p>
            <a:pPr algn="ctr"/>
            <a:r>
              <a:rPr lang="fr-FR" sz="2000" b="1" dirty="0" smtClean="0"/>
              <a:t>2024</a:t>
            </a:r>
            <a:endParaRPr lang="fr-FR" sz="2000" b="1" dirty="0"/>
          </a:p>
        </p:txBody>
      </p:sp>
    </p:spTree>
    <p:extLst>
      <p:ext uri="{BB962C8B-B14F-4D97-AF65-F5344CB8AC3E}">
        <p14:creationId xmlns:p14="http://schemas.microsoft.com/office/powerpoint/2010/main" val="38097343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0B82E8-BC3F-45FF-92DD-C0AD1BA54385}" type="slidenum">
              <a:rPr lang="fr-FR" smtClean="0"/>
              <a:t>2</a:t>
            </a:fld>
            <a:endParaRPr lang="fr-FR"/>
          </a:p>
        </p:txBody>
      </p:sp>
      <p:graphicFrame>
        <p:nvGraphicFramePr>
          <p:cNvPr id="7" name="Tableau 6"/>
          <p:cNvGraphicFramePr>
            <a:graphicFrameLocks noGrp="1"/>
          </p:cNvGraphicFramePr>
          <p:nvPr>
            <p:extLst>
              <p:ext uri="{D42A27DB-BD31-4B8C-83A1-F6EECF244321}">
                <p14:modId xmlns:p14="http://schemas.microsoft.com/office/powerpoint/2010/main" val="792848262"/>
              </p:ext>
            </p:extLst>
          </p:nvPr>
        </p:nvGraphicFramePr>
        <p:xfrm>
          <a:off x="323528" y="35954"/>
          <a:ext cx="8352928" cy="6739522"/>
        </p:xfrm>
        <a:graphic>
          <a:graphicData uri="http://schemas.openxmlformats.org/drawingml/2006/table">
            <a:tbl>
              <a:tblPr firstRow="1" firstCol="1" bandRow="1"/>
              <a:tblGrid>
                <a:gridCol w="1426591"/>
                <a:gridCol w="5589648"/>
                <a:gridCol w="1336689"/>
              </a:tblGrid>
              <a:tr h="469208">
                <a:tc>
                  <a:txBody>
                    <a:bodyPr/>
                    <a:lstStyle/>
                    <a:p>
                      <a:pPr>
                        <a:lnSpc>
                          <a:spcPct val="115000"/>
                        </a:lnSpc>
                        <a:spcBef>
                          <a:spcPts val="600"/>
                        </a:spcBef>
                        <a:spcAft>
                          <a:spcPts val="600"/>
                        </a:spcAft>
                      </a:pPr>
                      <a:r>
                        <a:rPr lang="fr-FR" sz="1400" b="1" dirty="0">
                          <a:effectLst/>
                          <a:latin typeface="Times New Roman"/>
                          <a:ea typeface="Calibri"/>
                          <a:cs typeface="Arial"/>
                        </a:rPr>
                        <a:t> </a:t>
                      </a:r>
                      <a:endParaRPr lang="fr-FR" sz="1100" dirty="0">
                        <a:effectLst/>
                        <a:latin typeface="Calibri"/>
                        <a:ea typeface="Calibri"/>
                        <a:cs typeface="Arial"/>
                      </a:endParaRPr>
                    </a:p>
                  </a:txBody>
                  <a:tcPr marL="68580" marR="68580" marT="0" marB="0">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rowSpan="2">
                  <a:txBody>
                    <a:bodyPr/>
                    <a:lstStyle/>
                    <a:p>
                      <a:pPr algn="ctr">
                        <a:lnSpc>
                          <a:spcPct val="115000"/>
                        </a:lnSpc>
                        <a:spcBef>
                          <a:spcPts val="600"/>
                        </a:spcBef>
                        <a:spcAft>
                          <a:spcPts val="600"/>
                        </a:spcAft>
                      </a:pPr>
                      <a:r>
                        <a:rPr lang="fr-FR" sz="4800" b="1" dirty="0" smtClean="0">
                          <a:effectLst/>
                          <a:latin typeface="Times New Roman"/>
                          <a:ea typeface="Calibri"/>
                          <a:cs typeface="Arial"/>
                        </a:rPr>
                        <a:t>Plan</a:t>
                      </a:r>
                      <a:endParaRPr lang="fr-FR" sz="4800" b="1" dirty="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15000"/>
                        </a:lnSpc>
                        <a:spcBef>
                          <a:spcPts val="600"/>
                        </a:spcBef>
                        <a:spcAft>
                          <a:spcPts val="600"/>
                        </a:spcAft>
                      </a:pPr>
                      <a:r>
                        <a:rPr lang="fr-FR" sz="1400" b="1" dirty="0">
                          <a:effectLst/>
                          <a:latin typeface="Times New Roman"/>
                          <a:ea typeface="Calibri"/>
                          <a:cs typeface="Arial"/>
                        </a:rPr>
                        <a:t> </a:t>
                      </a:r>
                      <a:endParaRPr lang="fr-FR" sz="1100" dirty="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r>
              <a:tr h="469208">
                <a:tc>
                  <a:txBody>
                    <a:bodyPr/>
                    <a:lstStyle/>
                    <a:p>
                      <a:pPr>
                        <a:lnSpc>
                          <a:spcPct val="115000"/>
                        </a:lnSpc>
                        <a:spcBef>
                          <a:spcPts val="600"/>
                        </a:spcBef>
                        <a:spcAft>
                          <a:spcPts val="600"/>
                        </a:spcAft>
                      </a:pPr>
                      <a:r>
                        <a:rPr lang="fr-FR" sz="1400" b="1">
                          <a:effectLst/>
                          <a:latin typeface="Times New Roman"/>
                          <a:ea typeface="Calibri"/>
                          <a:cs typeface="Arial"/>
                        </a:rPr>
                        <a:t> </a:t>
                      </a:r>
                      <a:endParaRPr lang="fr-FR" sz="110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vMerge="1">
                  <a:txBody>
                    <a:bodyPr/>
                    <a:lstStyle/>
                    <a:p>
                      <a:endParaRPr lang="fr-FR"/>
                    </a:p>
                  </a:txBody>
                  <a:tcPr/>
                </a:tc>
                <a:tc>
                  <a:txBody>
                    <a:bodyPr/>
                    <a:lstStyle/>
                    <a:p>
                      <a:pPr>
                        <a:lnSpc>
                          <a:spcPct val="115000"/>
                        </a:lnSpc>
                        <a:spcBef>
                          <a:spcPts val="600"/>
                        </a:spcBef>
                        <a:spcAft>
                          <a:spcPts val="600"/>
                        </a:spcAft>
                      </a:pPr>
                      <a:r>
                        <a:rPr lang="fr-FR" sz="1400" b="1">
                          <a:effectLst/>
                          <a:latin typeface="Times New Roman"/>
                          <a:ea typeface="Calibri"/>
                          <a:cs typeface="Arial"/>
                        </a:rPr>
                        <a:t> </a:t>
                      </a:r>
                      <a:endParaRPr lang="fr-FR" sz="110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r>
              <a:tr h="4966239">
                <a:tc gridSpan="3">
                  <a:txBody>
                    <a:bodyPr/>
                    <a:lstStyle/>
                    <a:p>
                      <a:pPr marL="457200">
                        <a:lnSpc>
                          <a:spcPct val="115000"/>
                        </a:lnSpc>
                        <a:spcAft>
                          <a:spcPts val="0"/>
                        </a:spcAft>
                      </a:pPr>
                      <a:r>
                        <a:rPr lang="fr-FR" sz="1100" dirty="0">
                          <a:effectLst/>
                          <a:latin typeface="Times New Roman"/>
                          <a:ea typeface="Calibri"/>
                          <a:cs typeface="Arial"/>
                        </a:rPr>
                        <a:t> </a:t>
                      </a:r>
                      <a:endParaRPr lang="fr-FR" sz="1100" dirty="0" smtClean="0">
                        <a:effectLst/>
                        <a:latin typeface="Times New Roman"/>
                        <a:ea typeface="Calibri"/>
                        <a:cs typeface="Arial"/>
                      </a:endParaRPr>
                    </a:p>
                    <a:p>
                      <a:pPr marL="342900" lvl="0" indent="-342900">
                        <a:lnSpc>
                          <a:spcPct val="115000"/>
                        </a:lnSpc>
                        <a:spcAft>
                          <a:spcPts val="0"/>
                        </a:spcAft>
                        <a:buFont typeface="+mj-lt"/>
                        <a:buAutoNum type="arabicPeriod"/>
                      </a:pPr>
                      <a:r>
                        <a:rPr lang="fr-FR" sz="3200" dirty="0" smtClean="0">
                          <a:solidFill>
                            <a:srgbClr val="4F81BD"/>
                          </a:solidFill>
                          <a:effectLst/>
                          <a:latin typeface="Calibri"/>
                          <a:ea typeface="Calibri"/>
                          <a:cs typeface="Times New Roman"/>
                        </a:rPr>
                        <a:t>Introduction </a:t>
                      </a:r>
                    </a:p>
                    <a:p>
                      <a:pPr marL="342900" lvl="0" indent="-342900">
                        <a:lnSpc>
                          <a:spcPct val="115000"/>
                        </a:lnSpc>
                        <a:spcAft>
                          <a:spcPts val="0"/>
                        </a:spcAft>
                        <a:buFont typeface="+mj-lt"/>
                        <a:buAutoNum type="arabicPeriod"/>
                      </a:pPr>
                      <a:r>
                        <a:rPr lang="fr-FR" sz="3200" dirty="0" smtClean="0">
                          <a:solidFill>
                            <a:srgbClr val="4F81BD"/>
                          </a:solidFill>
                          <a:effectLst/>
                          <a:latin typeface="Calibri"/>
                          <a:ea typeface="Calibri"/>
                          <a:cs typeface="Times New Roman"/>
                        </a:rPr>
                        <a:t>Comment choisir?</a:t>
                      </a:r>
                      <a:endParaRPr lang="fr-FR" sz="3200" dirty="0">
                        <a:effectLst/>
                        <a:latin typeface="Times New Roman"/>
                        <a:ea typeface="Calibri"/>
                        <a:cs typeface="Times New Roman"/>
                      </a:endParaRPr>
                    </a:p>
                    <a:p>
                      <a:pPr marL="342900" lvl="0" indent="-342900">
                        <a:lnSpc>
                          <a:spcPct val="115000"/>
                        </a:lnSpc>
                        <a:spcAft>
                          <a:spcPts val="0"/>
                        </a:spcAft>
                        <a:buFont typeface="+mj-lt"/>
                        <a:buAutoNum type="arabicPeriod"/>
                      </a:pPr>
                      <a:r>
                        <a:rPr lang="fr-FR" sz="3200" dirty="0" smtClean="0">
                          <a:solidFill>
                            <a:srgbClr val="4F81BD"/>
                          </a:solidFill>
                          <a:effectLst/>
                          <a:latin typeface="Calibri"/>
                          <a:ea typeface="Calibri"/>
                          <a:cs typeface="Times New Roman"/>
                        </a:rPr>
                        <a:t>Panorama d’applications</a:t>
                      </a:r>
                      <a:endParaRPr lang="fr-FR" sz="3200" dirty="0">
                        <a:solidFill>
                          <a:schemeClr val="tx1"/>
                        </a:solidFill>
                        <a:effectLst/>
                        <a:latin typeface="Times New Roman"/>
                        <a:ea typeface="Calibri"/>
                        <a:cs typeface="Times New Roman"/>
                      </a:endParaRPr>
                    </a:p>
                    <a:p>
                      <a:pPr marL="342900" lvl="0" indent="-342900" algn="l" rtl="0" eaLnBrk="1" latinLnBrk="0" hangingPunct="1">
                        <a:lnSpc>
                          <a:spcPct val="115000"/>
                        </a:lnSpc>
                        <a:spcAft>
                          <a:spcPts val="0"/>
                        </a:spcAft>
                        <a:buFont typeface="+mj-lt"/>
                        <a:buAutoNum type="arabicPeriod"/>
                      </a:pPr>
                      <a:r>
                        <a:rPr kumimoji="0" lang="fr-FR" sz="3200" kern="1200" dirty="0" smtClean="0">
                          <a:solidFill>
                            <a:srgbClr val="4F81BD"/>
                          </a:solidFill>
                          <a:effectLst/>
                          <a:latin typeface="Calibri"/>
                          <a:ea typeface="Calibri"/>
                          <a:cs typeface="Times New Roman"/>
                        </a:rPr>
                        <a:t>Identification vs Vérification</a:t>
                      </a:r>
                    </a:p>
                    <a:p>
                      <a:pPr marL="342900" lvl="0" indent="-342900" algn="l" rtl="0" eaLnBrk="1" latinLnBrk="0" hangingPunct="1">
                        <a:lnSpc>
                          <a:spcPct val="115000"/>
                        </a:lnSpc>
                        <a:spcAft>
                          <a:spcPts val="0"/>
                        </a:spcAft>
                        <a:buFont typeface="+mj-lt"/>
                        <a:buAutoNum type="arabicPeriod"/>
                      </a:pPr>
                      <a:r>
                        <a:rPr kumimoji="0" lang="fr-FR" sz="3200" kern="1200" dirty="0" err="1" smtClean="0">
                          <a:solidFill>
                            <a:srgbClr val="4F81BD"/>
                          </a:solidFill>
                          <a:effectLst/>
                          <a:latin typeface="Calibri"/>
                          <a:ea typeface="Calibri"/>
                          <a:cs typeface="Times New Roman"/>
                        </a:rPr>
                        <a:t>Multimodalité</a:t>
                      </a:r>
                      <a:endParaRPr kumimoji="0" lang="fr-FR" sz="3200" kern="1200" dirty="0" smtClean="0">
                        <a:solidFill>
                          <a:srgbClr val="4F81BD"/>
                        </a:solidFill>
                        <a:effectLst/>
                        <a:latin typeface="Calibri"/>
                        <a:ea typeface="Calibri"/>
                        <a:cs typeface="Times New Roman"/>
                      </a:endParaRPr>
                    </a:p>
                    <a:p>
                      <a:pPr marL="342900" lvl="0" indent="-342900" algn="l" rtl="0" eaLnBrk="1" latinLnBrk="0" hangingPunct="1">
                        <a:lnSpc>
                          <a:spcPct val="115000"/>
                        </a:lnSpc>
                        <a:spcAft>
                          <a:spcPts val="0"/>
                        </a:spcAft>
                        <a:buFont typeface="+mj-lt"/>
                        <a:buAutoNum type="arabicPeriod"/>
                      </a:pPr>
                      <a:r>
                        <a:rPr kumimoji="0" lang="fr-FR" sz="3200" kern="1200" dirty="0" smtClean="0">
                          <a:solidFill>
                            <a:srgbClr val="4F81BD"/>
                          </a:solidFill>
                          <a:effectLst/>
                          <a:latin typeface="Calibri"/>
                          <a:ea typeface="Calibri"/>
                          <a:cs typeface="Times New Roman"/>
                        </a:rPr>
                        <a:t>Processus d’un système biométrique</a:t>
                      </a:r>
                    </a:p>
                    <a:p>
                      <a:pPr marL="342900" lvl="0" indent="-342900" algn="l" rtl="0" eaLnBrk="1" latinLnBrk="0" hangingPunct="1">
                        <a:lnSpc>
                          <a:spcPct val="115000"/>
                        </a:lnSpc>
                        <a:spcAft>
                          <a:spcPts val="0"/>
                        </a:spcAft>
                        <a:buFont typeface="+mj-lt"/>
                        <a:buAutoNum type="arabicPeriod"/>
                      </a:pPr>
                      <a:r>
                        <a:rPr kumimoji="0" lang="fr-FR" sz="3200" kern="1200" dirty="0" smtClean="0">
                          <a:solidFill>
                            <a:srgbClr val="4F81BD"/>
                          </a:solidFill>
                          <a:effectLst/>
                          <a:latin typeface="Calibri"/>
                          <a:ea typeface="Calibri"/>
                          <a:cs typeface="Times New Roman"/>
                        </a:rPr>
                        <a:t>Fiabilité des systèmes biométriques</a:t>
                      </a:r>
                    </a:p>
                    <a:p>
                      <a:pPr marL="342900" lvl="0" indent="-342900" algn="l" rtl="0" eaLnBrk="1" latinLnBrk="0" hangingPunct="1">
                        <a:lnSpc>
                          <a:spcPct val="115000"/>
                        </a:lnSpc>
                        <a:spcAft>
                          <a:spcPts val="0"/>
                        </a:spcAft>
                        <a:buFont typeface="+mj-lt"/>
                        <a:buAutoNum type="arabicPeriod"/>
                      </a:pPr>
                      <a:r>
                        <a:rPr kumimoji="0" lang="fr-FR" sz="3200" kern="1200" dirty="0" smtClean="0">
                          <a:solidFill>
                            <a:srgbClr val="4F81BD"/>
                          </a:solidFill>
                          <a:effectLst/>
                          <a:latin typeface="Calibri"/>
                          <a:ea typeface="Calibri"/>
                          <a:cs typeface="Times New Roman"/>
                        </a:rPr>
                        <a:t>Vulnérabilité des systèmes biométriques</a:t>
                      </a:r>
                    </a:p>
                    <a:p>
                      <a:pPr marL="342900" lvl="0" indent="-342900" algn="l" rtl="0" eaLnBrk="1" latinLnBrk="0" hangingPunct="1">
                        <a:lnSpc>
                          <a:spcPct val="115000"/>
                        </a:lnSpc>
                        <a:spcAft>
                          <a:spcPts val="0"/>
                        </a:spcAft>
                        <a:buFont typeface="+mj-lt"/>
                        <a:buAutoNum type="arabicPeriod"/>
                      </a:pPr>
                      <a:r>
                        <a:rPr kumimoji="0" lang="fr-FR" sz="3200" kern="1200" dirty="0" smtClean="0">
                          <a:solidFill>
                            <a:srgbClr val="4F81BD"/>
                          </a:solidFill>
                          <a:effectLst/>
                          <a:latin typeface="Calibri"/>
                          <a:ea typeface="Calibri"/>
                          <a:cs typeface="Times New Roman"/>
                        </a:rPr>
                        <a:t>Attaque contre les systèmes biométriques</a:t>
                      </a:r>
                    </a:p>
                    <a:p>
                      <a:pPr marL="342900" lvl="0" indent="-342900" algn="l" rtl="0" eaLnBrk="1" latinLnBrk="0" hangingPunct="1">
                        <a:lnSpc>
                          <a:spcPct val="115000"/>
                        </a:lnSpc>
                        <a:spcAft>
                          <a:spcPts val="0"/>
                        </a:spcAft>
                        <a:buFont typeface="+mj-lt"/>
                        <a:buAutoNum type="arabicPeriod"/>
                      </a:pPr>
                      <a:r>
                        <a:rPr kumimoji="0" lang="fr-FR" sz="3200" kern="1200" dirty="0" smtClean="0">
                          <a:solidFill>
                            <a:srgbClr val="4F81BD"/>
                          </a:solidFill>
                          <a:effectLst/>
                          <a:latin typeface="Calibri"/>
                          <a:ea typeface="Calibri"/>
                          <a:cs typeface="Times New Roman"/>
                        </a:rPr>
                        <a:t>Protection des systèmes biométriques</a:t>
                      </a:r>
                      <a:endParaRPr kumimoji="0" lang="fr-FR" sz="3200" kern="1200" dirty="0">
                        <a:solidFill>
                          <a:srgbClr val="4F81BD"/>
                        </a:solidFill>
                        <a:effectLst/>
                        <a:latin typeface="Calibri"/>
                        <a:ea typeface="Calibri"/>
                        <a:cs typeface="Times New Roman"/>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r>
            </a:tbl>
          </a:graphicData>
        </a:graphic>
      </p:graphicFrame>
    </p:spTree>
    <p:extLst>
      <p:ext uri="{BB962C8B-B14F-4D97-AF65-F5344CB8AC3E}">
        <p14:creationId xmlns:p14="http://schemas.microsoft.com/office/powerpoint/2010/main" val="27279013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3</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6" name="ZoneTexte 5"/>
          <p:cNvSpPr txBox="1"/>
          <p:nvPr/>
        </p:nvSpPr>
        <p:spPr>
          <a:xfrm>
            <a:off x="323528" y="1412776"/>
            <a:ext cx="8352928" cy="4832092"/>
          </a:xfrm>
          <a:prstGeom prst="rect">
            <a:avLst/>
          </a:prstGeom>
          <a:noFill/>
        </p:spPr>
        <p:txBody>
          <a:bodyPr wrap="square" rtlCol="0">
            <a:spAutoFit/>
          </a:bodyPr>
          <a:lstStyle/>
          <a:p>
            <a:pPr marL="285750" indent="-285750" algn="just">
              <a:buFont typeface="Arial" pitchFamily="34" charset="0"/>
              <a:buChar char="•"/>
            </a:pPr>
            <a:r>
              <a:rPr lang="fr-FR" sz="2800" dirty="0"/>
              <a:t>De tout temps, les technologies nouvelles ont stimulé l'imagination des aigrefins ; de ce fait, les chercheurs s’investissent de plus en plus dans les techniques de sécurité, à savoir sécurité de l’information et sécurité des individus. La détermination de l’identité de ces derniers à travers des moyens simples, fiables, efficaces et peu dispendieux est devenue un problème crucial. </a:t>
            </a:r>
            <a:endParaRPr lang="fr-FR" sz="2800" dirty="0" smtClean="0"/>
          </a:p>
          <a:p>
            <a:pPr marL="285750" indent="-285750" algn="just">
              <a:buFont typeface="Arial" pitchFamily="34" charset="0"/>
              <a:buChar char="•"/>
            </a:pPr>
            <a:endParaRPr lang="fr-FR" sz="2800" dirty="0"/>
          </a:p>
          <a:p>
            <a:pPr marL="285750" indent="-285750" algn="just">
              <a:buFont typeface="Arial" pitchFamily="34" charset="0"/>
              <a:buChar char="•"/>
            </a:pPr>
            <a:r>
              <a:rPr lang="fr-FR" sz="2800" dirty="0" smtClean="0"/>
              <a:t>Traditionnellement</a:t>
            </a:r>
            <a:r>
              <a:rPr lang="fr-FR" sz="2800" dirty="0"/>
              <a:t>, il existe deux manières pour y procéder.</a:t>
            </a:r>
          </a:p>
        </p:txBody>
      </p:sp>
    </p:spTree>
    <p:extLst>
      <p:ext uri="{BB962C8B-B14F-4D97-AF65-F5344CB8AC3E}">
        <p14:creationId xmlns:p14="http://schemas.microsoft.com/office/powerpoint/2010/main" val="36824395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4</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5" name="Rectangle 4"/>
          <p:cNvSpPr/>
          <p:nvPr/>
        </p:nvSpPr>
        <p:spPr>
          <a:xfrm>
            <a:off x="323528" y="1268760"/>
            <a:ext cx="8640960" cy="5262979"/>
          </a:xfrm>
          <a:prstGeom prst="rect">
            <a:avLst/>
          </a:prstGeom>
        </p:spPr>
        <p:txBody>
          <a:bodyPr wrap="square">
            <a:spAutoFit/>
          </a:bodyPr>
          <a:lstStyle/>
          <a:p>
            <a:pPr marL="457200" indent="-457200">
              <a:buFont typeface="Arial" pitchFamily="34" charset="0"/>
              <a:buChar char="•"/>
            </a:pPr>
            <a:r>
              <a:rPr lang="fr-FR" sz="2800" dirty="0"/>
              <a:t>La première est basée essentiellement sur ce que l’on </a:t>
            </a:r>
            <a:r>
              <a:rPr lang="fr-FR" sz="2800" b="1" dirty="0" smtClean="0">
                <a:solidFill>
                  <a:srgbClr val="0070C0"/>
                </a:solidFill>
              </a:rPr>
              <a:t>sai</a:t>
            </a:r>
            <a:r>
              <a:rPr lang="fr-FR" sz="2800" dirty="0" smtClean="0">
                <a:solidFill>
                  <a:srgbClr val="0070C0"/>
                </a:solidFill>
              </a:rPr>
              <a:t>t (</a:t>
            </a:r>
            <a:r>
              <a:rPr lang="fr-FR" sz="2800" dirty="0" smtClean="0"/>
              <a:t> </a:t>
            </a:r>
            <a:r>
              <a:rPr lang="fr-FR" sz="2800" dirty="0"/>
              <a:t>mot de passe, code, etc</a:t>
            </a:r>
            <a:r>
              <a:rPr lang="fr-FR" sz="2800" dirty="0" smtClean="0"/>
              <a:t>.)</a:t>
            </a:r>
          </a:p>
          <a:p>
            <a:pPr marL="457200" indent="-457200">
              <a:buFont typeface="Arial" pitchFamily="34" charset="0"/>
              <a:buChar char="•"/>
            </a:pPr>
            <a:endParaRPr lang="fr-FR" sz="2800" dirty="0" smtClean="0"/>
          </a:p>
          <a:p>
            <a:pPr marL="457200" indent="-457200">
              <a:buFont typeface="Arial" pitchFamily="34" charset="0"/>
              <a:buChar char="•"/>
            </a:pPr>
            <a:r>
              <a:rPr lang="fr-FR" sz="2800" dirty="0" smtClean="0"/>
              <a:t>La </a:t>
            </a:r>
            <a:r>
              <a:rPr lang="fr-FR" sz="2800" dirty="0"/>
              <a:t>deuxième méthode s’appuie sur ce </a:t>
            </a:r>
            <a:r>
              <a:rPr lang="fr-FR" sz="2800" dirty="0" smtClean="0"/>
              <a:t>qu’on </a:t>
            </a:r>
            <a:r>
              <a:rPr lang="fr-FR" sz="2800" b="1" dirty="0" smtClean="0">
                <a:solidFill>
                  <a:srgbClr val="0070C0"/>
                </a:solidFill>
              </a:rPr>
              <a:t>possède </a:t>
            </a:r>
            <a:r>
              <a:rPr lang="fr-FR" sz="2800" b="1" dirty="0" smtClean="0"/>
              <a:t>(</a:t>
            </a:r>
            <a:r>
              <a:rPr lang="fr-FR" sz="2800" dirty="0" smtClean="0"/>
              <a:t>badge</a:t>
            </a:r>
            <a:r>
              <a:rPr lang="fr-FR" sz="2800" dirty="0"/>
              <a:t>, </a:t>
            </a:r>
            <a:r>
              <a:rPr lang="fr-FR" sz="2800" dirty="0" smtClean="0"/>
              <a:t>clef</a:t>
            </a:r>
            <a:r>
              <a:rPr lang="fr-FR" sz="2800" dirty="0"/>
              <a:t>, etc</a:t>
            </a:r>
            <a:r>
              <a:rPr lang="fr-FR" sz="2800" dirty="0" smtClean="0"/>
              <a:t>.)</a:t>
            </a:r>
          </a:p>
          <a:p>
            <a:pPr marL="457200" indent="-457200">
              <a:buFont typeface="Arial" pitchFamily="34" charset="0"/>
              <a:buChar char="•"/>
            </a:pPr>
            <a:endParaRPr lang="fr-FR" sz="2800" dirty="0" smtClean="0"/>
          </a:p>
          <a:p>
            <a:pPr marL="457200" indent="-457200" algn="just">
              <a:buFont typeface="Arial" pitchFamily="34" charset="0"/>
              <a:buChar char="•"/>
            </a:pPr>
            <a:r>
              <a:rPr lang="fr-FR" sz="2800" dirty="0" smtClean="0"/>
              <a:t> </a:t>
            </a:r>
            <a:r>
              <a:rPr lang="fr-FR" sz="2800" dirty="0"/>
              <a:t>Ces deux méthodes présentent des inconvénients majeurs </a:t>
            </a:r>
            <a:r>
              <a:rPr lang="fr-FR" sz="2800" dirty="0" smtClean="0"/>
              <a:t>: </a:t>
            </a:r>
            <a:r>
              <a:rPr lang="fr-FR" sz="2800" dirty="0"/>
              <a:t>dans le premier cas, un mot de passe ou bien un code peuvent être oubliés par leur porteur ou devinés par une autre personne. Dans le second cas, un badge ou une clé peuvent être perdus, volés ou copiés par des personnes mal intentionnées.</a:t>
            </a:r>
          </a:p>
        </p:txBody>
      </p:sp>
    </p:spTree>
    <p:extLst>
      <p:ext uri="{BB962C8B-B14F-4D97-AF65-F5344CB8AC3E}">
        <p14:creationId xmlns:p14="http://schemas.microsoft.com/office/powerpoint/2010/main" val="19582189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5</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6" name="Rectangle 5"/>
          <p:cNvSpPr/>
          <p:nvPr/>
        </p:nvSpPr>
        <p:spPr>
          <a:xfrm>
            <a:off x="323528" y="2050970"/>
            <a:ext cx="8640960" cy="3970318"/>
          </a:xfrm>
          <a:prstGeom prst="rect">
            <a:avLst/>
          </a:prstGeom>
        </p:spPr>
        <p:txBody>
          <a:bodyPr wrap="square">
            <a:spAutoFit/>
          </a:bodyPr>
          <a:lstStyle/>
          <a:p>
            <a:pPr marL="457200" indent="-457200" algn="just">
              <a:buFont typeface="Arial" pitchFamily="34" charset="0"/>
              <a:buChar char="•"/>
            </a:pPr>
            <a:r>
              <a:rPr lang="fr-FR" sz="2800" dirty="0"/>
              <a:t>L’inconvénient commun aux deux méthodes est que l'on identifie </a:t>
            </a:r>
            <a:r>
              <a:rPr lang="fr-FR" sz="2800" b="1" dirty="0">
                <a:solidFill>
                  <a:srgbClr val="0070C0"/>
                </a:solidFill>
              </a:rPr>
              <a:t>un objet </a:t>
            </a:r>
            <a:r>
              <a:rPr lang="fr-FR" sz="2800" dirty="0"/>
              <a:t>et non la personne elle-même. </a:t>
            </a:r>
            <a:endParaRPr lang="fr-FR" sz="2800" dirty="0" smtClean="0"/>
          </a:p>
          <a:p>
            <a:pPr marL="457200" indent="-457200" algn="just">
              <a:buFont typeface="Arial" pitchFamily="34" charset="0"/>
              <a:buChar char="•"/>
            </a:pPr>
            <a:endParaRPr lang="fr-FR" sz="2800" dirty="0"/>
          </a:p>
          <a:p>
            <a:pPr marL="457200" indent="-457200" algn="just">
              <a:buFont typeface="Arial" pitchFamily="34" charset="0"/>
              <a:buChar char="•"/>
            </a:pPr>
            <a:r>
              <a:rPr lang="fr-FR" sz="2800" dirty="0" smtClean="0"/>
              <a:t>Pour </a:t>
            </a:r>
            <a:r>
              <a:rPr lang="fr-FR" sz="2800" dirty="0"/>
              <a:t>pallier à ce problème, la </a:t>
            </a:r>
            <a:r>
              <a:rPr lang="fr-FR" sz="2800" dirty="0" smtClean="0"/>
              <a:t>méthode qui </a:t>
            </a:r>
            <a:r>
              <a:rPr lang="fr-FR" sz="2800" dirty="0"/>
              <a:t>apporte simplicité et confort aux utilisateurs consiste à identifier une personne à partir de ce </a:t>
            </a:r>
            <a:r>
              <a:rPr lang="fr-FR" sz="2800" b="1" dirty="0">
                <a:solidFill>
                  <a:srgbClr val="0070C0"/>
                </a:solidFill>
              </a:rPr>
              <a:t>qu’on est</a:t>
            </a:r>
            <a:r>
              <a:rPr lang="fr-FR" sz="2800" dirty="0"/>
              <a:t>. </a:t>
            </a:r>
            <a:endParaRPr lang="fr-FR" sz="2800" dirty="0" smtClean="0"/>
          </a:p>
          <a:p>
            <a:pPr marL="457200" indent="-457200" algn="just">
              <a:buFont typeface="Arial" pitchFamily="34" charset="0"/>
              <a:buChar char="•"/>
            </a:pPr>
            <a:endParaRPr lang="fr-FR" sz="2800" dirty="0"/>
          </a:p>
          <a:p>
            <a:pPr marL="457200" indent="-457200" algn="just">
              <a:buFont typeface="Arial" pitchFamily="34" charset="0"/>
              <a:buChar char="•"/>
            </a:pPr>
            <a:r>
              <a:rPr lang="fr-FR" sz="2800" dirty="0" smtClean="0"/>
              <a:t>Cette </a:t>
            </a:r>
            <a:r>
              <a:rPr lang="fr-FR" sz="2800" dirty="0"/>
              <a:t>méthode est connue sous le nom </a:t>
            </a:r>
            <a:r>
              <a:rPr lang="fr-FR" sz="2800" dirty="0" smtClean="0"/>
              <a:t>de</a:t>
            </a:r>
          </a:p>
          <a:p>
            <a:pPr algn="ctr"/>
            <a:r>
              <a:rPr lang="fr-FR" sz="2800" dirty="0" smtClean="0"/>
              <a:t> </a:t>
            </a:r>
            <a:r>
              <a:rPr lang="fr-FR" sz="2800" b="1" dirty="0">
                <a:solidFill>
                  <a:srgbClr val="0070C0"/>
                </a:solidFill>
              </a:rPr>
              <a:t>« BIOMETRIE ».</a:t>
            </a:r>
          </a:p>
        </p:txBody>
      </p:sp>
    </p:spTree>
    <p:extLst>
      <p:ext uri="{BB962C8B-B14F-4D97-AF65-F5344CB8AC3E}">
        <p14:creationId xmlns:p14="http://schemas.microsoft.com/office/powerpoint/2010/main" val="19773078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6</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rPr>
              <a:t>Introduction</a:t>
            </a:r>
          </a:p>
        </p:txBody>
      </p:sp>
      <p:sp>
        <p:nvSpPr>
          <p:cNvPr id="5" name="ZoneTexte 4"/>
          <p:cNvSpPr txBox="1"/>
          <p:nvPr/>
        </p:nvSpPr>
        <p:spPr>
          <a:xfrm>
            <a:off x="1943708" y="1268760"/>
            <a:ext cx="5328592" cy="830997"/>
          </a:xfrm>
          <a:prstGeom prst="rect">
            <a:avLst/>
          </a:prstGeom>
          <a:noFill/>
        </p:spPr>
        <p:txBody>
          <a:bodyPr wrap="square" rtlCol="0">
            <a:spAutoFit/>
          </a:bodyPr>
          <a:lstStyle/>
          <a:p>
            <a:pPr algn="ctr"/>
            <a:r>
              <a:rPr lang="fr-FR" sz="4800" dirty="0">
                <a:solidFill>
                  <a:prstClr val="black"/>
                </a:solidFill>
              </a:rPr>
              <a:t>BIOMETRIE  ?</a:t>
            </a:r>
          </a:p>
        </p:txBody>
      </p:sp>
      <p:sp>
        <p:nvSpPr>
          <p:cNvPr id="6" name="ZoneTexte 5"/>
          <p:cNvSpPr txBox="1"/>
          <p:nvPr/>
        </p:nvSpPr>
        <p:spPr>
          <a:xfrm>
            <a:off x="323528" y="2179807"/>
            <a:ext cx="8352928" cy="523220"/>
          </a:xfrm>
          <a:prstGeom prst="rect">
            <a:avLst/>
          </a:prstGeom>
          <a:noFill/>
        </p:spPr>
        <p:txBody>
          <a:bodyPr wrap="square" rtlCol="0">
            <a:spAutoFit/>
          </a:bodyPr>
          <a:lstStyle/>
          <a:p>
            <a:pPr marL="285750" indent="-285750">
              <a:buFont typeface="Arial" pitchFamily="34" charset="0"/>
              <a:buChar char="•"/>
            </a:pPr>
            <a:r>
              <a:rPr lang="fr-FR" sz="2800" dirty="0">
                <a:solidFill>
                  <a:prstClr val="black"/>
                </a:solidFill>
              </a:rPr>
              <a:t>Signifie littéralement  « la mesure du vivant »</a:t>
            </a:r>
          </a:p>
        </p:txBody>
      </p:sp>
      <p:sp>
        <p:nvSpPr>
          <p:cNvPr id="7" name="ZoneTexte 6"/>
          <p:cNvSpPr txBox="1"/>
          <p:nvPr/>
        </p:nvSpPr>
        <p:spPr>
          <a:xfrm>
            <a:off x="543817" y="5157192"/>
            <a:ext cx="8532440" cy="954107"/>
          </a:xfrm>
          <a:prstGeom prst="rect">
            <a:avLst/>
          </a:prstGeom>
          <a:noFill/>
        </p:spPr>
        <p:txBody>
          <a:bodyPr wrap="square" rtlCol="0">
            <a:spAutoFit/>
          </a:bodyPr>
          <a:lstStyle/>
          <a:p>
            <a:pPr marL="285750" indent="-285750" algn="just">
              <a:buFont typeface="Arial" pitchFamily="34" charset="0"/>
              <a:buChar char="•"/>
            </a:pPr>
            <a:r>
              <a:rPr lang="fr-FR" sz="2800" dirty="0">
                <a:solidFill>
                  <a:prstClr val="black"/>
                </a:solidFill>
              </a:rPr>
              <a:t>Les sciences et technologies qui mesurent les caractéristiques humaines à des fins d’identification.</a:t>
            </a:r>
          </a:p>
        </p:txBody>
      </p:sp>
      <p:sp>
        <p:nvSpPr>
          <p:cNvPr id="8" name="Rectangle 7"/>
          <p:cNvSpPr/>
          <p:nvPr/>
        </p:nvSpPr>
        <p:spPr>
          <a:xfrm>
            <a:off x="333035" y="3068960"/>
            <a:ext cx="8559445" cy="1815882"/>
          </a:xfrm>
          <a:prstGeom prst="rect">
            <a:avLst/>
          </a:prstGeom>
        </p:spPr>
        <p:txBody>
          <a:bodyPr wrap="square">
            <a:spAutoFit/>
          </a:bodyPr>
          <a:lstStyle/>
          <a:p>
            <a:pPr marL="285750" indent="-285750" algn="just">
              <a:buFont typeface="Arial" pitchFamily="34" charset="0"/>
              <a:buChar char="•"/>
            </a:pPr>
            <a:r>
              <a:rPr lang="fr-FR" sz="2800" dirty="0">
                <a:solidFill>
                  <a:prstClr val="black"/>
                </a:solidFill>
              </a:rPr>
              <a:t>De par cette étymologie, un système de contrôle biométrique peut être défini comme étant un système automatique de mesure basé sur la reconnaissance de caractéristiques propres à l'individu.</a:t>
            </a:r>
          </a:p>
        </p:txBody>
      </p:sp>
    </p:spTree>
    <p:extLst>
      <p:ext uri="{BB962C8B-B14F-4D97-AF65-F5344CB8AC3E}">
        <p14:creationId xmlns:p14="http://schemas.microsoft.com/office/powerpoint/2010/main" val="390698774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7</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rPr>
              <a:t>Introduction</a:t>
            </a:r>
          </a:p>
        </p:txBody>
      </p:sp>
      <p:sp>
        <p:nvSpPr>
          <p:cNvPr id="9" name="Rectangle 8"/>
          <p:cNvSpPr/>
          <p:nvPr/>
        </p:nvSpPr>
        <p:spPr>
          <a:xfrm>
            <a:off x="323528" y="1484784"/>
            <a:ext cx="8820472" cy="5262979"/>
          </a:xfrm>
          <a:prstGeom prst="rect">
            <a:avLst/>
          </a:prstGeom>
        </p:spPr>
        <p:txBody>
          <a:bodyPr wrap="square">
            <a:spAutoFit/>
          </a:bodyPr>
          <a:lstStyle/>
          <a:p>
            <a:pPr marL="457200" indent="-457200">
              <a:buFont typeface="Arial" pitchFamily="34" charset="0"/>
              <a:buChar char="•"/>
            </a:pPr>
            <a:r>
              <a:rPr lang="fr-FR" sz="2800" dirty="0">
                <a:solidFill>
                  <a:prstClr val="black"/>
                </a:solidFill>
              </a:rPr>
              <a:t>On recense plusieurs  technologies biométriques qui peuvent être classées en trois catégories : </a:t>
            </a:r>
          </a:p>
          <a:p>
            <a:pPr marL="457200" indent="-457200">
              <a:buFont typeface="Arial" pitchFamily="34" charset="0"/>
              <a:buChar char="•"/>
            </a:pPr>
            <a:endParaRPr lang="fr-FR" sz="2800" dirty="0">
              <a:solidFill>
                <a:prstClr val="black"/>
              </a:solidFill>
            </a:endParaRPr>
          </a:p>
          <a:p>
            <a:pPr marL="1885950" lvl="3" indent="-514350">
              <a:buFont typeface="+mj-lt"/>
              <a:buAutoNum type="arabicPeriod"/>
            </a:pPr>
            <a:r>
              <a:rPr lang="fr-FR" sz="2800" dirty="0">
                <a:solidFill>
                  <a:prstClr val="black"/>
                </a:solidFill>
              </a:rPr>
              <a:t>Les premières reposent sur l'analyse morphologique ;</a:t>
            </a:r>
          </a:p>
          <a:p>
            <a:pPr lvl="3"/>
            <a:endParaRPr lang="fr-FR" sz="2800" dirty="0">
              <a:solidFill>
                <a:prstClr val="black"/>
              </a:solidFill>
            </a:endParaRPr>
          </a:p>
          <a:p>
            <a:pPr lvl="3"/>
            <a:r>
              <a:rPr lang="fr-FR" sz="2800" dirty="0">
                <a:solidFill>
                  <a:prstClr val="black"/>
                </a:solidFill>
              </a:rPr>
              <a:t>2.   Les secondes sur l'analyse comportementale;</a:t>
            </a:r>
          </a:p>
          <a:p>
            <a:pPr lvl="3"/>
            <a:endParaRPr lang="fr-FR" sz="2800" dirty="0">
              <a:solidFill>
                <a:prstClr val="black"/>
              </a:solidFill>
            </a:endParaRPr>
          </a:p>
          <a:p>
            <a:pPr lvl="3"/>
            <a:r>
              <a:rPr lang="fr-FR" sz="2800" dirty="0">
                <a:solidFill>
                  <a:prstClr val="black"/>
                </a:solidFill>
              </a:rPr>
              <a:t>3.   et les troisièmes  sur l'analyse de traces  	biologiques</a:t>
            </a:r>
          </a:p>
          <a:p>
            <a:pPr marL="1885950" lvl="3" indent="-514350">
              <a:buFont typeface="+mj-lt"/>
              <a:buAutoNum type="arabicPeriod"/>
            </a:pPr>
            <a:endParaRPr lang="fr-FR" sz="2800" dirty="0">
              <a:solidFill>
                <a:prstClr val="black"/>
              </a:solidFill>
            </a:endParaRPr>
          </a:p>
          <a:p>
            <a:pPr lvl="3"/>
            <a:endParaRPr lang="fr-FR" sz="2800" dirty="0">
              <a:solidFill>
                <a:prstClr val="black"/>
              </a:solidFill>
            </a:endParaRPr>
          </a:p>
        </p:txBody>
      </p:sp>
    </p:spTree>
    <p:extLst>
      <p:ext uri="{BB962C8B-B14F-4D97-AF65-F5344CB8AC3E}">
        <p14:creationId xmlns:p14="http://schemas.microsoft.com/office/powerpoint/2010/main" val="3965527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8</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rPr>
              <a:t>Problématique</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8" y="-55127"/>
            <a:ext cx="9144000" cy="4346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ZoneTexte 4"/>
          <p:cNvSpPr txBox="1"/>
          <p:nvPr/>
        </p:nvSpPr>
        <p:spPr>
          <a:xfrm>
            <a:off x="7310626" y="3491900"/>
            <a:ext cx="792088" cy="369332"/>
          </a:xfrm>
          <a:prstGeom prst="rect">
            <a:avLst/>
          </a:prstGeom>
          <a:noFill/>
        </p:spPr>
        <p:txBody>
          <a:bodyPr wrap="square" rtlCol="0">
            <a:spAutoFit/>
          </a:bodyPr>
          <a:lstStyle/>
          <a:p>
            <a:r>
              <a:rPr lang="fr-FR" b="1" dirty="0">
                <a:solidFill>
                  <a:prstClr val="white"/>
                </a:solidFill>
              </a:rPr>
              <a:t>voix</a:t>
            </a:r>
          </a:p>
        </p:txBody>
      </p:sp>
      <p:sp>
        <p:nvSpPr>
          <p:cNvPr id="6" name="ZoneTexte 5"/>
          <p:cNvSpPr txBox="1"/>
          <p:nvPr/>
        </p:nvSpPr>
        <p:spPr>
          <a:xfrm>
            <a:off x="0" y="4509120"/>
            <a:ext cx="9161768" cy="523220"/>
          </a:xfrm>
          <a:prstGeom prst="rect">
            <a:avLst/>
          </a:prstGeom>
          <a:noFill/>
        </p:spPr>
        <p:txBody>
          <a:bodyPr wrap="square" rtlCol="0">
            <a:spAutoFit/>
          </a:bodyPr>
          <a:lstStyle/>
          <a:p>
            <a:r>
              <a:rPr lang="fr-FR" sz="2800" dirty="0">
                <a:solidFill>
                  <a:prstClr val="black"/>
                </a:solidFill>
              </a:rPr>
              <a:t>Les données biométriques présentent deux points communs:</a:t>
            </a:r>
          </a:p>
        </p:txBody>
      </p:sp>
      <p:sp>
        <p:nvSpPr>
          <p:cNvPr id="7" name="ZoneTexte 6"/>
          <p:cNvSpPr txBox="1"/>
          <p:nvPr/>
        </p:nvSpPr>
        <p:spPr>
          <a:xfrm>
            <a:off x="1043608" y="5548064"/>
            <a:ext cx="2736304" cy="646331"/>
          </a:xfrm>
          <a:prstGeom prst="rect">
            <a:avLst/>
          </a:prstGeom>
          <a:noFill/>
        </p:spPr>
        <p:txBody>
          <a:bodyPr wrap="square" rtlCol="0">
            <a:spAutoFit/>
          </a:bodyPr>
          <a:lstStyle/>
          <a:p>
            <a:r>
              <a:rPr lang="fr-FR" sz="3600" b="1" dirty="0">
                <a:solidFill>
                  <a:srgbClr val="002060"/>
                </a:solidFill>
                <a:effectLst>
                  <a:outerShdw blurRad="38100" dist="38100" dir="2700000" algn="tl">
                    <a:srgbClr val="000000">
                      <a:alpha val="43137"/>
                    </a:srgbClr>
                  </a:outerShdw>
                </a:effectLst>
              </a:rPr>
              <a:t>Universelles</a:t>
            </a:r>
          </a:p>
        </p:txBody>
      </p:sp>
      <p:sp>
        <p:nvSpPr>
          <p:cNvPr id="11" name="ZoneTexte 10"/>
          <p:cNvSpPr txBox="1"/>
          <p:nvPr/>
        </p:nvSpPr>
        <p:spPr>
          <a:xfrm>
            <a:off x="5870466" y="5548064"/>
            <a:ext cx="2232248" cy="646331"/>
          </a:xfrm>
          <a:prstGeom prst="rect">
            <a:avLst/>
          </a:prstGeom>
          <a:noFill/>
        </p:spPr>
        <p:txBody>
          <a:bodyPr wrap="square" rtlCol="0">
            <a:spAutoFit/>
          </a:bodyPr>
          <a:lstStyle/>
          <a:p>
            <a:r>
              <a:rPr lang="fr-FR" sz="3600" b="1" dirty="0">
                <a:solidFill>
                  <a:srgbClr val="002060"/>
                </a:solidFill>
                <a:effectLst>
                  <a:outerShdw blurRad="38100" dist="38100" dir="2700000" algn="tl">
                    <a:srgbClr val="000000">
                      <a:alpha val="43137"/>
                    </a:srgbClr>
                  </a:outerShdw>
                </a:effectLst>
              </a:rPr>
              <a:t>Uniques</a:t>
            </a:r>
          </a:p>
        </p:txBody>
      </p:sp>
    </p:spTree>
    <p:extLst>
      <p:ext uri="{BB962C8B-B14F-4D97-AF65-F5344CB8AC3E}">
        <p14:creationId xmlns:p14="http://schemas.microsoft.com/office/powerpoint/2010/main" val="201412159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9</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234014"/>
            <a:ext cx="6408712" cy="784830"/>
          </a:xfrm>
          <a:prstGeom prst="rect">
            <a:avLst/>
          </a:prstGeom>
          <a:noFill/>
        </p:spPr>
        <p:txBody>
          <a:bodyPr wrap="square" rtlCol="0">
            <a:spAutoFit/>
          </a:bodyPr>
          <a:lstStyle/>
          <a:p>
            <a:pPr algn="ctr">
              <a:spcBef>
                <a:spcPct val="0"/>
              </a:spcBef>
            </a:pPr>
            <a:r>
              <a:rPr lang="fr-FR" sz="4500" b="1" dirty="0">
                <a:solidFill>
                  <a:srgbClr val="002060"/>
                </a:solidFill>
              </a:rPr>
              <a:t>Comment choisir?</a:t>
            </a:r>
          </a:p>
        </p:txBody>
      </p:sp>
      <p:sp>
        <p:nvSpPr>
          <p:cNvPr id="5" name="ZoneTexte 4"/>
          <p:cNvSpPr txBox="1"/>
          <p:nvPr/>
        </p:nvSpPr>
        <p:spPr>
          <a:xfrm>
            <a:off x="7310626" y="3491900"/>
            <a:ext cx="792088" cy="369332"/>
          </a:xfrm>
          <a:prstGeom prst="rect">
            <a:avLst/>
          </a:prstGeom>
          <a:noFill/>
        </p:spPr>
        <p:txBody>
          <a:bodyPr wrap="square" rtlCol="0">
            <a:spAutoFit/>
          </a:bodyPr>
          <a:lstStyle/>
          <a:p>
            <a:r>
              <a:rPr lang="fr-FR" b="1" dirty="0">
                <a:solidFill>
                  <a:prstClr val="white"/>
                </a:solidFill>
              </a:rPr>
              <a:t>voix</a:t>
            </a:r>
          </a:p>
        </p:txBody>
      </p:sp>
      <p:sp>
        <p:nvSpPr>
          <p:cNvPr id="9" name="Rectangle 8"/>
          <p:cNvSpPr/>
          <p:nvPr/>
        </p:nvSpPr>
        <p:spPr>
          <a:xfrm>
            <a:off x="107504" y="1556792"/>
            <a:ext cx="8856984" cy="4462760"/>
          </a:xfrm>
          <a:prstGeom prst="rect">
            <a:avLst/>
          </a:prstGeom>
        </p:spPr>
        <p:txBody>
          <a:bodyPr wrap="square">
            <a:spAutoFit/>
          </a:bodyPr>
          <a:lstStyle/>
          <a:p>
            <a:pPr marL="457200" indent="-457200" algn="just">
              <a:buFont typeface="Arial" pitchFamily="34" charset="0"/>
              <a:buChar char="•"/>
            </a:pPr>
            <a:r>
              <a:rPr lang="fr-FR" sz="3200" dirty="0">
                <a:solidFill>
                  <a:prstClr val="black"/>
                </a:solidFill>
              </a:rPr>
              <a:t>Une comparaison entre les différentes techniques biométriques s’avère intéressante. </a:t>
            </a:r>
          </a:p>
          <a:p>
            <a:pPr marL="457200" indent="-457200" algn="just">
              <a:buFont typeface="Arial" pitchFamily="34" charset="0"/>
              <a:buChar char="•"/>
            </a:pPr>
            <a:endParaRPr lang="fr-FR" sz="3200" dirty="0">
              <a:solidFill>
                <a:prstClr val="black"/>
              </a:solidFill>
            </a:endParaRPr>
          </a:p>
          <a:p>
            <a:pPr marL="457200" indent="-457200" algn="just">
              <a:buFont typeface="Arial" pitchFamily="34" charset="0"/>
              <a:buChar char="•"/>
            </a:pPr>
            <a:r>
              <a:rPr lang="fr-FR" sz="3200" dirty="0">
                <a:solidFill>
                  <a:prstClr val="black"/>
                </a:solidFill>
              </a:rPr>
              <a:t>Elle permet de choisir une technologie en fonction des contraintes liées à l'application. </a:t>
            </a:r>
          </a:p>
          <a:p>
            <a:pPr algn="just"/>
            <a:endParaRPr lang="fr-FR" sz="3200" dirty="0">
              <a:solidFill>
                <a:prstClr val="black"/>
              </a:solidFill>
            </a:endParaRPr>
          </a:p>
          <a:p>
            <a:pPr marL="457200" indent="-457200" algn="just">
              <a:buFont typeface="Arial" pitchFamily="34" charset="0"/>
              <a:buChar char="•"/>
            </a:pPr>
            <a:r>
              <a:rPr lang="fr-FR" sz="3200" dirty="0">
                <a:solidFill>
                  <a:prstClr val="black"/>
                </a:solidFill>
              </a:rPr>
              <a:t>L'International </a:t>
            </a:r>
            <a:r>
              <a:rPr lang="fr-FR" sz="3200" dirty="0" err="1">
                <a:solidFill>
                  <a:prstClr val="black"/>
                </a:solidFill>
              </a:rPr>
              <a:t>Biometric</a:t>
            </a:r>
            <a:r>
              <a:rPr lang="fr-FR" sz="3200" dirty="0">
                <a:solidFill>
                  <a:prstClr val="black"/>
                </a:solidFill>
              </a:rPr>
              <a:t> Group a procédé à une comparaison sur la base de 4 critères :</a:t>
            </a:r>
          </a:p>
          <a:p>
            <a:pPr algn="just"/>
            <a:endParaRPr lang="fr-FR" sz="2800" dirty="0">
              <a:solidFill>
                <a:prstClr val="black"/>
              </a:solidFill>
            </a:endParaRPr>
          </a:p>
        </p:txBody>
      </p:sp>
    </p:spTree>
    <p:extLst>
      <p:ext uri="{BB962C8B-B14F-4D97-AF65-F5344CB8AC3E}">
        <p14:creationId xmlns:p14="http://schemas.microsoft.com/office/powerpoint/2010/main" val="28063526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10</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234014"/>
            <a:ext cx="6408712" cy="784830"/>
          </a:xfrm>
          <a:prstGeom prst="rect">
            <a:avLst/>
          </a:prstGeom>
          <a:noFill/>
        </p:spPr>
        <p:txBody>
          <a:bodyPr wrap="square" rtlCol="0">
            <a:spAutoFit/>
          </a:bodyPr>
          <a:lstStyle/>
          <a:p>
            <a:pPr algn="ctr">
              <a:spcBef>
                <a:spcPct val="0"/>
              </a:spcBef>
            </a:pPr>
            <a:r>
              <a:rPr lang="fr-FR" sz="4500" b="1" dirty="0">
                <a:solidFill>
                  <a:srgbClr val="002060"/>
                </a:solidFill>
              </a:rPr>
              <a:t>Comment choisir?</a:t>
            </a:r>
          </a:p>
        </p:txBody>
      </p:sp>
      <p:sp>
        <p:nvSpPr>
          <p:cNvPr id="6" name="Rectangle 5"/>
          <p:cNvSpPr/>
          <p:nvPr/>
        </p:nvSpPr>
        <p:spPr>
          <a:xfrm>
            <a:off x="323529" y="1268760"/>
            <a:ext cx="8568952" cy="4832092"/>
          </a:xfrm>
          <a:prstGeom prst="rect">
            <a:avLst/>
          </a:prstGeom>
        </p:spPr>
        <p:txBody>
          <a:bodyPr wrap="square">
            <a:spAutoFit/>
          </a:bodyPr>
          <a:lstStyle/>
          <a:p>
            <a:pPr marL="457200" indent="-457200" algn="just">
              <a:buFont typeface="Arial" pitchFamily="34" charset="0"/>
              <a:buChar char="•"/>
            </a:pPr>
            <a:r>
              <a:rPr lang="fr-FR" sz="2800" dirty="0">
                <a:solidFill>
                  <a:prstClr val="black"/>
                </a:solidFill>
              </a:rPr>
              <a:t>L’</a:t>
            </a:r>
            <a:r>
              <a:rPr lang="fr-FR" sz="2800" dirty="0" err="1">
                <a:solidFill>
                  <a:prstClr val="black"/>
                </a:solidFill>
              </a:rPr>
              <a:t>intrusivité</a:t>
            </a:r>
            <a:r>
              <a:rPr lang="fr-FR" sz="2800" dirty="0">
                <a:solidFill>
                  <a:prstClr val="black"/>
                </a:solidFill>
              </a:rPr>
              <a:t> : Ce critère décrit dans quelle mesure l'utilisateur perçoit la technique comme intrusive.</a:t>
            </a:r>
          </a:p>
          <a:p>
            <a:pPr algn="just"/>
            <a:endParaRPr lang="fr-FR" sz="2800" dirty="0">
              <a:solidFill>
                <a:prstClr val="black"/>
              </a:solidFill>
            </a:endParaRPr>
          </a:p>
          <a:p>
            <a:pPr marL="457200" indent="-457200" algn="just">
              <a:buFont typeface="Arial" pitchFamily="34" charset="0"/>
              <a:buChar char="•"/>
            </a:pPr>
            <a:r>
              <a:rPr lang="fr-FR" sz="2800" dirty="0">
                <a:solidFill>
                  <a:prstClr val="black"/>
                </a:solidFill>
              </a:rPr>
              <a:t>La précision : C’est l’efficacité de la méthode (capacité à identifier un individu).</a:t>
            </a:r>
          </a:p>
          <a:p>
            <a:pPr algn="just"/>
            <a:endParaRPr lang="fr-FR" sz="2800" dirty="0">
              <a:solidFill>
                <a:prstClr val="black"/>
              </a:solidFill>
            </a:endParaRPr>
          </a:p>
          <a:p>
            <a:pPr marL="457200" indent="-457200" algn="just">
              <a:buFont typeface="Arial" pitchFamily="34" charset="0"/>
              <a:buChar char="•"/>
            </a:pPr>
            <a:r>
              <a:rPr lang="fr-FR" sz="2800" dirty="0">
                <a:solidFill>
                  <a:prstClr val="black"/>
                </a:solidFill>
              </a:rPr>
              <a:t>Le coût : Coût de la technologie utilisée (lecteurs, capteurs, etc.).</a:t>
            </a:r>
          </a:p>
          <a:p>
            <a:pPr algn="just"/>
            <a:endParaRPr lang="fr-FR" sz="2800" dirty="0">
              <a:solidFill>
                <a:prstClr val="black"/>
              </a:solidFill>
            </a:endParaRPr>
          </a:p>
          <a:p>
            <a:pPr marL="457200" indent="-457200" algn="just">
              <a:buFont typeface="Arial" pitchFamily="34" charset="0"/>
              <a:buChar char="•"/>
            </a:pPr>
            <a:r>
              <a:rPr lang="fr-FR" sz="2800" dirty="0">
                <a:solidFill>
                  <a:prstClr val="black"/>
                </a:solidFill>
              </a:rPr>
              <a:t>L'effort : Effort requis pour l'utilisateur lors de la mesure</a:t>
            </a:r>
          </a:p>
        </p:txBody>
      </p:sp>
    </p:spTree>
    <p:extLst>
      <p:ext uri="{BB962C8B-B14F-4D97-AF65-F5344CB8AC3E}">
        <p14:creationId xmlns:p14="http://schemas.microsoft.com/office/powerpoint/2010/main" val="261346848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11</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234014"/>
            <a:ext cx="6408712" cy="784830"/>
          </a:xfrm>
          <a:prstGeom prst="rect">
            <a:avLst/>
          </a:prstGeom>
          <a:noFill/>
        </p:spPr>
        <p:txBody>
          <a:bodyPr wrap="square" rtlCol="0">
            <a:spAutoFit/>
          </a:bodyPr>
          <a:lstStyle/>
          <a:p>
            <a:pPr algn="ctr">
              <a:spcBef>
                <a:spcPct val="0"/>
              </a:spcBef>
            </a:pPr>
            <a:r>
              <a:rPr lang="fr-FR" sz="4500" b="1" dirty="0">
                <a:solidFill>
                  <a:srgbClr val="002060"/>
                </a:solidFill>
              </a:rPr>
              <a:t>Comment choisir?</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914" y="1214438"/>
            <a:ext cx="7414502" cy="5526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119561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12</a:t>
            </a:fld>
            <a:endParaRPr lang="fr-FR">
              <a:solidFill>
                <a:prstClr val="black">
                  <a:tint val="95000"/>
                </a:prstClr>
              </a:solidFill>
            </a:endParaRPr>
          </a:p>
        </p:txBody>
      </p:sp>
      <p:cxnSp>
        <p:nvCxnSpPr>
          <p:cNvPr id="3" name="Connecteur droit 2"/>
          <p:cNvCxnSpPr/>
          <p:nvPr/>
        </p:nvCxnSpPr>
        <p:spPr>
          <a:xfrm>
            <a:off x="323528" y="836712"/>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44624"/>
            <a:ext cx="6408712" cy="784830"/>
          </a:xfrm>
          <a:prstGeom prst="rect">
            <a:avLst/>
          </a:prstGeom>
          <a:noFill/>
        </p:spPr>
        <p:txBody>
          <a:bodyPr wrap="square" rtlCol="0">
            <a:spAutoFit/>
          </a:bodyPr>
          <a:lstStyle/>
          <a:p>
            <a:pPr algn="ctr">
              <a:spcBef>
                <a:spcPct val="0"/>
              </a:spcBef>
            </a:pPr>
            <a:r>
              <a:rPr lang="fr-FR" sz="4500" b="1" dirty="0">
                <a:solidFill>
                  <a:srgbClr val="002060"/>
                </a:solidFill>
              </a:rPr>
              <a:t>       Comment choisir?</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914" y="1124744"/>
            <a:ext cx="7270486" cy="5616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121288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13</a:t>
            </a:fld>
            <a:endParaRPr lang="fr-FR">
              <a:solidFill>
                <a:prstClr val="black">
                  <a:tint val="95000"/>
                </a:prstClr>
              </a:solidFill>
            </a:endParaRPr>
          </a:p>
        </p:txBody>
      </p:sp>
      <p:cxnSp>
        <p:nvCxnSpPr>
          <p:cNvPr id="3" name="Connecteur droit 2"/>
          <p:cNvCxnSpPr/>
          <p:nvPr/>
        </p:nvCxnSpPr>
        <p:spPr>
          <a:xfrm>
            <a:off x="323528" y="836712"/>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259632" y="44624"/>
            <a:ext cx="6408712" cy="784830"/>
          </a:xfrm>
          <a:prstGeom prst="rect">
            <a:avLst/>
          </a:prstGeom>
          <a:noFill/>
        </p:spPr>
        <p:txBody>
          <a:bodyPr wrap="square" rtlCol="0">
            <a:spAutoFit/>
          </a:bodyPr>
          <a:lstStyle/>
          <a:p>
            <a:pPr algn="ctr">
              <a:spcBef>
                <a:spcPct val="0"/>
              </a:spcBef>
            </a:pPr>
            <a:r>
              <a:rPr lang="fr-FR" sz="4500" b="1" dirty="0">
                <a:solidFill>
                  <a:srgbClr val="002060"/>
                </a:solidFill>
              </a:rPr>
              <a:t> Panorama d’applications</a:t>
            </a:r>
          </a:p>
        </p:txBody>
      </p:sp>
      <p:sp>
        <p:nvSpPr>
          <p:cNvPr id="5" name="Rectangle 4"/>
          <p:cNvSpPr/>
          <p:nvPr/>
        </p:nvSpPr>
        <p:spPr>
          <a:xfrm>
            <a:off x="182960" y="1700808"/>
            <a:ext cx="8640960" cy="3539430"/>
          </a:xfrm>
          <a:prstGeom prst="rect">
            <a:avLst/>
          </a:prstGeom>
        </p:spPr>
        <p:txBody>
          <a:bodyPr wrap="square">
            <a:spAutoFit/>
          </a:bodyPr>
          <a:lstStyle/>
          <a:p>
            <a:pPr marL="457200" indent="-457200" algn="just">
              <a:buFont typeface="Arial" pitchFamily="34" charset="0"/>
              <a:buChar char="•"/>
            </a:pPr>
            <a:r>
              <a:rPr lang="fr-FR" sz="3200" dirty="0">
                <a:solidFill>
                  <a:prstClr val="black"/>
                </a:solidFill>
              </a:rPr>
              <a:t>Les usages de la biométrie sont de deux ordres: le premier est lié aux enjeux sécuritaires tandis que le second s’apparente à une biométrie de confort. </a:t>
            </a:r>
          </a:p>
          <a:p>
            <a:pPr marL="457200" indent="-457200" algn="just">
              <a:buFont typeface="Arial" pitchFamily="34" charset="0"/>
              <a:buChar char="•"/>
            </a:pPr>
            <a:endParaRPr lang="fr-FR" sz="3200" dirty="0">
              <a:solidFill>
                <a:prstClr val="black"/>
              </a:solidFill>
            </a:endParaRPr>
          </a:p>
          <a:p>
            <a:pPr marL="457200" indent="-457200" algn="just">
              <a:buFont typeface="Arial" pitchFamily="34" charset="0"/>
              <a:buChar char="•"/>
            </a:pPr>
            <a:r>
              <a:rPr lang="fr-FR" sz="3200" dirty="0">
                <a:solidFill>
                  <a:prstClr val="black"/>
                </a:solidFill>
              </a:rPr>
              <a:t>D’une façon générale, Trois secteurs peuvent être délimités :</a:t>
            </a:r>
          </a:p>
        </p:txBody>
      </p:sp>
    </p:spTree>
    <p:extLst>
      <p:ext uri="{BB962C8B-B14F-4D97-AF65-F5344CB8AC3E}">
        <p14:creationId xmlns:p14="http://schemas.microsoft.com/office/powerpoint/2010/main" val="348041030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14</a:t>
            </a:fld>
            <a:endParaRPr lang="fr-FR">
              <a:solidFill>
                <a:prstClr val="black">
                  <a:tint val="95000"/>
                </a:prstClr>
              </a:solidFill>
            </a:endParaRPr>
          </a:p>
        </p:txBody>
      </p:sp>
      <p:cxnSp>
        <p:nvCxnSpPr>
          <p:cNvPr id="3" name="Connecteur droit 2"/>
          <p:cNvCxnSpPr/>
          <p:nvPr/>
        </p:nvCxnSpPr>
        <p:spPr>
          <a:xfrm>
            <a:off x="323528" y="836712"/>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259632" y="44624"/>
            <a:ext cx="6408712" cy="784830"/>
          </a:xfrm>
          <a:prstGeom prst="rect">
            <a:avLst/>
          </a:prstGeom>
          <a:noFill/>
        </p:spPr>
        <p:txBody>
          <a:bodyPr wrap="square" rtlCol="0">
            <a:spAutoFit/>
          </a:bodyPr>
          <a:lstStyle/>
          <a:p>
            <a:pPr algn="ctr">
              <a:spcBef>
                <a:spcPct val="0"/>
              </a:spcBef>
            </a:pPr>
            <a:r>
              <a:rPr lang="fr-FR" sz="4500" b="1" dirty="0">
                <a:solidFill>
                  <a:srgbClr val="002060"/>
                </a:solidFill>
              </a:rPr>
              <a:t> Panorama d’application</a:t>
            </a:r>
          </a:p>
        </p:txBody>
      </p:sp>
      <p:sp>
        <p:nvSpPr>
          <p:cNvPr id="5" name="Rectangle 4"/>
          <p:cNvSpPr/>
          <p:nvPr/>
        </p:nvSpPr>
        <p:spPr>
          <a:xfrm>
            <a:off x="182960" y="885701"/>
            <a:ext cx="8781528" cy="6001643"/>
          </a:xfrm>
          <a:prstGeom prst="rect">
            <a:avLst/>
          </a:prstGeom>
        </p:spPr>
        <p:txBody>
          <a:bodyPr wrap="square">
            <a:spAutoFit/>
          </a:bodyPr>
          <a:lstStyle/>
          <a:p>
            <a:pPr algn="just"/>
            <a:r>
              <a:rPr lang="fr-FR" sz="3200" dirty="0">
                <a:solidFill>
                  <a:prstClr val="black"/>
                </a:solidFill>
              </a:rPr>
              <a:t>1.    L'identification judicaire.</a:t>
            </a:r>
          </a:p>
          <a:p>
            <a:pPr algn="just"/>
            <a:endParaRPr lang="fr-FR" sz="3200" dirty="0">
              <a:solidFill>
                <a:prstClr val="black"/>
              </a:solidFill>
            </a:endParaRPr>
          </a:p>
          <a:p>
            <a:pPr algn="just"/>
            <a:r>
              <a:rPr lang="fr-FR" sz="3200" dirty="0">
                <a:solidFill>
                  <a:prstClr val="black"/>
                </a:solidFill>
              </a:rPr>
              <a:t>2. La gestion des titres délivrés par la puissance    publique (cartes d'identité, passeports, etc.)</a:t>
            </a:r>
          </a:p>
          <a:p>
            <a:pPr algn="just"/>
            <a:endParaRPr lang="fr-FR" sz="3200" dirty="0">
              <a:solidFill>
                <a:prstClr val="black"/>
              </a:solidFill>
            </a:endParaRPr>
          </a:p>
          <a:p>
            <a:pPr algn="just"/>
            <a:r>
              <a:rPr lang="fr-FR" sz="3200" dirty="0">
                <a:solidFill>
                  <a:prstClr val="black"/>
                </a:solidFill>
              </a:rPr>
              <a:t>3.   La gestion des accès : </a:t>
            </a:r>
          </a:p>
          <a:p>
            <a:pPr algn="just"/>
            <a:endParaRPr lang="fr-FR" sz="3200" dirty="0">
              <a:solidFill>
                <a:prstClr val="black"/>
              </a:solidFill>
            </a:endParaRPr>
          </a:p>
          <a:p>
            <a:pPr marL="514350" indent="-514350" algn="just">
              <a:buFont typeface="Wingdings" pitchFamily="2" charset="2"/>
              <a:buChar char="ü"/>
            </a:pPr>
            <a:r>
              <a:rPr lang="fr-FR" sz="3200" dirty="0">
                <a:solidFill>
                  <a:prstClr val="black"/>
                </a:solidFill>
              </a:rPr>
              <a:t>	Physiques  (locaux, service de recherche, 		site nucléaire, etc.) </a:t>
            </a:r>
          </a:p>
          <a:p>
            <a:pPr marL="457200" indent="-457200" algn="just">
              <a:buFont typeface="Wingdings" pitchFamily="2" charset="2"/>
              <a:buChar char="ü"/>
            </a:pPr>
            <a:r>
              <a:rPr lang="fr-FR" sz="3200" dirty="0">
                <a:solidFill>
                  <a:prstClr val="black"/>
                </a:solidFill>
              </a:rPr>
              <a:t>     Logiques (contrôle d’accès à un ordinateur,   	login d’ouverture de sessions réseaux, accès 	distants, etc.)</a:t>
            </a:r>
          </a:p>
        </p:txBody>
      </p:sp>
    </p:spTree>
    <p:extLst>
      <p:ext uri="{BB962C8B-B14F-4D97-AF65-F5344CB8AC3E}">
        <p14:creationId xmlns:p14="http://schemas.microsoft.com/office/powerpoint/2010/main" val="194421027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15</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467544" y="1177588"/>
            <a:ext cx="7704856" cy="523220"/>
          </a:xfrm>
          <a:prstGeom prst="rect">
            <a:avLst/>
          </a:prstGeom>
          <a:noFill/>
        </p:spPr>
        <p:txBody>
          <a:bodyPr wrap="square" rtlCol="0">
            <a:spAutoFit/>
          </a:bodyPr>
          <a:lstStyle/>
          <a:p>
            <a:pPr marL="285750" indent="-285750">
              <a:buFont typeface="Arial" pitchFamily="34" charset="0"/>
              <a:buChar char="•"/>
            </a:pPr>
            <a:r>
              <a:rPr lang="fr-FR" sz="2800" dirty="0">
                <a:solidFill>
                  <a:prstClr val="black"/>
                </a:solidFill>
              </a:rPr>
              <a:t>La biométrie  est utilisée dans deux buts: </a:t>
            </a:r>
          </a:p>
        </p:txBody>
      </p:sp>
      <p:cxnSp>
        <p:nvCxnSpPr>
          <p:cNvPr id="7" name="Connecteur droit 6"/>
          <p:cNvCxnSpPr/>
          <p:nvPr/>
        </p:nvCxnSpPr>
        <p:spPr>
          <a:xfrm>
            <a:off x="4572000" y="2204864"/>
            <a:ext cx="0" cy="4653136"/>
          </a:xfrm>
          <a:prstGeom prst="line">
            <a:avLst/>
          </a:prstGeom>
          <a:ln w="47625">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ZoneTexte 7"/>
          <p:cNvSpPr txBox="1"/>
          <p:nvPr/>
        </p:nvSpPr>
        <p:spPr>
          <a:xfrm>
            <a:off x="323528" y="1700808"/>
            <a:ext cx="3672408" cy="646331"/>
          </a:xfrm>
          <a:prstGeom prst="rect">
            <a:avLst/>
          </a:prstGeom>
          <a:noFill/>
        </p:spPr>
        <p:txBody>
          <a:bodyPr wrap="square" rtlCol="0">
            <a:spAutoFit/>
          </a:bodyPr>
          <a:lstStyle/>
          <a:p>
            <a:pPr algn="ctr"/>
            <a:r>
              <a:rPr lang="fr-FR" sz="3600" b="1" dirty="0">
                <a:solidFill>
                  <a:srgbClr val="0070C0"/>
                </a:solidFill>
                <a:effectLst>
                  <a:outerShdw blurRad="38100" dist="38100" dir="2700000" algn="tl">
                    <a:srgbClr val="000000">
                      <a:alpha val="43137"/>
                    </a:srgbClr>
                  </a:outerShdw>
                </a:effectLst>
              </a:rPr>
              <a:t>Authentification</a:t>
            </a:r>
          </a:p>
        </p:txBody>
      </p:sp>
      <p:sp>
        <p:nvSpPr>
          <p:cNvPr id="9" name="ZoneTexte 8"/>
          <p:cNvSpPr txBox="1"/>
          <p:nvPr/>
        </p:nvSpPr>
        <p:spPr>
          <a:xfrm>
            <a:off x="4860032" y="1700808"/>
            <a:ext cx="3672408" cy="646331"/>
          </a:xfrm>
          <a:prstGeom prst="rect">
            <a:avLst/>
          </a:prstGeom>
          <a:noFill/>
        </p:spPr>
        <p:txBody>
          <a:bodyPr wrap="square" rtlCol="0">
            <a:spAutoFit/>
          </a:bodyPr>
          <a:lstStyle/>
          <a:p>
            <a:pPr algn="ctr"/>
            <a:r>
              <a:rPr lang="fr-FR" sz="3600" b="1" dirty="0">
                <a:solidFill>
                  <a:srgbClr val="0070C0"/>
                </a:solidFill>
                <a:effectLst>
                  <a:outerShdw blurRad="38100" dist="38100" dir="2700000" algn="tl">
                    <a:srgbClr val="000000">
                      <a:alpha val="43137"/>
                    </a:srgbClr>
                  </a:outerShdw>
                </a:effectLst>
              </a:rPr>
              <a:t>Identification</a:t>
            </a:r>
          </a:p>
        </p:txBody>
      </p:sp>
      <p:sp>
        <p:nvSpPr>
          <p:cNvPr id="10" name="ZoneTexte 9"/>
          <p:cNvSpPr txBox="1"/>
          <p:nvPr/>
        </p:nvSpPr>
        <p:spPr>
          <a:xfrm>
            <a:off x="4716016" y="2597417"/>
            <a:ext cx="4427984" cy="4154984"/>
          </a:xfrm>
          <a:prstGeom prst="rect">
            <a:avLst/>
          </a:prstGeom>
          <a:noFill/>
        </p:spPr>
        <p:txBody>
          <a:bodyPr wrap="square" rtlCol="0">
            <a:spAutoFit/>
          </a:bodyPr>
          <a:lstStyle/>
          <a:p>
            <a:pPr algn="just"/>
            <a:r>
              <a:rPr lang="fr-FR" dirty="0">
                <a:solidFill>
                  <a:prstClr val="black"/>
                </a:solidFill>
              </a:rPr>
              <a:t>L'identification répond à la question </a:t>
            </a:r>
          </a:p>
          <a:p>
            <a:pPr algn="just"/>
            <a:endParaRPr lang="fr-FR" b="1" dirty="0">
              <a:solidFill>
                <a:srgbClr val="002060"/>
              </a:solidFill>
              <a:effectLst>
                <a:outerShdw blurRad="38100" dist="38100" dir="2700000" algn="tl">
                  <a:srgbClr val="000000">
                    <a:alpha val="43137"/>
                  </a:srgbClr>
                </a:outerShdw>
              </a:effectLst>
            </a:endParaRPr>
          </a:p>
          <a:p>
            <a:pPr algn="ctr"/>
            <a:r>
              <a:rPr lang="fr-FR" sz="2400" b="1" dirty="0">
                <a:solidFill>
                  <a:srgbClr val="002060"/>
                </a:solidFill>
                <a:effectLst>
                  <a:outerShdw blurRad="38100" dist="38100" dir="2700000" algn="tl">
                    <a:srgbClr val="000000">
                      <a:alpha val="43137"/>
                    </a:srgbClr>
                  </a:outerShdw>
                </a:effectLst>
              </a:rPr>
              <a:t>« qui êtes-vous ? ». </a:t>
            </a:r>
          </a:p>
          <a:p>
            <a:pPr algn="just"/>
            <a:endParaRPr lang="fr-FR" b="1" dirty="0">
              <a:solidFill>
                <a:srgbClr val="002060"/>
              </a:solidFill>
              <a:effectLst>
                <a:outerShdw blurRad="38100" dist="38100" dir="2700000" algn="tl">
                  <a:srgbClr val="000000">
                    <a:alpha val="43137"/>
                  </a:srgbClr>
                </a:outerShdw>
              </a:effectLst>
            </a:endParaRPr>
          </a:p>
          <a:p>
            <a:pPr algn="just"/>
            <a:endParaRPr lang="fr-FR" dirty="0">
              <a:solidFill>
                <a:prstClr val="black"/>
              </a:solidFill>
            </a:endParaRPr>
          </a:p>
          <a:p>
            <a:pPr algn="just"/>
            <a:endParaRPr lang="fr-FR" dirty="0">
              <a:solidFill>
                <a:prstClr val="black"/>
              </a:solidFill>
            </a:endParaRPr>
          </a:p>
          <a:p>
            <a:pPr algn="just"/>
            <a:r>
              <a:rPr lang="fr-FR" dirty="0">
                <a:solidFill>
                  <a:prstClr val="black"/>
                </a:solidFill>
              </a:rPr>
              <a:t>Dans ce cas, la personne est identifiée parmi N d'autres . Ses données personnelles sont comparées aux données d'autres personnes contenues dans la même base de données ou dans d'éventuelles bases de données reliées. </a:t>
            </a:r>
          </a:p>
          <a:p>
            <a:pPr algn="just"/>
            <a:endParaRPr lang="fr-FR" dirty="0">
              <a:solidFill>
                <a:prstClr val="black"/>
              </a:solidFill>
            </a:endParaRPr>
          </a:p>
          <a:p>
            <a:pPr algn="ctr"/>
            <a:r>
              <a:rPr lang="fr-FR" sz="2400" b="1" dirty="0">
                <a:solidFill>
                  <a:srgbClr val="002060"/>
                </a:solidFill>
                <a:effectLst>
                  <a:outerShdw blurRad="38100" dist="38100" dir="2700000" algn="tl">
                    <a:srgbClr val="000000">
                      <a:alpha val="43137"/>
                    </a:srgbClr>
                  </a:outerShdw>
                </a:effectLst>
              </a:rPr>
              <a:t>(vérification 1 :N)</a:t>
            </a:r>
          </a:p>
        </p:txBody>
      </p:sp>
      <p:sp>
        <p:nvSpPr>
          <p:cNvPr id="11" name="ZoneTexte 10"/>
          <p:cNvSpPr txBox="1"/>
          <p:nvPr/>
        </p:nvSpPr>
        <p:spPr>
          <a:xfrm>
            <a:off x="-36512" y="2545734"/>
            <a:ext cx="4536504" cy="4339650"/>
          </a:xfrm>
          <a:prstGeom prst="rect">
            <a:avLst/>
          </a:prstGeom>
          <a:noFill/>
        </p:spPr>
        <p:txBody>
          <a:bodyPr wrap="square" rtlCol="0">
            <a:spAutoFit/>
          </a:bodyPr>
          <a:lstStyle/>
          <a:p>
            <a:pPr algn="just"/>
            <a:r>
              <a:rPr lang="fr-FR" dirty="0">
                <a:solidFill>
                  <a:prstClr val="black"/>
                </a:solidFill>
              </a:rPr>
              <a:t>L'authentification répond à la question : </a:t>
            </a:r>
          </a:p>
          <a:p>
            <a:pPr algn="just"/>
            <a:endParaRPr lang="fr-FR" b="1" dirty="0">
              <a:solidFill>
                <a:srgbClr val="002060"/>
              </a:solidFill>
              <a:effectLst>
                <a:outerShdw blurRad="38100" dist="38100" dir="2700000" algn="tl">
                  <a:srgbClr val="000000">
                    <a:alpha val="43137"/>
                  </a:srgbClr>
                </a:outerShdw>
              </a:effectLst>
            </a:endParaRPr>
          </a:p>
          <a:p>
            <a:pPr algn="just"/>
            <a:r>
              <a:rPr lang="fr-FR" sz="2400" b="1" dirty="0">
                <a:solidFill>
                  <a:srgbClr val="002060"/>
                </a:solidFill>
                <a:effectLst>
                  <a:outerShdw blurRad="38100" dist="38100" dir="2700000" algn="tl">
                    <a:srgbClr val="000000">
                      <a:alpha val="43137"/>
                    </a:srgbClr>
                  </a:outerShdw>
                </a:effectLst>
              </a:rPr>
              <a:t>« Etes-vous bien celui que vous prétendez être ? ».</a:t>
            </a:r>
            <a:r>
              <a:rPr lang="fr-FR" sz="2400" b="1" dirty="0">
                <a:solidFill>
                  <a:prstClr val="black"/>
                </a:solidFill>
              </a:rPr>
              <a:t> </a:t>
            </a:r>
          </a:p>
          <a:p>
            <a:pPr algn="just"/>
            <a:endParaRPr lang="fr-FR" dirty="0">
              <a:solidFill>
                <a:prstClr val="black"/>
              </a:solidFill>
            </a:endParaRPr>
          </a:p>
          <a:p>
            <a:pPr algn="just"/>
            <a:endParaRPr lang="fr-FR" dirty="0">
              <a:solidFill>
                <a:prstClr val="black"/>
              </a:solidFill>
            </a:endParaRPr>
          </a:p>
          <a:p>
            <a:pPr algn="just"/>
            <a:r>
              <a:rPr lang="fr-FR" dirty="0">
                <a:solidFill>
                  <a:prstClr val="black"/>
                </a:solidFill>
              </a:rPr>
              <a:t>Dans ce cas, la biométrie permet de certifier l'identité d'une personne en comparant les données qu'elle va présenter avec les données préenregistrées de la personne qu'elle prétend être </a:t>
            </a:r>
          </a:p>
          <a:p>
            <a:pPr algn="ctr"/>
            <a:endParaRPr lang="fr-FR" b="1" dirty="0">
              <a:solidFill>
                <a:srgbClr val="002060"/>
              </a:solidFill>
              <a:effectLst>
                <a:outerShdw blurRad="38100" dist="38100" dir="2700000" algn="tl">
                  <a:srgbClr val="000000">
                    <a:alpha val="43137"/>
                  </a:srgbClr>
                </a:outerShdw>
              </a:effectLst>
            </a:endParaRPr>
          </a:p>
          <a:p>
            <a:pPr algn="ctr"/>
            <a:endParaRPr lang="fr-FR" sz="2400" b="1" dirty="0">
              <a:solidFill>
                <a:srgbClr val="002060"/>
              </a:solidFill>
              <a:effectLst>
                <a:outerShdw blurRad="38100" dist="38100" dir="2700000" algn="tl">
                  <a:srgbClr val="000000">
                    <a:alpha val="43137"/>
                  </a:srgbClr>
                </a:outerShdw>
              </a:effectLst>
            </a:endParaRPr>
          </a:p>
          <a:p>
            <a:pPr algn="ctr"/>
            <a:r>
              <a:rPr lang="fr-FR" sz="2400" b="1" dirty="0">
                <a:solidFill>
                  <a:srgbClr val="002060"/>
                </a:solidFill>
                <a:effectLst>
                  <a:outerShdw blurRad="38100" dist="38100" dir="2700000" algn="tl">
                    <a:srgbClr val="000000">
                      <a:alpha val="43137"/>
                    </a:srgbClr>
                  </a:outerShdw>
                </a:effectLst>
              </a:rPr>
              <a:t>(vérification 1 :1)</a:t>
            </a:r>
          </a:p>
        </p:txBody>
      </p:sp>
      <p:sp>
        <p:nvSpPr>
          <p:cNvPr id="6" name="Rectangle 5"/>
          <p:cNvSpPr/>
          <p:nvPr/>
        </p:nvSpPr>
        <p:spPr>
          <a:xfrm>
            <a:off x="1187624" y="0"/>
            <a:ext cx="7344816" cy="888705"/>
          </a:xfrm>
          <a:prstGeom prst="rect">
            <a:avLst/>
          </a:prstGeom>
        </p:spPr>
        <p:txBody>
          <a:bodyPr wrap="square">
            <a:spAutoFit/>
          </a:bodyPr>
          <a:lstStyle/>
          <a:p>
            <a:pPr>
              <a:lnSpc>
                <a:spcPct val="115000"/>
              </a:lnSpc>
            </a:pPr>
            <a:r>
              <a:rPr lang="fr-FR" sz="4500" b="1" dirty="0">
                <a:solidFill>
                  <a:srgbClr val="002060"/>
                </a:solidFill>
              </a:rPr>
              <a:t>Identification vs Vérification</a:t>
            </a:r>
          </a:p>
        </p:txBody>
      </p:sp>
    </p:spTree>
    <p:extLst>
      <p:ext uri="{BB962C8B-B14F-4D97-AF65-F5344CB8AC3E}">
        <p14:creationId xmlns:p14="http://schemas.microsoft.com/office/powerpoint/2010/main" val="311237974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16</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01376"/>
            <a:ext cx="6408712" cy="841962"/>
          </a:xfrm>
          <a:prstGeom prst="rect">
            <a:avLst/>
          </a:prstGeom>
          <a:noFill/>
        </p:spPr>
        <p:txBody>
          <a:bodyPr wrap="square" rtlCol="0">
            <a:spAutoFit/>
          </a:bodyPr>
          <a:lstStyle/>
          <a:p>
            <a:pPr>
              <a:lnSpc>
                <a:spcPct val="115000"/>
              </a:lnSpc>
            </a:pPr>
            <a:r>
              <a:rPr lang="fr-FR" sz="4500" b="1" dirty="0" err="1">
                <a:solidFill>
                  <a:srgbClr val="002060"/>
                </a:solidFill>
              </a:rPr>
              <a:t>Multimodalité</a:t>
            </a:r>
            <a:endParaRPr lang="fr-FR" sz="4500" b="1" dirty="0">
              <a:solidFill>
                <a:srgbClr val="002060"/>
              </a:solidFill>
            </a:endParaRPr>
          </a:p>
        </p:txBody>
      </p:sp>
      <p:sp>
        <p:nvSpPr>
          <p:cNvPr id="5" name="ZoneTexte 4"/>
          <p:cNvSpPr txBox="1"/>
          <p:nvPr/>
        </p:nvSpPr>
        <p:spPr>
          <a:xfrm>
            <a:off x="323528" y="1556792"/>
            <a:ext cx="8352928" cy="1200329"/>
          </a:xfrm>
          <a:prstGeom prst="rect">
            <a:avLst/>
          </a:prstGeom>
          <a:noFill/>
        </p:spPr>
        <p:txBody>
          <a:bodyPr wrap="square" rtlCol="0">
            <a:spAutoFit/>
          </a:bodyPr>
          <a:lstStyle/>
          <a:p>
            <a:pPr marL="285750" indent="-285750" algn="just">
              <a:buFont typeface="Arial" pitchFamily="34" charset="0"/>
              <a:buChar char="•"/>
            </a:pPr>
            <a:r>
              <a:rPr lang="fr-FR" sz="2400" dirty="0">
                <a:solidFill>
                  <a:prstClr val="black"/>
                </a:solidFill>
              </a:rPr>
              <a:t>Il est impossible d’affirmer qu’un système biométrique  utilisant une certaine modalité  (surtout physiologique) en surpasse un autre.</a:t>
            </a:r>
          </a:p>
        </p:txBody>
      </p:sp>
      <p:sp>
        <p:nvSpPr>
          <p:cNvPr id="6" name="ZoneTexte 5"/>
          <p:cNvSpPr txBox="1"/>
          <p:nvPr/>
        </p:nvSpPr>
        <p:spPr>
          <a:xfrm>
            <a:off x="259293" y="3212976"/>
            <a:ext cx="8561180" cy="1200329"/>
          </a:xfrm>
          <a:prstGeom prst="rect">
            <a:avLst/>
          </a:prstGeom>
          <a:noFill/>
        </p:spPr>
        <p:txBody>
          <a:bodyPr wrap="square" rtlCol="0">
            <a:spAutoFit/>
          </a:bodyPr>
          <a:lstStyle/>
          <a:p>
            <a:pPr marL="285750" indent="-285750" algn="justLow">
              <a:buFont typeface="Arial" pitchFamily="34" charset="0"/>
              <a:buChar char="•"/>
            </a:pPr>
            <a:r>
              <a:rPr lang="fr-FR" sz="2400" dirty="0">
                <a:solidFill>
                  <a:prstClr val="black"/>
                </a:solidFill>
              </a:rPr>
              <a:t>A l’heure actuelle la combinaison de plusieurs biométries se révèle très utile pour identifier/ authentifier une personne avec le plus haut degré de fiabilité.</a:t>
            </a:r>
          </a:p>
        </p:txBody>
      </p:sp>
      <p:sp>
        <p:nvSpPr>
          <p:cNvPr id="8" name="ZoneTexte 7"/>
          <p:cNvSpPr txBox="1"/>
          <p:nvPr/>
        </p:nvSpPr>
        <p:spPr>
          <a:xfrm>
            <a:off x="179512" y="5013176"/>
            <a:ext cx="6984776" cy="800219"/>
          </a:xfrm>
          <a:prstGeom prst="rect">
            <a:avLst/>
          </a:prstGeom>
          <a:noFill/>
        </p:spPr>
        <p:txBody>
          <a:bodyPr wrap="square" rtlCol="0">
            <a:spAutoFit/>
          </a:bodyPr>
          <a:lstStyle/>
          <a:p>
            <a:pPr marL="342900" lvl="6" indent="-342900">
              <a:buFont typeface="Arial" pitchFamily="34" charset="0"/>
              <a:buChar char="•"/>
            </a:pPr>
            <a:r>
              <a:rPr lang="fr-FR" sz="2400" dirty="0">
                <a:solidFill>
                  <a:prstClr val="black"/>
                </a:solidFill>
              </a:rPr>
              <a:t>On parle alors de     </a:t>
            </a:r>
            <a:r>
              <a:rPr lang="fr-FR" sz="2800" b="1" dirty="0">
                <a:solidFill>
                  <a:srgbClr val="002060"/>
                </a:solidFill>
                <a:effectLst>
                  <a:outerShdw blurRad="38100" dist="38100" dir="2700000" algn="tl">
                    <a:srgbClr val="000000">
                      <a:alpha val="43137"/>
                    </a:srgbClr>
                  </a:outerShdw>
                </a:effectLst>
              </a:rPr>
              <a:t>Biométrie Multimodale</a:t>
            </a:r>
          </a:p>
          <a:p>
            <a:endParaRPr lang="fr-FR" dirty="0">
              <a:solidFill>
                <a:prstClr val="black"/>
              </a:solidFill>
            </a:endParaRPr>
          </a:p>
        </p:txBody>
      </p:sp>
    </p:spTree>
    <p:extLst>
      <p:ext uri="{BB962C8B-B14F-4D97-AF65-F5344CB8AC3E}">
        <p14:creationId xmlns:p14="http://schemas.microsoft.com/office/powerpoint/2010/main" val="106660878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17</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841962"/>
          </a:xfrm>
          <a:prstGeom prst="rect">
            <a:avLst/>
          </a:prstGeom>
          <a:noFill/>
        </p:spPr>
        <p:txBody>
          <a:bodyPr wrap="square" rtlCol="0">
            <a:spAutoFit/>
          </a:bodyPr>
          <a:lstStyle/>
          <a:p>
            <a:pPr>
              <a:lnSpc>
                <a:spcPct val="115000"/>
              </a:lnSpc>
            </a:pPr>
            <a:r>
              <a:rPr lang="fr-FR" sz="4500" b="1" dirty="0" err="1">
                <a:solidFill>
                  <a:srgbClr val="002060"/>
                </a:solidFill>
              </a:rPr>
              <a:t>Multimodalité</a:t>
            </a:r>
            <a:endParaRPr lang="fr-FR" sz="4500" b="1" dirty="0">
              <a:solidFill>
                <a:srgbClr val="002060"/>
              </a:solidFill>
            </a:endParaRPr>
          </a:p>
        </p:txBody>
      </p:sp>
      <p:sp>
        <p:nvSpPr>
          <p:cNvPr id="5" name="AutoShape 2" descr="empreinte digitale — Wiktionnai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prstClr val="black"/>
              </a:solidFill>
            </a:endParaRPr>
          </a:p>
        </p:txBody>
      </p:sp>
      <p:sp>
        <p:nvSpPr>
          <p:cNvPr id="6" name="AutoShape 4" descr="empreinte digitale — Wiktionnai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solidFill>
                <a:prstClr val="black"/>
              </a:solidFill>
            </a:endParaRPr>
          </a:p>
        </p:txBody>
      </p:sp>
      <p:grpSp>
        <p:nvGrpSpPr>
          <p:cNvPr id="12" name="Groupe 11"/>
          <p:cNvGrpSpPr/>
          <p:nvPr/>
        </p:nvGrpSpPr>
        <p:grpSpPr>
          <a:xfrm>
            <a:off x="307975" y="1566525"/>
            <a:ext cx="5508104" cy="4666004"/>
            <a:chOff x="1115616" y="1196752"/>
            <a:chExt cx="5292588" cy="4666004"/>
          </a:xfrm>
        </p:grpSpPr>
        <p:grpSp>
          <p:nvGrpSpPr>
            <p:cNvPr id="10" name="Groupe 9"/>
            <p:cNvGrpSpPr/>
            <p:nvPr/>
          </p:nvGrpSpPr>
          <p:grpSpPr>
            <a:xfrm>
              <a:off x="1907704" y="2025062"/>
              <a:ext cx="3888432" cy="3837694"/>
              <a:chOff x="1907704" y="2025062"/>
              <a:chExt cx="3888432" cy="3837694"/>
            </a:xfrm>
          </p:grpSpPr>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025062"/>
                <a:ext cx="1228573" cy="1475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5" y="2110957"/>
                <a:ext cx="1728191" cy="1304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Plus 6"/>
              <p:cNvSpPr/>
              <p:nvPr/>
            </p:nvSpPr>
            <p:spPr>
              <a:xfrm>
                <a:off x="3275856" y="2420888"/>
                <a:ext cx="720080" cy="648072"/>
              </a:xfrm>
              <a:prstGeom prst="mathPlus">
                <a:avLst/>
              </a:prstGeom>
              <a:solidFill>
                <a:srgbClr val="002060"/>
              </a:solidFill>
              <a:ln>
                <a:noFill/>
              </a:ln>
              <a:effectLst>
                <a:glow rad="127000">
                  <a:srgbClr val="002060"/>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8" name="Égal 7"/>
              <p:cNvSpPr/>
              <p:nvPr/>
            </p:nvSpPr>
            <p:spPr>
              <a:xfrm>
                <a:off x="2987826" y="3614232"/>
                <a:ext cx="1080119" cy="720080"/>
              </a:xfrm>
              <a:prstGeom prst="mathEqua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black"/>
                  </a:solidFill>
                </a:endParaRPr>
              </a:p>
            </p:txBody>
          </p:sp>
          <p:sp>
            <p:nvSpPr>
              <p:cNvPr id="9" name="ZoneTexte 8"/>
              <p:cNvSpPr txBox="1"/>
              <p:nvPr/>
            </p:nvSpPr>
            <p:spPr>
              <a:xfrm>
                <a:off x="3131840" y="4293096"/>
                <a:ext cx="321818" cy="1569660"/>
              </a:xfrm>
              <a:prstGeom prst="rect">
                <a:avLst/>
              </a:prstGeom>
              <a:noFill/>
            </p:spPr>
            <p:txBody>
              <a:bodyPr wrap="square" rtlCol="0">
                <a:spAutoFit/>
              </a:bodyPr>
              <a:lstStyle/>
              <a:p>
                <a:r>
                  <a:rPr lang="fr-FR" sz="9600" b="1" dirty="0">
                    <a:solidFill>
                      <a:srgbClr val="002060"/>
                    </a:solidFill>
                    <a:effectLst>
                      <a:outerShdw blurRad="38100" dist="38100" dir="2700000" algn="tl">
                        <a:srgbClr val="000000">
                          <a:alpha val="43137"/>
                        </a:srgbClr>
                      </a:outerShdw>
                    </a:effectLst>
                  </a:rPr>
                  <a:t>?</a:t>
                </a:r>
              </a:p>
            </p:txBody>
          </p:sp>
        </p:grpSp>
        <p:sp>
          <p:nvSpPr>
            <p:cNvPr id="11" name="Ellipse 10"/>
            <p:cNvSpPr/>
            <p:nvPr/>
          </p:nvSpPr>
          <p:spPr>
            <a:xfrm>
              <a:off x="1115616" y="1196752"/>
              <a:ext cx="5292588" cy="4608512"/>
            </a:xfrm>
            <a:prstGeom prst="ellipse">
              <a:avLst/>
            </a:prstGeom>
            <a:noFill/>
            <a:ln>
              <a:solidFill>
                <a:srgbClr val="00206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grpSp>
      <p:sp>
        <p:nvSpPr>
          <p:cNvPr id="13" name="ZoneTexte 12"/>
          <p:cNvSpPr txBox="1"/>
          <p:nvPr/>
        </p:nvSpPr>
        <p:spPr>
          <a:xfrm>
            <a:off x="5642613" y="2283259"/>
            <a:ext cx="3419872" cy="2062103"/>
          </a:xfrm>
          <a:prstGeom prst="rect">
            <a:avLst/>
          </a:prstGeom>
          <a:noFill/>
        </p:spPr>
        <p:txBody>
          <a:bodyPr wrap="square" rtlCol="0">
            <a:spAutoFit/>
          </a:bodyPr>
          <a:lstStyle/>
          <a:p>
            <a:pPr algn="ctr"/>
            <a:r>
              <a:rPr lang="fr-FR" sz="3200" dirty="0">
                <a:solidFill>
                  <a:prstClr val="black"/>
                </a:solidFill>
                <a:effectLst>
                  <a:outerShdw blurRad="38100" dist="38100" dir="2700000" algn="tl">
                    <a:srgbClr val="000000">
                      <a:alpha val="43137"/>
                    </a:srgbClr>
                  </a:outerShdw>
                </a:effectLst>
              </a:rPr>
              <a:t>Quel est l’</a:t>
            </a:r>
            <a:r>
              <a:rPr lang="fr-FR" sz="3200" dirty="0" err="1">
                <a:solidFill>
                  <a:prstClr val="black"/>
                </a:solidFill>
                <a:effectLst>
                  <a:outerShdw blurRad="38100" dist="38100" dir="2700000" algn="tl">
                    <a:srgbClr val="000000">
                      <a:alpha val="43137"/>
                    </a:srgbClr>
                  </a:outerShdw>
                </a:effectLst>
              </a:rPr>
              <a:t>intétêt</a:t>
            </a:r>
            <a:r>
              <a:rPr lang="fr-FR" sz="3200" dirty="0">
                <a:solidFill>
                  <a:prstClr val="black"/>
                </a:solidFill>
                <a:effectLst>
                  <a:outerShdw blurRad="38100" dist="38100" dir="2700000" algn="tl">
                    <a:srgbClr val="000000">
                      <a:alpha val="43137"/>
                    </a:srgbClr>
                  </a:outerShdw>
                </a:effectLst>
              </a:rPr>
              <a:t> d’utiliser plusieurs  biométries plutôt qu’une seule?</a:t>
            </a:r>
          </a:p>
        </p:txBody>
      </p:sp>
    </p:spTree>
    <p:extLst>
      <p:ext uri="{BB962C8B-B14F-4D97-AF65-F5344CB8AC3E}">
        <p14:creationId xmlns:p14="http://schemas.microsoft.com/office/powerpoint/2010/main" val="141733490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18</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107504" y="1340768"/>
            <a:ext cx="8676436" cy="1200329"/>
          </a:xfrm>
          <a:prstGeom prst="rect">
            <a:avLst/>
          </a:prstGeom>
          <a:noFill/>
        </p:spPr>
        <p:txBody>
          <a:bodyPr wrap="square" rtlCol="0">
            <a:spAutoFit/>
          </a:bodyPr>
          <a:lstStyle/>
          <a:p>
            <a:pPr marL="285750" indent="-285750" algn="just">
              <a:buFont typeface="Arial" pitchFamily="34" charset="0"/>
              <a:buChar char="•"/>
            </a:pPr>
            <a:r>
              <a:rPr lang="fr-FR" sz="2400" dirty="0">
                <a:solidFill>
                  <a:prstClr val="black"/>
                </a:solidFill>
              </a:rPr>
              <a:t>Selon le besoin et le contexte, les différentes données biométriques sont complémentaires en termes  de simplicité d’usage, de coût et même d’acceptation culturelle.</a:t>
            </a:r>
          </a:p>
        </p:txBody>
      </p:sp>
      <p:sp>
        <p:nvSpPr>
          <p:cNvPr id="6" name="ZoneTexte 5"/>
          <p:cNvSpPr txBox="1"/>
          <p:nvPr/>
        </p:nvSpPr>
        <p:spPr>
          <a:xfrm>
            <a:off x="107504" y="2679303"/>
            <a:ext cx="8208912" cy="461665"/>
          </a:xfrm>
          <a:prstGeom prst="rect">
            <a:avLst/>
          </a:prstGeom>
          <a:noFill/>
        </p:spPr>
        <p:txBody>
          <a:bodyPr wrap="square" rtlCol="0">
            <a:spAutoFit/>
          </a:bodyPr>
          <a:lstStyle/>
          <a:p>
            <a:pPr marL="285750" indent="-285750" algn="just">
              <a:buFont typeface="Arial" pitchFamily="34" charset="0"/>
              <a:buChar char="•"/>
            </a:pPr>
            <a:r>
              <a:rPr lang="fr-FR" sz="2400" dirty="0">
                <a:solidFill>
                  <a:prstClr val="black"/>
                </a:solidFill>
              </a:rPr>
              <a:t>Systèmes d’identification plus efficaces. </a:t>
            </a:r>
          </a:p>
        </p:txBody>
      </p:sp>
      <p:sp>
        <p:nvSpPr>
          <p:cNvPr id="7" name="ZoneTexte 6"/>
          <p:cNvSpPr txBox="1"/>
          <p:nvPr/>
        </p:nvSpPr>
        <p:spPr>
          <a:xfrm>
            <a:off x="162053" y="3471391"/>
            <a:ext cx="6570187" cy="461665"/>
          </a:xfrm>
          <a:prstGeom prst="rect">
            <a:avLst/>
          </a:prstGeom>
          <a:noFill/>
        </p:spPr>
        <p:txBody>
          <a:bodyPr wrap="square" rtlCol="0">
            <a:spAutoFit/>
          </a:bodyPr>
          <a:lstStyle/>
          <a:p>
            <a:pPr marL="285750" indent="-285750" algn="just">
              <a:buFont typeface="Arial" pitchFamily="34" charset="0"/>
              <a:buChar char="•"/>
            </a:pPr>
            <a:r>
              <a:rPr lang="fr-FR" sz="2400" dirty="0">
                <a:solidFill>
                  <a:prstClr val="black"/>
                </a:solidFill>
              </a:rPr>
              <a:t>L’autre avantage  est bien sûr le renforcement de</a:t>
            </a:r>
          </a:p>
        </p:txBody>
      </p:sp>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002" y="4403708"/>
            <a:ext cx="4386090" cy="2454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ZoneTexte 7"/>
          <p:cNvSpPr txBox="1"/>
          <p:nvPr/>
        </p:nvSpPr>
        <p:spPr>
          <a:xfrm>
            <a:off x="6732240" y="3429000"/>
            <a:ext cx="1940848" cy="523220"/>
          </a:xfrm>
          <a:prstGeom prst="rect">
            <a:avLst/>
          </a:prstGeom>
          <a:noFill/>
        </p:spPr>
        <p:txBody>
          <a:bodyPr wrap="square" rtlCol="0">
            <a:spAutoFit/>
          </a:bodyPr>
          <a:lstStyle/>
          <a:p>
            <a:r>
              <a:rPr lang="fr-FR" sz="2800" b="1" dirty="0">
                <a:solidFill>
                  <a:srgbClr val="002060"/>
                </a:solidFill>
                <a:effectLst>
                  <a:outerShdw blurRad="38100" dist="38100" dir="2700000" algn="tl">
                    <a:srgbClr val="000000">
                      <a:alpha val="43137"/>
                    </a:srgbClr>
                  </a:outerShdw>
                </a:effectLst>
              </a:rPr>
              <a:t>la Sécurité</a:t>
            </a:r>
            <a:endParaRPr lang="fr-FR" sz="2800" dirty="0">
              <a:solidFill>
                <a:prstClr val="black"/>
              </a:solidFill>
            </a:endParaRPr>
          </a:p>
        </p:txBody>
      </p:sp>
      <p:sp>
        <p:nvSpPr>
          <p:cNvPr id="10" name="ZoneTexte 9"/>
          <p:cNvSpPr txBox="1"/>
          <p:nvPr/>
        </p:nvSpPr>
        <p:spPr>
          <a:xfrm>
            <a:off x="323528" y="234014"/>
            <a:ext cx="6408712" cy="841962"/>
          </a:xfrm>
          <a:prstGeom prst="rect">
            <a:avLst/>
          </a:prstGeom>
          <a:noFill/>
        </p:spPr>
        <p:txBody>
          <a:bodyPr wrap="square" rtlCol="0">
            <a:spAutoFit/>
          </a:bodyPr>
          <a:lstStyle/>
          <a:p>
            <a:pPr>
              <a:lnSpc>
                <a:spcPct val="115000"/>
              </a:lnSpc>
            </a:pPr>
            <a:r>
              <a:rPr lang="fr-FR" sz="4500" b="1" dirty="0" err="1">
                <a:solidFill>
                  <a:srgbClr val="002060"/>
                </a:solidFill>
              </a:rPr>
              <a:t>Multimodalité</a:t>
            </a:r>
            <a:endParaRPr lang="fr-FR" sz="4500" b="1" dirty="0">
              <a:solidFill>
                <a:srgbClr val="002060"/>
              </a:solidFill>
            </a:endParaRPr>
          </a:p>
        </p:txBody>
      </p:sp>
    </p:spTree>
    <p:extLst>
      <p:ext uri="{BB962C8B-B14F-4D97-AF65-F5344CB8AC3E}">
        <p14:creationId xmlns:p14="http://schemas.microsoft.com/office/powerpoint/2010/main" val="155997931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19</a:t>
            </a:fld>
            <a:endParaRPr lang="fr-FR">
              <a:solidFill>
                <a:prstClr val="black">
                  <a:tint val="95000"/>
                </a:prstClr>
              </a:solidFill>
            </a:endParaRPr>
          </a:p>
        </p:txBody>
      </p:sp>
      <p:cxnSp>
        <p:nvCxnSpPr>
          <p:cNvPr id="3" name="Connecteur droit 2"/>
          <p:cNvCxnSpPr/>
          <p:nvPr/>
        </p:nvCxnSpPr>
        <p:spPr>
          <a:xfrm>
            <a:off x="323528" y="750171"/>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42285"/>
            <a:ext cx="8676456" cy="707886"/>
          </a:xfrm>
          <a:prstGeom prst="rect">
            <a:avLst/>
          </a:prstGeom>
          <a:noFill/>
        </p:spPr>
        <p:txBody>
          <a:bodyPr wrap="square" rtlCol="0">
            <a:spAutoFit/>
          </a:bodyPr>
          <a:lstStyle/>
          <a:p>
            <a:pPr>
              <a:spcBef>
                <a:spcPct val="0"/>
              </a:spcBef>
            </a:pPr>
            <a:r>
              <a:rPr lang="fr-FR" sz="4000" b="1" dirty="0">
                <a:solidFill>
                  <a:srgbClr val="002060"/>
                </a:solidFill>
              </a:rPr>
              <a:t>Processus d’un système biométrique</a:t>
            </a:r>
          </a:p>
        </p:txBody>
      </p:sp>
      <p:sp>
        <p:nvSpPr>
          <p:cNvPr id="5" name="ZoneTexte 4"/>
          <p:cNvSpPr txBox="1"/>
          <p:nvPr/>
        </p:nvSpPr>
        <p:spPr>
          <a:xfrm>
            <a:off x="107504" y="980728"/>
            <a:ext cx="8892480" cy="1318181"/>
          </a:xfrm>
          <a:prstGeom prst="rect">
            <a:avLst/>
          </a:prstGeom>
          <a:noFill/>
        </p:spPr>
        <p:txBody>
          <a:bodyPr wrap="square" rtlCol="0">
            <a:spAutoFit/>
          </a:bodyPr>
          <a:lstStyle/>
          <a:p>
            <a:pPr marL="457200" indent="-457200" algn="just">
              <a:lnSpc>
                <a:spcPct val="150000"/>
              </a:lnSpc>
              <a:buFont typeface="Arial" pitchFamily="34" charset="0"/>
              <a:buChar char="•"/>
            </a:pPr>
            <a:r>
              <a:rPr lang="fr-FR" sz="2800" dirty="0">
                <a:solidFill>
                  <a:srgbClr val="002060"/>
                </a:solidFill>
              </a:rPr>
              <a:t>Tout système biométrique est composé de deux grandes étapes:  </a:t>
            </a:r>
            <a:r>
              <a:rPr lang="fr-FR" sz="2800" b="1" dirty="0">
                <a:solidFill>
                  <a:srgbClr val="002060"/>
                </a:solidFill>
              </a:rPr>
              <a:t>l’enrôlement </a:t>
            </a:r>
            <a:r>
              <a:rPr lang="fr-FR" sz="2800" dirty="0">
                <a:solidFill>
                  <a:srgbClr val="002060"/>
                </a:solidFill>
              </a:rPr>
              <a:t>et le </a:t>
            </a:r>
            <a:r>
              <a:rPr lang="fr-FR" sz="2800" b="1" dirty="0">
                <a:solidFill>
                  <a:srgbClr val="002060"/>
                </a:solidFill>
              </a:rPr>
              <a:t>contrôle.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564904"/>
            <a:ext cx="6912768"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179512" y="2699628"/>
            <a:ext cx="1447444" cy="369332"/>
          </a:xfrm>
          <a:prstGeom prst="rect">
            <a:avLst/>
          </a:prstGeom>
          <a:solidFill>
            <a:srgbClr val="F3F666"/>
          </a:solidFill>
          <a:ln>
            <a:solidFill>
              <a:srgbClr val="FFC000"/>
            </a:solidFill>
          </a:ln>
        </p:spPr>
        <p:txBody>
          <a:bodyPr wrap="square" rtlCol="0">
            <a:spAutoFit/>
          </a:bodyPr>
          <a:lstStyle/>
          <a:p>
            <a:r>
              <a:rPr lang="fr-FR" b="1" dirty="0">
                <a:solidFill>
                  <a:srgbClr val="002060"/>
                </a:solidFill>
              </a:rPr>
              <a:t>Enrôlement</a:t>
            </a:r>
            <a:endParaRPr lang="fr-FR" dirty="0">
              <a:solidFill>
                <a:prstClr val="black"/>
              </a:solidFill>
            </a:endParaRPr>
          </a:p>
        </p:txBody>
      </p:sp>
      <p:sp>
        <p:nvSpPr>
          <p:cNvPr id="7" name="ZoneTexte 6"/>
          <p:cNvSpPr txBox="1"/>
          <p:nvPr/>
        </p:nvSpPr>
        <p:spPr>
          <a:xfrm>
            <a:off x="179512" y="5795526"/>
            <a:ext cx="1311730" cy="369332"/>
          </a:xfrm>
          <a:prstGeom prst="rect">
            <a:avLst/>
          </a:prstGeom>
          <a:solidFill>
            <a:schemeClr val="accent2">
              <a:lumMod val="40000"/>
              <a:lumOff val="60000"/>
            </a:schemeClr>
          </a:solidFill>
          <a:ln>
            <a:solidFill>
              <a:schemeClr val="accent2">
                <a:lumMod val="20000"/>
                <a:lumOff val="80000"/>
              </a:schemeClr>
            </a:solidFill>
          </a:ln>
        </p:spPr>
        <p:txBody>
          <a:bodyPr wrap="square" rtlCol="0">
            <a:spAutoFit/>
          </a:bodyPr>
          <a:lstStyle/>
          <a:p>
            <a:r>
              <a:rPr lang="fr-FR" b="1" dirty="0">
                <a:solidFill>
                  <a:srgbClr val="002060"/>
                </a:solidFill>
              </a:rPr>
              <a:t>Contrôle</a:t>
            </a:r>
            <a:endParaRPr lang="fr-FR" dirty="0">
              <a:solidFill>
                <a:prstClr val="black"/>
              </a:solidFill>
            </a:endParaRPr>
          </a:p>
        </p:txBody>
      </p:sp>
    </p:spTree>
    <p:extLst>
      <p:ext uri="{BB962C8B-B14F-4D97-AF65-F5344CB8AC3E}">
        <p14:creationId xmlns:p14="http://schemas.microsoft.com/office/powerpoint/2010/main" val="13947141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20</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8676456" cy="707886"/>
          </a:xfrm>
          <a:prstGeom prst="rect">
            <a:avLst/>
          </a:prstGeom>
          <a:noFill/>
        </p:spPr>
        <p:txBody>
          <a:bodyPr wrap="square" rtlCol="0">
            <a:spAutoFit/>
          </a:bodyPr>
          <a:lstStyle/>
          <a:p>
            <a:pPr>
              <a:spcBef>
                <a:spcPct val="0"/>
              </a:spcBef>
            </a:pPr>
            <a:r>
              <a:rPr lang="fr-FR" sz="4000" b="1" dirty="0">
                <a:solidFill>
                  <a:srgbClr val="002060"/>
                </a:solidFill>
              </a:rPr>
              <a:t>Processus d’un système biométrique</a:t>
            </a:r>
          </a:p>
        </p:txBody>
      </p:sp>
      <p:sp>
        <p:nvSpPr>
          <p:cNvPr id="5" name="ZoneTexte 4"/>
          <p:cNvSpPr txBox="1"/>
          <p:nvPr/>
        </p:nvSpPr>
        <p:spPr>
          <a:xfrm>
            <a:off x="107504" y="1412776"/>
            <a:ext cx="8892480" cy="5262979"/>
          </a:xfrm>
          <a:prstGeom prst="rect">
            <a:avLst/>
          </a:prstGeom>
          <a:noFill/>
        </p:spPr>
        <p:txBody>
          <a:bodyPr wrap="square" rtlCol="0">
            <a:spAutoFit/>
          </a:bodyPr>
          <a:lstStyle/>
          <a:p>
            <a:pPr marL="457200" indent="-457200" algn="just">
              <a:lnSpc>
                <a:spcPct val="150000"/>
              </a:lnSpc>
              <a:buFont typeface="Arial" pitchFamily="34" charset="0"/>
              <a:buChar char="•"/>
            </a:pPr>
            <a:r>
              <a:rPr lang="fr-FR" sz="2800" b="1" dirty="0">
                <a:solidFill>
                  <a:prstClr val="black"/>
                </a:solidFill>
              </a:rPr>
              <a:t>L’enrôlement</a:t>
            </a:r>
            <a:r>
              <a:rPr lang="fr-FR" sz="2800" dirty="0">
                <a:solidFill>
                  <a:prstClr val="black"/>
                </a:solidFill>
              </a:rPr>
              <a:t> </a:t>
            </a:r>
            <a:r>
              <a:rPr lang="fr-FR" sz="2800" b="1" dirty="0">
                <a:solidFill>
                  <a:prstClr val="black"/>
                </a:solidFill>
              </a:rPr>
              <a:t>(l’apprentissage) </a:t>
            </a:r>
            <a:r>
              <a:rPr lang="fr-FR" sz="2800" dirty="0">
                <a:solidFill>
                  <a:prstClr val="black"/>
                </a:solidFill>
              </a:rPr>
              <a:t>des personnes est la phase initiale de création du gabarit (modèle) biométrique et de son stockage en liaison avec une identité déclarée. </a:t>
            </a:r>
          </a:p>
          <a:p>
            <a:pPr marL="457200" indent="-457200" algn="just">
              <a:lnSpc>
                <a:spcPct val="150000"/>
              </a:lnSpc>
              <a:buFont typeface="Arial" pitchFamily="34" charset="0"/>
              <a:buChar char="•"/>
            </a:pPr>
            <a:r>
              <a:rPr lang="fr-FR" sz="2800" dirty="0">
                <a:solidFill>
                  <a:prstClr val="black"/>
                </a:solidFill>
              </a:rPr>
              <a:t>Les caractéristiques physiques sont transformées en un modèle représentatif de la personne et propre au système de reconnaissance. </a:t>
            </a:r>
          </a:p>
          <a:p>
            <a:pPr marL="457200" indent="-457200" algn="just">
              <a:lnSpc>
                <a:spcPct val="150000"/>
              </a:lnSpc>
              <a:buFont typeface="Arial" pitchFamily="34" charset="0"/>
              <a:buChar char="•"/>
            </a:pPr>
            <a:r>
              <a:rPr lang="fr-FR" sz="2800" dirty="0">
                <a:solidFill>
                  <a:prstClr val="black"/>
                </a:solidFill>
              </a:rPr>
              <a:t>Cette étape n’est effectuée qu’une seule fois.</a:t>
            </a:r>
            <a:endParaRPr lang="fr-FR" sz="2800" b="1" dirty="0">
              <a:solidFill>
                <a:srgbClr val="002060"/>
              </a:solidFill>
            </a:endParaRPr>
          </a:p>
        </p:txBody>
      </p:sp>
    </p:spTree>
    <p:extLst>
      <p:ext uri="{BB962C8B-B14F-4D97-AF65-F5344CB8AC3E}">
        <p14:creationId xmlns:p14="http://schemas.microsoft.com/office/powerpoint/2010/main" val="272302527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21</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8676456" cy="707886"/>
          </a:xfrm>
          <a:prstGeom prst="rect">
            <a:avLst/>
          </a:prstGeom>
          <a:noFill/>
        </p:spPr>
        <p:txBody>
          <a:bodyPr wrap="square" rtlCol="0">
            <a:spAutoFit/>
          </a:bodyPr>
          <a:lstStyle/>
          <a:p>
            <a:pPr>
              <a:spcBef>
                <a:spcPct val="0"/>
              </a:spcBef>
            </a:pPr>
            <a:r>
              <a:rPr lang="fr-FR" sz="4000" b="1" dirty="0">
                <a:solidFill>
                  <a:srgbClr val="002060"/>
                </a:solidFill>
              </a:rPr>
              <a:t>Processus d’un système biométrique</a:t>
            </a:r>
          </a:p>
        </p:txBody>
      </p:sp>
      <p:sp>
        <p:nvSpPr>
          <p:cNvPr id="5" name="ZoneTexte 4"/>
          <p:cNvSpPr txBox="1"/>
          <p:nvPr/>
        </p:nvSpPr>
        <p:spPr>
          <a:xfrm>
            <a:off x="107504" y="1412776"/>
            <a:ext cx="8892480" cy="4616648"/>
          </a:xfrm>
          <a:prstGeom prst="rect">
            <a:avLst/>
          </a:prstGeom>
          <a:noFill/>
        </p:spPr>
        <p:txBody>
          <a:bodyPr wrap="square" rtlCol="0">
            <a:spAutoFit/>
          </a:bodyPr>
          <a:lstStyle/>
          <a:p>
            <a:pPr marL="457200" indent="-457200" algn="just">
              <a:lnSpc>
                <a:spcPct val="150000"/>
              </a:lnSpc>
              <a:buFont typeface="Arial" pitchFamily="34" charset="0"/>
              <a:buChar char="•"/>
            </a:pPr>
            <a:r>
              <a:rPr lang="fr-FR" sz="2800" b="1" dirty="0">
                <a:solidFill>
                  <a:prstClr val="black"/>
                </a:solidFill>
              </a:rPr>
              <a:t>Le contrôle ( le test )</a:t>
            </a:r>
            <a:r>
              <a:rPr lang="fr-FR" sz="2800" dirty="0">
                <a:solidFill>
                  <a:prstClr val="black"/>
                </a:solidFill>
              </a:rPr>
              <a:t> représente l’action de contrôler les données d’une personne afin de procéder à la vérification de son identité proclamée ou à son identification. </a:t>
            </a:r>
          </a:p>
          <a:p>
            <a:pPr marL="457200" indent="-457200" algn="just">
              <a:lnSpc>
                <a:spcPct val="150000"/>
              </a:lnSpc>
              <a:buFont typeface="Arial" pitchFamily="34" charset="0"/>
              <a:buChar char="•"/>
            </a:pPr>
            <a:endParaRPr lang="fr-FR" sz="2800" dirty="0">
              <a:solidFill>
                <a:prstClr val="black"/>
              </a:solidFill>
            </a:endParaRPr>
          </a:p>
          <a:p>
            <a:pPr marL="457200" indent="-457200" algn="just">
              <a:lnSpc>
                <a:spcPct val="150000"/>
              </a:lnSpc>
              <a:buFont typeface="Arial" pitchFamily="34" charset="0"/>
              <a:buChar char="•"/>
            </a:pPr>
            <a:r>
              <a:rPr lang="fr-FR" sz="2800" dirty="0">
                <a:solidFill>
                  <a:prstClr val="black"/>
                </a:solidFill>
              </a:rPr>
              <a:t>Cette étape se déroule à chaque fois qu’une personne se présente devant le système.</a:t>
            </a:r>
            <a:endParaRPr lang="fr-FR" sz="2800" b="1" dirty="0">
              <a:solidFill>
                <a:srgbClr val="002060"/>
              </a:solidFill>
            </a:endParaRPr>
          </a:p>
        </p:txBody>
      </p:sp>
    </p:spTree>
    <p:extLst>
      <p:ext uri="{BB962C8B-B14F-4D97-AF65-F5344CB8AC3E}">
        <p14:creationId xmlns:p14="http://schemas.microsoft.com/office/powerpoint/2010/main" val="255508259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22</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8676456" cy="707886"/>
          </a:xfrm>
          <a:prstGeom prst="rect">
            <a:avLst/>
          </a:prstGeom>
          <a:noFill/>
        </p:spPr>
        <p:txBody>
          <a:bodyPr wrap="square" rtlCol="0">
            <a:spAutoFit/>
          </a:bodyPr>
          <a:lstStyle/>
          <a:p>
            <a:pPr>
              <a:spcBef>
                <a:spcPct val="0"/>
              </a:spcBef>
            </a:pPr>
            <a:r>
              <a:rPr lang="fr-FR" sz="4000" b="1" dirty="0">
                <a:solidFill>
                  <a:srgbClr val="002060"/>
                </a:solidFill>
              </a:rPr>
              <a:t>Fiabilité des systèmes biométriques</a:t>
            </a:r>
          </a:p>
        </p:txBody>
      </p:sp>
      <p:sp>
        <p:nvSpPr>
          <p:cNvPr id="5" name="ZoneTexte 4"/>
          <p:cNvSpPr txBox="1"/>
          <p:nvPr/>
        </p:nvSpPr>
        <p:spPr>
          <a:xfrm>
            <a:off x="107504" y="1412776"/>
            <a:ext cx="8892480" cy="5262979"/>
          </a:xfrm>
          <a:prstGeom prst="rect">
            <a:avLst/>
          </a:prstGeom>
          <a:noFill/>
        </p:spPr>
        <p:txBody>
          <a:bodyPr wrap="square" rtlCol="0">
            <a:spAutoFit/>
          </a:bodyPr>
          <a:lstStyle/>
          <a:p>
            <a:pPr marL="457200" indent="-457200" algn="just">
              <a:lnSpc>
                <a:spcPct val="150000"/>
              </a:lnSpc>
              <a:buFont typeface="Arial" pitchFamily="34" charset="0"/>
              <a:buChar char="•"/>
            </a:pPr>
            <a:r>
              <a:rPr lang="fr-FR" sz="2800" dirty="0">
                <a:solidFill>
                  <a:prstClr val="black"/>
                </a:solidFill>
              </a:rPr>
              <a:t>En réalité, il est presque impossible d'obtenir dans un système biométrique une correspondance absolue entre le fichier "signature" créé lors de l'enrôlement et le fichier "signature" créé lors de l’identification.</a:t>
            </a:r>
          </a:p>
          <a:p>
            <a:pPr marL="457200" indent="-457200" algn="just">
              <a:lnSpc>
                <a:spcPct val="150000"/>
              </a:lnSpc>
              <a:buFont typeface="Arial" pitchFamily="34" charset="0"/>
              <a:buChar char="•"/>
            </a:pPr>
            <a:r>
              <a:rPr lang="fr-FR" sz="2800" dirty="0">
                <a:solidFill>
                  <a:prstClr val="black"/>
                </a:solidFill>
              </a:rPr>
              <a:t>Les éléments d'origine (image, son...) utilisés ne peuvent jamais être reproduits à l'identique. </a:t>
            </a:r>
          </a:p>
          <a:p>
            <a:pPr algn="just">
              <a:lnSpc>
                <a:spcPct val="150000"/>
              </a:lnSpc>
            </a:pPr>
            <a:endParaRPr lang="fr-FR" sz="2800" dirty="0">
              <a:solidFill>
                <a:prstClr val="black"/>
              </a:solidFill>
            </a:endParaRPr>
          </a:p>
          <a:p>
            <a:pPr algn="just">
              <a:lnSpc>
                <a:spcPct val="150000"/>
              </a:lnSpc>
            </a:pPr>
            <a:r>
              <a:rPr lang="fr-FR" sz="2800" dirty="0">
                <a:solidFill>
                  <a:prstClr val="black"/>
                </a:solidFill>
              </a:rPr>
              <a:t>                    C’est là l’inconvénient majeur de la biométrie</a:t>
            </a:r>
            <a:endParaRPr lang="fr-FR" sz="2800" b="1" dirty="0">
              <a:solidFill>
                <a:srgbClr val="002060"/>
              </a:solidFill>
            </a:endParaRPr>
          </a:p>
        </p:txBody>
      </p:sp>
      <p:sp>
        <p:nvSpPr>
          <p:cNvPr id="6" name="Flèche droite 5"/>
          <p:cNvSpPr/>
          <p:nvPr/>
        </p:nvSpPr>
        <p:spPr>
          <a:xfrm>
            <a:off x="323528" y="6129300"/>
            <a:ext cx="1008112" cy="360040"/>
          </a:xfrm>
          <a:prstGeom prst="rightArrow">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Tree>
    <p:extLst>
      <p:ext uri="{BB962C8B-B14F-4D97-AF65-F5344CB8AC3E}">
        <p14:creationId xmlns:p14="http://schemas.microsoft.com/office/powerpoint/2010/main" val="34574627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23</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0"/>
            <a:ext cx="8676456" cy="707886"/>
          </a:xfrm>
          <a:prstGeom prst="rect">
            <a:avLst/>
          </a:prstGeom>
          <a:noFill/>
        </p:spPr>
        <p:txBody>
          <a:bodyPr wrap="square" rtlCol="0">
            <a:spAutoFit/>
          </a:bodyPr>
          <a:lstStyle/>
          <a:p>
            <a:pPr>
              <a:spcBef>
                <a:spcPct val="0"/>
              </a:spcBef>
            </a:pPr>
            <a:r>
              <a:rPr lang="fr-FR" sz="4000" b="1" dirty="0">
                <a:solidFill>
                  <a:srgbClr val="002060"/>
                </a:solidFill>
              </a:rPr>
              <a:t>Fiabilité des systèmes biométriques</a:t>
            </a:r>
          </a:p>
        </p:txBody>
      </p:sp>
      <p:sp>
        <p:nvSpPr>
          <p:cNvPr id="5" name="ZoneTexte 4"/>
          <p:cNvSpPr txBox="1"/>
          <p:nvPr/>
        </p:nvSpPr>
        <p:spPr>
          <a:xfrm>
            <a:off x="107504" y="989866"/>
            <a:ext cx="8892480" cy="5909310"/>
          </a:xfrm>
          <a:prstGeom prst="rect">
            <a:avLst/>
          </a:prstGeom>
          <a:noFill/>
        </p:spPr>
        <p:txBody>
          <a:bodyPr wrap="square" rtlCol="0">
            <a:spAutoFit/>
          </a:bodyPr>
          <a:lstStyle/>
          <a:p>
            <a:pPr marL="457200" indent="-457200" algn="just">
              <a:lnSpc>
                <a:spcPct val="150000"/>
              </a:lnSpc>
              <a:buFont typeface="Arial" pitchFamily="34" charset="0"/>
              <a:buChar char="•"/>
            </a:pPr>
            <a:r>
              <a:rPr lang="fr-FR" sz="2800" dirty="0">
                <a:solidFill>
                  <a:prstClr val="black"/>
                </a:solidFill>
              </a:rPr>
              <a:t>Aucune des mesures utilisées ne se révèle être totalement exacte car il s'agit de caractéristiques concernant un organisme vivant : </a:t>
            </a:r>
          </a:p>
          <a:p>
            <a:pPr marL="1371600" lvl="2" indent="-457200" algn="just">
              <a:lnSpc>
                <a:spcPct val="150000"/>
              </a:lnSpc>
              <a:buFont typeface="Wingdings" pitchFamily="2" charset="2"/>
              <a:buChar char="ü"/>
            </a:pPr>
            <a:r>
              <a:rPr lang="fr-FR" sz="2800" dirty="0">
                <a:solidFill>
                  <a:prstClr val="black"/>
                </a:solidFill>
              </a:rPr>
              <a:t>on s'adapte à l'environnement, </a:t>
            </a:r>
          </a:p>
          <a:p>
            <a:pPr marL="1371600" lvl="2" indent="-457200" algn="just">
              <a:lnSpc>
                <a:spcPct val="150000"/>
              </a:lnSpc>
              <a:buFont typeface="Wingdings" pitchFamily="2" charset="2"/>
              <a:buChar char="ü"/>
            </a:pPr>
            <a:r>
              <a:rPr lang="fr-FR" sz="2800" dirty="0">
                <a:solidFill>
                  <a:prstClr val="black"/>
                </a:solidFill>
              </a:rPr>
              <a:t>on vieillit, </a:t>
            </a:r>
          </a:p>
          <a:p>
            <a:pPr marL="1371600" lvl="2" indent="-457200" algn="just">
              <a:lnSpc>
                <a:spcPct val="150000"/>
              </a:lnSpc>
              <a:buFont typeface="Wingdings" pitchFamily="2" charset="2"/>
              <a:buChar char="ü"/>
            </a:pPr>
            <a:r>
              <a:rPr lang="fr-FR" sz="2800" dirty="0">
                <a:solidFill>
                  <a:prstClr val="black"/>
                </a:solidFill>
              </a:rPr>
              <a:t>on subit des traumatismes plus ou moins importants, </a:t>
            </a:r>
          </a:p>
          <a:p>
            <a:pPr marL="1371600" lvl="2" indent="-457200" algn="just">
              <a:lnSpc>
                <a:spcPct val="150000"/>
              </a:lnSpc>
              <a:buFont typeface="Wingdings" pitchFamily="2" charset="2"/>
              <a:buChar char="ü"/>
            </a:pPr>
            <a:r>
              <a:rPr lang="fr-FR" sz="2800" dirty="0">
                <a:solidFill>
                  <a:prstClr val="black"/>
                </a:solidFill>
              </a:rPr>
              <a:t>on évolue, etc., </a:t>
            </a:r>
          </a:p>
          <a:p>
            <a:pPr lvl="2" algn="just">
              <a:lnSpc>
                <a:spcPct val="150000"/>
              </a:lnSpc>
            </a:pPr>
            <a:r>
              <a:rPr lang="fr-FR" sz="2800" dirty="0">
                <a:solidFill>
                  <a:prstClr val="black"/>
                </a:solidFill>
              </a:rPr>
              <a:t>     Par conséquent, les mesures changent.</a:t>
            </a:r>
            <a:endParaRPr lang="fr-FR" sz="2800" b="1" dirty="0">
              <a:solidFill>
                <a:srgbClr val="002060"/>
              </a:solidFill>
            </a:endParaRPr>
          </a:p>
        </p:txBody>
      </p:sp>
      <p:sp>
        <p:nvSpPr>
          <p:cNvPr id="6" name="Flèche droite 5"/>
          <p:cNvSpPr/>
          <p:nvPr/>
        </p:nvSpPr>
        <p:spPr>
          <a:xfrm>
            <a:off x="241874" y="6381328"/>
            <a:ext cx="1008112" cy="360040"/>
          </a:xfrm>
          <a:prstGeom prst="rightArrow">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Tree>
    <p:extLst>
      <p:ext uri="{BB962C8B-B14F-4D97-AF65-F5344CB8AC3E}">
        <p14:creationId xmlns:p14="http://schemas.microsoft.com/office/powerpoint/2010/main" val="19831764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24</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0"/>
            <a:ext cx="8676456" cy="707886"/>
          </a:xfrm>
          <a:prstGeom prst="rect">
            <a:avLst/>
          </a:prstGeom>
          <a:noFill/>
        </p:spPr>
        <p:txBody>
          <a:bodyPr wrap="square" rtlCol="0">
            <a:spAutoFit/>
          </a:bodyPr>
          <a:lstStyle/>
          <a:p>
            <a:pPr>
              <a:spcBef>
                <a:spcPct val="0"/>
              </a:spcBef>
            </a:pPr>
            <a:r>
              <a:rPr lang="fr-FR" sz="4000" b="1" dirty="0">
                <a:solidFill>
                  <a:srgbClr val="002060"/>
                </a:solidFill>
              </a:rPr>
              <a:t>Fiabilité des systèmes biométriques</a:t>
            </a:r>
          </a:p>
        </p:txBody>
      </p:sp>
      <p:sp>
        <p:nvSpPr>
          <p:cNvPr id="5" name="ZoneTexte 4"/>
          <p:cNvSpPr txBox="1"/>
          <p:nvPr/>
        </p:nvSpPr>
        <p:spPr>
          <a:xfrm>
            <a:off x="107504" y="733246"/>
            <a:ext cx="8892480" cy="6124754"/>
          </a:xfrm>
          <a:prstGeom prst="rect">
            <a:avLst/>
          </a:prstGeom>
          <a:noFill/>
        </p:spPr>
        <p:txBody>
          <a:bodyPr wrap="square" rtlCol="0">
            <a:spAutoFit/>
          </a:bodyPr>
          <a:lstStyle/>
          <a:p>
            <a:pPr marL="457200" indent="-457200" algn="just">
              <a:buFont typeface="Arial" pitchFamily="34" charset="0"/>
              <a:buChar char="•"/>
            </a:pPr>
            <a:r>
              <a:rPr lang="fr-FR" sz="2800" dirty="0">
                <a:solidFill>
                  <a:prstClr val="black"/>
                </a:solidFill>
              </a:rPr>
              <a:t>Partant de ce fait, les performances des systèmes biométriques se mesurent via deux taux d’erreur:</a:t>
            </a:r>
          </a:p>
          <a:p>
            <a:pPr algn="just"/>
            <a:endParaRPr lang="fr-FR" sz="2800" dirty="0">
              <a:solidFill>
                <a:prstClr val="black"/>
              </a:solidFill>
            </a:endParaRPr>
          </a:p>
          <a:p>
            <a:pPr marL="1371600" lvl="2" indent="-457200">
              <a:buFont typeface="Wingdings" pitchFamily="2" charset="2"/>
              <a:buChar char="ü"/>
            </a:pPr>
            <a:r>
              <a:rPr lang="fr-FR" sz="2800" b="1" dirty="0">
                <a:solidFill>
                  <a:srgbClr val="002060"/>
                </a:solidFill>
              </a:rPr>
              <a:t>FRR (</a:t>
            </a:r>
            <a:r>
              <a:rPr lang="fr-FR" sz="2800" b="1" i="1" dirty="0">
                <a:solidFill>
                  <a:srgbClr val="002060"/>
                </a:solidFill>
              </a:rPr>
              <a:t>False Rejection Rate</a:t>
            </a:r>
            <a:r>
              <a:rPr lang="fr-FR" sz="2800" b="1" dirty="0">
                <a:solidFill>
                  <a:srgbClr val="002060"/>
                </a:solidFill>
              </a:rPr>
              <a:t>) </a:t>
            </a:r>
            <a:r>
              <a:rPr lang="fr-FR" sz="2800" dirty="0">
                <a:solidFill>
                  <a:prstClr val="black"/>
                </a:solidFill>
              </a:rPr>
              <a:t>: se rapporte à la probabilité qu'un système biométrique échoue dans l'authentification ou l’identification d'une personne enregistrée.</a:t>
            </a:r>
          </a:p>
          <a:p>
            <a:pPr lvl="2"/>
            <a:endParaRPr lang="fr-FR" sz="2800" dirty="0">
              <a:solidFill>
                <a:prstClr val="black"/>
              </a:solidFill>
            </a:endParaRPr>
          </a:p>
          <a:p>
            <a:pPr marL="1371600" lvl="2" indent="-457200">
              <a:buFont typeface="Wingdings" pitchFamily="2" charset="2"/>
              <a:buChar char="ü"/>
            </a:pPr>
            <a:r>
              <a:rPr lang="fr-FR" sz="2800" b="1" dirty="0">
                <a:solidFill>
                  <a:srgbClr val="002060"/>
                </a:solidFill>
              </a:rPr>
              <a:t>FAR (</a:t>
            </a:r>
            <a:r>
              <a:rPr lang="fr-FR" sz="2800" b="1" i="1" dirty="0">
                <a:solidFill>
                  <a:srgbClr val="002060"/>
                </a:solidFill>
              </a:rPr>
              <a:t>False </a:t>
            </a:r>
            <a:r>
              <a:rPr lang="fr-FR" sz="2800" b="1" i="1" dirty="0" err="1">
                <a:solidFill>
                  <a:srgbClr val="002060"/>
                </a:solidFill>
              </a:rPr>
              <a:t>Acceptance</a:t>
            </a:r>
            <a:r>
              <a:rPr lang="fr-FR" sz="2800" b="1" i="1" dirty="0">
                <a:solidFill>
                  <a:srgbClr val="002060"/>
                </a:solidFill>
              </a:rPr>
              <a:t> Rate</a:t>
            </a:r>
            <a:r>
              <a:rPr lang="fr-FR" sz="2800" dirty="0">
                <a:solidFill>
                  <a:prstClr val="black"/>
                </a:solidFill>
              </a:rPr>
              <a:t>): représente le pourcentage d'acceptations par erreur.</a:t>
            </a:r>
          </a:p>
          <a:p>
            <a:endParaRPr lang="fr-FR" sz="2800" dirty="0">
              <a:solidFill>
                <a:prstClr val="black"/>
              </a:solidFill>
            </a:endParaRPr>
          </a:p>
          <a:p>
            <a:r>
              <a:rPr lang="fr-FR" sz="2800" dirty="0">
                <a:solidFill>
                  <a:prstClr val="black"/>
                </a:solidFill>
              </a:rPr>
              <a:t>              Trouver un compromis entre ces deux taux d’erreur est le souci de tout industriel et chercheur dans le domaine biométrique.</a:t>
            </a:r>
            <a:endParaRPr lang="fr-FR" sz="2800" b="1" dirty="0">
              <a:solidFill>
                <a:srgbClr val="002060"/>
              </a:solidFill>
            </a:endParaRPr>
          </a:p>
        </p:txBody>
      </p:sp>
      <p:sp>
        <p:nvSpPr>
          <p:cNvPr id="6" name="Flèche droite 5"/>
          <p:cNvSpPr/>
          <p:nvPr/>
        </p:nvSpPr>
        <p:spPr>
          <a:xfrm>
            <a:off x="0" y="5373216"/>
            <a:ext cx="1008112" cy="360040"/>
          </a:xfrm>
          <a:prstGeom prst="rightArrow">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Tree>
    <p:extLst>
      <p:ext uri="{BB962C8B-B14F-4D97-AF65-F5344CB8AC3E}">
        <p14:creationId xmlns:p14="http://schemas.microsoft.com/office/powerpoint/2010/main" val="400848774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25</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0"/>
            <a:ext cx="8676456" cy="707886"/>
          </a:xfrm>
          <a:prstGeom prst="rect">
            <a:avLst/>
          </a:prstGeom>
          <a:noFill/>
        </p:spPr>
        <p:txBody>
          <a:bodyPr wrap="square" rtlCol="0">
            <a:spAutoFit/>
          </a:bodyPr>
          <a:lstStyle/>
          <a:p>
            <a:pPr>
              <a:spcBef>
                <a:spcPct val="0"/>
              </a:spcBef>
            </a:pPr>
            <a:r>
              <a:rPr lang="fr-FR" sz="4000" b="1" dirty="0">
                <a:solidFill>
                  <a:srgbClr val="002060"/>
                </a:solidFill>
              </a:rPr>
              <a:t>Fiabilité des systèmes biométriques</a:t>
            </a:r>
          </a:p>
        </p:txBody>
      </p:sp>
      <p:sp>
        <p:nvSpPr>
          <p:cNvPr id="5" name="ZoneTexte 4"/>
          <p:cNvSpPr txBox="1"/>
          <p:nvPr/>
        </p:nvSpPr>
        <p:spPr>
          <a:xfrm>
            <a:off x="107504" y="989866"/>
            <a:ext cx="8892480" cy="6124754"/>
          </a:xfrm>
          <a:prstGeom prst="rect">
            <a:avLst/>
          </a:prstGeom>
          <a:noFill/>
        </p:spPr>
        <p:txBody>
          <a:bodyPr wrap="square" rtlCol="0">
            <a:spAutoFit/>
          </a:bodyPr>
          <a:lstStyle/>
          <a:p>
            <a:pPr marL="457200" indent="-457200" algn="just">
              <a:buFont typeface="Arial" pitchFamily="34" charset="0"/>
              <a:buChar char="•"/>
            </a:pPr>
            <a:r>
              <a:rPr lang="fr-FR" sz="2800" dirty="0">
                <a:solidFill>
                  <a:prstClr val="black"/>
                </a:solidFill>
              </a:rPr>
              <a:t>Les risques d'erreurs sont liés à des facteurs très différents:</a:t>
            </a:r>
          </a:p>
          <a:p>
            <a:pPr algn="just"/>
            <a:endParaRPr lang="fr-FR" sz="2800" dirty="0">
              <a:solidFill>
                <a:prstClr val="black"/>
              </a:solidFill>
            </a:endParaRPr>
          </a:p>
          <a:p>
            <a:pPr marL="1371600" lvl="2" indent="-457200" algn="just">
              <a:buFont typeface="Wingdings" pitchFamily="2" charset="2"/>
              <a:buChar char="ü"/>
            </a:pPr>
            <a:r>
              <a:rPr lang="fr-FR" sz="2800" dirty="0">
                <a:solidFill>
                  <a:prstClr val="black"/>
                </a:solidFill>
              </a:rPr>
              <a:t>Facteurs ergonomiques qui ne sont pas encore totalement maîtrisés (femme/ homme, jeune/âgé, </a:t>
            </a:r>
            <a:r>
              <a:rPr lang="fr-FR" sz="2800" dirty="0" err="1">
                <a:solidFill>
                  <a:prstClr val="black"/>
                </a:solidFill>
              </a:rPr>
              <a:t>etc</a:t>
            </a:r>
            <a:r>
              <a:rPr lang="fr-FR" sz="2800" dirty="0">
                <a:solidFill>
                  <a:prstClr val="black"/>
                </a:solidFill>
              </a:rPr>
              <a:t>).</a:t>
            </a:r>
          </a:p>
          <a:p>
            <a:pPr marL="1371600" lvl="2" indent="-457200" algn="just">
              <a:buFont typeface="Wingdings" pitchFamily="2" charset="2"/>
              <a:buChar char="ü"/>
            </a:pPr>
            <a:endParaRPr lang="fr-FR" sz="2800" dirty="0">
              <a:solidFill>
                <a:prstClr val="black"/>
              </a:solidFill>
            </a:endParaRPr>
          </a:p>
          <a:p>
            <a:pPr marL="1371600" lvl="2" indent="-457200" algn="just">
              <a:buFont typeface="Wingdings" pitchFamily="2" charset="2"/>
              <a:buChar char="ü"/>
            </a:pPr>
            <a:r>
              <a:rPr lang="fr-FR" sz="2800" dirty="0">
                <a:solidFill>
                  <a:prstClr val="black"/>
                </a:solidFill>
              </a:rPr>
              <a:t>Changement d’apparence plus particulièrement avec la biométrie faciale (coupe de </a:t>
            </a:r>
            <a:r>
              <a:rPr lang="fr-FR" sz="2800" dirty="0" err="1">
                <a:solidFill>
                  <a:prstClr val="black"/>
                </a:solidFill>
              </a:rPr>
              <a:t>cheuveux</a:t>
            </a:r>
            <a:r>
              <a:rPr lang="fr-FR" sz="2800" dirty="0">
                <a:solidFill>
                  <a:prstClr val="black"/>
                </a:solidFill>
              </a:rPr>
              <a:t>, barbe, esthétique, </a:t>
            </a:r>
            <a:r>
              <a:rPr lang="fr-FR" sz="2800" dirty="0" err="1">
                <a:solidFill>
                  <a:prstClr val="black"/>
                </a:solidFill>
              </a:rPr>
              <a:t>etc</a:t>
            </a:r>
            <a:r>
              <a:rPr lang="fr-FR" sz="2800" dirty="0">
                <a:solidFill>
                  <a:prstClr val="black"/>
                </a:solidFill>
              </a:rPr>
              <a:t>)</a:t>
            </a:r>
          </a:p>
          <a:p>
            <a:pPr marL="1371600" lvl="2" indent="-457200" algn="just">
              <a:buFont typeface="Wingdings" pitchFamily="2" charset="2"/>
              <a:buChar char="ü"/>
            </a:pPr>
            <a:endParaRPr lang="fr-FR" sz="2800" dirty="0">
              <a:solidFill>
                <a:prstClr val="black"/>
              </a:solidFill>
            </a:endParaRPr>
          </a:p>
          <a:p>
            <a:pPr marL="1371600" lvl="2" indent="-457200" algn="just">
              <a:buFont typeface="Wingdings" pitchFamily="2" charset="2"/>
              <a:buChar char="ü"/>
            </a:pPr>
            <a:r>
              <a:rPr lang="fr-FR" sz="2800" dirty="0">
                <a:solidFill>
                  <a:prstClr val="black"/>
                </a:solidFill>
              </a:rPr>
              <a:t>Facteurs techniques liés aux appareils et aux conditions /environnement  d’application.</a:t>
            </a:r>
          </a:p>
          <a:p>
            <a:pPr lvl="2" algn="just"/>
            <a:endParaRPr lang="fr-FR" sz="2800" dirty="0">
              <a:solidFill>
                <a:prstClr val="black"/>
              </a:solidFill>
            </a:endParaRPr>
          </a:p>
        </p:txBody>
      </p:sp>
    </p:spTree>
    <p:extLst>
      <p:ext uri="{BB962C8B-B14F-4D97-AF65-F5344CB8AC3E}">
        <p14:creationId xmlns:p14="http://schemas.microsoft.com/office/powerpoint/2010/main" val="228551016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26</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0"/>
            <a:ext cx="8676456" cy="707886"/>
          </a:xfrm>
          <a:prstGeom prst="rect">
            <a:avLst/>
          </a:prstGeom>
          <a:noFill/>
        </p:spPr>
        <p:txBody>
          <a:bodyPr wrap="square" rtlCol="0">
            <a:spAutoFit/>
          </a:bodyPr>
          <a:lstStyle/>
          <a:p>
            <a:pPr>
              <a:spcBef>
                <a:spcPct val="0"/>
              </a:spcBef>
            </a:pPr>
            <a:r>
              <a:rPr lang="fr-FR" sz="4000" b="1" dirty="0">
                <a:solidFill>
                  <a:srgbClr val="002060"/>
                </a:solidFill>
              </a:rPr>
              <a:t>Fiabilité des systèmes biométriques</a:t>
            </a:r>
          </a:p>
        </p:txBody>
      </p:sp>
      <p:sp>
        <p:nvSpPr>
          <p:cNvPr id="5" name="ZoneTexte 4"/>
          <p:cNvSpPr txBox="1"/>
          <p:nvPr/>
        </p:nvSpPr>
        <p:spPr>
          <a:xfrm>
            <a:off x="97061" y="980728"/>
            <a:ext cx="8892480" cy="2246769"/>
          </a:xfrm>
          <a:prstGeom prst="rect">
            <a:avLst/>
          </a:prstGeom>
          <a:noFill/>
        </p:spPr>
        <p:txBody>
          <a:bodyPr wrap="square" rtlCol="0">
            <a:spAutoFit/>
          </a:bodyPr>
          <a:lstStyle/>
          <a:p>
            <a:pPr marL="0" lvl="2" algn="just"/>
            <a:r>
              <a:rPr lang="fr-FR" sz="2800" dirty="0">
                <a:solidFill>
                  <a:prstClr val="black"/>
                </a:solidFill>
              </a:rPr>
              <a:t>	Le taux de rejet et d'acceptation sont </a:t>
            </a:r>
            <a:r>
              <a:rPr lang="fr-FR" sz="2800" b="1" dirty="0">
                <a:solidFill>
                  <a:prstClr val="black"/>
                </a:solidFill>
              </a:rPr>
              <a:t>étroitement </a:t>
            </a:r>
            <a:r>
              <a:rPr lang="fr-FR" sz="2800" dirty="0">
                <a:solidFill>
                  <a:prstClr val="black"/>
                </a:solidFill>
              </a:rPr>
              <a:t>liés, il n'est pas possible d'augmenter l'un sans impacter l'autre.</a:t>
            </a:r>
          </a:p>
          <a:p>
            <a:pPr marL="0" lvl="2" algn="just"/>
            <a:r>
              <a:rPr lang="fr-FR" sz="2800" dirty="0">
                <a:solidFill>
                  <a:prstClr val="black"/>
                </a:solidFill>
              </a:rPr>
              <a:t>	Le paramétrage de ces taux dépendra de la qualité des systèmes, mais aussi du niveau de sécurité souhaité</a:t>
            </a:r>
            <a:r>
              <a:rPr lang="fr-FR" sz="2800" b="1" dirty="0">
                <a:solidFill>
                  <a:prstClr val="black"/>
                </a:solidFill>
              </a:rPr>
              <a:t>.</a:t>
            </a:r>
            <a:r>
              <a:rPr lang="fr-FR" sz="2800" dirty="0">
                <a:solidFill>
                  <a:prstClr val="black"/>
                </a:solidFill>
              </a:rPr>
              <a:t>	</a:t>
            </a:r>
          </a:p>
        </p:txBody>
      </p:sp>
      <p:sp>
        <p:nvSpPr>
          <p:cNvPr id="6" name="Flèche droite 5"/>
          <p:cNvSpPr/>
          <p:nvPr/>
        </p:nvSpPr>
        <p:spPr>
          <a:xfrm>
            <a:off x="0" y="1124744"/>
            <a:ext cx="1008112" cy="360040"/>
          </a:xfrm>
          <a:prstGeom prst="rightArrow">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prstClr val="white"/>
              </a:solidFill>
            </a:endParaRPr>
          </a:p>
        </p:txBody>
      </p:sp>
      <p:sp>
        <p:nvSpPr>
          <p:cNvPr id="8" name="ZoneTexte 7"/>
          <p:cNvSpPr txBox="1"/>
          <p:nvPr/>
        </p:nvSpPr>
        <p:spPr>
          <a:xfrm>
            <a:off x="97061" y="3830738"/>
            <a:ext cx="2520280" cy="1785104"/>
          </a:xfrm>
          <a:prstGeom prst="rect">
            <a:avLst/>
          </a:prstGeom>
          <a:noFill/>
          <a:ln w="41275">
            <a:solidFill>
              <a:srgbClr val="002060"/>
            </a:solidFill>
          </a:ln>
        </p:spPr>
        <p:txBody>
          <a:bodyPr wrap="square" rtlCol="0">
            <a:spAutoFit/>
          </a:bodyPr>
          <a:lstStyle/>
          <a:p>
            <a:pPr algn="just"/>
            <a:r>
              <a:rPr lang="fr-FR" sz="2200" b="1" dirty="0">
                <a:solidFill>
                  <a:prstClr val="black"/>
                </a:solidFill>
              </a:rPr>
              <a:t>Dans un cadre de contrôle d’accès </a:t>
            </a:r>
            <a:r>
              <a:rPr lang="fr-FR" sz="2200" b="1" dirty="0">
                <a:solidFill>
                  <a:srgbClr val="FF0000"/>
                </a:solidFill>
              </a:rPr>
              <a:t>strict</a:t>
            </a:r>
            <a:r>
              <a:rPr lang="fr-FR" sz="2200" b="1" dirty="0">
                <a:solidFill>
                  <a:prstClr val="black"/>
                </a:solidFill>
              </a:rPr>
              <a:t>, aucun imposteur ne doit  être accepté.</a:t>
            </a:r>
          </a:p>
        </p:txBody>
      </p:sp>
      <p:sp>
        <p:nvSpPr>
          <p:cNvPr id="9" name="ZoneTexte 8"/>
          <p:cNvSpPr txBox="1"/>
          <p:nvPr/>
        </p:nvSpPr>
        <p:spPr>
          <a:xfrm>
            <a:off x="3059832" y="3558363"/>
            <a:ext cx="2314699" cy="2462213"/>
          </a:xfrm>
          <a:prstGeom prst="rect">
            <a:avLst/>
          </a:prstGeom>
          <a:noFill/>
          <a:ln w="41275">
            <a:solidFill>
              <a:srgbClr val="002060"/>
            </a:solidFill>
          </a:ln>
        </p:spPr>
        <p:txBody>
          <a:bodyPr wrap="square" rtlCol="0">
            <a:spAutoFit/>
          </a:bodyPr>
          <a:lstStyle/>
          <a:p>
            <a:pPr algn="just"/>
            <a:r>
              <a:rPr lang="fr-FR" sz="2200" b="1" dirty="0">
                <a:solidFill>
                  <a:prstClr val="black"/>
                </a:solidFill>
              </a:rPr>
              <a:t>Si le système  est</a:t>
            </a:r>
          </a:p>
          <a:p>
            <a:pPr algn="just"/>
            <a:r>
              <a:rPr lang="fr-FR" sz="2200" b="1" dirty="0">
                <a:solidFill>
                  <a:prstClr val="black"/>
                </a:solidFill>
              </a:rPr>
              <a:t> </a:t>
            </a:r>
            <a:r>
              <a:rPr lang="fr-FR" sz="2200" b="1" dirty="0">
                <a:solidFill>
                  <a:srgbClr val="FF0000"/>
                </a:solidFill>
              </a:rPr>
              <a:t>convivial</a:t>
            </a:r>
            <a:r>
              <a:rPr lang="fr-FR" sz="2200" b="1" dirty="0">
                <a:solidFill>
                  <a:prstClr val="black"/>
                </a:solidFill>
              </a:rPr>
              <a:t>, aucun refus d’accès ne doit  être attribué à un  utilisateur légitime.</a:t>
            </a:r>
          </a:p>
          <a:p>
            <a:r>
              <a:rPr lang="fr-FR" sz="2200" b="1" dirty="0">
                <a:solidFill>
                  <a:prstClr val="black"/>
                </a:solidFill>
              </a:rPr>
              <a:t> </a:t>
            </a:r>
          </a:p>
        </p:txBody>
      </p:sp>
      <p:sp>
        <p:nvSpPr>
          <p:cNvPr id="10" name="ZoneTexte 9"/>
          <p:cNvSpPr txBox="1"/>
          <p:nvPr/>
        </p:nvSpPr>
        <p:spPr>
          <a:xfrm>
            <a:off x="5868144" y="3558364"/>
            <a:ext cx="2977381" cy="2800767"/>
          </a:xfrm>
          <a:prstGeom prst="rect">
            <a:avLst/>
          </a:prstGeom>
          <a:noFill/>
          <a:ln w="41275">
            <a:solidFill>
              <a:srgbClr val="002060"/>
            </a:solidFill>
          </a:ln>
        </p:spPr>
        <p:txBody>
          <a:bodyPr wrap="square" rtlCol="0">
            <a:spAutoFit/>
          </a:bodyPr>
          <a:lstStyle/>
          <a:p>
            <a:pPr algn="just"/>
            <a:r>
              <a:rPr lang="fr-FR" sz="2200" b="1" dirty="0">
                <a:solidFill>
                  <a:prstClr val="black"/>
                </a:solidFill>
              </a:rPr>
              <a:t>Si le système  </a:t>
            </a:r>
            <a:r>
              <a:rPr lang="fr-FR" sz="2200" b="1" dirty="0">
                <a:solidFill>
                  <a:srgbClr val="FF0000"/>
                </a:solidFill>
              </a:rPr>
              <a:t>allie sécurité et convivialité</a:t>
            </a:r>
            <a:r>
              <a:rPr lang="fr-FR" sz="2200" b="1" dirty="0">
                <a:solidFill>
                  <a:prstClr val="black"/>
                </a:solidFill>
              </a:rPr>
              <a:t>, on fait un compromis de telle sorte que</a:t>
            </a:r>
          </a:p>
          <a:p>
            <a:pPr algn="ctr"/>
            <a:r>
              <a:rPr lang="fr-FR" sz="2200" b="1" dirty="0">
                <a:solidFill>
                  <a:prstClr val="black"/>
                </a:solidFill>
              </a:rPr>
              <a:t> FRR = FAR </a:t>
            </a:r>
          </a:p>
          <a:p>
            <a:pPr algn="just"/>
            <a:r>
              <a:rPr lang="fr-FR" sz="2200" b="1" dirty="0">
                <a:solidFill>
                  <a:prstClr val="black"/>
                </a:solidFill>
              </a:rPr>
              <a:t>ce point d’égalité est appelé </a:t>
            </a:r>
          </a:p>
          <a:p>
            <a:pPr algn="just"/>
            <a:r>
              <a:rPr lang="fr-FR" sz="2200" b="1" dirty="0">
                <a:solidFill>
                  <a:srgbClr val="002060"/>
                </a:solidFill>
              </a:rPr>
              <a:t>ERR (</a:t>
            </a:r>
            <a:r>
              <a:rPr lang="fr-FR" sz="2200" b="1" dirty="0" err="1">
                <a:solidFill>
                  <a:srgbClr val="002060"/>
                </a:solidFill>
              </a:rPr>
              <a:t>Equal</a:t>
            </a:r>
            <a:r>
              <a:rPr lang="fr-FR" sz="2200" b="1" dirty="0">
                <a:solidFill>
                  <a:srgbClr val="002060"/>
                </a:solidFill>
              </a:rPr>
              <a:t> Rate </a:t>
            </a:r>
            <a:r>
              <a:rPr lang="fr-FR" sz="2200" b="1" dirty="0" err="1">
                <a:solidFill>
                  <a:srgbClr val="002060"/>
                </a:solidFill>
              </a:rPr>
              <a:t>Error</a:t>
            </a:r>
            <a:r>
              <a:rPr lang="fr-FR" sz="2200" b="1" dirty="0">
                <a:solidFill>
                  <a:srgbClr val="002060"/>
                </a:solidFill>
              </a:rPr>
              <a:t> )</a:t>
            </a:r>
          </a:p>
        </p:txBody>
      </p:sp>
    </p:spTree>
    <p:extLst>
      <p:ext uri="{BB962C8B-B14F-4D97-AF65-F5344CB8AC3E}">
        <p14:creationId xmlns:p14="http://schemas.microsoft.com/office/powerpoint/2010/main" val="65581205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27</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068" y="234014"/>
            <a:ext cx="9004428" cy="677108"/>
          </a:xfrm>
          <a:prstGeom prst="rect">
            <a:avLst/>
          </a:prstGeom>
          <a:noFill/>
        </p:spPr>
        <p:txBody>
          <a:bodyPr wrap="square" rtlCol="0">
            <a:spAutoFit/>
          </a:bodyPr>
          <a:lstStyle/>
          <a:p>
            <a:pPr>
              <a:spcBef>
                <a:spcPct val="0"/>
              </a:spcBef>
            </a:pPr>
            <a:r>
              <a:rPr lang="fr-FR" sz="3800" b="1" dirty="0">
                <a:solidFill>
                  <a:srgbClr val="002060"/>
                </a:solidFill>
              </a:rPr>
              <a:t>Vulnérabilités des systèmes biométriques</a:t>
            </a:r>
          </a:p>
        </p:txBody>
      </p:sp>
      <p:sp>
        <p:nvSpPr>
          <p:cNvPr id="5" name="ZoneTexte 4"/>
          <p:cNvSpPr txBox="1"/>
          <p:nvPr/>
        </p:nvSpPr>
        <p:spPr>
          <a:xfrm>
            <a:off x="0" y="1340768"/>
            <a:ext cx="9036496" cy="3108543"/>
          </a:xfrm>
          <a:prstGeom prst="rect">
            <a:avLst/>
          </a:prstGeom>
          <a:noFill/>
        </p:spPr>
        <p:txBody>
          <a:bodyPr wrap="square" rtlCol="0">
            <a:spAutoFit/>
          </a:bodyPr>
          <a:lstStyle/>
          <a:p>
            <a:pPr algn="just"/>
            <a:r>
              <a:rPr lang="fr-FR" sz="2800" dirty="0" smtClean="0">
                <a:solidFill>
                  <a:srgbClr val="002060"/>
                </a:solidFill>
              </a:rPr>
              <a:t>Le </a:t>
            </a:r>
            <a:r>
              <a:rPr lang="fr-FR" sz="2800" dirty="0">
                <a:solidFill>
                  <a:srgbClr val="002060"/>
                </a:solidFill>
              </a:rPr>
              <a:t>développement important des systèmes biométriques s’accompagne également de plusieurs menaces car les données biométriques sont des données:</a:t>
            </a:r>
          </a:p>
          <a:p>
            <a:pPr algn="just"/>
            <a:endParaRPr lang="fr-FR" sz="2800" dirty="0">
              <a:solidFill>
                <a:srgbClr val="002060"/>
              </a:solidFill>
            </a:endParaRPr>
          </a:p>
          <a:p>
            <a:pPr marL="2171700" lvl="4" indent="-342900" algn="just">
              <a:buFont typeface="Arial" pitchFamily="34" charset="0"/>
              <a:buChar char="•"/>
            </a:pPr>
            <a:r>
              <a:rPr lang="fr-FR" sz="2800" b="1" dirty="0">
                <a:solidFill>
                  <a:srgbClr val="002060"/>
                </a:solidFill>
              </a:rPr>
              <a:t>personnelles, </a:t>
            </a:r>
          </a:p>
          <a:p>
            <a:pPr marL="2171700" lvl="4" indent="-342900" algn="just">
              <a:buFont typeface="Arial" pitchFamily="34" charset="0"/>
              <a:buChar char="•"/>
            </a:pPr>
            <a:r>
              <a:rPr lang="fr-FR" sz="2800" b="1" dirty="0">
                <a:solidFill>
                  <a:srgbClr val="002060"/>
                </a:solidFill>
              </a:rPr>
              <a:t>non-révocables, </a:t>
            </a:r>
          </a:p>
          <a:p>
            <a:pPr marL="2171700" lvl="4" indent="-342900" algn="just">
              <a:buFont typeface="Arial" pitchFamily="34" charset="0"/>
              <a:buChar char="•"/>
            </a:pPr>
            <a:r>
              <a:rPr lang="fr-FR" sz="2800" dirty="0">
                <a:solidFill>
                  <a:srgbClr val="002060"/>
                </a:solidFill>
              </a:rPr>
              <a:t>et donc  particulièrement </a:t>
            </a:r>
            <a:r>
              <a:rPr lang="fr-FR" sz="2800" b="1" dirty="0">
                <a:solidFill>
                  <a:srgbClr val="002060"/>
                </a:solidFill>
              </a:rPr>
              <a:t>sensibles</a:t>
            </a:r>
            <a:r>
              <a:rPr lang="fr-FR" sz="2800" dirty="0">
                <a:solidFill>
                  <a:srgbClr val="002060"/>
                </a:solidFill>
              </a:rPr>
              <a:t>.</a:t>
            </a:r>
          </a:p>
        </p:txBody>
      </p:sp>
      <p:sp>
        <p:nvSpPr>
          <p:cNvPr id="6" name="ZoneTexte 5"/>
          <p:cNvSpPr txBox="1"/>
          <p:nvPr/>
        </p:nvSpPr>
        <p:spPr>
          <a:xfrm>
            <a:off x="32068" y="4941168"/>
            <a:ext cx="9004428" cy="1384995"/>
          </a:xfrm>
          <a:prstGeom prst="rect">
            <a:avLst/>
          </a:prstGeom>
          <a:noFill/>
        </p:spPr>
        <p:txBody>
          <a:bodyPr wrap="square" rtlCol="0">
            <a:spAutoFit/>
          </a:bodyPr>
          <a:lstStyle/>
          <a:p>
            <a:pPr algn="just"/>
            <a:r>
              <a:rPr lang="fr-FR" sz="2800" dirty="0">
                <a:solidFill>
                  <a:srgbClr val="002060"/>
                </a:solidFill>
              </a:rPr>
              <a:t>Les attaques et les vulnérabilités sur les systèmes biométriques sont nombreuses et peuvent grandement porter atteinte à la </a:t>
            </a:r>
            <a:r>
              <a:rPr lang="fr-FR" sz="2800" b="1" dirty="0">
                <a:solidFill>
                  <a:srgbClr val="002060"/>
                </a:solidFill>
                <a:effectLst>
                  <a:outerShdw blurRad="38100" dist="38100" dir="2700000" algn="tl">
                    <a:srgbClr val="000000">
                      <a:alpha val="43137"/>
                    </a:srgbClr>
                  </a:outerShdw>
                </a:effectLst>
              </a:rPr>
              <a:t>vie privée </a:t>
            </a:r>
            <a:r>
              <a:rPr lang="fr-FR" sz="2800" dirty="0">
                <a:solidFill>
                  <a:srgbClr val="002060"/>
                </a:solidFill>
              </a:rPr>
              <a:t>d’un individu.</a:t>
            </a:r>
          </a:p>
        </p:txBody>
      </p:sp>
    </p:spTree>
    <p:extLst>
      <p:ext uri="{BB962C8B-B14F-4D97-AF65-F5344CB8AC3E}">
        <p14:creationId xmlns:p14="http://schemas.microsoft.com/office/powerpoint/2010/main" val="235748023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28</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179512" y="1412776"/>
            <a:ext cx="8856984" cy="1964512"/>
          </a:xfrm>
          <a:prstGeom prst="rect">
            <a:avLst/>
          </a:prstGeom>
          <a:noFill/>
        </p:spPr>
        <p:txBody>
          <a:bodyPr wrap="square" rtlCol="0">
            <a:spAutoFit/>
          </a:bodyPr>
          <a:lstStyle/>
          <a:p>
            <a:pPr marL="457200" indent="-457200" algn="just">
              <a:lnSpc>
                <a:spcPct val="150000"/>
              </a:lnSpc>
              <a:buFont typeface="Wingdings" pitchFamily="2" charset="2"/>
              <a:buChar char="Ø"/>
            </a:pPr>
            <a:r>
              <a:rPr lang="fr-FR" sz="2800" dirty="0">
                <a:solidFill>
                  <a:srgbClr val="002060"/>
                </a:solidFill>
              </a:rPr>
              <a:t>Pour pallier ce problème, des méthodes révocables pour la  protection du modèle biométrique sont proposées (</a:t>
            </a:r>
            <a:r>
              <a:rPr lang="fr-FR" sz="2800" b="1" dirty="0" err="1">
                <a:solidFill>
                  <a:srgbClr val="002060"/>
                </a:solidFill>
                <a:effectLst>
                  <a:outerShdw blurRad="38100" dist="38100" dir="2700000" algn="tl">
                    <a:srgbClr val="000000">
                      <a:alpha val="43137"/>
                    </a:srgbClr>
                  </a:outerShdw>
                </a:effectLst>
              </a:rPr>
              <a:t>Cancelable</a:t>
            </a:r>
            <a:r>
              <a:rPr lang="fr-FR" sz="2800" b="1" dirty="0">
                <a:solidFill>
                  <a:srgbClr val="002060"/>
                </a:solidFill>
                <a:effectLst>
                  <a:outerShdw blurRad="38100" dist="38100" dir="2700000" algn="tl">
                    <a:srgbClr val="000000">
                      <a:alpha val="43137"/>
                    </a:srgbClr>
                  </a:outerShdw>
                </a:effectLst>
              </a:rPr>
              <a:t> </a:t>
            </a:r>
            <a:r>
              <a:rPr lang="fr-FR" sz="2800" b="1" dirty="0" err="1">
                <a:solidFill>
                  <a:srgbClr val="002060"/>
                </a:solidFill>
                <a:effectLst>
                  <a:outerShdw blurRad="38100" dist="38100" dir="2700000" algn="tl">
                    <a:srgbClr val="000000">
                      <a:alpha val="43137"/>
                    </a:srgbClr>
                  </a:outerShdw>
                </a:effectLst>
              </a:rPr>
              <a:t>Biometric</a:t>
            </a:r>
            <a:r>
              <a:rPr lang="fr-FR" sz="2800" b="1" dirty="0">
                <a:solidFill>
                  <a:srgbClr val="002060"/>
                </a:solidFill>
                <a:effectLst>
                  <a:outerShdw blurRad="38100" dist="38100" dir="2700000" algn="tl">
                    <a:srgbClr val="000000">
                      <a:alpha val="43137"/>
                    </a:srgbClr>
                  </a:outerShdw>
                </a:effectLst>
              </a:rPr>
              <a:t> Template Protection </a:t>
            </a:r>
            <a:r>
              <a:rPr lang="fr-FR" sz="2800" b="1" dirty="0" err="1">
                <a:solidFill>
                  <a:srgbClr val="002060"/>
                </a:solidFill>
                <a:effectLst>
                  <a:outerShdw blurRad="38100" dist="38100" dir="2700000" algn="tl">
                    <a:srgbClr val="000000">
                      <a:alpha val="43137"/>
                    </a:srgbClr>
                  </a:outerShdw>
                </a:effectLst>
              </a:rPr>
              <a:t>Methods</a:t>
            </a:r>
            <a:r>
              <a:rPr lang="fr-FR" sz="2800" dirty="0">
                <a:solidFill>
                  <a:srgbClr val="002060"/>
                </a:solidFill>
              </a:rPr>
              <a:t>).</a:t>
            </a:r>
          </a:p>
        </p:txBody>
      </p:sp>
      <p:sp>
        <p:nvSpPr>
          <p:cNvPr id="6" name="ZoneTexte 5"/>
          <p:cNvSpPr txBox="1"/>
          <p:nvPr/>
        </p:nvSpPr>
        <p:spPr>
          <a:xfrm>
            <a:off x="144016" y="3933056"/>
            <a:ext cx="9036496" cy="2677656"/>
          </a:xfrm>
          <a:prstGeom prst="rect">
            <a:avLst/>
          </a:prstGeom>
          <a:noFill/>
        </p:spPr>
        <p:txBody>
          <a:bodyPr wrap="square" rtlCol="0">
            <a:spAutoFit/>
          </a:bodyPr>
          <a:lstStyle/>
          <a:p>
            <a:pPr marL="457200" indent="-457200" algn="just">
              <a:lnSpc>
                <a:spcPct val="150000"/>
              </a:lnSpc>
              <a:buFont typeface="Wingdings" pitchFamily="2" charset="2"/>
              <a:buChar char="Ø"/>
            </a:pPr>
            <a:r>
              <a:rPr lang="fr-FR" sz="2800" dirty="0">
                <a:solidFill>
                  <a:srgbClr val="002060"/>
                </a:solidFill>
              </a:rPr>
              <a:t>Ce concept repose sur une transformation des données biométriques brutes, de telle sorte que les données transformées soient </a:t>
            </a:r>
            <a:r>
              <a:rPr lang="fr-FR" sz="2800" b="1" dirty="0">
                <a:solidFill>
                  <a:srgbClr val="002060"/>
                </a:solidFill>
                <a:effectLst>
                  <a:outerShdw blurRad="38100" dist="38100" dir="2700000" algn="tl">
                    <a:srgbClr val="000000">
                      <a:alpha val="43137"/>
                    </a:srgbClr>
                  </a:outerShdw>
                </a:effectLst>
              </a:rPr>
              <a:t>sûres</a:t>
            </a:r>
            <a:r>
              <a:rPr lang="fr-FR" sz="2800" dirty="0">
                <a:solidFill>
                  <a:srgbClr val="002060"/>
                </a:solidFill>
              </a:rPr>
              <a:t> et </a:t>
            </a:r>
            <a:r>
              <a:rPr lang="fr-FR" sz="2800" b="1" dirty="0">
                <a:solidFill>
                  <a:srgbClr val="002060"/>
                </a:solidFill>
                <a:effectLst>
                  <a:outerShdw blurRad="38100" dist="38100" dir="2700000" algn="tl">
                    <a:srgbClr val="000000">
                      <a:alpha val="43137"/>
                    </a:srgbClr>
                  </a:outerShdw>
                </a:effectLst>
              </a:rPr>
              <a:t>respectueuses de la vie privée.</a:t>
            </a:r>
          </a:p>
        </p:txBody>
      </p:sp>
      <p:sp>
        <p:nvSpPr>
          <p:cNvPr id="7" name="ZoneTexte 6"/>
          <p:cNvSpPr txBox="1"/>
          <p:nvPr/>
        </p:nvSpPr>
        <p:spPr>
          <a:xfrm>
            <a:off x="32068" y="234014"/>
            <a:ext cx="9004428" cy="677108"/>
          </a:xfrm>
          <a:prstGeom prst="rect">
            <a:avLst/>
          </a:prstGeom>
          <a:noFill/>
        </p:spPr>
        <p:txBody>
          <a:bodyPr wrap="square" rtlCol="0">
            <a:spAutoFit/>
          </a:bodyPr>
          <a:lstStyle/>
          <a:p>
            <a:pPr>
              <a:spcBef>
                <a:spcPct val="0"/>
              </a:spcBef>
            </a:pPr>
            <a:r>
              <a:rPr lang="fr-FR" sz="3800" b="1" dirty="0">
                <a:solidFill>
                  <a:srgbClr val="002060"/>
                </a:solidFill>
              </a:rPr>
              <a:t>Vulnérabilités des systèmes biométriques</a:t>
            </a:r>
          </a:p>
        </p:txBody>
      </p:sp>
    </p:spTree>
    <p:extLst>
      <p:ext uri="{BB962C8B-B14F-4D97-AF65-F5344CB8AC3E}">
        <p14:creationId xmlns:p14="http://schemas.microsoft.com/office/powerpoint/2010/main" val="44023455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29</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0" y="1124744"/>
            <a:ext cx="9144000" cy="5632311"/>
          </a:xfrm>
          <a:prstGeom prst="rect">
            <a:avLst/>
          </a:prstGeom>
          <a:noFill/>
        </p:spPr>
        <p:txBody>
          <a:bodyPr wrap="square" rtlCol="0">
            <a:spAutoFit/>
          </a:bodyPr>
          <a:lstStyle/>
          <a:p>
            <a:pPr algn="just">
              <a:lnSpc>
                <a:spcPct val="150000"/>
              </a:lnSpc>
            </a:pPr>
            <a:r>
              <a:rPr lang="fr-FR" sz="2400" dirty="0">
                <a:solidFill>
                  <a:srgbClr val="002060"/>
                </a:solidFill>
              </a:rPr>
              <a:t>Ces méthodes doivent garantir  les propriétés suivantes:</a:t>
            </a:r>
          </a:p>
          <a:p>
            <a:pPr marL="1257300" lvl="2" indent="-342900" algn="just">
              <a:lnSpc>
                <a:spcPct val="150000"/>
              </a:lnSpc>
              <a:buFont typeface="Arial" pitchFamily="34" charset="0"/>
              <a:buChar char="•"/>
            </a:pPr>
            <a:r>
              <a:rPr lang="fr-FR" sz="2400" b="1" dirty="0">
                <a:solidFill>
                  <a:srgbClr val="002060"/>
                </a:solidFill>
                <a:effectLst>
                  <a:outerShdw blurRad="38100" dist="38100" dir="2700000" algn="tl">
                    <a:srgbClr val="000000">
                      <a:alpha val="43137"/>
                    </a:srgbClr>
                  </a:outerShdw>
                </a:effectLst>
              </a:rPr>
              <a:t>Non-</a:t>
            </a:r>
            <a:r>
              <a:rPr lang="fr-FR" sz="2400" b="1" dirty="0" err="1">
                <a:solidFill>
                  <a:srgbClr val="002060"/>
                </a:solidFill>
                <a:effectLst>
                  <a:outerShdw blurRad="38100" dist="38100" dir="2700000" algn="tl">
                    <a:srgbClr val="000000">
                      <a:alpha val="43137"/>
                    </a:srgbClr>
                  </a:outerShdw>
                </a:effectLst>
              </a:rPr>
              <a:t>inversibilité</a:t>
            </a:r>
            <a:r>
              <a:rPr lang="fr-FR" sz="2400" dirty="0">
                <a:solidFill>
                  <a:srgbClr val="002060"/>
                </a:solidFill>
                <a:effectLst>
                  <a:outerShdw blurRad="38100" dist="38100" dir="2700000" algn="tl">
                    <a:srgbClr val="000000">
                      <a:alpha val="43137"/>
                    </a:srgbClr>
                  </a:outerShdw>
                </a:effectLst>
              </a:rPr>
              <a:t> </a:t>
            </a:r>
            <a:r>
              <a:rPr lang="fr-FR" sz="2400" dirty="0">
                <a:solidFill>
                  <a:srgbClr val="002060"/>
                </a:solidFill>
              </a:rPr>
              <a:t>: il ne doit pas être possible de retrouver des informations sur la donnée biométrique originale à partir de sa transformée.</a:t>
            </a:r>
          </a:p>
          <a:p>
            <a:pPr marL="1257300" lvl="2" indent="-342900" algn="just">
              <a:lnSpc>
                <a:spcPct val="150000"/>
              </a:lnSpc>
              <a:buFont typeface="Arial" pitchFamily="34" charset="0"/>
              <a:buChar char="•"/>
            </a:pPr>
            <a:r>
              <a:rPr lang="fr-FR" sz="2400" b="1" dirty="0">
                <a:solidFill>
                  <a:srgbClr val="002060"/>
                </a:solidFill>
                <a:effectLst>
                  <a:outerShdw blurRad="38100" dist="38100" dir="2700000" algn="tl">
                    <a:srgbClr val="000000">
                      <a:alpha val="43137"/>
                    </a:srgbClr>
                  </a:outerShdw>
                </a:effectLst>
              </a:rPr>
              <a:t>Performance</a:t>
            </a:r>
            <a:r>
              <a:rPr lang="fr-FR" sz="2400" dirty="0">
                <a:solidFill>
                  <a:srgbClr val="002060"/>
                </a:solidFill>
              </a:rPr>
              <a:t> : l’efficacité du système de vérification ne doit pas être détériorée par la transformation.</a:t>
            </a:r>
          </a:p>
          <a:p>
            <a:pPr marL="1257300" lvl="2" indent="-342900" algn="just">
              <a:lnSpc>
                <a:spcPct val="150000"/>
              </a:lnSpc>
              <a:buFont typeface="Arial" pitchFamily="34" charset="0"/>
              <a:buChar char="•"/>
            </a:pPr>
            <a:r>
              <a:rPr lang="fr-FR" sz="2400" b="1" dirty="0">
                <a:solidFill>
                  <a:srgbClr val="002060"/>
                </a:solidFill>
                <a:effectLst>
                  <a:outerShdw blurRad="38100" dist="38100" dir="2700000" algn="tl">
                    <a:srgbClr val="000000">
                      <a:alpha val="43137"/>
                    </a:srgbClr>
                  </a:outerShdw>
                </a:effectLst>
              </a:rPr>
              <a:t>Diversité</a:t>
            </a:r>
            <a:r>
              <a:rPr lang="fr-FR" sz="2400" dirty="0">
                <a:solidFill>
                  <a:srgbClr val="002060"/>
                </a:solidFill>
              </a:rPr>
              <a:t> : il doit être possible de générer plusieurs données protégées à partir d’une seule donnée brute.</a:t>
            </a:r>
          </a:p>
          <a:p>
            <a:pPr marL="1257300" lvl="2" indent="-342900" algn="just">
              <a:lnSpc>
                <a:spcPct val="150000"/>
              </a:lnSpc>
              <a:buFont typeface="Arial" pitchFamily="34" charset="0"/>
              <a:buChar char="•"/>
            </a:pPr>
            <a:r>
              <a:rPr lang="fr-FR" sz="2400" dirty="0">
                <a:solidFill>
                  <a:srgbClr val="002060"/>
                </a:solidFill>
              </a:rPr>
              <a:t> </a:t>
            </a:r>
            <a:r>
              <a:rPr lang="fr-FR" sz="2400" b="1" dirty="0">
                <a:solidFill>
                  <a:srgbClr val="002060"/>
                </a:solidFill>
                <a:effectLst>
                  <a:outerShdw blurRad="38100" dist="38100" dir="2700000" algn="tl">
                    <a:srgbClr val="000000">
                      <a:alpha val="43137"/>
                    </a:srgbClr>
                  </a:outerShdw>
                </a:effectLst>
              </a:rPr>
              <a:t>Révocabilité</a:t>
            </a:r>
            <a:r>
              <a:rPr lang="fr-FR" sz="2400" dirty="0">
                <a:solidFill>
                  <a:srgbClr val="002060"/>
                </a:solidFill>
              </a:rPr>
              <a:t> : on doit pouvoir facilement révoquer les données en cas de compromission.</a:t>
            </a:r>
          </a:p>
        </p:txBody>
      </p:sp>
      <p:sp>
        <p:nvSpPr>
          <p:cNvPr id="6" name="ZoneTexte 5"/>
          <p:cNvSpPr txBox="1"/>
          <p:nvPr/>
        </p:nvSpPr>
        <p:spPr>
          <a:xfrm>
            <a:off x="32068" y="234014"/>
            <a:ext cx="9004428" cy="677108"/>
          </a:xfrm>
          <a:prstGeom prst="rect">
            <a:avLst/>
          </a:prstGeom>
          <a:noFill/>
        </p:spPr>
        <p:txBody>
          <a:bodyPr wrap="square" rtlCol="0">
            <a:spAutoFit/>
          </a:bodyPr>
          <a:lstStyle/>
          <a:p>
            <a:pPr>
              <a:spcBef>
                <a:spcPct val="0"/>
              </a:spcBef>
            </a:pPr>
            <a:r>
              <a:rPr lang="fr-FR" sz="3800" b="1" dirty="0">
                <a:solidFill>
                  <a:srgbClr val="002060"/>
                </a:solidFill>
              </a:rPr>
              <a:t>Vulnérabilités des systèmes biométriques</a:t>
            </a:r>
          </a:p>
        </p:txBody>
      </p:sp>
    </p:spTree>
    <p:extLst>
      <p:ext uri="{BB962C8B-B14F-4D97-AF65-F5344CB8AC3E}">
        <p14:creationId xmlns:p14="http://schemas.microsoft.com/office/powerpoint/2010/main" val="24662158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solidFill>
                  <a:prstClr val="black">
                    <a:tint val="95000"/>
                  </a:prstClr>
                </a:solidFill>
              </a:rPr>
              <a:pPr/>
              <a:t>30</a:t>
            </a:fld>
            <a:endParaRPr lang="fr-FR">
              <a:solidFill>
                <a:prstClr val="black">
                  <a:tint val="95000"/>
                </a:prstClr>
              </a:solidFill>
            </a:endParaRP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107504" y="1412776"/>
            <a:ext cx="8892480" cy="5262979"/>
          </a:xfrm>
          <a:prstGeom prst="rect">
            <a:avLst/>
          </a:prstGeom>
          <a:noFill/>
        </p:spPr>
        <p:txBody>
          <a:bodyPr wrap="square" rtlCol="0">
            <a:spAutoFit/>
          </a:bodyPr>
          <a:lstStyle/>
          <a:p>
            <a:pPr marL="457200" indent="-457200" algn="just">
              <a:lnSpc>
                <a:spcPct val="150000"/>
              </a:lnSpc>
              <a:buFont typeface="Arial" pitchFamily="34" charset="0"/>
              <a:buChar char="•"/>
            </a:pPr>
            <a:r>
              <a:rPr lang="fr-FR" sz="2800" dirty="0">
                <a:solidFill>
                  <a:srgbClr val="002060"/>
                </a:solidFill>
              </a:rPr>
              <a:t>Les techniques de biométrie révocable permettent d’éviter de stocker les données originales.</a:t>
            </a:r>
          </a:p>
          <a:p>
            <a:pPr marL="457200" indent="-457200" algn="just">
              <a:lnSpc>
                <a:spcPct val="150000"/>
              </a:lnSpc>
              <a:buFont typeface="Arial" pitchFamily="34" charset="0"/>
              <a:buChar char="•"/>
            </a:pPr>
            <a:r>
              <a:rPr lang="fr-FR" sz="2800" dirty="0">
                <a:solidFill>
                  <a:srgbClr val="002060"/>
                </a:solidFill>
              </a:rPr>
              <a:t>Seules les données transformées sont conservées pour la vérification.</a:t>
            </a:r>
          </a:p>
          <a:p>
            <a:pPr marL="457200" indent="-457200" algn="just">
              <a:lnSpc>
                <a:spcPct val="150000"/>
              </a:lnSpc>
              <a:buFont typeface="Arial" pitchFamily="34" charset="0"/>
              <a:buChar char="•"/>
            </a:pPr>
            <a:r>
              <a:rPr lang="fr-FR" sz="2800" dirty="0">
                <a:solidFill>
                  <a:srgbClr val="002060"/>
                </a:solidFill>
              </a:rPr>
              <a:t>La propriété de révocabilité est ainsi garantie : si une donnée transformée est compromise, il suffit de changer (les paramètres de) la fonction de transformation.</a:t>
            </a:r>
          </a:p>
        </p:txBody>
      </p:sp>
      <p:sp>
        <p:nvSpPr>
          <p:cNvPr id="6" name="ZoneTexte 5"/>
          <p:cNvSpPr txBox="1"/>
          <p:nvPr/>
        </p:nvSpPr>
        <p:spPr>
          <a:xfrm>
            <a:off x="32068" y="234014"/>
            <a:ext cx="9004428" cy="677108"/>
          </a:xfrm>
          <a:prstGeom prst="rect">
            <a:avLst/>
          </a:prstGeom>
          <a:noFill/>
        </p:spPr>
        <p:txBody>
          <a:bodyPr wrap="square" rtlCol="0">
            <a:spAutoFit/>
          </a:bodyPr>
          <a:lstStyle/>
          <a:p>
            <a:pPr>
              <a:spcBef>
                <a:spcPct val="0"/>
              </a:spcBef>
            </a:pPr>
            <a:r>
              <a:rPr lang="fr-FR" sz="3800" b="1" dirty="0">
                <a:solidFill>
                  <a:srgbClr val="002060"/>
                </a:solidFill>
              </a:rPr>
              <a:t>Vulnérabilités des systèmes biométriques</a:t>
            </a:r>
          </a:p>
        </p:txBody>
      </p:sp>
    </p:spTree>
    <p:extLst>
      <p:ext uri="{BB962C8B-B14F-4D97-AF65-F5344CB8AC3E}">
        <p14:creationId xmlns:p14="http://schemas.microsoft.com/office/powerpoint/2010/main" val="4362896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31</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33593" y="-99392"/>
            <a:ext cx="8866391"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sp>
        <p:nvSpPr>
          <p:cNvPr id="6" name="Rectangle 5"/>
          <p:cNvSpPr/>
          <p:nvPr/>
        </p:nvSpPr>
        <p:spPr>
          <a:xfrm>
            <a:off x="133593" y="863691"/>
            <a:ext cx="8999984" cy="5632311"/>
          </a:xfrm>
          <a:prstGeom prst="rect">
            <a:avLst/>
          </a:prstGeom>
        </p:spPr>
        <p:txBody>
          <a:bodyPr wrap="square">
            <a:spAutoFit/>
          </a:bodyPr>
          <a:lstStyle/>
          <a:p>
            <a:pPr algn="just"/>
            <a:r>
              <a:rPr lang="fr-FR" sz="2400" dirty="0"/>
              <a:t>Chaque système biométrique est constitué de quatre modules </a:t>
            </a:r>
            <a:r>
              <a:rPr lang="fr-FR" sz="2400" dirty="0" smtClean="0"/>
              <a:t>essentiels : </a:t>
            </a:r>
            <a:r>
              <a:rPr lang="fr-FR" sz="2400" dirty="0"/>
              <a:t/>
            </a:r>
            <a:br>
              <a:rPr lang="fr-FR" sz="2400" dirty="0"/>
            </a:br>
            <a:r>
              <a:rPr lang="fr-FR" sz="2400" b="1" dirty="0" smtClean="0"/>
              <a:t>1.</a:t>
            </a:r>
            <a:r>
              <a:rPr lang="fr-FR" sz="2400" dirty="0" smtClean="0"/>
              <a:t> </a:t>
            </a:r>
            <a:r>
              <a:rPr lang="fr-FR" sz="2400" b="1" dirty="0" smtClean="0"/>
              <a:t>Le </a:t>
            </a:r>
            <a:r>
              <a:rPr lang="fr-FR" sz="2400" b="1" dirty="0"/>
              <a:t>module du capte</a:t>
            </a:r>
            <a:r>
              <a:rPr lang="fr-FR" sz="2400" dirty="0"/>
              <a:t>ur qui permet de repérer les informations biométriques d'un utilisateur. </a:t>
            </a:r>
            <a:br>
              <a:rPr lang="fr-FR" sz="2400" dirty="0"/>
            </a:br>
            <a:r>
              <a:rPr lang="fr-FR" sz="2400" dirty="0"/>
              <a:t/>
            </a:r>
            <a:br>
              <a:rPr lang="fr-FR" sz="2400" dirty="0"/>
            </a:br>
            <a:r>
              <a:rPr lang="fr-FR" sz="2400" b="1" dirty="0" smtClean="0"/>
              <a:t>2.</a:t>
            </a:r>
            <a:r>
              <a:rPr lang="fr-FR" sz="2400" dirty="0" smtClean="0"/>
              <a:t> </a:t>
            </a:r>
            <a:r>
              <a:rPr lang="fr-FR" sz="2400" b="1" dirty="0" smtClean="0"/>
              <a:t>Le </a:t>
            </a:r>
            <a:r>
              <a:rPr lang="fr-FR" sz="2400" b="1" dirty="0"/>
              <a:t>module d'extraction de caractéristiques</a:t>
            </a:r>
            <a:r>
              <a:rPr lang="fr-FR" sz="2400" dirty="0"/>
              <a:t> a pour mission de choisir les caractéristiques les plus importantes dans un signal transmis par le capteur afin de créer un modèle biométrique de test. </a:t>
            </a:r>
            <a:br>
              <a:rPr lang="fr-FR" sz="2400" dirty="0"/>
            </a:br>
            <a:r>
              <a:rPr lang="fr-FR" sz="2400" dirty="0"/>
              <a:t/>
            </a:r>
            <a:br>
              <a:rPr lang="fr-FR" sz="2400" dirty="0"/>
            </a:br>
            <a:r>
              <a:rPr lang="fr-FR" sz="2400" b="1" dirty="0"/>
              <a:t>3.</a:t>
            </a:r>
            <a:r>
              <a:rPr lang="fr-FR" sz="2400" dirty="0"/>
              <a:t> </a:t>
            </a:r>
            <a:r>
              <a:rPr lang="fr-FR" sz="2400" b="1" dirty="0"/>
              <a:t>Le </a:t>
            </a:r>
            <a:r>
              <a:rPr lang="fr-FR" sz="2400" b="1" dirty="0" smtClean="0"/>
              <a:t>module de </a:t>
            </a:r>
            <a:r>
              <a:rPr lang="fr-FR" sz="2400" b="1" dirty="0"/>
              <a:t>la base de donné</a:t>
            </a:r>
            <a:r>
              <a:rPr lang="fr-FR" sz="2400" dirty="0"/>
              <a:t>es qui renferme les modèles biométriques des utilisateurs </a:t>
            </a:r>
            <a:r>
              <a:rPr lang="fr-FR" sz="2400" dirty="0" smtClean="0"/>
              <a:t>légitimes. </a:t>
            </a:r>
            <a:r>
              <a:rPr lang="fr-FR" sz="2400" dirty="0"/>
              <a:t/>
            </a:r>
            <a:br>
              <a:rPr lang="fr-FR" sz="2400" dirty="0"/>
            </a:br>
            <a:r>
              <a:rPr lang="fr-FR" sz="2400" dirty="0"/>
              <a:t/>
            </a:r>
            <a:br>
              <a:rPr lang="fr-FR" sz="2400" dirty="0"/>
            </a:br>
            <a:r>
              <a:rPr lang="fr-FR" sz="2400" b="1" dirty="0"/>
              <a:t>4.</a:t>
            </a:r>
            <a:r>
              <a:rPr lang="fr-FR" sz="2400" dirty="0"/>
              <a:t> </a:t>
            </a:r>
            <a:r>
              <a:rPr lang="fr-FR" sz="2400" b="1" dirty="0"/>
              <a:t>Le module de comparaison ou de classification </a:t>
            </a:r>
            <a:r>
              <a:rPr lang="fr-FR" sz="2400" dirty="0" smtClean="0"/>
              <a:t>qui offre </a:t>
            </a:r>
            <a:r>
              <a:rPr lang="fr-FR" sz="2400" dirty="0"/>
              <a:t>la possibilité de comparer les modèles de test avec les modèles stockés dans la base de données afin de prendre une décision finale.</a:t>
            </a:r>
            <a:endParaRPr lang="fr-FR" sz="2400" dirty="0">
              <a:solidFill>
                <a:prstClr val="black"/>
              </a:solidFill>
            </a:endParaRPr>
          </a:p>
        </p:txBody>
      </p:sp>
    </p:spTree>
    <p:extLst>
      <p:ext uri="{BB962C8B-B14F-4D97-AF65-F5344CB8AC3E}">
        <p14:creationId xmlns:p14="http://schemas.microsoft.com/office/powerpoint/2010/main" val="28506883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32</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04659" y="0"/>
            <a:ext cx="8895325"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sp>
        <p:nvSpPr>
          <p:cNvPr id="7" name="Rectangle 6"/>
          <p:cNvSpPr/>
          <p:nvPr/>
        </p:nvSpPr>
        <p:spPr>
          <a:xfrm>
            <a:off x="565073" y="908720"/>
            <a:ext cx="8208912" cy="461665"/>
          </a:xfrm>
          <a:prstGeom prst="rect">
            <a:avLst/>
          </a:prstGeom>
        </p:spPr>
        <p:txBody>
          <a:bodyPr wrap="square">
            <a:spAutoFit/>
          </a:bodyPr>
          <a:lstStyle/>
          <a:p>
            <a:pPr marL="457200" lvl="2" indent="-457200" algn="just">
              <a:buFont typeface="Arial" pitchFamily="34" charset="0"/>
              <a:buChar char="•"/>
            </a:pPr>
            <a:r>
              <a:rPr lang="fr-FR" sz="2400" dirty="0">
                <a:solidFill>
                  <a:prstClr val="black"/>
                </a:solidFill>
              </a:rPr>
              <a:t>Cette architecture donne lieu à plusieurs types d’attaques.</a:t>
            </a:r>
          </a:p>
        </p:txBody>
      </p:sp>
      <p:sp>
        <p:nvSpPr>
          <p:cNvPr id="11" name="Rectangle 10"/>
          <p:cNvSpPr/>
          <p:nvPr/>
        </p:nvSpPr>
        <p:spPr>
          <a:xfrm>
            <a:off x="104659" y="5842337"/>
            <a:ext cx="9005480" cy="369332"/>
          </a:xfrm>
          <a:prstGeom prst="rect">
            <a:avLst/>
          </a:prstGeom>
        </p:spPr>
        <p:txBody>
          <a:bodyPr wrap="square">
            <a:spAutoFit/>
          </a:bodyPr>
          <a:lstStyle/>
          <a:p>
            <a:r>
              <a:rPr lang="fr-FR" dirty="0">
                <a:solidFill>
                  <a:prstClr val="black"/>
                </a:solidFill>
              </a:rPr>
              <a:t>Les 8  points de vulnérabilités d’un un système biométrique suivant le modèle de </a:t>
            </a:r>
            <a:r>
              <a:rPr lang="fr-FR" dirty="0" err="1">
                <a:solidFill>
                  <a:prstClr val="black"/>
                </a:solidFill>
              </a:rPr>
              <a:t>Ratha</a:t>
            </a:r>
            <a:r>
              <a:rPr lang="fr-FR" dirty="0">
                <a:solidFill>
                  <a:prstClr val="black"/>
                </a:solidFill>
              </a:rPr>
              <a:t> et al.</a:t>
            </a: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7" y="1772816"/>
            <a:ext cx="8450457"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771921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33</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0" y="0"/>
            <a:ext cx="8999984"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sp>
        <p:nvSpPr>
          <p:cNvPr id="6" name="Rectangle 5"/>
          <p:cNvSpPr/>
          <p:nvPr/>
        </p:nvSpPr>
        <p:spPr>
          <a:xfrm>
            <a:off x="0" y="1124744"/>
            <a:ext cx="9144000" cy="1938992"/>
          </a:xfrm>
          <a:prstGeom prst="rect">
            <a:avLst/>
          </a:prstGeom>
        </p:spPr>
        <p:txBody>
          <a:bodyPr wrap="square">
            <a:spAutoFit/>
          </a:bodyPr>
          <a:lstStyle/>
          <a:p>
            <a:r>
              <a:rPr lang="fr-FR" sz="2400" b="1" u="sng" dirty="0">
                <a:solidFill>
                  <a:prstClr val="black"/>
                </a:solidFill>
              </a:rPr>
              <a:t>Point 1: </a:t>
            </a:r>
          </a:p>
          <a:p>
            <a:r>
              <a:rPr lang="fr-FR" sz="2400" b="1" u="sng" dirty="0">
                <a:solidFill>
                  <a:prstClr val="black"/>
                </a:solidFill>
              </a:rPr>
              <a:t>	</a:t>
            </a:r>
            <a:r>
              <a:rPr lang="fr-FR" sz="2400" dirty="0" smtClean="0">
                <a:solidFill>
                  <a:prstClr val="black"/>
                </a:solidFill>
              </a:rPr>
              <a:t>A ce stade, l’attaque </a:t>
            </a:r>
            <a:r>
              <a:rPr lang="fr-FR" sz="2400" dirty="0" smtClean="0">
                <a:solidFill>
                  <a:prstClr val="black"/>
                </a:solidFill>
              </a:rPr>
              <a:t>consiste </a:t>
            </a:r>
            <a:r>
              <a:rPr lang="fr-FR" sz="2400" dirty="0">
                <a:solidFill>
                  <a:prstClr val="black"/>
                </a:solidFill>
              </a:rPr>
              <a:t>à présenter une fausse donnée biométrique </a:t>
            </a:r>
            <a:r>
              <a:rPr lang="fr-FR" sz="2400" dirty="0" smtClean="0">
                <a:solidFill>
                  <a:prstClr val="black"/>
                </a:solidFill>
              </a:rPr>
              <a:t>au capteur </a:t>
            </a:r>
            <a:r>
              <a:rPr lang="fr-FR" sz="2400" dirty="0">
                <a:solidFill>
                  <a:prstClr val="black"/>
                </a:solidFill>
              </a:rPr>
              <a:t>(iris falsifié, masque, etc.). Cette attaque est appelée </a:t>
            </a:r>
            <a:r>
              <a:rPr lang="fr-FR" sz="2400" b="1" dirty="0" err="1">
                <a:solidFill>
                  <a:srgbClr val="002060"/>
                </a:solidFill>
              </a:rPr>
              <a:t>spoofing</a:t>
            </a:r>
            <a:r>
              <a:rPr lang="fr-FR" sz="2400" dirty="0">
                <a:solidFill>
                  <a:prstClr val="black"/>
                </a:solidFill>
              </a:rPr>
              <a:t> si la modalité </a:t>
            </a:r>
            <a:r>
              <a:rPr lang="fr-FR" sz="2400" dirty="0" smtClean="0">
                <a:solidFill>
                  <a:prstClr val="black"/>
                </a:solidFill>
              </a:rPr>
              <a:t> </a:t>
            </a:r>
            <a:r>
              <a:rPr lang="fr-FR" sz="2400" dirty="0">
                <a:solidFill>
                  <a:prstClr val="black"/>
                </a:solidFill>
              </a:rPr>
              <a:t>est de nature physiologique et </a:t>
            </a:r>
            <a:r>
              <a:rPr lang="fr-FR" sz="2400" b="1" dirty="0">
                <a:solidFill>
                  <a:srgbClr val="002060"/>
                </a:solidFill>
              </a:rPr>
              <a:t>mimicry</a:t>
            </a:r>
            <a:r>
              <a:rPr lang="fr-FR" sz="2400" dirty="0">
                <a:solidFill>
                  <a:prstClr val="black"/>
                </a:solidFill>
              </a:rPr>
              <a:t> si elle est </a:t>
            </a:r>
            <a:r>
              <a:rPr lang="fr-FR" sz="2400" dirty="0" smtClean="0">
                <a:solidFill>
                  <a:prstClr val="black"/>
                </a:solidFill>
              </a:rPr>
              <a:t>comportementale.</a:t>
            </a:r>
            <a:endParaRPr lang="fr-FR" sz="2400" dirty="0">
              <a:solidFill>
                <a:prstClr val="black"/>
              </a:solidFill>
            </a:endParaRPr>
          </a:p>
        </p:txBody>
      </p:sp>
      <p:sp>
        <p:nvSpPr>
          <p:cNvPr id="8" name="Rectangle 7"/>
          <p:cNvSpPr/>
          <p:nvPr/>
        </p:nvSpPr>
        <p:spPr>
          <a:xfrm>
            <a:off x="-54260" y="3427958"/>
            <a:ext cx="9252520" cy="3785652"/>
          </a:xfrm>
          <a:prstGeom prst="rect">
            <a:avLst/>
          </a:prstGeom>
        </p:spPr>
        <p:txBody>
          <a:bodyPr wrap="square">
            <a:spAutoFit/>
          </a:bodyPr>
          <a:lstStyle/>
          <a:p>
            <a:r>
              <a:rPr lang="fr-FR" sz="2400" b="1" u="sng" dirty="0">
                <a:solidFill>
                  <a:prstClr val="black"/>
                </a:solidFill>
              </a:rPr>
              <a:t>Point 2:</a:t>
            </a:r>
            <a:r>
              <a:rPr lang="fr-FR" sz="2400" dirty="0">
                <a:solidFill>
                  <a:prstClr val="black"/>
                </a:solidFill>
              </a:rPr>
              <a:t> </a:t>
            </a:r>
          </a:p>
          <a:p>
            <a:pPr algn="just"/>
            <a:r>
              <a:rPr lang="fr-FR" sz="2400" dirty="0">
                <a:solidFill>
                  <a:prstClr val="black"/>
                </a:solidFill>
              </a:rPr>
              <a:t>	</a:t>
            </a:r>
            <a:r>
              <a:rPr lang="fr-FR" sz="2400" dirty="0"/>
              <a:t>À ce </a:t>
            </a:r>
            <a:r>
              <a:rPr lang="fr-FR" sz="2400" dirty="0" smtClean="0"/>
              <a:t>niveau, </a:t>
            </a:r>
            <a:r>
              <a:rPr lang="fr-FR" sz="2400" dirty="0"/>
              <a:t>les informations biométriques collectées sont transmises au module d'extraction de caractéristiques. </a:t>
            </a:r>
            <a:br>
              <a:rPr lang="fr-FR" sz="2400" dirty="0"/>
            </a:br>
            <a:r>
              <a:rPr lang="fr-FR" sz="2400" dirty="0"/>
              <a:t>Il est possible </a:t>
            </a:r>
            <a:r>
              <a:rPr lang="fr-FR" sz="2400" dirty="0" smtClean="0"/>
              <a:t>d’intercepter </a:t>
            </a:r>
            <a:r>
              <a:rPr lang="fr-FR" sz="2400" dirty="0"/>
              <a:t>le canal entre le capteur et le module d'extraction de caractéristiques afin de voler une image d'un utilisateur légitime capturée par le capteur. </a:t>
            </a:r>
            <a:br>
              <a:rPr lang="fr-FR" sz="2400" dirty="0"/>
            </a:br>
            <a:endParaRPr lang="fr-FR" sz="2400" dirty="0" smtClean="0"/>
          </a:p>
          <a:p>
            <a:pPr algn="just"/>
            <a:r>
              <a:rPr lang="fr-FR" sz="2400" dirty="0" smtClean="0"/>
              <a:t>En </a:t>
            </a:r>
            <a:r>
              <a:rPr lang="fr-FR" sz="2400" dirty="0"/>
              <a:t>contournant le capteur, il est possible de rejouer cette image ultérieurement dans le module d'extraction de caractéristiques. </a:t>
            </a:r>
            <a:br>
              <a:rPr lang="fr-FR" sz="2400" dirty="0"/>
            </a:br>
            <a:endParaRPr lang="fr-FR" sz="2400" dirty="0">
              <a:solidFill>
                <a:prstClr val="black"/>
              </a:solidFill>
            </a:endParaRPr>
          </a:p>
        </p:txBody>
      </p:sp>
    </p:spTree>
    <p:extLst>
      <p:ext uri="{BB962C8B-B14F-4D97-AF65-F5344CB8AC3E}">
        <p14:creationId xmlns:p14="http://schemas.microsoft.com/office/powerpoint/2010/main" val="389459671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34</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0" y="0"/>
            <a:ext cx="8999984"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sp>
        <p:nvSpPr>
          <p:cNvPr id="6" name="Rectangle 5"/>
          <p:cNvSpPr/>
          <p:nvPr/>
        </p:nvSpPr>
        <p:spPr>
          <a:xfrm>
            <a:off x="269268" y="1196752"/>
            <a:ext cx="8730716" cy="4893647"/>
          </a:xfrm>
          <a:prstGeom prst="rect">
            <a:avLst/>
          </a:prstGeom>
        </p:spPr>
        <p:txBody>
          <a:bodyPr wrap="square">
            <a:spAutoFit/>
          </a:bodyPr>
          <a:lstStyle/>
          <a:p>
            <a:r>
              <a:rPr lang="fr-FR" sz="2400" b="1" u="sng" dirty="0">
                <a:solidFill>
                  <a:prstClr val="black"/>
                </a:solidFill>
              </a:rPr>
              <a:t>Point 3:</a:t>
            </a:r>
          </a:p>
          <a:p>
            <a:pPr algn="just"/>
            <a:r>
              <a:rPr lang="fr-FR" sz="2400" b="1" u="sng" dirty="0">
                <a:solidFill>
                  <a:prstClr val="black"/>
                </a:solidFill>
              </a:rPr>
              <a:t>	</a:t>
            </a:r>
            <a:r>
              <a:rPr lang="fr-FR" sz="2400" dirty="0"/>
              <a:t>Un programme Cheval de Troie (</a:t>
            </a:r>
            <a:r>
              <a:rPr lang="fr-FR" sz="2400" dirty="0" err="1"/>
              <a:t>Trojan</a:t>
            </a:r>
            <a:r>
              <a:rPr lang="fr-FR" sz="2400" dirty="0"/>
              <a:t>-horse) </a:t>
            </a:r>
            <a:r>
              <a:rPr lang="fr-FR" sz="2400" dirty="0" smtClean="0"/>
              <a:t>peut remplacer </a:t>
            </a:r>
            <a:r>
              <a:rPr lang="fr-FR" sz="2400" dirty="0"/>
              <a:t>le module d'extraction de caractéristique et </a:t>
            </a:r>
            <a:r>
              <a:rPr lang="fr-FR" sz="2400" dirty="0" smtClean="0"/>
              <a:t>fonctionner </a:t>
            </a:r>
            <a:r>
              <a:rPr lang="fr-FR" sz="2400" dirty="0"/>
              <a:t>conformément aux spécifications de son </a:t>
            </a:r>
            <a:r>
              <a:rPr lang="fr-FR" sz="2400" dirty="0" smtClean="0"/>
              <a:t>concepteur. </a:t>
            </a:r>
            <a:r>
              <a:rPr lang="fr-FR" sz="2400" dirty="0"/>
              <a:t/>
            </a:r>
            <a:br>
              <a:rPr lang="fr-FR" sz="2400" dirty="0"/>
            </a:br>
            <a:endParaRPr lang="fr-FR" sz="2400" dirty="0">
              <a:solidFill>
                <a:prstClr val="black"/>
              </a:solidFill>
            </a:endParaRPr>
          </a:p>
          <a:p>
            <a:pPr algn="just"/>
            <a:endParaRPr lang="fr-FR" sz="2400" dirty="0">
              <a:solidFill>
                <a:prstClr val="black"/>
              </a:solidFill>
            </a:endParaRPr>
          </a:p>
          <a:p>
            <a:pPr algn="just"/>
            <a:endParaRPr lang="fr-FR" sz="2400" dirty="0">
              <a:solidFill>
                <a:prstClr val="black"/>
              </a:solidFill>
            </a:endParaRPr>
          </a:p>
          <a:p>
            <a:pPr algn="just"/>
            <a:r>
              <a:rPr lang="fr-FR" sz="2400" b="1" u="sng" dirty="0">
                <a:solidFill>
                  <a:prstClr val="black"/>
                </a:solidFill>
              </a:rPr>
              <a:t>Point 4:</a:t>
            </a:r>
          </a:p>
          <a:p>
            <a:pPr algn="just"/>
            <a:r>
              <a:rPr lang="fr-FR" sz="2400" b="1" u="sng" dirty="0">
                <a:solidFill>
                  <a:prstClr val="black"/>
                </a:solidFill>
              </a:rPr>
              <a:t>	</a:t>
            </a:r>
            <a:r>
              <a:rPr lang="fr-FR" sz="2400" dirty="0"/>
              <a:t>Un adversaire peut surveiller le canal entre le module d'extraction de caractéristiques et le </a:t>
            </a:r>
            <a:r>
              <a:rPr lang="fr-FR" sz="2400" dirty="0" err="1"/>
              <a:t>classifieur</a:t>
            </a:r>
            <a:r>
              <a:rPr lang="fr-FR" sz="2400" dirty="0"/>
              <a:t> afin d'enregistrer un modèle biométrique d'un utilisateur légitime. </a:t>
            </a:r>
            <a:br>
              <a:rPr lang="fr-FR" sz="2400" dirty="0"/>
            </a:br>
            <a:endParaRPr lang="fr-FR" sz="2400" dirty="0" smtClean="0"/>
          </a:p>
          <a:p>
            <a:pPr algn="just"/>
            <a:r>
              <a:rPr lang="fr-FR" sz="2400" dirty="0" smtClean="0"/>
              <a:t>Il peut être rejouer </a:t>
            </a:r>
            <a:r>
              <a:rPr lang="fr-FR" sz="2400" dirty="0"/>
              <a:t>plus tard sur le même canal.</a:t>
            </a:r>
            <a:endParaRPr lang="fr-FR" sz="2400" dirty="0">
              <a:solidFill>
                <a:prstClr val="black"/>
              </a:solidFill>
            </a:endParaRPr>
          </a:p>
        </p:txBody>
      </p:sp>
    </p:spTree>
    <p:extLst>
      <p:ext uri="{BB962C8B-B14F-4D97-AF65-F5344CB8AC3E}">
        <p14:creationId xmlns:p14="http://schemas.microsoft.com/office/powerpoint/2010/main" val="345798783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35</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43508" y="0"/>
            <a:ext cx="8856476"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sp>
        <p:nvSpPr>
          <p:cNvPr id="5" name="Rectangle 4"/>
          <p:cNvSpPr/>
          <p:nvPr/>
        </p:nvSpPr>
        <p:spPr>
          <a:xfrm>
            <a:off x="143508" y="1268760"/>
            <a:ext cx="8820472" cy="4893647"/>
          </a:xfrm>
          <a:prstGeom prst="rect">
            <a:avLst/>
          </a:prstGeom>
        </p:spPr>
        <p:txBody>
          <a:bodyPr wrap="square">
            <a:spAutoFit/>
          </a:bodyPr>
          <a:lstStyle/>
          <a:p>
            <a:pPr algn="just"/>
            <a:r>
              <a:rPr lang="fr-FR" sz="2400" b="1" u="sng" dirty="0">
                <a:solidFill>
                  <a:prstClr val="black"/>
                </a:solidFill>
              </a:rPr>
              <a:t>Point 5:</a:t>
            </a:r>
          </a:p>
          <a:p>
            <a:pPr algn="just"/>
            <a:r>
              <a:rPr lang="fr-FR" sz="2400" b="1" u="sng" dirty="0">
                <a:solidFill>
                  <a:prstClr val="black"/>
                </a:solidFill>
              </a:rPr>
              <a:t>	</a:t>
            </a:r>
            <a:r>
              <a:rPr lang="fr-FR" sz="2400" dirty="0"/>
              <a:t>Un cheval de Troie peut se transformer en </a:t>
            </a:r>
            <a:r>
              <a:rPr lang="fr-FR" sz="2400" dirty="0" err="1"/>
              <a:t>classifieur</a:t>
            </a:r>
            <a:r>
              <a:rPr lang="fr-FR" sz="2400" dirty="0"/>
              <a:t>, en contournant le module de comparaison réel, afin de présenter un score de correspondance qui permet de prendre une décision favorable à l'adversaire.</a:t>
            </a:r>
            <a:endParaRPr lang="fr-FR" sz="2400" dirty="0">
              <a:solidFill>
                <a:prstClr val="black"/>
              </a:solidFill>
            </a:endParaRPr>
          </a:p>
          <a:p>
            <a:pPr algn="just"/>
            <a:endParaRPr lang="fr-FR" sz="2400" dirty="0">
              <a:solidFill>
                <a:prstClr val="black"/>
              </a:solidFill>
            </a:endParaRPr>
          </a:p>
          <a:p>
            <a:pPr algn="just"/>
            <a:r>
              <a:rPr lang="fr-FR" sz="2400" b="1" u="sng" dirty="0">
                <a:solidFill>
                  <a:prstClr val="black"/>
                </a:solidFill>
              </a:rPr>
              <a:t>Point 6: </a:t>
            </a:r>
          </a:p>
          <a:p>
            <a:pPr algn="just"/>
            <a:r>
              <a:rPr lang="fr-FR" sz="2400" b="1" u="sng" dirty="0">
                <a:solidFill>
                  <a:prstClr val="black"/>
                </a:solidFill>
              </a:rPr>
              <a:t>	</a:t>
            </a:r>
            <a:r>
              <a:rPr lang="fr-FR" sz="2400" dirty="0" smtClean="0"/>
              <a:t>L</a:t>
            </a:r>
            <a:r>
              <a:rPr lang="fr-FR" sz="2400" dirty="0" smtClean="0"/>
              <a:t>'attaque à </a:t>
            </a:r>
            <a:r>
              <a:rPr lang="fr-FR" sz="2400" dirty="0"/>
              <a:t>ce </a:t>
            </a:r>
            <a:r>
              <a:rPr lang="fr-FR" sz="2400" dirty="0" smtClean="0"/>
              <a:t>niveau, vise </a:t>
            </a:r>
            <a:r>
              <a:rPr lang="fr-FR" sz="2400" dirty="0"/>
              <a:t>les modèles biométriques stockés (pour les voler, les remplacer, les supprimer ou les modifier). </a:t>
            </a:r>
            <a:endParaRPr lang="fr-FR" sz="2400" dirty="0" smtClean="0"/>
          </a:p>
          <a:p>
            <a:pPr algn="just"/>
            <a:r>
              <a:rPr lang="fr-FR" sz="2400" dirty="0"/>
              <a:t/>
            </a:r>
            <a:br>
              <a:rPr lang="fr-FR" sz="2400" dirty="0"/>
            </a:br>
            <a:r>
              <a:rPr lang="fr-FR" sz="2400" dirty="0"/>
              <a:t>Il est possible de mettre en place cette attaque </a:t>
            </a:r>
            <a:r>
              <a:rPr lang="fr-FR" sz="2400" dirty="0" smtClean="0"/>
              <a:t>soit pendant </a:t>
            </a:r>
            <a:r>
              <a:rPr lang="fr-FR" sz="2400" dirty="0"/>
              <a:t>la période d'enregistrement, </a:t>
            </a:r>
            <a:r>
              <a:rPr lang="fr-FR" sz="2400" dirty="0" smtClean="0"/>
              <a:t>la </a:t>
            </a:r>
            <a:r>
              <a:rPr lang="fr-FR" sz="2400" dirty="0"/>
              <a:t>période de </a:t>
            </a:r>
            <a:r>
              <a:rPr lang="fr-FR" sz="2400" dirty="0" smtClean="0"/>
              <a:t>vérification,  </a:t>
            </a:r>
            <a:r>
              <a:rPr lang="fr-FR" sz="2400" dirty="0"/>
              <a:t>ou à tout moment directement sur la base de données. </a:t>
            </a:r>
            <a:endParaRPr lang="fr-FR" sz="2400" dirty="0">
              <a:solidFill>
                <a:prstClr val="black"/>
              </a:solidFill>
            </a:endParaRPr>
          </a:p>
        </p:txBody>
      </p:sp>
    </p:spTree>
    <p:extLst>
      <p:ext uri="{BB962C8B-B14F-4D97-AF65-F5344CB8AC3E}">
        <p14:creationId xmlns:p14="http://schemas.microsoft.com/office/powerpoint/2010/main" val="1131877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36</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07504" y="0"/>
            <a:ext cx="8892480"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sp>
        <p:nvSpPr>
          <p:cNvPr id="5" name="Rectangle 4"/>
          <p:cNvSpPr/>
          <p:nvPr/>
        </p:nvSpPr>
        <p:spPr>
          <a:xfrm>
            <a:off x="307882" y="1196752"/>
            <a:ext cx="8692101" cy="4524315"/>
          </a:xfrm>
          <a:prstGeom prst="rect">
            <a:avLst/>
          </a:prstGeom>
        </p:spPr>
        <p:txBody>
          <a:bodyPr wrap="square">
            <a:spAutoFit/>
          </a:bodyPr>
          <a:lstStyle/>
          <a:p>
            <a:r>
              <a:rPr lang="fr-FR" sz="2400" b="1" u="sng" dirty="0">
                <a:solidFill>
                  <a:prstClr val="black"/>
                </a:solidFill>
              </a:rPr>
              <a:t>Point 7:  </a:t>
            </a:r>
          </a:p>
          <a:p>
            <a:pPr algn="just"/>
            <a:r>
              <a:rPr lang="fr-FR" sz="2400" b="1" u="sng" dirty="0">
                <a:solidFill>
                  <a:prstClr val="black"/>
                </a:solidFill>
              </a:rPr>
              <a:t>	</a:t>
            </a:r>
            <a:r>
              <a:rPr lang="fr-FR" sz="2400" b="1" u="sng" dirty="0" smtClean="0">
                <a:solidFill>
                  <a:prstClr val="black"/>
                </a:solidFill>
              </a:rPr>
              <a:t>L</a:t>
            </a:r>
            <a:r>
              <a:rPr lang="fr-FR" sz="2400" dirty="0" smtClean="0">
                <a:solidFill>
                  <a:prstClr val="black"/>
                </a:solidFill>
              </a:rPr>
              <a:t>es </a:t>
            </a:r>
            <a:r>
              <a:rPr lang="fr-FR" sz="2400" dirty="0">
                <a:solidFill>
                  <a:prstClr val="black"/>
                </a:solidFill>
              </a:rPr>
              <a:t>modèles biométriques sont </a:t>
            </a:r>
            <a:r>
              <a:rPr lang="fr-FR" sz="2400" dirty="0" smtClean="0">
                <a:solidFill>
                  <a:prstClr val="black"/>
                </a:solidFill>
              </a:rPr>
              <a:t>capturés ou </a:t>
            </a:r>
            <a:r>
              <a:rPr lang="fr-FR" sz="2400" dirty="0" err="1" smtClean="0">
                <a:solidFill>
                  <a:prstClr val="black"/>
                </a:solidFill>
              </a:rPr>
              <a:t>falisfiés</a:t>
            </a:r>
            <a:r>
              <a:rPr lang="fr-FR" sz="2400" dirty="0" smtClean="0">
                <a:solidFill>
                  <a:prstClr val="black"/>
                </a:solidFill>
              </a:rPr>
              <a:t> </a:t>
            </a:r>
            <a:r>
              <a:rPr lang="fr-FR" sz="2400" dirty="0">
                <a:solidFill>
                  <a:prstClr val="black"/>
                </a:solidFill>
              </a:rPr>
              <a:t>dans le support de transmission entre la base de données et le </a:t>
            </a:r>
            <a:r>
              <a:rPr lang="fr-FR" sz="2400" dirty="0" err="1">
                <a:solidFill>
                  <a:prstClr val="black"/>
                </a:solidFill>
              </a:rPr>
              <a:t>classifieur</a:t>
            </a:r>
            <a:r>
              <a:rPr lang="fr-FR" sz="2400" dirty="0">
                <a:solidFill>
                  <a:prstClr val="black"/>
                </a:solidFill>
              </a:rPr>
              <a:t> </a:t>
            </a:r>
            <a:r>
              <a:rPr lang="fr-FR" sz="2400" dirty="0" smtClean="0">
                <a:solidFill>
                  <a:prstClr val="black"/>
                </a:solidFill>
              </a:rPr>
              <a:t>et peuvent </a:t>
            </a:r>
            <a:r>
              <a:rPr lang="fr-FR" sz="2400" dirty="0">
                <a:solidFill>
                  <a:prstClr val="black"/>
                </a:solidFill>
              </a:rPr>
              <a:t>être rejoués ultérieurement sur le même canal.</a:t>
            </a:r>
          </a:p>
          <a:p>
            <a:pPr algn="just"/>
            <a:endParaRPr lang="fr-FR" sz="2400" dirty="0">
              <a:solidFill>
                <a:prstClr val="black"/>
              </a:solidFill>
            </a:endParaRPr>
          </a:p>
          <a:p>
            <a:pPr algn="just"/>
            <a:endParaRPr lang="fr-FR" sz="2400" dirty="0">
              <a:solidFill>
                <a:prstClr val="black"/>
              </a:solidFill>
            </a:endParaRPr>
          </a:p>
          <a:p>
            <a:pPr algn="just"/>
            <a:r>
              <a:rPr lang="fr-FR" sz="2400" b="1" u="sng" dirty="0">
                <a:solidFill>
                  <a:prstClr val="black"/>
                </a:solidFill>
              </a:rPr>
              <a:t>Point 8: </a:t>
            </a:r>
          </a:p>
          <a:p>
            <a:pPr algn="just"/>
            <a:r>
              <a:rPr lang="fr-FR" sz="2400" b="1" u="sng" dirty="0">
                <a:solidFill>
                  <a:prstClr val="black"/>
                </a:solidFill>
              </a:rPr>
              <a:t>	</a:t>
            </a:r>
            <a:r>
              <a:rPr lang="fr-FR" sz="2400" dirty="0"/>
              <a:t>Il est possible d'espionner le canal entre le </a:t>
            </a:r>
            <a:r>
              <a:rPr lang="fr-FR" sz="2400" dirty="0" err="1"/>
              <a:t>classifieur</a:t>
            </a:r>
            <a:r>
              <a:rPr lang="fr-FR" sz="2400" dirty="0"/>
              <a:t> et l'application qui a envoyé une requête de vérification afin d'obtenir la réponse d'une vérification antérieure et de l'enregistrer. </a:t>
            </a:r>
            <a:br>
              <a:rPr lang="fr-FR" sz="2400" dirty="0"/>
            </a:br>
            <a:r>
              <a:rPr lang="fr-FR" sz="2400" dirty="0"/>
              <a:t/>
            </a:r>
            <a:br>
              <a:rPr lang="fr-FR" sz="2400" dirty="0"/>
            </a:br>
            <a:r>
              <a:rPr lang="fr-FR" sz="2400" dirty="0" smtClean="0"/>
              <a:t>Cette dernière peut être  </a:t>
            </a:r>
            <a:r>
              <a:rPr lang="fr-FR" sz="2400" dirty="0"/>
              <a:t>rejouer </a:t>
            </a:r>
            <a:r>
              <a:rPr lang="fr-FR" sz="2400" dirty="0" smtClean="0"/>
              <a:t>ultérieurement sur </a:t>
            </a:r>
            <a:r>
              <a:rPr lang="fr-FR" sz="2400" dirty="0"/>
              <a:t>le même canal.</a:t>
            </a:r>
            <a:endParaRPr lang="fr-FR" sz="2400" dirty="0">
              <a:solidFill>
                <a:prstClr val="black"/>
              </a:solidFill>
            </a:endParaRPr>
          </a:p>
        </p:txBody>
      </p:sp>
    </p:spTree>
    <p:extLst>
      <p:ext uri="{BB962C8B-B14F-4D97-AF65-F5344CB8AC3E}">
        <p14:creationId xmlns:p14="http://schemas.microsoft.com/office/powerpoint/2010/main" val="35063260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37</a:t>
            </a:fld>
            <a:endParaRPr lang="fr-FR">
              <a:solidFill>
                <a:prstClr val="black">
                  <a:tint val="95000"/>
                </a:prstClr>
              </a:solidFill>
            </a:endParaRPr>
          </a:p>
        </p:txBody>
      </p:sp>
      <p:cxnSp>
        <p:nvCxnSpPr>
          <p:cNvPr id="3" name="Connecteur droit 2"/>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07504" y="0"/>
            <a:ext cx="8892480"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sp>
        <p:nvSpPr>
          <p:cNvPr id="5" name="Rectangle 4"/>
          <p:cNvSpPr/>
          <p:nvPr/>
        </p:nvSpPr>
        <p:spPr>
          <a:xfrm>
            <a:off x="312168" y="1005730"/>
            <a:ext cx="8687816" cy="5262979"/>
          </a:xfrm>
          <a:prstGeom prst="rect">
            <a:avLst/>
          </a:prstGeom>
        </p:spPr>
        <p:txBody>
          <a:bodyPr wrap="square">
            <a:spAutoFit/>
          </a:bodyPr>
          <a:lstStyle/>
          <a:p>
            <a:pPr algn="just">
              <a:lnSpc>
                <a:spcPct val="150000"/>
              </a:lnSpc>
            </a:pPr>
            <a:r>
              <a:rPr lang="fr-FR" sz="2800" dirty="0" smtClean="0"/>
              <a:t>L’attaque  6 contre </a:t>
            </a:r>
            <a:r>
              <a:rPr lang="fr-FR" sz="2800" dirty="0"/>
              <a:t>les modèles biométriques stockés dans la base de données du système peut être perçu comme une préoccupation majeure pour la communauté de la sécurité et l'une des attaques les plus préjudiciables contre un système biométrique. </a:t>
            </a:r>
            <a:endParaRPr lang="fr-FR" sz="2800" dirty="0" smtClean="0"/>
          </a:p>
          <a:p>
            <a:pPr algn="just">
              <a:lnSpc>
                <a:spcPct val="150000"/>
              </a:lnSpc>
            </a:pPr>
            <a:r>
              <a:rPr lang="fr-FR" sz="2800" dirty="0" smtClean="0"/>
              <a:t>Cela </a:t>
            </a:r>
            <a:r>
              <a:rPr lang="fr-FR" sz="2800" dirty="0"/>
              <a:t>est dû à la forte </a:t>
            </a:r>
            <a:r>
              <a:rPr lang="fr-FR" sz="2800" dirty="0" smtClean="0"/>
              <a:t>liaison entre </a:t>
            </a:r>
            <a:r>
              <a:rPr lang="fr-FR" sz="2800" dirty="0"/>
              <a:t>les modèles d'un utilisateur et son </a:t>
            </a:r>
            <a:r>
              <a:rPr lang="fr-FR" sz="2800" b="1" dirty="0">
                <a:solidFill>
                  <a:srgbClr val="002060"/>
                </a:solidFill>
                <a:effectLst>
                  <a:outerShdw blurRad="38100" dist="38100" dir="2700000" algn="tl">
                    <a:srgbClr val="000000">
                      <a:alpha val="43137"/>
                    </a:srgbClr>
                  </a:outerShdw>
                </a:effectLst>
              </a:rPr>
              <a:t>identité</a:t>
            </a:r>
            <a:r>
              <a:rPr lang="fr-FR" sz="2800" dirty="0"/>
              <a:t>, ainsi qu'à </a:t>
            </a:r>
            <a:r>
              <a:rPr lang="fr-FR" sz="2800" b="1" dirty="0">
                <a:solidFill>
                  <a:srgbClr val="002060"/>
                </a:solidFill>
                <a:effectLst>
                  <a:outerShdw blurRad="38100" dist="38100" dir="2700000" algn="tl">
                    <a:srgbClr val="000000">
                      <a:alpha val="43137"/>
                    </a:srgbClr>
                  </a:outerShdw>
                </a:effectLst>
              </a:rPr>
              <a:t>la nature irrévocable</a:t>
            </a:r>
            <a:r>
              <a:rPr lang="fr-FR" sz="2800" dirty="0"/>
              <a:t> des modèles biométriques. </a:t>
            </a:r>
            <a:endParaRPr lang="fr-FR" sz="2800" dirty="0">
              <a:solidFill>
                <a:prstClr val="black"/>
              </a:solidFill>
            </a:endParaRPr>
          </a:p>
        </p:txBody>
      </p:sp>
    </p:spTree>
    <p:extLst>
      <p:ext uri="{BB962C8B-B14F-4D97-AF65-F5344CB8AC3E}">
        <p14:creationId xmlns:p14="http://schemas.microsoft.com/office/powerpoint/2010/main" val="26771450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38</a:t>
            </a:fld>
            <a:endParaRPr lang="fr-FR">
              <a:solidFill>
                <a:prstClr val="black">
                  <a:tint val="95000"/>
                </a:prstClr>
              </a:solidFill>
            </a:endParaRPr>
          </a:p>
        </p:txBody>
      </p:sp>
      <p:sp>
        <p:nvSpPr>
          <p:cNvPr id="5" name="Rectangle 4"/>
          <p:cNvSpPr/>
          <p:nvPr/>
        </p:nvSpPr>
        <p:spPr>
          <a:xfrm>
            <a:off x="144016" y="1052736"/>
            <a:ext cx="8999984" cy="4893647"/>
          </a:xfrm>
          <a:prstGeom prst="rect">
            <a:avLst/>
          </a:prstGeom>
        </p:spPr>
        <p:txBody>
          <a:bodyPr wrap="square">
            <a:spAutoFit/>
          </a:bodyPr>
          <a:lstStyle/>
          <a:p>
            <a:pPr algn="just"/>
            <a:r>
              <a:rPr lang="fr-FR" sz="2400" dirty="0"/>
              <a:t>Étant donné que le principe de certaines attaques est identique, elles ont été classées en quatre types : </a:t>
            </a:r>
            <a:endParaRPr lang="fr-FR" sz="2400" dirty="0" smtClean="0"/>
          </a:p>
          <a:p>
            <a:pPr algn="just"/>
            <a:endParaRPr lang="fr-FR" sz="2400" dirty="0">
              <a:solidFill>
                <a:prstClr val="black"/>
              </a:solidFill>
            </a:endParaRPr>
          </a:p>
          <a:p>
            <a:pPr marL="342900" indent="-342900" algn="just">
              <a:buFontTx/>
              <a:buAutoNum type="arabicParenR"/>
            </a:pPr>
            <a:r>
              <a:rPr lang="fr-FR" sz="2400" dirty="0"/>
              <a:t>Les attaques directes sur </a:t>
            </a:r>
            <a:r>
              <a:rPr lang="fr-FR" sz="2400" b="1" dirty="0">
                <a:solidFill>
                  <a:srgbClr val="002060"/>
                </a:solidFill>
              </a:rPr>
              <a:t>l'interface utilisateur </a:t>
            </a:r>
            <a:r>
              <a:rPr lang="fr-FR" sz="2400" dirty="0" smtClean="0"/>
              <a:t>reposant </a:t>
            </a:r>
            <a:r>
              <a:rPr lang="fr-FR" sz="2400" dirty="0"/>
              <a:t>sur l'utilisation de données biométriques falsifiées </a:t>
            </a:r>
            <a:r>
              <a:rPr lang="fr-FR" sz="2400" dirty="0" smtClean="0"/>
              <a:t>présentées </a:t>
            </a:r>
            <a:r>
              <a:rPr lang="fr-FR" sz="2400" dirty="0"/>
              <a:t>au capteur du système</a:t>
            </a:r>
            <a:r>
              <a:rPr lang="fr-FR" sz="2400" dirty="0" smtClean="0"/>
              <a:t>.</a:t>
            </a:r>
          </a:p>
          <a:p>
            <a:pPr algn="just"/>
            <a:endParaRPr lang="fr-FR" sz="2400" dirty="0" smtClean="0"/>
          </a:p>
          <a:p>
            <a:pPr algn="just"/>
            <a:r>
              <a:rPr lang="fr-FR" sz="2400" dirty="0" smtClean="0"/>
              <a:t>Il existe plusieurs types d’attaques qui peuvent être lancées contre l’interface utilisateur (le capteur) d’un système biométrique:</a:t>
            </a:r>
          </a:p>
          <a:p>
            <a:pPr algn="just"/>
            <a:endParaRPr lang="fr-FR" sz="2400" dirty="0" smtClean="0"/>
          </a:p>
          <a:p>
            <a:pPr marL="342900" indent="-342900" algn="just">
              <a:buFont typeface="Arial" pitchFamily="34" charset="0"/>
              <a:buChar char="•"/>
            </a:pPr>
            <a:r>
              <a:rPr lang="fr-FR" sz="2400" dirty="0" smtClean="0"/>
              <a:t> </a:t>
            </a:r>
            <a:r>
              <a:rPr lang="fr-FR" sz="2400" dirty="0"/>
              <a:t>Lors d'une attaque de type </a:t>
            </a:r>
            <a:r>
              <a:rPr lang="fr-FR" sz="2400" i="1" dirty="0"/>
              <a:t>déni de service</a:t>
            </a:r>
            <a:r>
              <a:rPr lang="fr-FR" sz="2400" dirty="0"/>
              <a:t>, il est possible de détruire physiquement le capteur. </a:t>
            </a:r>
            <a:endParaRPr lang="fr-FR" sz="2400" dirty="0" smtClean="0">
              <a:solidFill>
                <a:prstClr val="black"/>
              </a:solidFill>
            </a:endParaRPr>
          </a:p>
          <a:p>
            <a:pPr algn="just"/>
            <a:endParaRPr lang="fr-FR" sz="2400" dirty="0">
              <a:solidFill>
                <a:prstClr val="black"/>
              </a:solidFill>
            </a:endParaRPr>
          </a:p>
        </p:txBody>
      </p:sp>
      <p:sp>
        <p:nvSpPr>
          <p:cNvPr id="4" name="ZoneTexte 3"/>
          <p:cNvSpPr txBox="1"/>
          <p:nvPr/>
        </p:nvSpPr>
        <p:spPr>
          <a:xfrm>
            <a:off x="107504" y="0"/>
            <a:ext cx="8892480"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cxnSp>
        <p:nvCxnSpPr>
          <p:cNvPr id="6" name="Connecteur droit 5"/>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69916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39</a:t>
            </a:fld>
            <a:endParaRPr lang="fr-FR">
              <a:solidFill>
                <a:prstClr val="black">
                  <a:tint val="95000"/>
                </a:prstClr>
              </a:solidFill>
            </a:endParaRPr>
          </a:p>
        </p:txBody>
      </p:sp>
      <p:sp>
        <p:nvSpPr>
          <p:cNvPr id="5" name="Rectangle 4"/>
          <p:cNvSpPr/>
          <p:nvPr/>
        </p:nvSpPr>
        <p:spPr>
          <a:xfrm>
            <a:off x="144016" y="779220"/>
            <a:ext cx="8999984" cy="1569660"/>
          </a:xfrm>
          <a:prstGeom prst="rect">
            <a:avLst/>
          </a:prstGeom>
        </p:spPr>
        <p:txBody>
          <a:bodyPr wrap="square">
            <a:spAutoFit/>
          </a:bodyPr>
          <a:lstStyle/>
          <a:p>
            <a:pPr algn="just"/>
            <a:endParaRPr lang="fr-FR" sz="2400" dirty="0"/>
          </a:p>
          <a:p>
            <a:pPr marL="342900" indent="-342900" algn="just">
              <a:buFont typeface="Arial" pitchFamily="34" charset="0"/>
              <a:buChar char="•"/>
            </a:pPr>
            <a:r>
              <a:rPr lang="fr-FR" sz="2400" dirty="0" smtClean="0"/>
              <a:t> </a:t>
            </a:r>
            <a:r>
              <a:rPr lang="fr-FR" sz="2400" dirty="0"/>
              <a:t>Un adversaire peut </a:t>
            </a:r>
            <a:r>
              <a:rPr lang="fr-FR" sz="2400" dirty="0" smtClean="0"/>
              <a:t>fournir des </a:t>
            </a:r>
            <a:r>
              <a:rPr lang="fr-FR" sz="2400" dirty="0"/>
              <a:t>traits </a:t>
            </a:r>
            <a:r>
              <a:rPr lang="fr-FR" sz="2400" dirty="0" smtClean="0"/>
              <a:t>biométriques falsifiés  </a:t>
            </a:r>
            <a:r>
              <a:rPr lang="fr-FR" sz="2400" dirty="0"/>
              <a:t>au système </a:t>
            </a:r>
            <a:r>
              <a:rPr lang="fr-FR" sz="2400" dirty="0" smtClean="0"/>
              <a:t>afin de  </a:t>
            </a:r>
            <a:r>
              <a:rPr lang="fr-FR" sz="2400" dirty="0"/>
              <a:t>contourner le processus d’inscription ou de </a:t>
            </a:r>
            <a:r>
              <a:rPr lang="fr-FR" sz="2400" dirty="0" smtClean="0"/>
              <a:t>reconnaissance (</a:t>
            </a:r>
            <a:r>
              <a:rPr lang="fr-FR" sz="2400" i="1" dirty="0" err="1" smtClean="0"/>
              <a:t>spoofing</a:t>
            </a:r>
            <a:r>
              <a:rPr lang="fr-FR" sz="2400" i="1" dirty="0" smtClean="0"/>
              <a:t> « usurpation d’identité »  ou</a:t>
            </a:r>
            <a:r>
              <a:rPr lang="fr-FR" sz="2400" dirty="0" smtClean="0"/>
              <a:t> </a:t>
            </a:r>
            <a:r>
              <a:rPr lang="fr-FR" sz="2400" i="1" dirty="0"/>
              <a:t>mimicry </a:t>
            </a:r>
            <a:r>
              <a:rPr lang="fr-FR" sz="2400" i="1" dirty="0" smtClean="0"/>
              <a:t>).</a:t>
            </a:r>
            <a:endParaRPr lang="fr-FR" sz="2400" dirty="0">
              <a:solidFill>
                <a:prstClr val="black"/>
              </a:solidFill>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708920"/>
            <a:ext cx="7272808"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107504" y="0"/>
            <a:ext cx="8892480"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974835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40</a:t>
            </a:fld>
            <a:endParaRPr lang="fr-FR">
              <a:solidFill>
                <a:prstClr val="black">
                  <a:tint val="95000"/>
                </a:prstClr>
              </a:solidFill>
            </a:endParaRPr>
          </a:p>
        </p:txBody>
      </p:sp>
      <p:sp>
        <p:nvSpPr>
          <p:cNvPr id="5" name="Rectangle 4"/>
          <p:cNvSpPr/>
          <p:nvPr/>
        </p:nvSpPr>
        <p:spPr>
          <a:xfrm>
            <a:off x="25132" y="974333"/>
            <a:ext cx="8999984" cy="5262979"/>
          </a:xfrm>
          <a:prstGeom prst="rect">
            <a:avLst/>
          </a:prstGeom>
        </p:spPr>
        <p:txBody>
          <a:bodyPr wrap="square">
            <a:spAutoFit/>
          </a:bodyPr>
          <a:lstStyle/>
          <a:p>
            <a:pPr algn="just"/>
            <a:endParaRPr lang="fr-FR" sz="2400" dirty="0">
              <a:solidFill>
                <a:prstClr val="black"/>
              </a:solidFill>
            </a:endParaRPr>
          </a:p>
          <a:p>
            <a:pPr algn="just"/>
            <a:r>
              <a:rPr lang="fr-FR" sz="2400" dirty="0">
                <a:solidFill>
                  <a:prstClr val="black"/>
                </a:solidFill>
              </a:rPr>
              <a:t> 2) Attaques sur </a:t>
            </a:r>
            <a:r>
              <a:rPr lang="fr-FR" sz="2400" b="1" dirty="0">
                <a:solidFill>
                  <a:srgbClr val="002060"/>
                </a:solidFill>
              </a:rPr>
              <a:t>l’interface entre les modules </a:t>
            </a:r>
            <a:r>
              <a:rPr lang="fr-FR" sz="2400" dirty="0">
                <a:solidFill>
                  <a:prstClr val="black"/>
                </a:solidFill>
              </a:rPr>
              <a:t>où l’adversaire peut détruire ou interférer les canaux de communication entre les modules du système.</a:t>
            </a:r>
          </a:p>
          <a:p>
            <a:pPr algn="just"/>
            <a:endParaRPr lang="fr-FR" sz="2400" dirty="0">
              <a:solidFill>
                <a:prstClr val="black"/>
              </a:solidFill>
            </a:endParaRPr>
          </a:p>
          <a:p>
            <a:pPr marL="342900" indent="-342900" algn="just">
              <a:buFont typeface="Arial" pitchFamily="34" charset="0"/>
              <a:buChar char="•"/>
            </a:pPr>
            <a:r>
              <a:rPr lang="fr-FR" sz="2400" dirty="0">
                <a:solidFill>
                  <a:prstClr val="black"/>
                </a:solidFill>
              </a:rPr>
              <a:t> </a:t>
            </a:r>
            <a:r>
              <a:rPr lang="fr-FR" sz="2400" dirty="0"/>
              <a:t>Des interfaces ou des canaux de communication relient les modules d'un système biométrique pour transmettre les informations requises </a:t>
            </a:r>
            <a:r>
              <a:rPr lang="fr-FR" sz="2400" dirty="0" smtClean="0"/>
              <a:t>afin d’effectuer </a:t>
            </a:r>
            <a:r>
              <a:rPr lang="fr-FR" sz="2400" dirty="0"/>
              <a:t>la tâche de reconnaissance</a:t>
            </a:r>
            <a:r>
              <a:rPr lang="fr-FR" sz="2400" dirty="0" smtClean="0"/>
              <a:t>.</a:t>
            </a:r>
          </a:p>
          <a:p>
            <a:pPr algn="just"/>
            <a:endParaRPr lang="fr-FR" sz="2400" dirty="0"/>
          </a:p>
          <a:p>
            <a:pPr marL="342900" indent="-342900" algn="just">
              <a:buFont typeface="Arial" pitchFamily="34" charset="0"/>
              <a:buChar char="•"/>
            </a:pPr>
            <a:r>
              <a:rPr lang="fr-FR" sz="2400" dirty="0" smtClean="0"/>
              <a:t> Plusieurs types d’attaques peuvent être lancés au niveau de ces</a:t>
            </a:r>
          </a:p>
          <a:p>
            <a:pPr algn="just"/>
            <a:r>
              <a:rPr lang="fr-FR" sz="2400" dirty="0" smtClean="0"/>
              <a:t>interfaces : entre le capteur et l’extracteur de caractéristiques, entre l’extracteur de caractéristiques et le </a:t>
            </a:r>
            <a:r>
              <a:rPr lang="fr-FR" sz="2400" dirty="0" err="1" smtClean="0"/>
              <a:t>classifieur</a:t>
            </a:r>
            <a:r>
              <a:rPr lang="fr-FR" sz="2400" dirty="0" smtClean="0"/>
              <a:t>, entre la base de données et le </a:t>
            </a:r>
            <a:r>
              <a:rPr lang="fr-FR" sz="2400" dirty="0" err="1" smtClean="0"/>
              <a:t>classifieur</a:t>
            </a:r>
            <a:r>
              <a:rPr lang="fr-FR" sz="2400" dirty="0" smtClean="0"/>
              <a:t>, et entre le </a:t>
            </a:r>
            <a:r>
              <a:rPr lang="fr-FR" sz="2400" dirty="0" err="1" smtClean="0"/>
              <a:t>classifieur</a:t>
            </a:r>
            <a:r>
              <a:rPr lang="fr-FR" sz="2400" dirty="0" smtClean="0"/>
              <a:t> et l’application de décision.</a:t>
            </a:r>
            <a:endParaRPr lang="fr-FR" sz="2400" dirty="0">
              <a:solidFill>
                <a:prstClr val="black"/>
              </a:solidFill>
            </a:endParaRPr>
          </a:p>
        </p:txBody>
      </p:sp>
      <p:sp>
        <p:nvSpPr>
          <p:cNvPr id="4" name="ZoneTexte 3"/>
          <p:cNvSpPr txBox="1"/>
          <p:nvPr/>
        </p:nvSpPr>
        <p:spPr>
          <a:xfrm>
            <a:off x="107504" y="0"/>
            <a:ext cx="8892480"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cxnSp>
        <p:nvCxnSpPr>
          <p:cNvPr id="6" name="Connecteur droit 5"/>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752140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41</a:t>
            </a:fld>
            <a:endParaRPr lang="fr-FR">
              <a:solidFill>
                <a:prstClr val="black">
                  <a:tint val="95000"/>
                </a:prstClr>
              </a:solidFill>
            </a:endParaRPr>
          </a:p>
        </p:txBody>
      </p:sp>
      <p:sp>
        <p:nvSpPr>
          <p:cNvPr id="5" name="Rectangle 4"/>
          <p:cNvSpPr/>
          <p:nvPr/>
        </p:nvSpPr>
        <p:spPr>
          <a:xfrm>
            <a:off x="107504" y="366907"/>
            <a:ext cx="8999984" cy="6740307"/>
          </a:xfrm>
          <a:prstGeom prst="rect">
            <a:avLst/>
          </a:prstGeom>
        </p:spPr>
        <p:txBody>
          <a:bodyPr wrap="square">
            <a:spAutoFit/>
          </a:bodyPr>
          <a:lstStyle/>
          <a:p>
            <a:pPr algn="just"/>
            <a:endParaRPr lang="fr-FR" sz="2400" dirty="0">
              <a:solidFill>
                <a:prstClr val="black"/>
              </a:solidFill>
            </a:endParaRPr>
          </a:p>
          <a:p>
            <a:pPr marL="342900" indent="-342900" algn="just">
              <a:buFont typeface="Arial" pitchFamily="34" charset="0"/>
              <a:buChar char="•"/>
            </a:pPr>
            <a:r>
              <a:rPr lang="fr-FR" sz="2400" dirty="0"/>
              <a:t>Un adversaire </a:t>
            </a:r>
            <a:r>
              <a:rPr lang="fr-FR" sz="2400" dirty="0" smtClean="0"/>
              <a:t>par exemple peut  </a:t>
            </a:r>
            <a:r>
              <a:rPr lang="fr-FR" sz="2400" dirty="0"/>
              <a:t>saboter ou </a:t>
            </a:r>
            <a:r>
              <a:rPr lang="fr-FR" sz="2400" dirty="0" smtClean="0"/>
              <a:t> </a:t>
            </a:r>
            <a:r>
              <a:rPr lang="fr-FR" sz="2400" dirty="0"/>
              <a:t>perturber les interfaces de communication entre les modules en installant un brouilleur près du canal. </a:t>
            </a:r>
            <a:endParaRPr lang="fr-FR" sz="2400" dirty="0" smtClean="0"/>
          </a:p>
          <a:p>
            <a:pPr marL="342900" indent="-342900" algn="just">
              <a:buFont typeface="Arial" pitchFamily="34" charset="0"/>
              <a:buChar char="•"/>
            </a:pPr>
            <a:endParaRPr lang="fr-FR" sz="2400" dirty="0"/>
          </a:p>
          <a:p>
            <a:pPr marL="342900" indent="-342900" algn="just">
              <a:buFont typeface="Arial" pitchFamily="34" charset="0"/>
              <a:buChar char="•"/>
            </a:pPr>
            <a:r>
              <a:rPr lang="fr-FR" sz="2400" dirty="0" smtClean="0"/>
              <a:t>Un attaquant peut également intercepter et/ou modifier les données transférées dans les canaux .</a:t>
            </a:r>
          </a:p>
          <a:p>
            <a:pPr algn="just"/>
            <a:endParaRPr lang="fr-FR" sz="2400" dirty="0" smtClean="0"/>
          </a:p>
          <a:p>
            <a:pPr marL="342900" indent="-342900" algn="just">
              <a:buFont typeface="Arial" pitchFamily="34" charset="0"/>
              <a:buChar char="•"/>
            </a:pPr>
            <a:r>
              <a:rPr lang="fr-FR" sz="2400" dirty="0" smtClean="0"/>
              <a:t>L’injection </a:t>
            </a:r>
            <a:r>
              <a:rPr lang="fr-FR" sz="2400" dirty="0"/>
              <a:t>des données biométriques volées dans ces interfaces est l'une des attaques les plus simples contre les canaux de communication, connue sous le nom </a:t>
            </a:r>
            <a:r>
              <a:rPr lang="fr-FR" sz="2400" dirty="0">
                <a:solidFill>
                  <a:srgbClr val="002060"/>
                </a:solidFill>
              </a:rPr>
              <a:t>d'attaque par </a:t>
            </a:r>
            <a:r>
              <a:rPr lang="fr-FR" sz="2400" dirty="0" err="1">
                <a:solidFill>
                  <a:srgbClr val="002060"/>
                </a:solidFill>
              </a:rPr>
              <a:t>rejeu</a:t>
            </a:r>
            <a:r>
              <a:rPr lang="fr-FR" sz="2400" dirty="0">
                <a:solidFill>
                  <a:srgbClr val="002060"/>
                </a:solidFill>
              </a:rPr>
              <a:t> (</a:t>
            </a:r>
            <a:r>
              <a:rPr lang="fr-FR" sz="2400" dirty="0" err="1">
                <a:solidFill>
                  <a:srgbClr val="002060"/>
                </a:solidFill>
              </a:rPr>
              <a:t>replay</a:t>
            </a:r>
            <a:r>
              <a:rPr lang="fr-FR" sz="2400" dirty="0">
                <a:solidFill>
                  <a:srgbClr val="002060"/>
                </a:solidFill>
              </a:rPr>
              <a:t> </a:t>
            </a:r>
            <a:r>
              <a:rPr lang="fr-FR" sz="2400" dirty="0" err="1">
                <a:solidFill>
                  <a:srgbClr val="002060"/>
                </a:solidFill>
              </a:rPr>
              <a:t>attack</a:t>
            </a:r>
            <a:r>
              <a:rPr lang="fr-FR" sz="2400" dirty="0">
                <a:solidFill>
                  <a:srgbClr val="002060"/>
                </a:solidFill>
              </a:rPr>
              <a:t>).</a:t>
            </a:r>
            <a:endParaRPr lang="fr-FR" sz="2400" dirty="0">
              <a:solidFill>
                <a:srgbClr val="002060"/>
              </a:solidFill>
            </a:endParaRPr>
          </a:p>
          <a:p>
            <a:pPr marL="342900" indent="-342900" algn="just">
              <a:buFont typeface="Arial" pitchFamily="34" charset="0"/>
              <a:buChar char="•"/>
            </a:pPr>
            <a:r>
              <a:rPr lang="fr-FR" sz="2400" dirty="0" smtClean="0"/>
              <a:t>Un adversaire peut rejouer un modèle biométrique légitime obtenu précédemment par une écoute du canal pour accéder au système</a:t>
            </a:r>
            <a:r>
              <a:rPr lang="fr-FR" sz="2400" dirty="0" smtClean="0"/>
              <a:t>.</a:t>
            </a:r>
          </a:p>
          <a:p>
            <a:pPr algn="just"/>
            <a:r>
              <a:rPr lang="fr-FR" sz="2400" dirty="0" smtClean="0"/>
              <a:t> </a:t>
            </a:r>
            <a:endParaRPr lang="fr-FR" sz="2400" dirty="0" smtClean="0"/>
          </a:p>
          <a:p>
            <a:pPr marL="342900" indent="-342900" algn="just">
              <a:buFont typeface="Arial" pitchFamily="34" charset="0"/>
              <a:buChar char="•"/>
            </a:pPr>
            <a:r>
              <a:rPr lang="fr-FR" sz="2400" dirty="0"/>
              <a:t>La méthode la plus répandue pour garantir la sécurité d'un canal consiste à utiliser la cryptographie afin de chiffrer toutes les données transmises.</a:t>
            </a:r>
            <a:endParaRPr lang="fr-FR" sz="2400" dirty="0"/>
          </a:p>
        </p:txBody>
      </p:sp>
      <p:sp>
        <p:nvSpPr>
          <p:cNvPr id="4" name="ZoneTexte 3"/>
          <p:cNvSpPr txBox="1"/>
          <p:nvPr/>
        </p:nvSpPr>
        <p:spPr>
          <a:xfrm>
            <a:off x="107504" y="0"/>
            <a:ext cx="8892480"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cxnSp>
        <p:nvCxnSpPr>
          <p:cNvPr id="6" name="Connecteur droit 5"/>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40310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42</a:t>
            </a:fld>
            <a:endParaRPr lang="fr-FR">
              <a:solidFill>
                <a:prstClr val="black">
                  <a:tint val="95000"/>
                </a:prstClr>
              </a:solidFill>
            </a:endParaRPr>
          </a:p>
        </p:txBody>
      </p:sp>
      <p:sp>
        <p:nvSpPr>
          <p:cNvPr id="5" name="Rectangle 4"/>
          <p:cNvSpPr/>
          <p:nvPr/>
        </p:nvSpPr>
        <p:spPr>
          <a:xfrm>
            <a:off x="144016" y="442401"/>
            <a:ext cx="8999984" cy="6370975"/>
          </a:xfrm>
          <a:prstGeom prst="rect">
            <a:avLst/>
          </a:prstGeom>
        </p:spPr>
        <p:txBody>
          <a:bodyPr wrap="square">
            <a:spAutoFit/>
          </a:bodyPr>
          <a:lstStyle/>
          <a:p>
            <a:pPr algn="just"/>
            <a:endParaRPr lang="fr-FR" sz="2400" dirty="0">
              <a:solidFill>
                <a:prstClr val="black"/>
              </a:solidFill>
            </a:endParaRPr>
          </a:p>
          <a:p>
            <a:pPr algn="just"/>
            <a:r>
              <a:rPr lang="fr-FR" sz="2400" dirty="0" smtClean="0">
                <a:solidFill>
                  <a:prstClr val="black"/>
                </a:solidFill>
              </a:rPr>
              <a:t>  </a:t>
            </a:r>
            <a:r>
              <a:rPr lang="fr-FR" sz="2400" dirty="0">
                <a:solidFill>
                  <a:prstClr val="black"/>
                </a:solidFill>
              </a:rPr>
              <a:t>3</a:t>
            </a:r>
            <a:r>
              <a:rPr lang="fr-FR" sz="2400" dirty="0" smtClean="0">
                <a:solidFill>
                  <a:prstClr val="black"/>
                </a:solidFill>
              </a:rPr>
              <a:t>)</a:t>
            </a:r>
            <a:r>
              <a:rPr lang="fr-FR" sz="2400" dirty="0"/>
              <a:t> Les attaques </a:t>
            </a:r>
            <a:r>
              <a:rPr lang="fr-FR" sz="2400" dirty="0" smtClean="0"/>
              <a:t>sur </a:t>
            </a:r>
            <a:r>
              <a:rPr lang="fr-FR" sz="2400" dirty="0">
                <a:solidFill>
                  <a:srgbClr val="002060"/>
                </a:solidFill>
              </a:rPr>
              <a:t>les modules logiciels </a:t>
            </a:r>
            <a:r>
              <a:rPr lang="fr-FR" sz="2400" dirty="0"/>
              <a:t>qui permettent de modifier le programme exécutable d'un module de manière à ce qu'il retourne toujours les valeurs souhaitées par l'adversaire (Cheval de Troie).</a:t>
            </a:r>
            <a:endParaRPr lang="fr-FR" sz="2400" dirty="0" smtClean="0">
              <a:solidFill>
                <a:prstClr val="black"/>
              </a:solidFill>
            </a:endParaRPr>
          </a:p>
          <a:p>
            <a:pPr algn="just"/>
            <a:endParaRPr lang="fr-FR" sz="2400" dirty="0">
              <a:solidFill>
                <a:prstClr val="black"/>
              </a:solidFill>
            </a:endParaRPr>
          </a:p>
          <a:p>
            <a:pPr algn="just"/>
            <a:endParaRPr lang="fr-FR" sz="2400" dirty="0" smtClean="0">
              <a:solidFill>
                <a:prstClr val="black"/>
              </a:solidFill>
            </a:endParaRPr>
          </a:p>
          <a:p>
            <a:pPr algn="just"/>
            <a:endParaRPr lang="fr-FR" sz="2400" dirty="0">
              <a:solidFill>
                <a:prstClr val="black"/>
              </a:solidFill>
            </a:endParaRPr>
          </a:p>
          <a:p>
            <a:pPr algn="just"/>
            <a:endParaRPr lang="fr-FR" sz="2400" dirty="0" smtClean="0">
              <a:solidFill>
                <a:prstClr val="black"/>
              </a:solidFill>
            </a:endParaRPr>
          </a:p>
          <a:p>
            <a:pPr algn="just"/>
            <a:endParaRPr lang="fr-FR" sz="2400" dirty="0">
              <a:solidFill>
                <a:prstClr val="black"/>
              </a:solidFill>
            </a:endParaRPr>
          </a:p>
          <a:p>
            <a:pPr algn="just"/>
            <a:endParaRPr lang="fr-FR" sz="2400" dirty="0" smtClean="0">
              <a:solidFill>
                <a:prstClr val="black"/>
              </a:solidFill>
            </a:endParaRPr>
          </a:p>
          <a:p>
            <a:pPr algn="just"/>
            <a:endParaRPr lang="fr-FR" sz="2400" dirty="0">
              <a:solidFill>
                <a:prstClr val="black"/>
              </a:solidFill>
            </a:endParaRPr>
          </a:p>
          <a:p>
            <a:pPr algn="just"/>
            <a:endParaRPr lang="fr-FR" sz="2400" dirty="0" smtClean="0">
              <a:solidFill>
                <a:prstClr val="black"/>
              </a:solidFill>
            </a:endParaRPr>
          </a:p>
          <a:p>
            <a:pPr algn="just"/>
            <a:endParaRPr lang="fr-FR" sz="2400" dirty="0">
              <a:solidFill>
                <a:prstClr val="black"/>
              </a:solidFill>
            </a:endParaRPr>
          </a:p>
          <a:p>
            <a:pPr algn="just"/>
            <a:r>
              <a:rPr lang="fr-FR" sz="2400" dirty="0">
                <a:solidFill>
                  <a:prstClr val="black"/>
                </a:solidFill>
              </a:rPr>
              <a:t> 4) Attaques contre </a:t>
            </a:r>
            <a:r>
              <a:rPr lang="fr-FR" sz="2400" b="1" dirty="0">
                <a:solidFill>
                  <a:srgbClr val="002060"/>
                </a:solidFill>
              </a:rPr>
              <a:t>les modèles biométriques </a:t>
            </a:r>
            <a:r>
              <a:rPr lang="fr-FR" sz="2400" dirty="0">
                <a:solidFill>
                  <a:prstClr val="black"/>
                </a:solidFill>
              </a:rPr>
              <a:t>qui sont stockés dans la base de données du système. Les attaques de cette catégorie sont</a:t>
            </a:r>
          </a:p>
          <a:p>
            <a:pPr algn="just"/>
            <a:r>
              <a:rPr lang="fr-FR" sz="2400" dirty="0">
                <a:solidFill>
                  <a:prstClr val="black"/>
                </a:solidFill>
              </a:rPr>
              <a:t>considérées parmi les attaques les plus dommageables à un système biométrique.</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88" y="2075070"/>
            <a:ext cx="7920880"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107504" y="0"/>
            <a:ext cx="8892480" cy="707886"/>
          </a:xfrm>
          <a:prstGeom prst="rect">
            <a:avLst/>
          </a:prstGeom>
          <a:noFill/>
        </p:spPr>
        <p:txBody>
          <a:bodyPr wrap="square" rtlCol="0">
            <a:spAutoFit/>
          </a:bodyPr>
          <a:lstStyle/>
          <a:p>
            <a:pPr>
              <a:spcBef>
                <a:spcPct val="0"/>
              </a:spcBef>
            </a:pPr>
            <a:r>
              <a:rPr lang="fr-FR" sz="4000" b="1" dirty="0" smtClean="0">
                <a:solidFill>
                  <a:srgbClr val="002060"/>
                </a:solidFill>
              </a:rPr>
              <a:t>Attaques sur les </a:t>
            </a:r>
            <a:r>
              <a:rPr lang="fr-FR" sz="4000" b="1" dirty="0">
                <a:solidFill>
                  <a:srgbClr val="002060"/>
                </a:solidFill>
              </a:rPr>
              <a:t>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033685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43</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374679" y="908719"/>
            <a:ext cx="8676456" cy="1200329"/>
          </a:xfrm>
          <a:prstGeom prst="rect">
            <a:avLst/>
          </a:prstGeom>
        </p:spPr>
        <p:txBody>
          <a:bodyPr wrap="square">
            <a:spAutoFit/>
          </a:bodyPr>
          <a:lstStyle/>
          <a:p>
            <a:r>
              <a:rPr lang="fr-FR" sz="2400" dirty="0">
                <a:solidFill>
                  <a:prstClr val="black"/>
                </a:solidFill>
              </a:rPr>
              <a:t>Une technique idéale de protection des modèles biométriques doit </a:t>
            </a:r>
            <a:r>
              <a:rPr lang="fr-FR" sz="2400" dirty="0" err="1"/>
              <a:t>doit</a:t>
            </a:r>
            <a:r>
              <a:rPr lang="fr-FR" sz="2400" dirty="0"/>
              <a:t> répondre aux critères suivants : </a:t>
            </a:r>
            <a:br>
              <a:rPr lang="fr-FR" sz="2400" dirty="0"/>
            </a:br>
            <a:endParaRPr lang="fr-FR" sz="2400" dirty="0">
              <a:solidFill>
                <a:prstClr val="black"/>
              </a:solidFill>
            </a:endParaRPr>
          </a:p>
        </p:txBody>
      </p:sp>
      <p:sp>
        <p:nvSpPr>
          <p:cNvPr id="4" name="Rectangle 3"/>
          <p:cNvSpPr/>
          <p:nvPr/>
        </p:nvSpPr>
        <p:spPr>
          <a:xfrm>
            <a:off x="272377" y="2109049"/>
            <a:ext cx="8778758" cy="4154984"/>
          </a:xfrm>
          <a:prstGeom prst="rect">
            <a:avLst/>
          </a:prstGeom>
        </p:spPr>
        <p:txBody>
          <a:bodyPr wrap="square">
            <a:spAutoFit/>
          </a:bodyPr>
          <a:lstStyle/>
          <a:p>
            <a:pPr marL="457200" indent="-457200" algn="just">
              <a:buFont typeface="+mj-lt"/>
              <a:buAutoNum type="arabicPeriod"/>
            </a:pPr>
            <a:r>
              <a:rPr lang="fr-FR" sz="2400" b="1" dirty="0">
                <a:solidFill>
                  <a:prstClr val="black"/>
                </a:solidFill>
              </a:rPr>
              <a:t>La</a:t>
            </a:r>
            <a:r>
              <a:rPr lang="fr-FR" b="1" i="1" dirty="0"/>
              <a:t> </a:t>
            </a:r>
            <a:r>
              <a:rPr lang="fr-FR" sz="2400" b="1" dirty="0">
                <a:solidFill>
                  <a:prstClr val="black"/>
                </a:solidFill>
              </a:rPr>
              <a:t>diversité </a:t>
            </a:r>
            <a:r>
              <a:rPr lang="fr-FR" sz="2400" dirty="0">
                <a:solidFill>
                  <a:prstClr val="black"/>
                </a:solidFill>
              </a:rPr>
              <a:t>: les modèles </a:t>
            </a:r>
            <a:r>
              <a:rPr lang="fr-FR" sz="2400" dirty="0" smtClean="0">
                <a:solidFill>
                  <a:prstClr val="black"/>
                </a:solidFill>
              </a:rPr>
              <a:t>biométriques protégés </a:t>
            </a:r>
            <a:r>
              <a:rPr lang="fr-FR" sz="2400" dirty="0">
                <a:solidFill>
                  <a:prstClr val="black"/>
                </a:solidFill>
              </a:rPr>
              <a:t>(qui appartiennent à la </a:t>
            </a:r>
            <a:r>
              <a:rPr lang="fr-FR" sz="2400" dirty="0" smtClean="0">
                <a:solidFill>
                  <a:prstClr val="black"/>
                </a:solidFill>
              </a:rPr>
              <a:t>même identité inscrite </a:t>
            </a:r>
            <a:r>
              <a:rPr lang="fr-FR" sz="2400" dirty="0">
                <a:solidFill>
                  <a:prstClr val="black"/>
                </a:solidFill>
              </a:rPr>
              <a:t>dans plusieurs systèmes biométriques), ne devraient pas se </a:t>
            </a:r>
            <a:r>
              <a:rPr lang="fr-FR" sz="2400" dirty="0" smtClean="0">
                <a:solidFill>
                  <a:prstClr val="black"/>
                </a:solidFill>
              </a:rPr>
              <a:t>correspondre pour éviter </a:t>
            </a:r>
            <a:r>
              <a:rPr lang="fr-FR" sz="2400" dirty="0">
                <a:solidFill>
                  <a:prstClr val="black"/>
                </a:solidFill>
              </a:rPr>
              <a:t>le cross-</a:t>
            </a:r>
            <a:r>
              <a:rPr lang="fr-FR" sz="2400" dirty="0" err="1">
                <a:solidFill>
                  <a:prstClr val="black"/>
                </a:solidFill>
              </a:rPr>
              <a:t>matching</a:t>
            </a:r>
            <a:r>
              <a:rPr lang="fr-FR" sz="2400" dirty="0">
                <a:solidFill>
                  <a:prstClr val="black"/>
                </a:solidFill>
              </a:rPr>
              <a:t> (suivi d’une personne dans plusieurs applications) </a:t>
            </a:r>
            <a:r>
              <a:rPr lang="fr-FR" sz="2400" dirty="0" smtClean="0">
                <a:solidFill>
                  <a:prstClr val="black"/>
                </a:solidFill>
              </a:rPr>
              <a:t>et </a:t>
            </a:r>
            <a:r>
              <a:rPr lang="fr-FR" sz="2400" dirty="0" smtClean="0">
                <a:solidFill>
                  <a:prstClr val="black"/>
                </a:solidFill>
              </a:rPr>
              <a:t>préserver </a:t>
            </a:r>
            <a:r>
              <a:rPr lang="fr-FR" sz="2400" dirty="0">
                <a:solidFill>
                  <a:prstClr val="black"/>
                </a:solidFill>
              </a:rPr>
              <a:t>la vie privée. </a:t>
            </a:r>
            <a:endParaRPr lang="fr-FR" sz="2400" dirty="0" smtClean="0">
              <a:solidFill>
                <a:prstClr val="black"/>
              </a:solidFill>
            </a:endParaRPr>
          </a:p>
          <a:p>
            <a:endParaRPr lang="fr-FR" sz="2400" dirty="0" smtClean="0"/>
          </a:p>
          <a:p>
            <a:pPr algn="just"/>
            <a:r>
              <a:rPr lang="fr-FR" sz="2400" dirty="0" smtClean="0"/>
              <a:t>En </a:t>
            </a:r>
            <a:r>
              <a:rPr lang="fr-FR" sz="2400" dirty="0"/>
              <a:t>d'autres termes, il devrait être envisageable de produire à partir d'un même modèle original non </a:t>
            </a:r>
            <a:r>
              <a:rPr lang="fr-FR" sz="2400" dirty="0" smtClean="0"/>
              <a:t>protégé un </a:t>
            </a:r>
            <a:r>
              <a:rPr lang="fr-FR" sz="2400" dirty="0"/>
              <a:t>grand nombre de modèles protégés </a:t>
            </a:r>
            <a:r>
              <a:rPr lang="fr-FR" sz="2400" dirty="0" smtClean="0"/>
              <a:t>qui </a:t>
            </a:r>
            <a:r>
              <a:rPr lang="fr-FR" sz="2400" dirty="0"/>
              <a:t>ne se </a:t>
            </a:r>
            <a:r>
              <a:rPr lang="fr-FR" sz="2400" dirty="0" smtClean="0"/>
              <a:t>correspondent pas, afin </a:t>
            </a:r>
            <a:r>
              <a:rPr lang="fr-FR" sz="2400" dirty="0"/>
              <a:t>que la personne puisse utiliser le même trait biométrique dans diverses applications. </a:t>
            </a:r>
            <a:br>
              <a:rPr lang="fr-FR" sz="2400" dirty="0"/>
            </a:br>
            <a:endParaRPr lang="fr-FR" sz="2400" dirty="0">
              <a:solidFill>
                <a:prstClr val="black"/>
              </a:solidFill>
            </a:endParaRPr>
          </a:p>
        </p:txBody>
      </p:sp>
    </p:spTree>
    <p:extLst>
      <p:ext uri="{BB962C8B-B14F-4D97-AF65-F5344CB8AC3E}">
        <p14:creationId xmlns:p14="http://schemas.microsoft.com/office/powerpoint/2010/main" val="57255915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44</a:t>
            </a:fld>
            <a:endParaRPr lang="fr-FR">
              <a:solidFill>
                <a:prstClr val="black">
                  <a:tint val="95000"/>
                </a:prstClr>
              </a:solidFill>
            </a:endParaRPr>
          </a:p>
        </p:txBody>
      </p:sp>
      <p:sp>
        <p:nvSpPr>
          <p:cNvPr id="3" name="Rectangle 2"/>
          <p:cNvSpPr/>
          <p:nvPr/>
        </p:nvSpPr>
        <p:spPr>
          <a:xfrm>
            <a:off x="307862" y="1268760"/>
            <a:ext cx="8584617" cy="3785652"/>
          </a:xfrm>
          <a:prstGeom prst="rect">
            <a:avLst/>
          </a:prstGeom>
        </p:spPr>
        <p:txBody>
          <a:bodyPr wrap="square">
            <a:spAutoFit/>
          </a:bodyPr>
          <a:lstStyle/>
          <a:p>
            <a:r>
              <a:rPr lang="fr-FR" sz="2400" dirty="0" smtClean="0">
                <a:solidFill>
                  <a:prstClr val="black"/>
                </a:solidFill>
              </a:rPr>
              <a:t>2. </a:t>
            </a:r>
            <a:r>
              <a:rPr lang="fr-FR" sz="2400" b="1" dirty="0" smtClean="0">
                <a:solidFill>
                  <a:prstClr val="black"/>
                </a:solidFill>
              </a:rPr>
              <a:t>La </a:t>
            </a:r>
            <a:r>
              <a:rPr lang="fr-FR" sz="2400" b="1" dirty="0">
                <a:solidFill>
                  <a:prstClr val="black"/>
                </a:solidFill>
              </a:rPr>
              <a:t>révocabilité </a:t>
            </a:r>
            <a:r>
              <a:rPr lang="fr-FR" sz="2400" b="1" dirty="0" smtClean="0">
                <a:solidFill>
                  <a:prstClr val="black"/>
                </a:solidFill>
              </a:rPr>
              <a:t>:</a:t>
            </a:r>
          </a:p>
          <a:p>
            <a:endParaRPr lang="fr-FR" sz="2400" b="1" dirty="0" smtClean="0">
              <a:solidFill>
                <a:prstClr val="black"/>
              </a:solidFill>
            </a:endParaRPr>
          </a:p>
          <a:p>
            <a:pPr algn="just"/>
            <a:r>
              <a:rPr lang="fr-FR" sz="2400" dirty="0" smtClean="0">
                <a:solidFill>
                  <a:prstClr val="black"/>
                </a:solidFill>
              </a:rPr>
              <a:t>Il devrait être possible de révoquer un modèle biométrique compromis et </a:t>
            </a:r>
            <a:r>
              <a:rPr lang="fr-FR" sz="2400" dirty="0">
                <a:solidFill>
                  <a:prstClr val="black"/>
                </a:solidFill>
              </a:rPr>
              <a:t>générer un nouvel modèle qui est basé sur le même trait biométrique </a:t>
            </a:r>
            <a:r>
              <a:rPr lang="fr-FR" sz="2400" dirty="0" smtClean="0">
                <a:solidFill>
                  <a:prstClr val="black"/>
                </a:solidFill>
              </a:rPr>
              <a:t>original (non </a:t>
            </a:r>
            <a:r>
              <a:rPr lang="fr-FR" sz="2400" dirty="0">
                <a:solidFill>
                  <a:prstClr val="black"/>
                </a:solidFill>
              </a:rPr>
              <a:t>protégé). </a:t>
            </a:r>
            <a:endParaRPr lang="fr-FR" sz="2400" dirty="0" smtClean="0">
              <a:solidFill>
                <a:prstClr val="black"/>
              </a:solidFill>
            </a:endParaRPr>
          </a:p>
          <a:p>
            <a:pPr algn="just"/>
            <a:endParaRPr lang="fr-FR" sz="2400" dirty="0">
              <a:solidFill>
                <a:prstClr val="black"/>
              </a:solidFill>
            </a:endParaRPr>
          </a:p>
          <a:p>
            <a:pPr algn="just"/>
            <a:r>
              <a:rPr lang="fr-FR" sz="2400" dirty="0" smtClean="0"/>
              <a:t>La révocabilité est </a:t>
            </a:r>
            <a:r>
              <a:rPr lang="fr-FR" sz="2400" dirty="0"/>
              <a:t>directement liée à la diversité. </a:t>
            </a:r>
            <a:endParaRPr lang="fr-FR" sz="2400" dirty="0" smtClean="0"/>
          </a:p>
          <a:p>
            <a:pPr algn="just"/>
            <a:r>
              <a:rPr lang="fr-FR" sz="2400" dirty="0" smtClean="0"/>
              <a:t>En </a:t>
            </a:r>
            <a:r>
              <a:rPr lang="fr-FR" sz="2400" dirty="0"/>
              <a:t>cas de diversité offerte par une technique de protection, il sera envisageable de produire de nouveaux modèles afin de substituer les </a:t>
            </a:r>
            <a:r>
              <a:rPr lang="fr-FR" sz="2400" dirty="0" smtClean="0"/>
              <a:t>modèles menacés.</a:t>
            </a:r>
            <a:endParaRPr lang="fr-FR" sz="2400" dirty="0">
              <a:solidFill>
                <a:prstClr val="black"/>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694729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45</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07504" y="751344"/>
            <a:ext cx="8892480" cy="6370975"/>
          </a:xfrm>
          <a:prstGeom prst="rect">
            <a:avLst/>
          </a:prstGeom>
        </p:spPr>
        <p:txBody>
          <a:bodyPr wrap="square">
            <a:spAutoFit/>
          </a:bodyPr>
          <a:lstStyle/>
          <a:p>
            <a:pPr marL="457200" indent="-457200">
              <a:buAutoNum type="arabicPeriod" startAt="3"/>
            </a:pPr>
            <a:r>
              <a:rPr lang="fr-FR" sz="2400" b="1" dirty="0" smtClean="0">
                <a:solidFill>
                  <a:prstClr val="black"/>
                </a:solidFill>
              </a:rPr>
              <a:t>La non-</a:t>
            </a:r>
            <a:r>
              <a:rPr lang="fr-FR" sz="2400" b="1" dirty="0" err="1" smtClean="0">
                <a:solidFill>
                  <a:prstClr val="black"/>
                </a:solidFill>
              </a:rPr>
              <a:t>inversibilité</a:t>
            </a:r>
            <a:r>
              <a:rPr lang="fr-FR" sz="2400" b="1" dirty="0" smtClean="0">
                <a:solidFill>
                  <a:prstClr val="black"/>
                </a:solidFill>
              </a:rPr>
              <a:t> : </a:t>
            </a:r>
          </a:p>
          <a:p>
            <a:endParaRPr lang="fr-FR" sz="2400" b="1" dirty="0" smtClean="0">
              <a:solidFill>
                <a:prstClr val="black"/>
              </a:solidFill>
            </a:endParaRPr>
          </a:p>
          <a:p>
            <a:pPr algn="just"/>
            <a:r>
              <a:rPr lang="fr-FR" sz="2400" dirty="0"/>
              <a:t>D'un point de vue mathématique, il doit être </a:t>
            </a:r>
            <a:r>
              <a:rPr lang="fr-FR" sz="2400" dirty="0" smtClean="0"/>
              <a:t>difficile de </a:t>
            </a:r>
            <a:r>
              <a:rPr lang="fr-FR" sz="2400" dirty="0"/>
              <a:t>récupérer le modèle original à partir d'un modèle protégé. </a:t>
            </a:r>
            <a:br>
              <a:rPr lang="fr-FR" sz="2400" dirty="0"/>
            </a:br>
            <a:r>
              <a:rPr lang="fr-FR" sz="2400" dirty="0"/>
              <a:t>Cette exigence </a:t>
            </a:r>
            <a:r>
              <a:rPr lang="fr-FR" sz="2400" dirty="0" smtClean="0"/>
              <a:t>implique que </a:t>
            </a:r>
            <a:r>
              <a:rPr lang="fr-FR" sz="2400" dirty="0"/>
              <a:t>la classification doit être </a:t>
            </a:r>
            <a:r>
              <a:rPr lang="fr-FR" sz="2400" dirty="0" smtClean="0"/>
              <a:t>faite  </a:t>
            </a:r>
            <a:r>
              <a:rPr lang="fr-FR" sz="2400" dirty="0"/>
              <a:t>dans l'espace des modèles protégés, ce qui peut avoir un impact considérable sur les performances. </a:t>
            </a:r>
            <a:br>
              <a:rPr lang="fr-FR" sz="2400" dirty="0"/>
            </a:br>
            <a:endParaRPr lang="fr-FR" sz="2400" dirty="0">
              <a:solidFill>
                <a:prstClr val="black"/>
              </a:solidFill>
            </a:endParaRPr>
          </a:p>
          <a:p>
            <a:pPr marL="457200" indent="-457200">
              <a:buAutoNum type="arabicPeriod" startAt="4"/>
            </a:pPr>
            <a:r>
              <a:rPr lang="fr-FR" sz="2400" b="1" dirty="0" smtClean="0">
                <a:solidFill>
                  <a:prstClr val="black"/>
                </a:solidFill>
              </a:rPr>
              <a:t>La </a:t>
            </a:r>
            <a:r>
              <a:rPr lang="fr-FR" sz="2400" b="1" dirty="0">
                <a:solidFill>
                  <a:prstClr val="black"/>
                </a:solidFill>
              </a:rPr>
              <a:t>performance : </a:t>
            </a:r>
            <a:endParaRPr lang="fr-FR" sz="2400" b="1" dirty="0" smtClean="0">
              <a:solidFill>
                <a:prstClr val="black"/>
              </a:solidFill>
            </a:endParaRPr>
          </a:p>
          <a:p>
            <a:endParaRPr lang="fr-FR" sz="2400" b="1" dirty="0" smtClean="0">
              <a:solidFill>
                <a:prstClr val="black"/>
              </a:solidFill>
            </a:endParaRPr>
          </a:p>
          <a:p>
            <a:pPr algn="just"/>
            <a:r>
              <a:rPr lang="fr-FR" sz="2400" dirty="0"/>
              <a:t>Il est important que la méthode de protection ne dégrade pas de manière significative les performances de la reconnaissance du système biométrique original. </a:t>
            </a:r>
            <a:br>
              <a:rPr lang="fr-FR" sz="2400" dirty="0"/>
            </a:br>
            <a:r>
              <a:rPr lang="fr-FR" sz="2400" dirty="0"/>
              <a:t>En cas de dégradation significative de la performance, les attaques à zéro effort deviennent encore plus </a:t>
            </a:r>
            <a:r>
              <a:rPr lang="fr-FR" sz="2400" dirty="0" smtClean="0"/>
              <a:t>faciles </a:t>
            </a:r>
            <a:r>
              <a:rPr lang="fr-FR" sz="2400" dirty="0"/>
              <a:t>pour un adversaire qu'une attaque à force brute </a:t>
            </a:r>
            <a:r>
              <a:rPr lang="fr-FR" sz="2400" dirty="0" smtClean="0"/>
              <a:t>afin de restituer </a:t>
            </a:r>
            <a:r>
              <a:rPr lang="fr-FR" sz="2400" dirty="0"/>
              <a:t>le modèle initial.</a:t>
            </a:r>
            <a:br>
              <a:rPr lang="fr-FR" sz="2400" dirty="0"/>
            </a:br>
            <a:endParaRPr lang="fr-FR" sz="2400" dirty="0">
              <a:solidFill>
                <a:prstClr val="black"/>
              </a:solidFill>
            </a:endParaRPr>
          </a:p>
        </p:txBody>
      </p:sp>
    </p:spTree>
    <p:extLst>
      <p:ext uri="{BB962C8B-B14F-4D97-AF65-F5344CB8AC3E}">
        <p14:creationId xmlns:p14="http://schemas.microsoft.com/office/powerpoint/2010/main" val="261726397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46</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0" y="1052736"/>
            <a:ext cx="8999984" cy="5632311"/>
          </a:xfrm>
          <a:prstGeom prst="rect">
            <a:avLst/>
          </a:prstGeom>
        </p:spPr>
        <p:txBody>
          <a:bodyPr wrap="square">
            <a:spAutoFit/>
          </a:bodyPr>
          <a:lstStyle/>
          <a:p>
            <a:pPr algn="just"/>
            <a:r>
              <a:rPr lang="fr-FR" sz="2400" dirty="0" smtClean="0"/>
              <a:t>Deux </a:t>
            </a:r>
            <a:r>
              <a:rPr lang="fr-FR" sz="2400" dirty="0"/>
              <a:t>catégories principales de solutions </a:t>
            </a:r>
            <a:r>
              <a:rPr lang="fr-FR" sz="2400" dirty="0" smtClean="0"/>
              <a:t>sont proposées </a:t>
            </a:r>
            <a:r>
              <a:rPr lang="fr-FR" sz="2400" dirty="0"/>
              <a:t>pour la protection des systèmes biométriques : </a:t>
            </a:r>
            <a:endParaRPr lang="fr-FR" sz="2400" dirty="0" smtClean="0"/>
          </a:p>
          <a:p>
            <a:pPr algn="just"/>
            <a:endParaRPr lang="fr-FR" sz="2400" dirty="0">
              <a:solidFill>
                <a:prstClr val="black"/>
              </a:solidFill>
            </a:endParaRPr>
          </a:p>
          <a:p>
            <a:pPr algn="just"/>
            <a:r>
              <a:rPr lang="fr-FR" sz="2400" dirty="0" smtClean="0">
                <a:solidFill>
                  <a:prstClr val="black"/>
                </a:solidFill>
              </a:rPr>
              <a:t>	solutions </a:t>
            </a:r>
            <a:r>
              <a:rPr lang="fr-FR" sz="2400" b="1" dirty="0">
                <a:solidFill>
                  <a:srgbClr val="002060"/>
                </a:solidFill>
              </a:rPr>
              <a:t>palliatives</a:t>
            </a:r>
            <a:r>
              <a:rPr lang="fr-FR" sz="2400" dirty="0">
                <a:solidFill>
                  <a:prstClr val="black"/>
                </a:solidFill>
              </a:rPr>
              <a:t> et solutions </a:t>
            </a:r>
            <a:r>
              <a:rPr lang="fr-FR" sz="2400" b="1" dirty="0">
                <a:solidFill>
                  <a:srgbClr val="002060"/>
                </a:solidFill>
              </a:rPr>
              <a:t>préventives</a:t>
            </a:r>
            <a:r>
              <a:rPr lang="fr-FR" sz="2400" b="1" dirty="0">
                <a:solidFill>
                  <a:prstClr val="black"/>
                </a:solidFill>
              </a:rPr>
              <a:t>. </a:t>
            </a:r>
          </a:p>
          <a:p>
            <a:pPr algn="just"/>
            <a:endParaRPr lang="fr-FR" sz="2400" dirty="0">
              <a:solidFill>
                <a:prstClr val="black"/>
              </a:solidFill>
            </a:endParaRPr>
          </a:p>
          <a:p>
            <a:pPr algn="just"/>
            <a:r>
              <a:rPr lang="fr-FR" sz="2400" dirty="0">
                <a:solidFill>
                  <a:prstClr val="black"/>
                </a:solidFill>
              </a:rPr>
              <a:t>Chaque catégorie peut être divisée en deux types </a:t>
            </a:r>
            <a:r>
              <a:rPr lang="fr-FR" sz="2400" dirty="0" smtClean="0">
                <a:solidFill>
                  <a:prstClr val="black"/>
                </a:solidFill>
              </a:rPr>
              <a:t>:</a:t>
            </a:r>
          </a:p>
          <a:p>
            <a:pPr algn="just"/>
            <a:endParaRPr lang="fr-FR" sz="2400" dirty="0">
              <a:solidFill>
                <a:prstClr val="black"/>
              </a:solidFill>
            </a:endParaRPr>
          </a:p>
          <a:p>
            <a:pPr algn="just"/>
            <a:r>
              <a:rPr lang="fr-FR" sz="2400" dirty="0" smtClean="0">
                <a:solidFill>
                  <a:prstClr val="black"/>
                </a:solidFill>
              </a:rPr>
              <a:t>	 </a:t>
            </a:r>
            <a:r>
              <a:rPr lang="fr-FR" sz="2400" dirty="0">
                <a:solidFill>
                  <a:prstClr val="black"/>
                </a:solidFill>
              </a:rPr>
              <a:t>approches </a:t>
            </a:r>
            <a:r>
              <a:rPr lang="fr-FR" sz="2400" b="1" dirty="0">
                <a:solidFill>
                  <a:srgbClr val="002060"/>
                </a:solidFill>
              </a:rPr>
              <a:t>matérielles</a:t>
            </a:r>
            <a:r>
              <a:rPr lang="fr-FR" sz="2400" dirty="0">
                <a:solidFill>
                  <a:srgbClr val="002060"/>
                </a:solidFill>
              </a:rPr>
              <a:t> </a:t>
            </a:r>
            <a:r>
              <a:rPr lang="fr-FR" sz="2400" dirty="0">
                <a:solidFill>
                  <a:prstClr val="black"/>
                </a:solidFill>
              </a:rPr>
              <a:t>et approches </a:t>
            </a:r>
            <a:r>
              <a:rPr lang="fr-FR" sz="2400" b="1" dirty="0">
                <a:solidFill>
                  <a:srgbClr val="002060"/>
                </a:solidFill>
              </a:rPr>
              <a:t>logicielles</a:t>
            </a:r>
            <a:r>
              <a:rPr lang="fr-FR" sz="2400" b="1" dirty="0">
                <a:solidFill>
                  <a:prstClr val="black"/>
                </a:solidFill>
              </a:rPr>
              <a:t>. </a:t>
            </a:r>
          </a:p>
          <a:p>
            <a:pPr algn="just"/>
            <a:endParaRPr lang="fr-FR" sz="2400" dirty="0">
              <a:solidFill>
                <a:prstClr val="black"/>
              </a:solidFill>
            </a:endParaRPr>
          </a:p>
          <a:p>
            <a:pPr algn="just"/>
            <a:r>
              <a:rPr lang="fr-FR" sz="2400" dirty="0"/>
              <a:t>Les solutions palliatives ont pour but de faire la distinction entre un véritable caractère humain et un caractère artificiel ou falsifié qui est présenté au niveau du capteur. </a:t>
            </a:r>
            <a:endParaRPr lang="fr-FR" sz="2400" dirty="0" smtClean="0"/>
          </a:p>
          <a:p>
            <a:pPr algn="just"/>
            <a:endParaRPr lang="fr-FR" sz="2400" dirty="0">
              <a:solidFill>
                <a:prstClr val="black"/>
              </a:solidFill>
            </a:endParaRPr>
          </a:p>
          <a:p>
            <a:pPr algn="just"/>
            <a:r>
              <a:rPr lang="fr-FR" sz="2400" dirty="0" smtClean="0">
                <a:solidFill>
                  <a:prstClr val="black"/>
                </a:solidFill>
              </a:rPr>
              <a:t>Les </a:t>
            </a:r>
            <a:r>
              <a:rPr lang="fr-FR" sz="2400" dirty="0">
                <a:solidFill>
                  <a:prstClr val="black"/>
                </a:solidFill>
              </a:rPr>
              <a:t>solutions préventives </a:t>
            </a:r>
            <a:r>
              <a:rPr lang="fr-FR" sz="2400" dirty="0" smtClean="0">
                <a:solidFill>
                  <a:prstClr val="black"/>
                </a:solidFill>
              </a:rPr>
              <a:t>quant à elles visent </a:t>
            </a:r>
            <a:r>
              <a:rPr lang="fr-FR" sz="2400" dirty="0">
                <a:solidFill>
                  <a:prstClr val="black"/>
                </a:solidFill>
              </a:rPr>
              <a:t>à </a:t>
            </a:r>
            <a:r>
              <a:rPr lang="fr-FR" sz="2400" dirty="0" smtClean="0">
                <a:solidFill>
                  <a:prstClr val="black"/>
                </a:solidFill>
              </a:rPr>
              <a:t>éviter les  attaques contre les systèmes.</a:t>
            </a:r>
            <a:endParaRPr lang="fr-FR" sz="2400" dirty="0">
              <a:solidFill>
                <a:prstClr val="black"/>
              </a:solidFill>
            </a:endParaRPr>
          </a:p>
        </p:txBody>
      </p:sp>
    </p:spTree>
    <p:extLst>
      <p:ext uri="{BB962C8B-B14F-4D97-AF65-F5344CB8AC3E}">
        <p14:creationId xmlns:p14="http://schemas.microsoft.com/office/powerpoint/2010/main" val="10342342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47</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5" y="908720"/>
            <a:ext cx="8712968" cy="561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972738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48</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33782" y="2132856"/>
            <a:ext cx="8999984" cy="3785652"/>
          </a:xfrm>
          <a:prstGeom prst="rect">
            <a:avLst/>
          </a:prstGeom>
        </p:spPr>
        <p:txBody>
          <a:bodyPr wrap="square">
            <a:spAutoFit/>
          </a:bodyPr>
          <a:lstStyle/>
          <a:p>
            <a:pPr marL="342900" indent="-342900" algn="just">
              <a:buFont typeface="Wingdings" pitchFamily="2" charset="2"/>
              <a:buChar char="Ø"/>
            </a:pPr>
            <a:r>
              <a:rPr lang="fr-FR" sz="2400" dirty="0"/>
              <a:t>La conception des solutions palliatives vise à prévenir les attaques directes contre les capteurs des systèmes biométriques</a:t>
            </a:r>
            <a:r>
              <a:rPr lang="fr-FR" sz="2400" dirty="0" smtClean="0"/>
              <a:t>.</a:t>
            </a:r>
          </a:p>
          <a:p>
            <a:pPr marL="342900" indent="-342900" algn="just">
              <a:buFont typeface="Wingdings" pitchFamily="2" charset="2"/>
              <a:buChar char="Ø"/>
            </a:pPr>
            <a:endParaRPr lang="fr-FR" sz="2400" dirty="0" smtClean="0"/>
          </a:p>
          <a:p>
            <a:pPr marL="342900" indent="-342900" algn="just">
              <a:buFont typeface="Wingdings" pitchFamily="2" charset="2"/>
              <a:buChar char="Ø"/>
            </a:pPr>
            <a:r>
              <a:rPr lang="fr-FR" sz="2400" dirty="0" smtClean="0"/>
              <a:t>Elles </a:t>
            </a:r>
            <a:r>
              <a:rPr lang="fr-FR" sz="2400" dirty="0"/>
              <a:t>ont pour but principal de différencier les véritables caractéristiques humaines des caractéristiques falsifiées, présentées par un adversaire directement sur l'interface utilisateur (le capteur</a:t>
            </a:r>
            <a:r>
              <a:rPr lang="fr-FR" sz="2400" dirty="0" smtClean="0"/>
              <a:t>).</a:t>
            </a:r>
          </a:p>
          <a:p>
            <a:pPr algn="just"/>
            <a:endParaRPr lang="fr-FR" sz="2400" dirty="0" smtClean="0">
              <a:solidFill>
                <a:prstClr val="black"/>
              </a:solidFill>
            </a:endParaRPr>
          </a:p>
          <a:p>
            <a:pPr marL="342900" indent="-342900" algn="just">
              <a:buFont typeface="Wingdings" pitchFamily="2" charset="2"/>
              <a:buChar char="Ø"/>
            </a:pPr>
            <a:r>
              <a:rPr lang="fr-FR" sz="2400" dirty="0" smtClean="0">
                <a:solidFill>
                  <a:prstClr val="black"/>
                </a:solidFill>
              </a:rPr>
              <a:t> </a:t>
            </a:r>
            <a:r>
              <a:rPr lang="fr-FR" sz="2400" dirty="0">
                <a:solidFill>
                  <a:prstClr val="black"/>
                </a:solidFill>
              </a:rPr>
              <a:t>Ces techniques sont </a:t>
            </a:r>
            <a:r>
              <a:rPr lang="fr-FR" sz="2400" dirty="0" smtClean="0">
                <a:solidFill>
                  <a:prstClr val="black"/>
                </a:solidFill>
              </a:rPr>
              <a:t>connues par : </a:t>
            </a:r>
            <a:r>
              <a:rPr lang="fr-FR" sz="2400" dirty="0" err="1">
                <a:solidFill>
                  <a:prstClr val="black"/>
                </a:solidFill>
              </a:rPr>
              <a:t>liveness</a:t>
            </a:r>
            <a:r>
              <a:rPr lang="fr-FR" sz="2400" dirty="0">
                <a:solidFill>
                  <a:prstClr val="black"/>
                </a:solidFill>
              </a:rPr>
              <a:t> </a:t>
            </a:r>
            <a:r>
              <a:rPr lang="fr-FR" sz="2400" dirty="0" err="1">
                <a:solidFill>
                  <a:prstClr val="black"/>
                </a:solidFill>
              </a:rPr>
              <a:t>detection</a:t>
            </a:r>
            <a:r>
              <a:rPr lang="fr-FR" sz="2400" dirty="0">
                <a:solidFill>
                  <a:prstClr val="black"/>
                </a:solidFill>
              </a:rPr>
              <a:t> ou </a:t>
            </a:r>
            <a:r>
              <a:rPr lang="fr-FR" sz="2400" dirty="0" err="1">
                <a:solidFill>
                  <a:prstClr val="black"/>
                </a:solidFill>
              </a:rPr>
              <a:t>spoof</a:t>
            </a:r>
            <a:r>
              <a:rPr lang="fr-FR" sz="2400" dirty="0">
                <a:solidFill>
                  <a:prstClr val="black"/>
                </a:solidFill>
              </a:rPr>
              <a:t> </a:t>
            </a:r>
            <a:r>
              <a:rPr lang="fr-FR" sz="2400" dirty="0" err="1">
                <a:solidFill>
                  <a:prstClr val="black"/>
                </a:solidFill>
              </a:rPr>
              <a:t>detection</a:t>
            </a:r>
            <a:r>
              <a:rPr lang="fr-FR" sz="2400" dirty="0">
                <a:solidFill>
                  <a:prstClr val="black"/>
                </a:solidFill>
              </a:rPr>
              <a:t>.</a:t>
            </a:r>
          </a:p>
        </p:txBody>
      </p:sp>
      <p:sp>
        <p:nvSpPr>
          <p:cNvPr id="4" name="Rectangle 3"/>
          <p:cNvSpPr/>
          <p:nvPr/>
        </p:nvSpPr>
        <p:spPr>
          <a:xfrm>
            <a:off x="2201244" y="1073085"/>
            <a:ext cx="4665060" cy="646331"/>
          </a:xfrm>
          <a:prstGeom prst="rect">
            <a:avLst/>
          </a:prstGeom>
        </p:spPr>
        <p:txBody>
          <a:bodyPr wrap="none">
            <a:spAutoFit/>
          </a:bodyPr>
          <a:lstStyle/>
          <a:p>
            <a:r>
              <a:rPr lang="fr-FR" sz="3600" dirty="0">
                <a:solidFill>
                  <a:srgbClr val="002060"/>
                </a:solidFill>
                <a:effectLst>
                  <a:outerShdw blurRad="38100" dist="38100" dir="2700000" algn="tl">
                    <a:srgbClr val="000000">
                      <a:alpha val="43137"/>
                    </a:srgbClr>
                  </a:outerShdw>
                </a:effectLst>
              </a:rPr>
              <a:t>Les solutions palliatives</a:t>
            </a:r>
          </a:p>
        </p:txBody>
      </p:sp>
    </p:spTree>
    <p:extLst>
      <p:ext uri="{BB962C8B-B14F-4D97-AF65-F5344CB8AC3E}">
        <p14:creationId xmlns:p14="http://schemas.microsoft.com/office/powerpoint/2010/main" val="147330496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49</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522709" y="1116038"/>
            <a:ext cx="4278094" cy="646331"/>
          </a:xfrm>
          <a:prstGeom prst="rect">
            <a:avLst/>
          </a:prstGeom>
        </p:spPr>
        <p:txBody>
          <a:bodyPr wrap="none">
            <a:spAutoFit/>
          </a:bodyPr>
          <a:lstStyle/>
          <a:p>
            <a:r>
              <a:rPr lang="fr-FR" sz="3600" dirty="0">
                <a:solidFill>
                  <a:srgbClr val="002060"/>
                </a:solidFill>
                <a:effectLst>
                  <a:outerShdw blurRad="38100" dist="38100" dir="2700000" algn="tl">
                    <a:srgbClr val="000000">
                      <a:alpha val="43137"/>
                    </a:srgbClr>
                  </a:outerShdw>
                </a:effectLst>
              </a:rPr>
              <a:t>Solutions préventives</a:t>
            </a:r>
          </a:p>
        </p:txBody>
      </p:sp>
      <p:sp>
        <p:nvSpPr>
          <p:cNvPr id="4" name="Rectangle 3"/>
          <p:cNvSpPr/>
          <p:nvPr/>
        </p:nvSpPr>
        <p:spPr>
          <a:xfrm>
            <a:off x="483966" y="2132856"/>
            <a:ext cx="8336506" cy="3046988"/>
          </a:xfrm>
          <a:prstGeom prst="rect">
            <a:avLst/>
          </a:prstGeom>
        </p:spPr>
        <p:txBody>
          <a:bodyPr wrap="square">
            <a:spAutoFit/>
          </a:bodyPr>
          <a:lstStyle/>
          <a:p>
            <a:pPr marL="285750" indent="-285750" algn="just">
              <a:buFont typeface="Wingdings" pitchFamily="2" charset="2"/>
              <a:buChar char="Ø"/>
            </a:pPr>
            <a:r>
              <a:rPr lang="fr-FR" sz="2400" dirty="0"/>
              <a:t>La protection des modèles biométriques stockés dans la base de données du système est assurée par les solutions préventives. </a:t>
            </a:r>
            <a:endParaRPr lang="fr-FR" sz="2400" dirty="0" smtClean="0"/>
          </a:p>
          <a:p>
            <a:pPr marL="285750" indent="-285750" algn="just">
              <a:buFont typeface="Wingdings" pitchFamily="2" charset="2"/>
              <a:buChar char="Ø"/>
            </a:pPr>
            <a:endParaRPr lang="fr-FR" sz="2400" dirty="0"/>
          </a:p>
          <a:p>
            <a:pPr marL="285750" indent="-285750" algn="just">
              <a:buFont typeface="Wingdings" pitchFamily="2" charset="2"/>
              <a:buChar char="Ø"/>
            </a:pPr>
            <a:r>
              <a:rPr lang="fr-FR" sz="2400" dirty="0" smtClean="0"/>
              <a:t>Le but étant  </a:t>
            </a:r>
            <a:r>
              <a:rPr lang="fr-FR" sz="2400" dirty="0"/>
              <a:t>de trouver une solution à la question de l'irrévocabilité des modèles biométriques. </a:t>
            </a:r>
            <a:br>
              <a:rPr lang="fr-FR" sz="2400" dirty="0"/>
            </a:br>
            <a:r>
              <a:rPr lang="fr-FR" sz="2400" dirty="0"/>
              <a:t/>
            </a:r>
            <a:br>
              <a:rPr lang="fr-FR" sz="2400" dirty="0"/>
            </a:br>
            <a:endParaRPr lang="fr-FR" sz="2400" dirty="0">
              <a:solidFill>
                <a:prstClr val="black"/>
              </a:solidFill>
            </a:endParaRPr>
          </a:p>
        </p:txBody>
      </p:sp>
    </p:spTree>
    <p:extLst>
      <p:ext uri="{BB962C8B-B14F-4D97-AF65-F5344CB8AC3E}">
        <p14:creationId xmlns:p14="http://schemas.microsoft.com/office/powerpoint/2010/main" val="57197462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50</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215516" y="2224844"/>
            <a:ext cx="8784468" cy="3785652"/>
          </a:xfrm>
          <a:prstGeom prst="rect">
            <a:avLst/>
          </a:prstGeom>
        </p:spPr>
        <p:txBody>
          <a:bodyPr wrap="square">
            <a:spAutoFit/>
          </a:bodyPr>
          <a:lstStyle/>
          <a:p>
            <a:pPr marL="285750" indent="-285750" algn="just">
              <a:buFont typeface="Wingdings" pitchFamily="2" charset="2"/>
              <a:buChar char="Ø"/>
            </a:pPr>
            <a:r>
              <a:rPr lang="fr-FR" sz="2400" dirty="0"/>
              <a:t>Les solutions préventives matérielles visent à déplacer autant de modules (du système biométrique) que possible sur un matériel sécurisé (comme une carte à puce avec une mémoire RAM, ROM, mémoire de stockage et un système d'exploitation simple) afin de garantir que les modèles biométriques ne quittent jamais ce matériel sécurisé et d'éviter les attaques d'intrusion. </a:t>
            </a:r>
            <a:br>
              <a:rPr lang="fr-FR" sz="2400" dirty="0"/>
            </a:br>
            <a:r>
              <a:rPr lang="fr-FR" sz="2400" dirty="0"/>
              <a:t/>
            </a:r>
            <a:br>
              <a:rPr lang="fr-FR" sz="2400" dirty="0"/>
            </a:br>
            <a:endParaRPr lang="fr-FR" sz="2400" dirty="0" smtClean="0">
              <a:solidFill>
                <a:prstClr val="black"/>
              </a:solidFill>
            </a:endParaRPr>
          </a:p>
          <a:p>
            <a:pPr marL="342900" indent="-342900" algn="just">
              <a:buFont typeface="Wingdings" pitchFamily="2" charset="2"/>
              <a:buChar char="Ø"/>
            </a:pPr>
            <a:r>
              <a:rPr lang="fr-FR" sz="2400" dirty="0" smtClean="0">
                <a:solidFill>
                  <a:prstClr val="black"/>
                </a:solidFill>
              </a:rPr>
              <a:t>On peut </a:t>
            </a:r>
            <a:r>
              <a:rPr lang="fr-FR" sz="2400" dirty="0">
                <a:solidFill>
                  <a:prstClr val="black"/>
                </a:solidFill>
              </a:rPr>
              <a:t>distinguer deux versions de ces approches : </a:t>
            </a:r>
            <a:endParaRPr lang="fr-FR" sz="2400" dirty="0" smtClean="0">
              <a:solidFill>
                <a:prstClr val="black"/>
              </a:solidFill>
            </a:endParaRPr>
          </a:p>
          <a:p>
            <a:pPr algn="ctr"/>
            <a:r>
              <a:rPr lang="fr-FR" sz="2400" dirty="0">
                <a:solidFill>
                  <a:prstClr val="black"/>
                </a:solidFill>
              </a:rPr>
              <a:t>	</a:t>
            </a:r>
            <a:r>
              <a:rPr lang="fr-FR" sz="2400" dirty="0" smtClean="0">
                <a:solidFill>
                  <a:prstClr val="black"/>
                </a:solidFill>
              </a:rPr>
              <a:t>Match-on-</a:t>
            </a:r>
            <a:r>
              <a:rPr lang="en-US" sz="2400" dirty="0" smtClean="0">
                <a:solidFill>
                  <a:prstClr val="black"/>
                </a:solidFill>
              </a:rPr>
              <a:t>Card </a:t>
            </a:r>
            <a:r>
              <a:rPr lang="en-US" sz="2400" dirty="0">
                <a:solidFill>
                  <a:prstClr val="black"/>
                </a:solidFill>
              </a:rPr>
              <a:t>(</a:t>
            </a:r>
            <a:r>
              <a:rPr lang="en-US" sz="2400" dirty="0" err="1">
                <a:solidFill>
                  <a:prstClr val="black"/>
                </a:solidFill>
              </a:rPr>
              <a:t>MoC</a:t>
            </a:r>
            <a:r>
              <a:rPr lang="en-US" sz="2400" dirty="0">
                <a:solidFill>
                  <a:prstClr val="black"/>
                </a:solidFill>
              </a:rPr>
              <a:t>) et System-on-a-Chip (</a:t>
            </a:r>
            <a:r>
              <a:rPr lang="en-US" sz="2400" dirty="0" err="1">
                <a:solidFill>
                  <a:prstClr val="black"/>
                </a:solidFill>
              </a:rPr>
              <a:t>SoC</a:t>
            </a:r>
            <a:r>
              <a:rPr lang="en-US" sz="2400" dirty="0">
                <a:solidFill>
                  <a:prstClr val="black"/>
                </a:solidFill>
              </a:rPr>
              <a:t>).</a:t>
            </a:r>
            <a:endParaRPr lang="fr-FR" sz="2400" dirty="0">
              <a:solidFill>
                <a:prstClr val="black"/>
              </a:solidFill>
            </a:endParaRPr>
          </a:p>
        </p:txBody>
      </p:sp>
      <p:sp>
        <p:nvSpPr>
          <p:cNvPr id="4" name="Rectangle 3"/>
          <p:cNvSpPr/>
          <p:nvPr/>
        </p:nvSpPr>
        <p:spPr>
          <a:xfrm>
            <a:off x="1763688" y="980728"/>
            <a:ext cx="6192688" cy="1200329"/>
          </a:xfrm>
          <a:prstGeom prst="rect">
            <a:avLst/>
          </a:prstGeom>
        </p:spPr>
        <p:txBody>
          <a:bodyPr wrap="square">
            <a:spAutoFit/>
          </a:bodyPr>
          <a:lstStyle/>
          <a:p>
            <a:pPr algn="ctr"/>
            <a:r>
              <a:rPr lang="fr-FR" sz="3600" dirty="0">
                <a:solidFill>
                  <a:srgbClr val="002060"/>
                </a:solidFill>
                <a:effectLst>
                  <a:outerShdw blurRad="38100" dist="38100" dir="2700000" algn="tl">
                    <a:srgbClr val="000000">
                      <a:alpha val="43137"/>
                    </a:srgbClr>
                  </a:outerShdw>
                </a:effectLst>
              </a:rPr>
              <a:t>Approches matérielles des solutions préventives</a:t>
            </a:r>
          </a:p>
        </p:txBody>
      </p:sp>
    </p:spTree>
    <p:extLst>
      <p:ext uri="{BB962C8B-B14F-4D97-AF65-F5344CB8AC3E}">
        <p14:creationId xmlns:p14="http://schemas.microsoft.com/office/powerpoint/2010/main" val="81187762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51</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324" y="806770"/>
            <a:ext cx="7776864"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7504" y="4054420"/>
            <a:ext cx="9036496" cy="3046988"/>
          </a:xfrm>
          <a:prstGeom prst="rect">
            <a:avLst/>
          </a:prstGeom>
        </p:spPr>
        <p:txBody>
          <a:bodyPr wrap="square">
            <a:spAutoFit/>
          </a:bodyPr>
          <a:lstStyle/>
          <a:p>
            <a:pPr marL="342900" indent="-342900" algn="just">
              <a:buFont typeface="Wingdings" pitchFamily="2" charset="2"/>
              <a:buChar char="Ø"/>
            </a:pPr>
            <a:r>
              <a:rPr lang="fr-FR" sz="2400" dirty="0">
                <a:solidFill>
                  <a:prstClr val="black"/>
                </a:solidFill>
              </a:rPr>
              <a:t>Dans </a:t>
            </a:r>
            <a:r>
              <a:rPr lang="fr-FR" sz="2400" dirty="0" smtClean="0">
                <a:solidFill>
                  <a:prstClr val="black"/>
                </a:solidFill>
              </a:rPr>
              <a:t>cette technologie, </a:t>
            </a:r>
            <a:r>
              <a:rPr lang="fr-FR" sz="2400" dirty="0">
                <a:solidFill>
                  <a:prstClr val="black"/>
                </a:solidFill>
              </a:rPr>
              <a:t>la carte à puce contient seulement la base de </a:t>
            </a:r>
            <a:r>
              <a:rPr lang="fr-FR" sz="2400" dirty="0" smtClean="0">
                <a:solidFill>
                  <a:prstClr val="black"/>
                </a:solidFill>
              </a:rPr>
              <a:t>données et </a:t>
            </a:r>
            <a:r>
              <a:rPr lang="fr-FR" sz="2400" dirty="0">
                <a:solidFill>
                  <a:prstClr val="black"/>
                </a:solidFill>
              </a:rPr>
              <a:t>le </a:t>
            </a:r>
            <a:r>
              <a:rPr lang="fr-FR" sz="2400" dirty="0" err="1" smtClean="0">
                <a:solidFill>
                  <a:prstClr val="black"/>
                </a:solidFill>
              </a:rPr>
              <a:t>classifieur</a:t>
            </a:r>
            <a:r>
              <a:rPr lang="fr-FR" sz="2400" dirty="0" smtClean="0">
                <a:solidFill>
                  <a:prstClr val="black"/>
                </a:solidFill>
              </a:rPr>
              <a:t>.</a:t>
            </a:r>
          </a:p>
          <a:p>
            <a:pPr marL="342900" indent="-342900" algn="just">
              <a:buFont typeface="Wingdings" pitchFamily="2" charset="2"/>
              <a:buChar char="Ø"/>
            </a:pPr>
            <a:r>
              <a:rPr lang="fr-FR" sz="2400" dirty="0" smtClean="0">
                <a:solidFill>
                  <a:prstClr val="black"/>
                </a:solidFill>
              </a:rPr>
              <a:t> </a:t>
            </a:r>
            <a:r>
              <a:rPr lang="fr-FR" sz="2400" dirty="0">
                <a:solidFill>
                  <a:prstClr val="black"/>
                </a:solidFill>
              </a:rPr>
              <a:t>L’utilisateur insère sa carte dans un système hôte </a:t>
            </a:r>
            <a:r>
              <a:rPr lang="fr-FR" sz="2400" dirty="0" smtClean="0">
                <a:solidFill>
                  <a:prstClr val="black"/>
                </a:solidFill>
              </a:rPr>
              <a:t>qui contient </a:t>
            </a:r>
            <a:r>
              <a:rPr lang="fr-FR" sz="2400" dirty="0">
                <a:solidFill>
                  <a:prstClr val="black"/>
                </a:solidFill>
              </a:rPr>
              <a:t>les deux autres modules du système. </a:t>
            </a:r>
            <a:endParaRPr lang="fr-FR" sz="2400" dirty="0" smtClean="0">
              <a:solidFill>
                <a:prstClr val="black"/>
              </a:solidFill>
            </a:endParaRPr>
          </a:p>
          <a:p>
            <a:pPr marL="342900" indent="-342900" algn="just">
              <a:buFont typeface="Wingdings" pitchFamily="2" charset="2"/>
              <a:buChar char="Ø"/>
            </a:pPr>
            <a:r>
              <a:rPr lang="fr-FR" sz="2400" dirty="0" smtClean="0">
                <a:solidFill>
                  <a:prstClr val="black"/>
                </a:solidFill>
              </a:rPr>
              <a:t>Le </a:t>
            </a:r>
            <a:r>
              <a:rPr lang="fr-FR" sz="2400" dirty="0" err="1">
                <a:solidFill>
                  <a:prstClr val="black"/>
                </a:solidFill>
              </a:rPr>
              <a:t>classifieur</a:t>
            </a:r>
            <a:r>
              <a:rPr lang="fr-FR" sz="2400" dirty="0">
                <a:solidFill>
                  <a:prstClr val="black"/>
                </a:solidFill>
              </a:rPr>
              <a:t> de la carte effectue une </a:t>
            </a:r>
            <a:r>
              <a:rPr lang="fr-FR" sz="2400" dirty="0" smtClean="0">
                <a:solidFill>
                  <a:prstClr val="black"/>
                </a:solidFill>
              </a:rPr>
              <a:t>comparaison entre </a:t>
            </a:r>
            <a:r>
              <a:rPr lang="fr-FR" sz="2400" dirty="0">
                <a:solidFill>
                  <a:prstClr val="black"/>
                </a:solidFill>
              </a:rPr>
              <a:t>les modèles stockés dans la carte et le modèle envoyés par le système hôte.</a:t>
            </a:r>
          </a:p>
          <a:p>
            <a:endParaRPr lang="fr-FR" sz="2400" dirty="0">
              <a:solidFill>
                <a:prstClr val="black"/>
              </a:solidFill>
            </a:endParaRPr>
          </a:p>
        </p:txBody>
      </p:sp>
    </p:spTree>
    <p:extLst>
      <p:ext uri="{BB962C8B-B14F-4D97-AF65-F5344CB8AC3E}">
        <p14:creationId xmlns:p14="http://schemas.microsoft.com/office/powerpoint/2010/main" val="190043899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52</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440160" y="3573016"/>
            <a:ext cx="8443192" cy="3046988"/>
          </a:xfrm>
          <a:prstGeom prst="rect">
            <a:avLst/>
          </a:prstGeom>
        </p:spPr>
        <p:txBody>
          <a:bodyPr wrap="square">
            <a:spAutoFit/>
          </a:bodyPr>
          <a:lstStyle/>
          <a:p>
            <a:pPr marL="342900" indent="-342900" algn="just">
              <a:buFont typeface="Wingdings" pitchFamily="2" charset="2"/>
              <a:buChar char="Ø"/>
            </a:pPr>
            <a:r>
              <a:rPr lang="fr-FR" sz="2400" dirty="0">
                <a:solidFill>
                  <a:prstClr val="black"/>
                </a:solidFill>
              </a:rPr>
              <a:t>L’avantage </a:t>
            </a:r>
            <a:r>
              <a:rPr lang="fr-FR" sz="2400" dirty="0" smtClean="0">
                <a:solidFill>
                  <a:prstClr val="black"/>
                </a:solidFill>
              </a:rPr>
              <a:t>des Match-on-</a:t>
            </a:r>
            <a:r>
              <a:rPr lang="fr-FR" sz="2400" dirty="0" err="1" smtClean="0">
                <a:solidFill>
                  <a:prstClr val="black"/>
                </a:solidFill>
              </a:rPr>
              <a:t>Card</a:t>
            </a:r>
            <a:r>
              <a:rPr lang="fr-FR" sz="2400" dirty="0" smtClean="0">
                <a:solidFill>
                  <a:prstClr val="black"/>
                </a:solidFill>
              </a:rPr>
              <a:t> </a:t>
            </a:r>
            <a:r>
              <a:rPr lang="fr-FR" sz="2400" dirty="0">
                <a:solidFill>
                  <a:prstClr val="black"/>
                </a:solidFill>
              </a:rPr>
              <a:t>est que les modèles stockés sont entièrement sécurisés </a:t>
            </a:r>
            <a:r>
              <a:rPr lang="fr-FR" sz="2400" dirty="0" smtClean="0">
                <a:solidFill>
                  <a:prstClr val="black"/>
                </a:solidFill>
              </a:rPr>
              <a:t> </a:t>
            </a:r>
            <a:r>
              <a:rPr lang="fr-FR" sz="2400" dirty="0">
                <a:solidFill>
                  <a:prstClr val="black"/>
                </a:solidFill>
              </a:rPr>
              <a:t>car ils </a:t>
            </a:r>
            <a:r>
              <a:rPr lang="fr-FR" sz="2400" dirty="0" smtClean="0">
                <a:solidFill>
                  <a:prstClr val="black"/>
                </a:solidFill>
              </a:rPr>
              <a:t>circulent seulement </a:t>
            </a:r>
            <a:r>
              <a:rPr lang="fr-FR" sz="2400" dirty="0">
                <a:solidFill>
                  <a:prstClr val="black"/>
                </a:solidFill>
              </a:rPr>
              <a:t>à l’intérieur de la carte et seulement la décision de comparaison est envoyée </a:t>
            </a:r>
            <a:r>
              <a:rPr lang="fr-FR" sz="2400" dirty="0" smtClean="0">
                <a:solidFill>
                  <a:prstClr val="black"/>
                </a:solidFill>
              </a:rPr>
              <a:t>au système </a:t>
            </a:r>
            <a:r>
              <a:rPr lang="fr-FR" sz="2400" dirty="0">
                <a:solidFill>
                  <a:prstClr val="black"/>
                </a:solidFill>
              </a:rPr>
              <a:t>hôte</a:t>
            </a:r>
            <a:r>
              <a:rPr lang="fr-FR" sz="2400" dirty="0" smtClean="0">
                <a:solidFill>
                  <a:prstClr val="black"/>
                </a:solidFill>
              </a:rPr>
              <a:t>.</a:t>
            </a:r>
          </a:p>
          <a:p>
            <a:pPr marL="342900" indent="-342900" algn="just">
              <a:buFont typeface="Wingdings" pitchFamily="2" charset="2"/>
              <a:buChar char="Ø"/>
            </a:pPr>
            <a:r>
              <a:rPr lang="fr-FR" sz="2400" dirty="0" smtClean="0">
                <a:solidFill>
                  <a:prstClr val="black"/>
                </a:solidFill>
              </a:rPr>
              <a:t> </a:t>
            </a:r>
            <a:r>
              <a:rPr lang="fr-FR" sz="2400" dirty="0">
                <a:solidFill>
                  <a:prstClr val="black"/>
                </a:solidFill>
              </a:rPr>
              <a:t>Cependant, même si les modèles d’enrôlement ne peuvent pas être </a:t>
            </a:r>
            <a:r>
              <a:rPr lang="fr-FR" sz="2400" dirty="0" smtClean="0">
                <a:solidFill>
                  <a:prstClr val="black"/>
                </a:solidFill>
              </a:rPr>
              <a:t>obtenus par </a:t>
            </a:r>
            <a:r>
              <a:rPr lang="fr-FR" sz="2400" dirty="0">
                <a:solidFill>
                  <a:prstClr val="black"/>
                </a:solidFill>
              </a:rPr>
              <a:t>un adversaire, un modèle assez similaire peut être obtenu en utilisant l’attaque </a:t>
            </a:r>
            <a:r>
              <a:rPr lang="fr-FR" sz="2400" dirty="0" smtClean="0">
                <a:solidFill>
                  <a:prstClr val="black"/>
                </a:solidFill>
              </a:rPr>
              <a:t>de cheval-de-trois sur </a:t>
            </a:r>
            <a:r>
              <a:rPr lang="fr-FR" sz="2400" dirty="0">
                <a:solidFill>
                  <a:prstClr val="black"/>
                </a:solidFill>
              </a:rPr>
              <a:t>le module de l’extraction de caractéristiques du système hôte.</a:t>
            </a: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9976" y="836712"/>
            <a:ext cx="5256584"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23066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53</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88" y="3140968"/>
            <a:ext cx="8371184"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51520" y="908720"/>
            <a:ext cx="8820472" cy="3046988"/>
          </a:xfrm>
          <a:prstGeom prst="rect">
            <a:avLst/>
          </a:prstGeom>
        </p:spPr>
        <p:txBody>
          <a:bodyPr wrap="square">
            <a:spAutoFit/>
          </a:bodyPr>
          <a:lstStyle/>
          <a:p>
            <a:pPr marL="342900" indent="-342900" algn="just">
              <a:buFont typeface="Wingdings" pitchFamily="2" charset="2"/>
              <a:buChar char="Ø"/>
            </a:pPr>
            <a:r>
              <a:rPr lang="fr-FR" sz="2400" dirty="0"/>
              <a:t>Afin de remédier à cette </a:t>
            </a:r>
            <a:r>
              <a:rPr lang="fr-FR" sz="2400" dirty="0" err="1" smtClean="0"/>
              <a:t>vunérabilité</a:t>
            </a:r>
            <a:r>
              <a:rPr lang="fr-FR" sz="2400" dirty="0" smtClean="0"/>
              <a:t>, </a:t>
            </a:r>
            <a:r>
              <a:rPr lang="fr-FR" sz="2400" dirty="0"/>
              <a:t>les développeurs de la technologie System-on-a-Chip ont suggéré de transférer également le module d'extraction de caractéristiques et le </a:t>
            </a:r>
            <a:r>
              <a:rPr lang="fr-FR" sz="2400" dirty="0" err="1"/>
              <a:t>classifieur</a:t>
            </a:r>
            <a:r>
              <a:rPr lang="fr-FR" sz="2400" dirty="0"/>
              <a:t> dans la carte à puce, afin d'éviter </a:t>
            </a:r>
            <a:r>
              <a:rPr lang="fr-FR" sz="2400" dirty="0" smtClean="0"/>
              <a:t>que toute </a:t>
            </a:r>
            <a:r>
              <a:rPr lang="fr-FR" sz="2400" dirty="0"/>
              <a:t>information biométrique </a:t>
            </a:r>
            <a:r>
              <a:rPr lang="fr-FR" sz="2400" dirty="0" smtClean="0"/>
              <a:t>ne </a:t>
            </a:r>
            <a:r>
              <a:rPr lang="fr-FR" sz="2400" dirty="0"/>
              <a:t>quitte la carte à puce, à l'exception de la décision finale. </a:t>
            </a:r>
            <a:br>
              <a:rPr lang="fr-FR" sz="2400" dirty="0"/>
            </a:br>
            <a:r>
              <a:rPr lang="fr-FR" sz="2400" dirty="0"/>
              <a:t/>
            </a:r>
            <a:br>
              <a:rPr lang="fr-FR" sz="2400" dirty="0"/>
            </a:br>
            <a:endParaRPr lang="fr-FR" sz="2400" dirty="0">
              <a:solidFill>
                <a:prstClr val="black"/>
              </a:solidFill>
            </a:endParaRPr>
          </a:p>
        </p:txBody>
      </p:sp>
    </p:spTree>
    <p:extLst>
      <p:ext uri="{BB962C8B-B14F-4D97-AF65-F5344CB8AC3E}">
        <p14:creationId xmlns:p14="http://schemas.microsoft.com/office/powerpoint/2010/main" val="34324435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54</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76094" y="4187696"/>
            <a:ext cx="8676456" cy="2677656"/>
          </a:xfrm>
          <a:prstGeom prst="rect">
            <a:avLst/>
          </a:prstGeom>
        </p:spPr>
        <p:txBody>
          <a:bodyPr wrap="square">
            <a:spAutoFit/>
          </a:bodyPr>
          <a:lstStyle/>
          <a:p>
            <a:pPr marL="285750" indent="-285750" algn="just">
              <a:buFont typeface="Wingdings" pitchFamily="2" charset="2"/>
              <a:buChar char="Ø"/>
            </a:pPr>
            <a:r>
              <a:rPr lang="fr-FR" sz="2400" dirty="0">
                <a:solidFill>
                  <a:prstClr val="black"/>
                </a:solidFill>
              </a:rPr>
              <a:t>L’avantage de </a:t>
            </a:r>
            <a:r>
              <a:rPr lang="fr-FR" sz="2400" dirty="0" err="1">
                <a:solidFill>
                  <a:prstClr val="black"/>
                </a:solidFill>
              </a:rPr>
              <a:t>SoC</a:t>
            </a:r>
            <a:r>
              <a:rPr lang="fr-FR" sz="2400" dirty="0">
                <a:solidFill>
                  <a:prstClr val="black"/>
                </a:solidFill>
              </a:rPr>
              <a:t> est que les seules attaques possibles restantes pour un adversaire sont les attaques directes contre le capteur</a:t>
            </a:r>
            <a:r>
              <a:rPr lang="fr-FR" sz="2400" dirty="0" smtClean="0">
                <a:solidFill>
                  <a:prstClr val="black"/>
                </a:solidFill>
              </a:rPr>
              <a:t>,</a:t>
            </a:r>
          </a:p>
          <a:p>
            <a:pPr algn="just"/>
            <a:endParaRPr lang="fr-FR" sz="2400" dirty="0">
              <a:solidFill>
                <a:prstClr val="black"/>
              </a:solidFill>
            </a:endParaRPr>
          </a:p>
          <a:p>
            <a:pPr marL="285750" indent="-285750" algn="just">
              <a:buFont typeface="Wingdings" pitchFamily="2" charset="2"/>
              <a:buChar char="Ø"/>
            </a:pPr>
            <a:r>
              <a:rPr lang="fr-FR" sz="2400" dirty="0">
                <a:solidFill>
                  <a:prstClr val="black"/>
                </a:solidFill>
              </a:rPr>
              <a:t> </a:t>
            </a:r>
            <a:r>
              <a:rPr lang="fr-FR" sz="2400" dirty="0"/>
              <a:t>Toutefois, la création de System-on-a-Chip est extrêmement coûteuse car elle requiert des processeurs plus performants et une plus grande capacité </a:t>
            </a:r>
            <a:r>
              <a:rPr lang="fr-FR" sz="2400" dirty="0" smtClean="0"/>
              <a:t>mémoire</a:t>
            </a:r>
            <a:r>
              <a:rPr lang="fr-FR" sz="2400" dirty="0"/>
              <a:t>. </a:t>
            </a:r>
            <a:br>
              <a:rPr lang="fr-FR" sz="2400" dirty="0"/>
            </a:br>
            <a:endParaRPr lang="fr-FR" sz="2400" dirty="0">
              <a:solidFill>
                <a:prstClr val="black"/>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980728"/>
            <a:ext cx="5976664" cy="280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599700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55</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331640" y="2276872"/>
            <a:ext cx="6192688" cy="1200329"/>
          </a:xfrm>
          <a:prstGeom prst="rect">
            <a:avLst/>
          </a:prstGeom>
        </p:spPr>
        <p:txBody>
          <a:bodyPr wrap="square">
            <a:spAutoFit/>
          </a:bodyPr>
          <a:lstStyle/>
          <a:p>
            <a:pPr algn="ctr"/>
            <a:r>
              <a:rPr lang="fr-FR" sz="3600" dirty="0">
                <a:solidFill>
                  <a:srgbClr val="002060"/>
                </a:solidFill>
                <a:effectLst>
                  <a:outerShdw blurRad="38100" dist="38100" dir="2700000" algn="tl">
                    <a:srgbClr val="000000">
                      <a:alpha val="43137"/>
                    </a:srgbClr>
                  </a:outerShdw>
                </a:effectLst>
              </a:rPr>
              <a:t>Approches </a:t>
            </a:r>
            <a:r>
              <a:rPr lang="fr-FR" sz="3600" dirty="0" smtClean="0">
                <a:solidFill>
                  <a:srgbClr val="002060"/>
                </a:solidFill>
                <a:effectLst>
                  <a:outerShdw blurRad="38100" dist="38100" dir="2700000" algn="tl">
                    <a:srgbClr val="000000">
                      <a:alpha val="43137"/>
                    </a:srgbClr>
                  </a:outerShdw>
                </a:effectLst>
              </a:rPr>
              <a:t>logicielles </a:t>
            </a:r>
            <a:r>
              <a:rPr lang="fr-FR" sz="3600" dirty="0">
                <a:solidFill>
                  <a:srgbClr val="002060"/>
                </a:solidFill>
                <a:effectLst>
                  <a:outerShdw blurRad="38100" dist="38100" dir="2700000" algn="tl">
                    <a:srgbClr val="000000">
                      <a:alpha val="43137"/>
                    </a:srgbClr>
                  </a:outerShdw>
                </a:effectLst>
              </a:rPr>
              <a:t>des solutions préventives</a:t>
            </a:r>
          </a:p>
        </p:txBody>
      </p:sp>
    </p:spTree>
    <p:extLst>
      <p:ext uri="{BB962C8B-B14F-4D97-AF65-F5344CB8AC3E}">
        <p14:creationId xmlns:p14="http://schemas.microsoft.com/office/powerpoint/2010/main" val="289613204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56</a:t>
            </a:fld>
            <a:endParaRPr lang="fr-FR">
              <a:solidFill>
                <a:prstClr val="black">
                  <a:tint val="95000"/>
                </a:prstClr>
              </a:solidFill>
            </a:endParaRPr>
          </a:p>
        </p:txBody>
      </p:sp>
      <p:sp>
        <p:nvSpPr>
          <p:cNvPr id="6" name="ZoneTexte 5"/>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7" name="Connecteur droit 6"/>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79512" y="836712"/>
            <a:ext cx="8820472" cy="5878532"/>
          </a:xfrm>
          <a:prstGeom prst="rect">
            <a:avLst/>
          </a:prstGeom>
        </p:spPr>
        <p:txBody>
          <a:bodyPr wrap="square">
            <a:spAutoFit/>
          </a:bodyPr>
          <a:lstStyle/>
          <a:p>
            <a:pPr algn="ctr"/>
            <a:r>
              <a:rPr lang="fr-FR" sz="3200" b="1" dirty="0">
                <a:solidFill>
                  <a:srgbClr val="002060"/>
                </a:solidFill>
                <a:effectLst>
                  <a:outerShdw blurRad="38100" dist="38100" dir="2700000" algn="tl">
                    <a:srgbClr val="000000">
                      <a:alpha val="43137"/>
                    </a:srgbClr>
                  </a:outerShdw>
                </a:effectLst>
              </a:rPr>
              <a:t>Transformation de </a:t>
            </a:r>
            <a:r>
              <a:rPr lang="fr-FR" sz="3200" b="1" dirty="0" smtClean="0">
                <a:solidFill>
                  <a:srgbClr val="002060"/>
                </a:solidFill>
                <a:effectLst>
                  <a:outerShdw blurRad="38100" dist="38100" dir="2700000" algn="tl">
                    <a:srgbClr val="000000">
                      <a:alpha val="43137"/>
                    </a:srgbClr>
                  </a:outerShdw>
                </a:effectLst>
              </a:rPr>
              <a:t>caractéristiques</a:t>
            </a:r>
          </a:p>
          <a:p>
            <a:pPr algn="ctr"/>
            <a:endParaRPr lang="fr-FR" sz="3200" b="1" dirty="0">
              <a:solidFill>
                <a:srgbClr val="002060"/>
              </a:solidFill>
              <a:effectLst>
                <a:outerShdw blurRad="38100" dist="38100" dir="2700000" algn="tl">
                  <a:srgbClr val="000000">
                    <a:alpha val="43137"/>
                  </a:srgbClr>
                </a:outerShdw>
              </a:effectLst>
            </a:endParaRPr>
          </a:p>
          <a:p>
            <a:pPr marL="342900" indent="-342900" algn="just">
              <a:buFont typeface="Wingdings" pitchFamily="2" charset="2"/>
              <a:buChar char="Ø"/>
            </a:pPr>
            <a:r>
              <a:rPr lang="fr-FR" sz="2400" dirty="0">
                <a:solidFill>
                  <a:prstClr val="black"/>
                </a:solidFill>
              </a:rPr>
              <a:t>L’idée de base </a:t>
            </a:r>
            <a:r>
              <a:rPr lang="fr-FR" sz="2400" dirty="0" smtClean="0">
                <a:solidFill>
                  <a:prstClr val="black"/>
                </a:solidFill>
              </a:rPr>
              <a:t>de ces  </a:t>
            </a:r>
            <a:r>
              <a:rPr lang="fr-FR" sz="2400" dirty="0">
                <a:solidFill>
                  <a:prstClr val="black"/>
                </a:solidFill>
              </a:rPr>
              <a:t>approches </a:t>
            </a:r>
            <a:r>
              <a:rPr lang="fr-FR" sz="2400" dirty="0" smtClean="0">
                <a:solidFill>
                  <a:prstClr val="black"/>
                </a:solidFill>
              </a:rPr>
              <a:t>est </a:t>
            </a:r>
            <a:r>
              <a:rPr lang="fr-FR" sz="2400" dirty="0">
                <a:solidFill>
                  <a:prstClr val="black"/>
                </a:solidFill>
              </a:rPr>
              <a:t>de convertir </a:t>
            </a:r>
            <a:r>
              <a:rPr lang="fr-FR" sz="2400" dirty="0" smtClean="0">
                <a:solidFill>
                  <a:prstClr val="black"/>
                </a:solidFill>
              </a:rPr>
              <a:t>un modèle </a:t>
            </a:r>
            <a:r>
              <a:rPr lang="fr-FR" sz="2400" dirty="0">
                <a:solidFill>
                  <a:prstClr val="black"/>
                </a:solidFill>
              </a:rPr>
              <a:t>biométrique non protégé en un modèle protégé en utilisant une fonction de transformation</a:t>
            </a:r>
          </a:p>
          <a:p>
            <a:pPr marL="342900" indent="-342900" algn="just">
              <a:buFont typeface="Wingdings" pitchFamily="2" charset="2"/>
              <a:buChar char="Ø"/>
            </a:pPr>
            <a:r>
              <a:rPr lang="fr-FR" sz="2400" dirty="0"/>
              <a:t>Selon le système et la modalité visée, cette fonction de transformation peut prendre différentes formes, et elle peut également exiger l'utilisation de certains paramètres de transformation </a:t>
            </a:r>
            <a:r>
              <a:rPr lang="fr-FR" sz="2400" dirty="0" smtClean="0"/>
              <a:t>comme </a:t>
            </a:r>
            <a:r>
              <a:rPr lang="fr-FR" sz="2400" dirty="0"/>
              <a:t>une clef </a:t>
            </a:r>
            <a:r>
              <a:rPr lang="fr-FR" sz="2400" dirty="0" smtClean="0"/>
              <a:t>utilisateur.</a:t>
            </a:r>
          </a:p>
          <a:p>
            <a:pPr marL="342900" indent="-342900" algn="just">
              <a:buFont typeface="Wingdings" pitchFamily="2" charset="2"/>
              <a:buChar char="Ø"/>
            </a:pPr>
            <a:r>
              <a:rPr lang="fr-FR" sz="2400" dirty="0" smtClean="0">
                <a:solidFill>
                  <a:prstClr val="black"/>
                </a:solidFill>
              </a:rPr>
              <a:t> </a:t>
            </a:r>
            <a:r>
              <a:rPr lang="fr-FR" sz="2400" dirty="0"/>
              <a:t>Si les modèles biométriques transformés sont </a:t>
            </a:r>
            <a:r>
              <a:rPr lang="fr-FR" sz="2400" dirty="0" smtClean="0"/>
              <a:t>compromis</a:t>
            </a:r>
            <a:r>
              <a:rPr lang="fr-FR" sz="2400" dirty="0"/>
              <a:t>, </a:t>
            </a:r>
            <a:r>
              <a:rPr lang="fr-FR" sz="2400" dirty="0" smtClean="0"/>
              <a:t>les </a:t>
            </a:r>
            <a:r>
              <a:rPr lang="fr-FR" sz="2400" dirty="0"/>
              <a:t>paramètres de </a:t>
            </a:r>
            <a:r>
              <a:rPr lang="fr-FR" sz="2400" dirty="0" smtClean="0"/>
              <a:t>transformation seront modifiés afin </a:t>
            </a:r>
            <a:r>
              <a:rPr lang="fr-FR" sz="2400" dirty="0"/>
              <a:t>de mettre à jour le modèle protégé. </a:t>
            </a:r>
            <a:endParaRPr lang="fr-FR" sz="2400" dirty="0" smtClean="0"/>
          </a:p>
          <a:p>
            <a:pPr marL="342900" indent="-342900" algn="just">
              <a:buFont typeface="Wingdings" pitchFamily="2" charset="2"/>
              <a:buChar char="Ø"/>
            </a:pPr>
            <a:r>
              <a:rPr lang="fr-FR" sz="2400" dirty="0" smtClean="0">
                <a:solidFill>
                  <a:prstClr val="black"/>
                </a:solidFill>
              </a:rPr>
              <a:t>La </a:t>
            </a:r>
            <a:r>
              <a:rPr lang="fr-FR" sz="2400" dirty="0" smtClean="0">
                <a:solidFill>
                  <a:prstClr val="black"/>
                </a:solidFill>
              </a:rPr>
              <a:t>protection des utilisateurs inscrits </a:t>
            </a:r>
            <a:r>
              <a:rPr lang="fr-FR" sz="2400" dirty="0">
                <a:solidFill>
                  <a:prstClr val="black"/>
                </a:solidFill>
              </a:rPr>
              <a:t>dans plusieurs </a:t>
            </a:r>
            <a:r>
              <a:rPr lang="fr-FR" sz="2400" dirty="0" smtClean="0">
                <a:solidFill>
                  <a:prstClr val="black"/>
                </a:solidFill>
              </a:rPr>
              <a:t>systèmes se fait en  appliquant </a:t>
            </a:r>
            <a:r>
              <a:rPr lang="fr-FR" sz="2400" dirty="0">
                <a:solidFill>
                  <a:prstClr val="black"/>
                </a:solidFill>
              </a:rPr>
              <a:t>des paramètres de </a:t>
            </a:r>
            <a:r>
              <a:rPr lang="fr-FR" sz="2400" dirty="0" smtClean="0">
                <a:solidFill>
                  <a:prstClr val="black"/>
                </a:solidFill>
              </a:rPr>
              <a:t>transformation différents </a:t>
            </a:r>
            <a:r>
              <a:rPr lang="fr-FR" sz="2400" dirty="0">
                <a:solidFill>
                  <a:prstClr val="black"/>
                </a:solidFill>
              </a:rPr>
              <a:t>pour chaque application.</a:t>
            </a:r>
          </a:p>
        </p:txBody>
      </p:sp>
    </p:spTree>
    <p:extLst>
      <p:ext uri="{BB962C8B-B14F-4D97-AF65-F5344CB8AC3E}">
        <p14:creationId xmlns:p14="http://schemas.microsoft.com/office/powerpoint/2010/main" val="353858813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57</a:t>
            </a:fld>
            <a:endParaRPr lang="fr-FR">
              <a:solidFill>
                <a:prstClr val="black">
                  <a:tint val="95000"/>
                </a:prstClr>
              </a:solidFill>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88640"/>
            <a:ext cx="8424936"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8520" y="3441680"/>
            <a:ext cx="9252520" cy="3416320"/>
          </a:xfrm>
          <a:prstGeom prst="rect">
            <a:avLst/>
          </a:prstGeom>
        </p:spPr>
        <p:txBody>
          <a:bodyPr wrap="square">
            <a:spAutoFit/>
          </a:bodyPr>
          <a:lstStyle/>
          <a:p>
            <a:pPr marL="285750" indent="-285750">
              <a:buFont typeface="Wingdings" pitchFamily="2" charset="2"/>
              <a:buChar char="Ø"/>
            </a:pPr>
            <a:r>
              <a:rPr lang="fr-FR" sz="2400" dirty="0">
                <a:solidFill>
                  <a:prstClr val="black"/>
                </a:solidFill>
              </a:rPr>
              <a:t>Lors de l’enrôlement une fonction de transformation F </a:t>
            </a:r>
            <a:r>
              <a:rPr lang="fr-FR" sz="2400" dirty="0" smtClean="0">
                <a:solidFill>
                  <a:prstClr val="black"/>
                </a:solidFill>
              </a:rPr>
              <a:t>est appliquée </a:t>
            </a:r>
            <a:r>
              <a:rPr lang="fr-FR" sz="2400" dirty="0">
                <a:solidFill>
                  <a:prstClr val="black"/>
                </a:solidFill>
              </a:rPr>
              <a:t>sur le modèle biométrique original non protégé T en utilisant une clé K; le modèle transformé F(T,K) est stocké dans la base de données du système.</a:t>
            </a:r>
          </a:p>
          <a:p>
            <a:pPr marL="285750" indent="-285750">
              <a:buFont typeface="Wingdings" pitchFamily="2" charset="2"/>
              <a:buChar char="Ø"/>
            </a:pPr>
            <a:r>
              <a:rPr lang="fr-FR" sz="2400" dirty="0">
                <a:solidFill>
                  <a:prstClr val="black"/>
                </a:solidFill>
              </a:rPr>
              <a:t> Durant l’authentification / vérification, la même fonction de transformation F est appliquée sur le modèle de test Q. </a:t>
            </a:r>
          </a:p>
          <a:p>
            <a:pPr marL="285750" indent="-285750">
              <a:buFont typeface="Wingdings" pitchFamily="2" charset="2"/>
              <a:buChar char="Ø"/>
            </a:pPr>
            <a:r>
              <a:rPr lang="fr-FR" sz="2400" dirty="0">
                <a:solidFill>
                  <a:prstClr val="black"/>
                </a:solidFill>
              </a:rPr>
              <a:t>Les modèles protégés F(T,K) et F(Q,K) sont comparés directement dans le domaine de transformation afin de déterminer si l’utilisateur est accepté ou non. </a:t>
            </a:r>
          </a:p>
        </p:txBody>
      </p:sp>
    </p:spTree>
    <p:extLst>
      <p:ext uri="{BB962C8B-B14F-4D97-AF65-F5344CB8AC3E}">
        <p14:creationId xmlns:p14="http://schemas.microsoft.com/office/powerpoint/2010/main" val="383418621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58</a:t>
            </a:fld>
            <a:endParaRPr lang="fr-FR">
              <a:solidFill>
                <a:prstClr val="black">
                  <a:tint val="95000"/>
                </a:prstClr>
              </a:solidFill>
            </a:endParaRPr>
          </a:p>
        </p:txBody>
      </p:sp>
      <p:sp>
        <p:nvSpPr>
          <p:cNvPr id="3" name="Rectangle 2"/>
          <p:cNvSpPr/>
          <p:nvPr/>
        </p:nvSpPr>
        <p:spPr>
          <a:xfrm>
            <a:off x="-113742" y="1124744"/>
            <a:ext cx="9252520" cy="4462760"/>
          </a:xfrm>
          <a:prstGeom prst="rect">
            <a:avLst/>
          </a:prstGeom>
        </p:spPr>
        <p:txBody>
          <a:bodyPr wrap="square">
            <a:spAutoFit/>
          </a:bodyPr>
          <a:lstStyle/>
          <a:p>
            <a:pPr algn="ctr"/>
            <a:r>
              <a:rPr lang="fr-FR" sz="3200" b="1" dirty="0">
                <a:solidFill>
                  <a:srgbClr val="002060"/>
                </a:solidFill>
                <a:effectLst>
                  <a:outerShdw blurRad="38100" dist="38100" dir="2700000" algn="tl">
                    <a:srgbClr val="000000">
                      <a:alpha val="43137"/>
                    </a:srgbClr>
                  </a:outerShdw>
                </a:effectLst>
              </a:rPr>
              <a:t>Crypto-systèmes biométriques</a:t>
            </a:r>
          </a:p>
          <a:p>
            <a:endParaRPr lang="fr-FR" dirty="0" smtClean="0"/>
          </a:p>
          <a:p>
            <a:endParaRPr lang="fr-FR" dirty="0" smtClean="0"/>
          </a:p>
          <a:p>
            <a:pPr marL="285750" indent="-285750" algn="just">
              <a:buFont typeface="Wingdings" pitchFamily="2" charset="2"/>
              <a:buChar char="Ø"/>
            </a:pPr>
            <a:r>
              <a:rPr lang="fr-FR" sz="2400" dirty="0">
                <a:solidFill>
                  <a:prstClr val="black"/>
                </a:solidFill>
              </a:rPr>
              <a:t>Dans les crypto-systèmes </a:t>
            </a:r>
            <a:r>
              <a:rPr lang="fr-FR" sz="2400" dirty="0" smtClean="0">
                <a:solidFill>
                  <a:prstClr val="black"/>
                </a:solidFill>
              </a:rPr>
              <a:t>biométriques, le </a:t>
            </a:r>
            <a:r>
              <a:rPr lang="fr-FR" sz="2400" dirty="0">
                <a:solidFill>
                  <a:prstClr val="black"/>
                </a:solidFill>
              </a:rPr>
              <a:t>principe des </a:t>
            </a:r>
            <a:r>
              <a:rPr lang="fr-FR" sz="2400" dirty="0" err="1" smtClean="0">
                <a:solidFill>
                  <a:prstClr val="black"/>
                </a:solidFill>
              </a:rPr>
              <a:t>cryptosystèmes</a:t>
            </a:r>
            <a:r>
              <a:rPr lang="fr-FR" sz="2400" dirty="0" smtClean="0">
                <a:solidFill>
                  <a:prstClr val="black"/>
                </a:solidFill>
              </a:rPr>
              <a:t> classiques est combiné </a:t>
            </a:r>
            <a:r>
              <a:rPr lang="fr-FR" sz="2400" dirty="0">
                <a:solidFill>
                  <a:prstClr val="black"/>
                </a:solidFill>
              </a:rPr>
              <a:t>avec le </a:t>
            </a:r>
            <a:r>
              <a:rPr lang="fr-FR" sz="2400" dirty="0" smtClean="0">
                <a:solidFill>
                  <a:prstClr val="black"/>
                </a:solidFill>
              </a:rPr>
              <a:t>principe de </a:t>
            </a:r>
            <a:r>
              <a:rPr lang="fr-FR" sz="2400" dirty="0">
                <a:solidFill>
                  <a:prstClr val="black"/>
                </a:solidFill>
              </a:rPr>
              <a:t>la reconnaissance biométrique pour améliorer la sécurité des systèmes </a:t>
            </a:r>
            <a:r>
              <a:rPr lang="fr-FR" sz="2400" dirty="0" smtClean="0">
                <a:solidFill>
                  <a:prstClr val="black"/>
                </a:solidFill>
              </a:rPr>
              <a:t>d’authentification personnelle </a:t>
            </a:r>
            <a:r>
              <a:rPr lang="fr-FR" sz="2400" dirty="0">
                <a:solidFill>
                  <a:prstClr val="black"/>
                </a:solidFill>
              </a:rPr>
              <a:t>basés sur la biométrie. </a:t>
            </a:r>
            <a:endParaRPr lang="fr-FR" sz="2400" dirty="0" smtClean="0">
              <a:solidFill>
                <a:prstClr val="black"/>
              </a:solidFill>
            </a:endParaRPr>
          </a:p>
          <a:p>
            <a:pPr marL="285750" indent="-285750" algn="just">
              <a:buFont typeface="Wingdings" pitchFamily="2" charset="2"/>
              <a:buChar char="Ø"/>
            </a:pPr>
            <a:endParaRPr lang="fr-FR" sz="2400" dirty="0">
              <a:solidFill>
                <a:prstClr val="black"/>
              </a:solidFill>
            </a:endParaRPr>
          </a:p>
          <a:p>
            <a:pPr marL="285750" indent="-285750" algn="just">
              <a:buFont typeface="Wingdings" pitchFamily="2" charset="2"/>
              <a:buChar char="Ø"/>
            </a:pPr>
            <a:r>
              <a:rPr lang="fr-FR" sz="2400" dirty="0" smtClean="0">
                <a:solidFill>
                  <a:prstClr val="black"/>
                </a:solidFill>
              </a:rPr>
              <a:t>L’objectif </a:t>
            </a:r>
            <a:r>
              <a:rPr lang="fr-FR" sz="2400" dirty="0">
                <a:solidFill>
                  <a:prstClr val="black"/>
                </a:solidFill>
              </a:rPr>
              <a:t>principal de ces approches est de minimiser </a:t>
            </a:r>
            <a:r>
              <a:rPr lang="fr-FR" sz="2400" dirty="0" smtClean="0">
                <a:solidFill>
                  <a:prstClr val="black"/>
                </a:solidFill>
              </a:rPr>
              <a:t>le taux </a:t>
            </a:r>
            <a:r>
              <a:rPr lang="fr-FR" sz="2400" dirty="0">
                <a:solidFill>
                  <a:prstClr val="black"/>
                </a:solidFill>
              </a:rPr>
              <a:t>des données biométriques stockées dans les modèles protégés et la base de données </a:t>
            </a:r>
            <a:r>
              <a:rPr lang="fr-FR" sz="2400" dirty="0" smtClean="0">
                <a:solidFill>
                  <a:prstClr val="black"/>
                </a:solidFill>
              </a:rPr>
              <a:t>du système </a:t>
            </a:r>
            <a:r>
              <a:rPr lang="fr-FR" sz="2400" dirty="0">
                <a:solidFill>
                  <a:prstClr val="black"/>
                </a:solidFill>
              </a:rPr>
              <a:t>en général. </a:t>
            </a:r>
            <a:endParaRPr lang="fr-FR" sz="2400" dirty="0" smtClean="0">
              <a:solidFill>
                <a:prstClr val="black"/>
              </a:solidFill>
            </a:endParaRPr>
          </a:p>
          <a:p>
            <a:pPr marL="285750" indent="-285750" algn="just">
              <a:buFont typeface="Wingdings" pitchFamily="2" charset="2"/>
              <a:buChar char="Ø"/>
            </a:pPr>
            <a:endParaRPr lang="fr-FR" sz="2400" dirty="0">
              <a:solidFill>
                <a:prstClr val="black"/>
              </a:solidFill>
            </a:endParaRPr>
          </a:p>
        </p:txBody>
      </p:sp>
      <p:sp>
        <p:nvSpPr>
          <p:cNvPr id="4" name="ZoneTexte 3"/>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5" name="Connecteur droit 4"/>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41177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59</a:t>
            </a:fld>
            <a:endParaRPr lang="fr-FR">
              <a:solidFill>
                <a:prstClr val="black">
                  <a:tint val="95000"/>
                </a:prstClr>
              </a:solidFill>
            </a:endParaRPr>
          </a:p>
        </p:txBody>
      </p:sp>
      <p:sp>
        <p:nvSpPr>
          <p:cNvPr id="3" name="Rectangle 2"/>
          <p:cNvSpPr/>
          <p:nvPr/>
        </p:nvSpPr>
        <p:spPr>
          <a:xfrm>
            <a:off x="374689" y="3501008"/>
            <a:ext cx="8496944" cy="3416320"/>
          </a:xfrm>
          <a:prstGeom prst="rect">
            <a:avLst/>
          </a:prstGeom>
        </p:spPr>
        <p:txBody>
          <a:bodyPr wrap="square">
            <a:spAutoFit/>
          </a:bodyPr>
          <a:lstStyle/>
          <a:p>
            <a:pPr marL="285750" indent="-285750" algn="just">
              <a:buFont typeface="Wingdings" pitchFamily="2" charset="2"/>
              <a:buChar char="Ø"/>
            </a:pPr>
            <a:r>
              <a:rPr lang="fr-FR" sz="2400" dirty="0">
                <a:solidFill>
                  <a:prstClr val="black"/>
                </a:solidFill>
              </a:rPr>
              <a:t>les crypto-systèmes </a:t>
            </a:r>
            <a:r>
              <a:rPr lang="fr-FR" sz="2400" dirty="0" smtClean="0">
                <a:solidFill>
                  <a:prstClr val="black"/>
                </a:solidFill>
              </a:rPr>
              <a:t>biométriques sont divisés </a:t>
            </a:r>
            <a:r>
              <a:rPr lang="fr-FR" sz="2400" dirty="0">
                <a:solidFill>
                  <a:prstClr val="black"/>
                </a:solidFill>
              </a:rPr>
              <a:t>en deux catégories </a:t>
            </a:r>
            <a:r>
              <a:rPr lang="fr-FR" sz="2400" dirty="0" smtClean="0">
                <a:solidFill>
                  <a:prstClr val="black"/>
                </a:solidFill>
              </a:rPr>
              <a:t>: </a:t>
            </a:r>
            <a:r>
              <a:rPr lang="fr-FR" sz="2400" dirty="0" err="1" smtClean="0">
                <a:solidFill>
                  <a:srgbClr val="002060"/>
                </a:solidFill>
              </a:rPr>
              <a:t>key-binding</a:t>
            </a:r>
            <a:r>
              <a:rPr lang="fr-FR" sz="2400" dirty="0" smtClean="0">
                <a:solidFill>
                  <a:prstClr val="black"/>
                </a:solidFill>
              </a:rPr>
              <a:t> </a:t>
            </a:r>
            <a:r>
              <a:rPr lang="fr-FR" sz="2400" dirty="0">
                <a:solidFill>
                  <a:prstClr val="black"/>
                </a:solidFill>
              </a:rPr>
              <a:t>et </a:t>
            </a:r>
            <a:r>
              <a:rPr lang="fr-FR" sz="2400" dirty="0" smtClean="0">
                <a:solidFill>
                  <a:prstClr val="black"/>
                </a:solidFill>
              </a:rPr>
              <a:t> </a:t>
            </a:r>
            <a:r>
              <a:rPr lang="fr-FR" sz="2400" dirty="0" err="1" smtClean="0">
                <a:solidFill>
                  <a:srgbClr val="002060"/>
                </a:solidFill>
              </a:rPr>
              <a:t>key-generation</a:t>
            </a:r>
            <a:r>
              <a:rPr lang="fr-FR" sz="2400" dirty="0" smtClean="0">
                <a:solidFill>
                  <a:prstClr val="black"/>
                </a:solidFill>
              </a:rPr>
              <a:t>.</a:t>
            </a:r>
          </a:p>
          <a:p>
            <a:pPr marL="285750" indent="-285750" algn="just">
              <a:buFont typeface="Wingdings" pitchFamily="2" charset="2"/>
              <a:buChar char="Ø"/>
            </a:pPr>
            <a:endParaRPr lang="fr-FR" sz="2400" dirty="0">
              <a:solidFill>
                <a:prstClr val="black"/>
              </a:solidFill>
            </a:endParaRPr>
          </a:p>
          <a:p>
            <a:pPr marL="285750" indent="-285750" algn="just">
              <a:buFont typeface="Wingdings" pitchFamily="2" charset="2"/>
              <a:buChar char="Ø"/>
            </a:pPr>
            <a:r>
              <a:rPr lang="fr-FR" sz="2400" dirty="0" smtClean="0">
                <a:solidFill>
                  <a:prstClr val="black"/>
                </a:solidFill>
              </a:rPr>
              <a:t> Lorsque la clé  </a:t>
            </a:r>
            <a:r>
              <a:rPr lang="fr-FR" sz="2400" dirty="0">
                <a:solidFill>
                  <a:prstClr val="black"/>
                </a:solidFill>
              </a:rPr>
              <a:t>est indépendante des </a:t>
            </a:r>
            <a:r>
              <a:rPr lang="fr-FR" sz="2400" dirty="0" smtClean="0">
                <a:solidFill>
                  <a:prstClr val="black"/>
                </a:solidFill>
              </a:rPr>
              <a:t>caractéristiques biométriques</a:t>
            </a:r>
            <a:r>
              <a:rPr lang="fr-FR" sz="2400" dirty="0">
                <a:solidFill>
                  <a:prstClr val="black"/>
                </a:solidFill>
              </a:rPr>
              <a:t>, il s’agit d’un crypto-système de type </a:t>
            </a:r>
            <a:r>
              <a:rPr lang="fr-FR" sz="2400" dirty="0" err="1">
                <a:solidFill>
                  <a:prstClr val="black"/>
                </a:solidFill>
              </a:rPr>
              <a:t>key-binding</a:t>
            </a:r>
            <a:r>
              <a:rPr lang="fr-FR" sz="2400" dirty="0">
                <a:solidFill>
                  <a:prstClr val="black"/>
                </a:solidFill>
              </a:rPr>
              <a:t>. </a:t>
            </a:r>
            <a:endParaRPr lang="fr-FR" sz="2400" dirty="0" smtClean="0">
              <a:solidFill>
                <a:prstClr val="black"/>
              </a:solidFill>
            </a:endParaRPr>
          </a:p>
          <a:p>
            <a:pPr marL="285750" indent="-285750" algn="just">
              <a:buFont typeface="Wingdings" pitchFamily="2" charset="2"/>
              <a:buChar char="Ø"/>
            </a:pPr>
            <a:endParaRPr lang="fr-FR" sz="2400" dirty="0">
              <a:solidFill>
                <a:prstClr val="black"/>
              </a:solidFill>
            </a:endParaRPr>
          </a:p>
          <a:p>
            <a:pPr marL="285750" indent="-285750" algn="just">
              <a:buFont typeface="Wingdings" pitchFamily="2" charset="2"/>
              <a:buChar char="Ø"/>
            </a:pPr>
            <a:r>
              <a:rPr lang="fr-FR" sz="2400" dirty="0" smtClean="0">
                <a:solidFill>
                  <a:prstClr val="black"/>
                </a:solidFill>
              </a:rPr>
              <a:t>Si la </a:t>
            </a:r>
            <a:r>
              <a:rPr lang="fr-FR" sz="2400" dirty="0">
                <a:solidFill>
                  <a:prstClr val="black"/>
                </a:solidFill>
              </a:rPr>
              <a:t>clé est générée directement à </a:t>
            </a:r>
            <a:r>
              <a:rPr lang="fr-FR" sz="2400" dirty="0" smtClean="0">
                <a:solidFill>
                  <a:prstClr val="black"/>
                </a:solidFill>
              </a:rPr>
              <a:t>partir des </a:t>
            </a:r>
            <a:r>
              <a:rPr lang="fr-FR" sz="2400" dirty="0">
                <a:solidFill>
                  <a:prstClr val="black"/>
                </a:solidFill>
              </a:rPr>
              <a:t>caractéristiques biométriques, il s’agit d’un crypto-systèmes de type </a:t>
            </a:r>
            <a:r>
              <a:rPr lang="fr-FR" sz="2400" dirty="0" err="1">
                <a:solidFill>
                  <a:prstClr val="black"/>
                </a:solidFill>
              </a:rPr>
              <a:t>key-generation</a:t>
            </a:r>
            <a:r>
              <a:rPr lang="fr-FR" sz="2400" dirty="0">
                <a:solidFill>
                  <a:prstClr val="black"/>
                </a:solidFill>
              </a:rPr>
              <a:t>.</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689" y="188640"/>
            <a:ext cx="8496944"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199286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a:xfrm>
            <a:off x="8266120" y="6397674"/>
            <a:ext cx="733864" cy="274320"/>
          </a:xfrm>
        </p:spPr>
        <p:txBody>
          <a:bodyPr/>
          <a:lstStyle/>
          <a:p>
            <a:fld id="{CB0B82E8-BC3F-45FF-92DD-C0AD1BA54385}" type="slidenum">
              <a:rPr lang="fr-FR" smtClean="0">
                <a:solidFill>
                  <a:prstClr val="black">
                    <a:tint val="95000"/>
                  </a:prstClr>
                </a:solidFill>
              </a:rPr>
              <a:pPr/>
              <a:t>60</a:t>
            </a:fld>
            <a:endParaRPr lang="fr-FR">
              <a:solidFill>
                <a:prstClr val="black">
                  <a:tint val="95000"/>
                </a:prstClr>
              </a:solidFill>
            </a:endParaRPr>
          </a:p>
        </p:txBody>
      </p:sp>
      <p:sp>
        <p:nvSpPr>
          <p:cNvPr id="3" name="Rectangle 2"/>
          <p:cNvSpPr/>
          <p:nvPr/>
        </p:nvSpPr>
        <p:spPr>
          <a:xfrm>
            <a:off x="-113742" y="1700808"/>
            <a:ext cx="9252520" cy="2893100"/>
          </a:xfrm>
          <a:prstGeom prst="rect">
            <a:avLst/>
          </a:prstGeom>
        </p:spPr>
        <p:txBody>
          <a:bodyPr wrap="square">
            <a:spAutoFit/>
          </a:bodyPr>
          <a:lstStyle/>
          <a:p>
            <a:pPr algn="ctr"/>
            <a:r>
              <a:rPr lang="fr-FR" sz="3200" b="1" dirty="0" smtClean="0">
                <a:solidFill>
                  <a:srgbClr val="002060"/>
                </a:solidFill>
                <a:effectLst>
                  <a:outerShdw blurRad="38100" dist="38100" dir="2700000" algn="tl">
                    <a:srgbClr val="000000">
                      <a:alpha val="43137"/>
                    </a:srgbClr>
                  </a:outerShdw>
                </a:effectLst>
              </a:rPr>
              <a:t>Approches Hybrides</a:t>
            </a:r>
            <a:endParaRPr lang="fr-FR" sz="3200" b="1" dirty="0">
              <a:solidFill>
                <a:srgbClr val="002060"/>
              </a:solidFill>
              <a:effectLst>
                <a:outerShdw blurRad="38100" dist="38100" dir="2700000" algn="tl">
                  <a:srgbClr val="000000">
                    <a:alpha val="43137"/>
                  </a:srgbClr>
                </a:outerShdw>
              </a:effectLst>
            </a:endParaRPr>
          </a:p>
          <a:p>
            <a:endParaRPr lang="fr-FR" dirty="0" smtClean="0"/>
          </a:p>
          <a:p>
            <a:endParaRPr lang="fr-FR" dirty="0"/>
          </a:p>
          <a:p>
            <a:endParaRPr lang="fr-FR" dirty="0" smtClean="0"/>
          </a:p>
          <a:p>
            <a:pPr marL="285750" indent="-285750">
              <a:buFont typeface="Wingdings" pitchFamily="2" charset="2"/>
              <a:buChar char="Ø"/>
            </a:pPr>
            <a:r>
              <a:rPr lang="fr-FR" sz="2400" dirty="0">
                <a:solidFill>
                  <a:prstClr val="black"/>
                </a:solidFill>
              </a:rPr>
              <a:t>Quand une méthode de protection des modèles biométriques se base sur plus d’une approche  ( transformation non-inversible, transformation inversible,  crypto-système </a:t>
            </a:r>
            <a:r>
              <a:rPr lang="fr-FR" sz="2400" dirty="0" err="1">
                <a:solidFill>
                  <a:prstClr val="black"/>
                </a:solidFill>
              </a:rPr>
              <a:t>keybinding</a:t>
            </a:r>
            <a:r>
              <a:rPr lang="fr-FR" sz="2400" dirty="0">
                <a:solidFill>
                  <a:prstClr val="black"/>
                </a:solidFill>
              </a:rPr>
              <a:t> ou crypto-système </a:t>
            </a:r>
            <a:r>
              <a:rPr lang="fr-FR" sz="2400" dirty="0" err="1">
                <a:solidFill>
                  <a:prstClr val="black"/>
                </a:solidFill>
              </a:rPr>
              <a:t>key-generation</a:t>
            </a:r>
            <a:r>
              <a:rPr lang="fr-FR" sz="2400" dirty="0">
                <a:solidFill>
                  <a:prstClr val="black"/>
                </a:solidFill>
              </a:rPr>
              <a:t>)  elle est appelée hybride.</a:t>
            </a:r>
          </a:p>
        </p:txBody>
      </p:sp>
      <p:sp>
        <p:nvSpPr>
          <p:cNvPr id="4" name="ZoneTexte 3"/>
          <p:cNvSpPr txBox="1"/>
          <p:nvPr/>
        </p:nvSpPr>
        <p:spPr>
          <a:xfrm>
            <a:off x="323528" y="0"/>
            <a:ext cx="8676456" cy="707886"/>
          </a:xfrm>
          <a:prstGeom prst="rect">
            <a:avLst/>
          </a:prstGeom>
          <a:noFill/>
        </p:spPr>
        <p:txBody>
          <a:bodyPr wrap="square" rtlCol="0">
            <a:spAutoFit/>
          </a:bodyPr>
          <a:lstStyle/>
          <a:p>
            <a:pPr>
              <a:spcBef>
                <a:spcPct val="0"/>
              </a:spcBef>
            </a:pPr>
            <a:r>
              <a:rPr lang="fr-FR" sz="4000" b="1" dirty="0" smtClean="0">
                <a:solidFill>
                  <a:srgbClr val="002060"/>
                </a:solidFill>
              </a:rPr>
              <a:t>Protection </a:t>
            </a:r>
            <a:r>
              <a:rPr lang="fr-FR" sz="4000" b="1" dirty="0">
                <a:solidFill>
                  <a:srgbClr val="002060"/>
                </a:solidFill>
              </a:rPr>
              <a:t>des systèmes biométriques</a:t>
            </a:r>
          </a:p>
        </p:txBody>
      </p:sp>
      <p:cxnSp>
        <p:nvCxnSpPr>
          <p:cNvPr id="5" name="Connecteur droit 4"/>
          <p:cNvCxnSpPr/>
          <p:nvPr/>
        </p:nvCxnSpPr>
        <p:spPr>
          <a:xfrm>
            <a:off x="449288" y="707886"/>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942092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6.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7.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8.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9.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0.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6.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7.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8.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9.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0.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6.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7.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8.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9.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0.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6.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7.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8.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9.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0.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6.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7.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8.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9.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0.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otalTime>23606</TotalTime>
  <Words>2978</Words>
  <Application>Microsoft Office PowerPoint</Application>
  <PresentationFormat>Affichage à l'écran (4:3)</PresentationFormat>
  <Paragraphs>424</Paragraphs>
  <Slides>60</Slides>
  <Notes>2</Notes>
  <HiddenSlides>0</HiddenSlides>
  <MMClips>0</MMClips>
  <ScaleCrop>false</ScaleCrop>
  <HeadingPairs>
    <vt:vector size="4" baseType="variant">
      <vt:variant>
        <vt:lpstr>Thème</vt:lpstr>
      </vt:variant>
      <vt:variant>
        <vt:i4>1</vt:i4>
      </vt:variant>
      <vt:variant>
        <vt:lpstr>Titres des diapositives</vt:lpstr>
      </vt:variant>
      <vt:variant>
        <vt:i4>60</vt:i4>
      </vt:variant>
    </vt:vector>
  </HeadingPairs>
  <TitlesOfParts>
    <vt:vector size="61" baseType="lpstr">
      <vt:lpstr>Module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ECC</dc:creator>
  <cp:lastModifiedBy>ECC</cp:lastModifiedBy>
  <cp:revision>54</cp:revision>
  <dcterms:created xsi:type="dcterms:W3CDTF">2024-03-17T07:21:56Z</dcterms:created>
  <dcterms:modified xsi:type="dcterms:W3CDTF">2024-05-05T10:16:14Z</dcterms:modified>
</cp:coreProperties>
</file>