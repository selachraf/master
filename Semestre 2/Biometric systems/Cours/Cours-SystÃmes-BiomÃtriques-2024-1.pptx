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notesSlides/notesSlide1.xml" ContentType="application/vnd.openxmlformats-officedocument.presentationml.notesSl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notesSlides/notesSlide2.xml" ContentType="application/vnd.openxmlformats-officedocument.presentationml.notesSlide+xml"/>
  <Override PartName="/ppt/theme/themeOverride14.xml" ContentType="application/vnd.openxmlformats-officedocument.themeOverride+xml"/>
  <Override PartName="/ppt/theme/themeOverride15.xml" ContentType="application/vnd.openxmlformats-officedocument.themeOverride+xml"/>
  <Override PartName="/ppt/theme/themeOverride16.xml" ContentType="application/vnd.openxmlformats-officedocument.themeOverride+xml"/>
  <Override PartName="/ppt/theme/themeOverride17.xml" ContentType="application/vnd.openxmlformats-officedocument.themeOverride+xml"/>
  <Override PartName="/ppt/theme/themeOverride18.xml" ContentType="application/vnd.openxmlformats-officedocument.themeOverride+xml"/>
  <Override PartName="/ppt/theme/themeOverride19.xml" ContentType="application/vnd.openxmlformats-officedocument.themeOverride+xml"/>
  <Override PartName="/ppt/theme/themeOverride20.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392" r:id="rId1"/>
  </p:sldMasterIdLst>
  <p:notesMasterIdLst>
    <p:notesMasterId r:id="rId24"/>
  </p:notesMasterIdLst>
  <p:sldIdLst>
    <p:sldId id="256" r:id="rId2"/>
    <p:sldId id="257" r:id="rId3"/>
    <p:sldId id="260" r:id="rId4"/>
    <p:sldId id="277" r:id="rId5"/>
    <p:sldId id="278" r:id="rId6"/>
    <p:sldId id="276" r:id="rId7"/>
    <p:sldId id="279" r:id="rId8"/>
    <p:sldId id="259" r:id="rId9"/>
    <p:sldId id="280" r:id="rId10"/>
    <p:sldId id="281" r:id="rId11"/>
    <p:sldId id="282" r:id="rId12"/>
    <p:sldId id="283" r:id="rId13"/>
    <p:sldId id="284" r:id="rId14"/>
    <p:sldId id="285" r:id="rId15"/>
    <p:sldId id="258" r:id="rId16"/>
    <p:sldId id="261" r:id="rId17"/>
    <p:sldId id="262" r:id="rId18"/>
    <p:sldId id="263" r:id="rId19"/>
    <p:sldId id="265" r:id="rId20"/>
    <p:sldId id="266" r:id="rId21"/>
    <p:sldId id="267" r:id="rId22"/>
    <p:sldId id="268" r:id="rId23"/>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5" d="100"/>
          <a:sy n="65" d="100"/>
        </p:scale>
        <p:origin x="-1524" y="-18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430096B-D874-4E6A-8B8E-6D8929A2C718}" type="datetimeFigureOut">
              <a:rPr lang="fr-FR" smtClean="0"/>
              <a:t>25/02/2024</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A0C818A-B4AD-4F8C-919B-7B94E4BE2713}" type="slidenum">
              <a:rPr lang="fr-FR" smtClean="0"/>
              <a:t>‹N°›</a:t>
            </a:fld>
            <a:endParaRPr lang="fr-FR"/>
          </a:p>
        </p:txBody>
      </p:sp>
    </p:spTree>
    <p:extLst>
      <p:ext uri="{BB962C8B-B14F-4D97-AF65-F5344CB8AC3E}">
        <p14:creationId xmlns:p14="http://schemas.microsoft.com/office/powerpoint/2010/main" val="15631213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2A0C818A-B4AD-4F8C-919B-7B94E4BE2713}" type="slidenum">
              <a:rPr lang="fr-FR" smtClean="0"/>
              <a:t>9</a:t>
            </a:fld>
            <a:endParaRPr lang="fr-FR"/>
          </a:p>
        </p:txBody>
      </p:sp>
    </p:spTree>
    <p:extLst>
      <p:ext uri="{BB962C8B-B14F-4D97-AF65-F5344CB8AC3E}">
        <p14:creationId xmlns:p14="http://schemas.microsoft.com/office/powerpoint/2010/main" val="34651944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2A0C818A-B4AD-4F8C-919B-7B94E4BE2713}" type="slidenum">
              <a:rPr lang="fr-FR" smtClean="0"/>
              <a:t>15</a:t>
            </a:fld>
            <a:endParaRPr lang="fr-FR"/>
          </a:p>
        </p:txBody>
      </p:sp>
    </p:spTree>
    <p:extLst>
      <p:ext uri="{BB962C8B-B14F-4D97-AF65-F5344CB8AC3E}">
        <p14:creationId xmlns:p14="http://schemas.microsoft.com/office/powerpoint/2010/main" val="1131960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3999" cy="513543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re 1"/>
          <p:cNvSpPr>
            <a:spLocks noGrp="1"/>
          </p:cNvSpPr>
          <p:nvPr>
            <p:ph type="ctrTitle"/>
          </p:nvPr>
        </p:nvSpPr>
        <p:spPr>
          <a:xfrm>
            <a:off x="685800" y="3355848"/>
            <a:ext cx="8077200" cy="167335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a:defRPr sz="4700" b="1"/>
            </a:lvl1pPr>
            <a:extLst/>
          </a:lstStyle>
          <a:p>
            <a:r>
              <a:rPr kumimoji="0" lang="fr-FR" smtClean="0"/>
              <a:t>Modifiez le style du titre</a:t>
            </a:r>
            <a:endParaRPr kumimoji="0" lang="en-US"/>
          </a:p>
        </p:txBody>
      </p:sp>
      <p:sp>
        <p:nvSpPr>
          <p:cNvPr id="3" name="Sous-titre 2"/>
          <p:cNvSpPr>
            <a:spLocks noGrp="1"/>
          </p:cNvSpPr>
          <p:nvPr>
            <p:ph type="subTitle" idx="1"/>
          </p:nvPr>
        </p:nvSpPr>
        <p:spPr>
          <a:xfrm>
            <a:off x="685800" y="1828800"/>
            <a:ext cx="8077200" cy="1499616"/>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kumimoji="0" lang="fr-FR" smtClean="0"/>
              <a:t>Modifiez le style des sous-titres du masque</a:t>
            </a:r>
            <a:endParaRPr kumimoji="0" lang="en-US"/>
          </a:p>
        </p:txBody>
      </p:sp>
      <p:sp>
        <p:nvSpPr>
          <p:cNvPr id="4" name="Espace réservé de la date 3"/>
          <p:cNvSpPr>
            <a:spLocks noGrp="1"/>
          </p:cNvSpPr>
          <p:nvPr>
            <p:ph type="dt" sz="half" idx="10"/>
          </p:nvPr>
        </p:nvSpPr>
        <p:spPr/>
        <p:txBody>
          <a:bodyPr/>
          <a:lstStyle/>
          <a:p>
            <a:fld id="{0B7E4E25-39E7-4731-AD19-B7815EFA87A1}" type="datetime1">
              <a:rPr lang="fr-FR" smtClean="0"/>
              <a:t>25/02/2024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CB0B82E8-BC3F-45FF-92DD-C0AD1BA54385}" type="slidenum">
              <a:rPr lang="fr-FR" smtClean="0"/>
              <a:t>‹N°›</a:t>
            </a:fld>
            <a:endParaRPr lang="fr-FR"/>
          </a:p>
        </p:txBody>
      </p:sp>
      <p:sp>
        <p:nvSpPr>
          <p:cNvPr id="10" name="Rectangle 9"/>
          <p:cNvSpPr/>
          <p:nvPr/>
        </p:nvSpPr>
        <p:spPr bwMode="invGray">
          <a:xfrm>
            <a:off x="0" y="5128334"/>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457200" y="155448"/>
            <a:ext cx="8229600" cy="1252728"/>
          </a:xfrm>
        </p:spPr>
        <p:txBody>
          <a:bodyPr/>
          <a:lstStyle>
            <a:extLst/>
          </a:lstStyle>
          <a:p>
            <a:r>
              <a:rPr kumimoji="0" lang="fr-FR" smtClean="0"/>
              <a:t>Modifiez le style du titre</a:t>
            </a:r>
            <a:endParaRPr kumimoji="0" lang="en-US"/>
          </a:p>
        </p:txBody>
      </p:sp>
      <p:sp>
        <p:nvSpPr>
          <p:cNvPr id="3" name="Espace réservé du contenu 2"/>
          <p:cNvSpPr>
            <a:spLocks noGrp="1"/>
          </p:cNvSpPr>
          <p:nvPr>
            <p:ph idx="1"/>
          </p:nvPr>
        </p:nvSpPr>
        <p:spPr/>
        <p:txBody>
          <a:bodyPr/>
          <a:lstStyle>
            <a:extLst/>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20D856AF-8834-40D2-BB1D-4DC77DEA0E1F}" type="datetime1">
              <a:rPr lang="fr-FR" smtClean="0"/>
              <a:t>25/02/2024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CB0B82E8-BC3F-45FF-92DD-C0AD1BA54385}" type="slidenum">
              <a:rPr lang="fr-FR" smtClean="0"/>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1"/>
            <a:ext cx="9144000" cy="260252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12" name="Rectangle 11"/>
          <p:cNvSpPr/>
          <p:nvPr/>
        </p:nvSpPr>
        <p:spPr bwMode="invGray">
          <a:xfrm>
            <a:off x="0" y="260252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re 1"/>
          <p:cNvSpPr>
            <a:spLocks noGrp="1"/>
          </p:cNvSpPr>
          <p:nvPr>
            <p:ph type="title"/>
          </p:nvPr>
        </p:nvSpPr>
        <p:spPr>
          <a:xfrm>
            <a:off x="749808" y="118872"/>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l">
              <a:defRPr sz="4700" b="1" cap="none" baseline="0"/>
            </a:lvl1pPr>
            <a:extLst/>
          </a:lstStyle>
          <a:p>
            <a:r>
              <a:rPr kumimoji="0" lang="fr-FR" smtClean="0"/>
              <a:t>Modifiez le style du titre</a:t>
            </a:r>
            <a:endParaRPr kumimoji="0" lang="en-US"/>
          </a:p>
        </p:txBody>
      </p:sp>
      <p:sp>
        <p:nvSpPr>
          <p:cNvPr id="3" name="Espace réservé du texte 2"/>
          <p:cNvSpPr>
            <a:spLocks noGrp="1"/>
          </p:cNvSpPr>
          <p:nvPr>
            <p:ph type="body" idx="1"/>
          </p:nvPr>
        </p:nvSpPr>
        <p:spPr>
          <a:xfrm>
            <a:off x="740664" y="1828800"/>
            <a:ext cx="8022336" cy="685800"/>
          </a:xfrm>
        </p:spPr>
        <p:txBody>
          <a:bodyPr lIns="146304" tIns="0" rIns="45720" bIns="0" anchor="t"/>
          <a:lstStyle>
            <a:lvl1pPr marL="0" indent="0">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eaLnBrk="1" latinLnBrk="0" hangingPunct="1"/>
            <a:r>
              <a:rPr kumimoji="0" lang="fr-FR" smtClean="0"/>
              <a:t>Modifiez les styles du texte du masque</a:t>
            </a:r>
          </a:p>
        </p:txBody>
      </p:sp>
      <p:sp>
        <p:nvSpPr>
          <p:cNvPr id="4" name="Espace réservé de la date 3"/>
          <p:cNvSpPr>
            <a:spLocks noGrp="1"/>
          </p:cNvSpPr>
          <p:nvPr>
            <p:ph type="dt" sz="half" idx="10"/>
          </p:nvPr>
        </p:nvSpPr>
        <p:spPr/>
        <p:txBody>
          <a:bodyPr/>
          <a:lstStyle/>
          <a:p>
            <a:fld id="{3770EF4E-1E24-43F9-A079-B9773EB07929}" type="datetime1">
              <a:rPr lang="fr-FR" smtClean="0"/>
              <a:t>25/02/2024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CB0B82E8-BC3F-45FF-92DD-C0AD1BA54385}" type="slidenum">
              <a:rPr lang="fr-FR" smtClean="0"/>
              <a:t>‹N°›</a:t>
            </a:fld>
            <a:endParaRPr lang="fr-F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extLst/>
          </a:lstStyle>
          <a:p>
            <a:r>
              <a:rPr kumimoji="0" lang="fr-FR" smtClean="0"/>
              <a:t>Modifiez le style du titre</a:t>
            </a:r>
            <a:endParaRPr kumimoji="0" lang="en-US"/>
          </a:p>
        </p:txBody>
      </p:sp>
      <p:sp>
        <p:nvSpPr>
          <p:cNvPr id="3" name="Espace réservé du contenu 2"/>
          <p:cNvSpPr>
            <a:spLocks noGrp="1"/>
          </p:cNvSpPr>
          <p:nvPr>
            <p:ph sz="half" idx="1"/>
          </p:nvPr>
        </p:nvSpPr>
        <p:spPr>
          <a:xfrm>
            <a:off x="457200" y="1773936"/>
            <a:ext cx="4038600" cy="4623816"/>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u contenu 3"/>
          <p:cNvSpPr>
            <a:spLocks noGrp="1"/>
          </p:cNvSpPr>
          <p:nvPr>
            <p:ph sz="half" idx="2"/>
          </p:nvPr>
        </p:nvSpPr>
        <p:spPr>
          <a:xfrm>
            <a:off x="4648200" y="1773936"/>
            <a:ext cx="4038600" cy="462381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5" name="Espace réservé de la date 4"/>
          <p:cNvSpPr>
            <a:spLocks noGrp="1"/>
          </p:cNvSpPr>
          <p:nvPr>
            <p:ph type="dt" sz="half" idx="10"/>
          </p:nvPr>
        </p:nvSpPr>
        <p:spPr/>
        <p:txBody>
          <a:bodyPr/>
          <a:lstStyle/>
          <a:p>
            <a:fld id="{9F8D4DCD-A12D-4961-8D23-95FF92841D87}" type="datetime1">
              <a:rPr lang="fr-FR" smtClean="0"/>
              <a:t>25/02/2024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CB0B82E8-BC3F-45FF-92DD-C0AD1BA54385}" type="slidenum">
              <a:rPr lang="fr-FR" smtClean="0"/>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extLst/>
          </a:lstStyle>
          <a:p>
            <a:r>
              <a:rPr kumimoji="0" lang="fr-FR" smtClean="0"/>
              <a:t>Modifiez le style du titre</a:t>
            </a:r>
            <a:endParaRPr kumimoji="0" lang="en-US"/>
          </a:p>
        </p:txBody>
      </p:sp>
      <p:sp>
        <p:nvSpPr>
          <p:cNvPr id="3" name="Espace réservé du texte 2"/>
          <p:cNvSpPr>
            <a:spLocks noGrp="1"/>
          </p:cNvSpPr>
          <p:nvPr>
            <p:ph type="body" idx="1"/>
          </p:nvPr>
        </p:nvSpPr>
        <p:spPr>
          <a:xfrm>
            <a:off x="457200" y="1698987"/>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fr-FR" smtClean="0"/>
              <a:t>Modifiez les styles du texte du masque</a:t>
            </a:r>
          </a:p>
        </p:txBody>
      </p:sp>
      <p:sp>
        <p:nvSpPr>
          <p:cNvPr id="4" name="Espace réservé du contenu 3"/>
          <p:cNvSpPr>
            <a:spLocks noGrp="1"/>
          </p:cNvSpPr>
          <p:nvPr>
            <p:ph sz="half" idx="2"/>
          </p:nvPr>
        </p:nvSpPr>
        <p:spPr>
          <a:xfrm>
            <a:off x="457200" y="2449512"/>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5" name="Espace réservé du texte 4"/>
          <p:cNvSpPr>
            <a:spLocks noGrp="1"/>
          </p:cNvSpPr>
          <p:nvPr>
            <p:ph type="body" sz="quarter" idx="3"/>
          </p:nvPr>
        </p:nvSpPr>
        <p:spPr>
          <a:xfrm>
            <a:off x="4645025" y="1698987"/>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fr-FR" smtClean="0"/>
              <a:t>Modifiez les styles du texte du masque</a:t>
            </a:r>
          </a:p>
        </p:txBody>
      </p:sp>
      <p:sp>
        <p:nvSpPr>
          <p:cNvPr id="6" name="Espace réservé du contenu 5"/>
          <p:cNvSpPr>
            <a:spLocks noGrp="1"/>
          </p:cNvSpPr>
          <p:nvPr>
            <p:ph sz="quarter" idx="4"/>
          </p:nvPr>
        </p:nvSpPr>
        <p:spPr>
          <a:xfrm>
            <a:off x="4645025" y="2449512"/>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7" name="Espace réservé de la date 6"/>
          <p:cNvSpPr>
            <a:spLocks noGrp="1"/>
          </p:cNvSpPr>
          <p:nvPr>
            <p:ph type="dt" sz="half" idx="10"/>
          </p:nvPr>
        </p:nvSpPr>
        <p:spPr/>
        <p:txBody>
          <a:bodyPr/>
          <a:lstStyle/>
          <a:p>
            <a:fld id="{EAE56EFD-7E6A-4303-AAAB-12C99D3E8BAD}" type="datetime1">
              <a:rPr lang="fr-FR" smtClean="0"/>
              <a:t>25/02/2024</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CB0B82E8-BC3F-45FF-92DD-C0AD1BA54385}" type="slidenum">
              <a:rPr lang="fr-FR" smtClean="0"/>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extLst/>
          </a:lstStyle>
          <a:p>
            <a:r>
              <a:rPr kumimoji="0" lang="fr-FR" smtClean="0"/>
              <a:t>Modifiez le style du titre</a:t>
            </a:r>
            <a:endParaRPr kumimoji="0" lang="en-US"/>
          </a:p>
        </p:txBody>
      </p:sp>
      <p:sp>
        <p:nvSpPr>
          <p:cNvPr id="3" name="Espace réservé de la date 2"/>
          <p:cNvSpPr>
            <a:spLocks noGrp="1"/>
          </p:cNvSpPr>
          <p:nvPr>
            <p:ph type="dt" sz="half" idx="10"/>
          </p:nvPr>
        </p:nvSpPr>
        <p:spPr/>
        <p:txBody>
          <a:bodyPr/>
          <a:lstStyle/>
          <a:p>
            <a:fld id="{BD8E8DFA-E7E9-4408-813D-34EBFB36271E}" type="datetime1">
              <a:rPr lang="fr-FR" smtClean="0"/>
              <a:t>25/02/2024</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CB0B82E8-BC3F-45FF-92DD-C0AD1BA54385}" type="slidenum">
              <a:rPr lang="fr-FR" smtClean="0"/>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75F76E6D-4E1E-4761-969D-7996F43FFEC3}" type="datetime1">
              <a:rPr lang="fr-FR" smtClean="0"/>
              <a:t>25/02/2024</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CB0B82E8-BC3F-45FF-92DD-C0AD1BA54385}" type="slidenum">
              <a:rPr lang="fr-FR" smtClean="0"/>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67838" y="152400"/>
            <a:ext cx="2523744" cy="978408"/>
          </a:xfrm>
        </p:spPr>
        <p:txBody>
          <a:bodyPr vert="horz" lIns="73152" rIns="45720" bIns="0" rtlCol="0" anchor="b">
            <a:normAutofit/>
            <a:sp3d prstMaterial="matte"/>
          </a:bodyPr>
          <a:lstStyle>
            <a:lvl1pPr algn="l">
              <a:defRPr sz="2000" b="0"/>
            </a:lvl1pPr>
            <a:extLst/>
          </a:lstStyle>
          <a:p>
            <a:r>
              <a:rPr kumimoji="0" lang="fr-FR" smtClean="0"/>
              <a:t>Modifiez le style du titre</a:t>
            </a:r>
            <a:endParaRPr kumimoji="0" lang="en-US"/>
          </a:p>
        </p:txBody>
      </p:sp>
      <p:sp>
        <p:nvSpPr>
          <p:cNvPr id="3" name="Espace réservé du contenu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extLst/>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u texte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fr-FR" smtClean="0"/>
              <a:t>Modifiez les styles du texte du masque</a:t>
            </a:r>
          </a:p>
        </p:txBody>
      </p:sp>
      <p:sp>
        <p:nvSpPr>
          <p:cNvPr id="5" name="Espace réservé de la date 4"/>
          <p:cNvSpPr>
            <a:spLocks noGrp="1"/>
          </p:cNvSpPr>
          <p:nvPr>
            <p:ph type="dt" sz="half" idx="10"/>
          </p:nvPr>
        </p:nvSpPr>
        <p:spPr/>
        <p:txBody>
          <a:bodyPr/>
          <a:lstStyle/>
          <a:p>
            <a:fld id="{733C6B44-92FC-447C-9C02-8184F6E0B35A}" type="datetime1">
              <a:rPr lang="fr-FR" smtClean="0"/>
              <a:t>25/02/2024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CB0B82E8-BC3F-45FF-92DD-C0AD1BA54385}" type="slidenum">
              <a:rPr lang="fr-FR" smtClean="0"/>
              <a:t>‹N°›</a:t>
            </a:fld>
            <a:endParaRPr lang="fr-FR"/>
          </a:p>
        </p:txBody>
      </p:sp>
      <p:sp>
        <p:nvSpPr>
          <p:cNvPr id="12" name="Rectangle 11"/>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164592" y="155448"/>
            <a:ext cx="2525150" cy="978408"/>
          </a:xfrm>
        </p:spPr>
        <p:txBody>
          <a:bodyPr lIns="73152" bIns="0" anchor="b">
            <a:sp3d prstMaterial="matte"/>
          </a:bodyPr>
          <a:lstStyle>
            <a:lvl1pPr algn="l">
              <a:defRPr sz="2000" b="0"/>
            </a:lvl1pPr>
            <a:extLst/>
          </a:lstStyle>
          <a:p>
            <a:r>
              <a:rPr kumimoji="0" lang="fr-FR" smtClean="0"/>
              <a:t>Modifiez le style du titre</a:t>
            </a:r>
            <a:endParaRPr kumimoji="0" lang="en-US"/>
          </a:p>
        </p:txBody>
      </p:sp>
      <p:sp>
        <p:nvSpPr>
          <p:cNvPr id="3" name="Espace réservé pour une image  2"/>
          <p:cNvSpPr>
            <a:spLocks noGrp="1"/>
          </p:cNvSpPr>
          <p:nvPr>
            <p:ph type="pic" idx="1"/>
          </p:nvPr>
        </p:nvSpPr>
        <p:spPr>
          <a:xfrm>
            <a:off x="2903805" y="1484808"/>
            <a:ext cx="6247397" cy="5373192"/>
          </a:xfrm>
          <a:solidFill>
            <a:schemeClr val="bg2">
              <a:shade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extLst/>
          </a:lstStyle>
          <a:p>
            <a:r>
              <a:rPr kumimoji="0" lang="fr-FR" smtClean="0"/>
              <a:t>Cliquez sur l'icône pour ajouter une image</a:t>
            </a:r>
            <a:endParaRPr kumimoji="0" lang="en-US" dirty="0"/>
          </a:p>
        </p:txBody>
      </p:sp>
      <p:sp>
        <p:nvSpPr>
          <p:cNvPr id="4" name="Espace réservé du texte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fr-FR" smtClean="0"/>
              <a:t>Modifiez les styles du texte du masque</a:t>
            </a:r>
          </a:p>
        </p:txBody>
      </p:sp>
      <p:sp>
        <p:nvSpPr>
          <p:cNvPr id="5" name="Espace réservé de la date 4"/>
          <p:cNvSpPr>
            <a:spLocks noGrp="1"/>
          </p:cNvSpPr>
          <p:nvPr>
            <p:ph type="dt" sz="half" idx="10"/>
          </p:nvPr>
        </p:nvSpPr>
        <p:spPr>
          <a:xfrm>
            <a:off x="164592" y="1170432"/>
            <a:ext cx="2523744" cy="201168"/>
          </a:xfrm>
        </p:spPr>
        <p:txBody>
          <a:bodyPr/>
          <a:lstStyle/>
          <a:p>
            <a:fld id="{B447A6F0-D64B-414F-938E-7286D70A1447}" type="datetime1">
              <a:rPr lang="fr-FR" smtClean="0"/>
              <a:t>25/02/2024</a:t>
            </a:fld>
            <a:endParaRPr lang="fr-FR"/>
          </a:p>
        </p:txBody>
      </p:sp>
      <p:sp>
        <p:nvSpPr>
          <p:cNvPr id="11" name="Rectangle 10"/>
          <p:cNvSpPr/>
          <p:nvPr/>
        </p:nvSpPr>
        <p:spPr>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bwMode="invGray">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6" name="Espace réservé du pied de page 5"/>
          <p:cNvSpPr>
            <a:spLocks noGrp="1"/>
          </p:cNvSpPr>
          <p:nvPr>
            <p:ph type="ftr" sz="quarter" idx="11"/>
          </p:nvPr>
        </p:nvSpPr>
        <p:spPr>
          <a:xfrm>
            <a:off x="3035808" y="1170432"/>
            <a:ext cx="5193792" cy="201168"/>
          </a:xfrm>
        </p:spPr>
        <p:txBody>
          <a:bodyPr/>
          <a:lstStyle>
            <a:lvl1pPr>
              <a:defRPr>
                <a:solidFill>
                  <a:schemeClr val="bg1">
                    <a:shade val="50000"/>
                  </a:schemeClr>
                </a:solidFill>
              </a:defRPr>
            </a:lvl1pPr>
          </a:lstStyle>
          <a:p>
            <a:endParaRPr lang="fr-FR"/>
          </a:p>
        </p:txBody>
      </p:sp>
      <p:sp>
        <p:nvSpPr>
          <p:cNvPr id="7" name="Espace réservé du numéro de diapositive 6"/>
          <p:cNvSpPr>
            <a:spLocks noGrp="1"/>
          </p:cNvSpPr>
          <p:nvPr>
            <p:ph type="sldNum" sz="quarter" idx="12"/>
          </p:nvPr>
        </p:nvSpPr>
        <p:spPr>
          <a:xfrm>
            <a:off x="8339328" y="1170432"/>
            <a:ext cx="733864" cy="201168"/>
          </a:xfrm>
        </p:spPr>
        <p:txBody>
          <a:bodyPr/>
          <a:lstStyle/>
          <a:p>
            <a:fld id="{CB0B82E8-BC3F-45FF-92DD-C0AD1BA54385}" type="slidenum">
              <a:rPr lang="fr-FR" smtClean="0"/>
              <a:t>‹N°›</a:t>
            </a:fld>
            <a:endParaRPr lang="fr-FR"/>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extLst/>
          </a:lstStyle>
          <a:p>
            <a:r>
              <a:rPr kumimoji="0" lang="fr-FR" smtClean="0"/>
              <a:t>Modifiez le style du titre</a:t>
            </a:r>
            <a:endParaRPr kumimoji="0" lang="en-US"/>
          </a:p>
        </p:txBody>
      </p:sp>
      <p:sp>
        <p:nvSpPr>
          <p:cNvPr id="3" name="Espace réservé du texte vertical 2"/>
          <p:cNvSpPr>
            <a:spLocks noGrp="1"/>
          </p:cNvSpPr>
          <p:nvPr>
            <p:ph type="body" orient="vert" idx="1"/>
          </p:nvPr>
        </p:nvSpPr>
        <p:spPr/>
        <p:txBody>
          <a:bodyPr vert="eaVert"/>
          <a:lstStyle>
            <a:extLst/>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EE582037-47DF-4CC8-AAE2-5345333157F2}" type="datetime1">
              <a:rPr lang="fr-FR" smtClean="0"/>
              <a:t>25/02/2024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CB0B82E8-BC3F-45FF-92DD-C0AD1BA54385}" type="slidenum">
              <a:rPr lang="fr-FR" smtClean="0"/>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9" name="Rectangle 8"/>
          <p:cNvSpPr/>
          <p:nvPr/>
        </p:nvSpPr>
        <p:spPr bwMode="invGray">
          <a:xfrm>
            <a:off x="6598920" y="0"/>
            <a:ext cx="45720"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8" name="Rectangle 7"/>
          <p:cNvSpPr/>
          <p:nvPr/>
        </p:nvSpPr>
        <p:spPr bwMode="ltGray">
          <a:xfrm>
            <a:off x="6647687" y="0"/>
            <a:ext cx="2514601"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re vertical 1"/>
          <p:cNvSpPr>
            <a:spLocks noGrp="1"/>
          </p:cNvSpPr>
          <p:nvPr>
            <p:ph type="title" orient="vert"/>
          </p:nvPr>
        </p:nvSpPr>
        <p:spPr>
          <a:xfrm>
            <a:off x="6781800" y="274640"/>
            <a:ext cx="1905000" cy="5851525"/>
          </a:xfrm>
        </p:spPr>
        <p:txBody>
          <a:bodyPr vert="eaVert"/>
          <a:lstStyle>
            <a:extLst/>
          </a:lstStyle>
          <a:p>
            <a:r>
              <a:rPr kumimoji="0" lang="fr-FR" smtClean="0"/>
              <a:t>Modifiez le style du titre</a:t>
            </a:r>
            <a:endParaRPr kumimoji="0" lang="en-US"/>
          </a:p>
        </p:txBody>
      </p:sp>
      <p:sp>
        <p:nvSpPr>
          <p:cNvPr id="3" name="Espace réservé du texte vertical 2"/>
          <p:cNvSpPr>
            <a:spLocks noGrp="1"/>
          </p:cNvSpPr>
          <p:nvPr>
            <p:ph type="body" orient="vert" idx="1"/>
          </p:nvPr>
        </p:nvSpPr>
        <p:spPr>
          <a:xfrm>
            <a:off x="457200" y="304800"/>
            <a:ext cx="6019800" cy="5851525"/>
          </a:xfrm>
        </p:spPr>
        <p:txBody>
          <a:bodyPr vert="eaVert"/>
          <a:lstStyle>
            <a:extLst/>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68A18BD9-23F2-40CC-B0AE-5308EB1FD9CD}" type="datetime1">
              <a:rPr lang="fr-FR" smtClean="0"/>
              <a:t>25/02/2024</a:t>
            </a:fld>
            <a:endParaRPr lang="fr-FR"/>
          </a:p>
        </p:txBody>
      </p:sp>
      <p:sp>
        <p:nvSpPr>
          <p:cNvPr id="5" name="Espace réservé du pied de page 4"/>
          <p:cNvSpPr>
            <a:spLocks noGrp="1"/>
          </p:cNvSpPr>
          <p:nvPr>
            <p:ph type="ftr" sz="quarter" idx="11"/>
          </p:nvPr>
        </p:nvSpPr>
        <p:spPr>
          <a:xfrm>
            <a:off x="2640597" y="6377459"/>
            <a:ext cx="3836404" cy="365125"/>
          </a:xfrm>
        </p:spPr>
        <p:txBody>
          <a:bodyPr/>
          <a:lstStyle/>
          <a:p>
            <a:endParaRPr lang="fr-FR"/>
          </a:p>
        </p:txBody>
      </p:sp>
      <p:sp>
        <p:nvSpPr>
          <p:cNvPr id="6" name="Espace réservé du numéro de diapositive 5"/>
          <p:cNvSpPr>
            <a:spLocks noGrp="1"/>
          </p:cNvSpPr>
          <p:nvPr>
            <p:ph type="sldNum" sz="quarter" idx="12"/>
          </p:nvPr>
        </p:nvSpPr>
        <p:spPr/>
        <p:txBody>
          <a:bodyPr/>
          <a:lstStyle/>
          <a:p>
            <a:fld id="{CB0B82E8-BC3F-45FF-92DD-C0AD1BA54385}" type="slidenum">
              <a:rPr lang="fr-FR" smtClean="0"/>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bwMode="invGray">
          <a:xfrm>
            <a:off x="0" y="1435895"/>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7" name="Rectangle 6"/>
          <p:cNvSpPr/>
          <p:nvPr/>
        </p:nvSpPr>
        <p:spPr bwMode="ltGray">
          <a:xfrm>
            <a:off x="0" y="0"/>
            <a:ext cx="9143999" cy="1433733"/>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Espace réservé du titre 1"/>
          <p:cNvSpPr>
            <a:spLocks noGrp="1"/>
          </p:cNvSpPr>
          <p:nvPr>
            <p:ph type="title"/>
          </p:nvPr>
        </p:nvSpPr>
        <p:spPr>
          <a:xfrm>
            <a:off x="457200" y="152400"/>
            <a:ext cx="8229600" cy="1251062"/>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extLst/>
          </a:lstStyle>
          <a:p>
            <a:r>
              <a:rPr kumimoji="0" lang="fr-FR" smtClean="0"/>
              <a:t>Modifiez le style du titre</a:t>
            </a:r>
            <a:endParaRPr kumimoji="0" lang="en-US"/>
          </a:p>
        </p:txBody>
      </p:sp>
      <p:sp>
        <p:nvSpPr>
          <p:cNvPr id="3" name="Espace réservé du texte 2"/>
          <p:cNvSpPr>
            <a:spLocks noGrp="1"/>
          </p:cNvSpPr>
          <p:nvPr>
            <p:ph type="body" idx="1"/>
          </p:nvPr>
        </p:nvSpPr>
        <p:spPr>
          <a:xfrm>
            <a:off x="457200" y="1775191"/>
            <a:ext cx="8229600" cy="4625609"/>
          </a:xfrm>
          <a:prstGeom prst="rect">
            <a:avLst/>
          </a:prstGeom>
        </p:spPr>
        <p:txBody>
          <a:bodyPr vert="horz" lIns="54864" tIns="91440" rtlCol="0">
            <a:normAutofit/>
          </a:bodyPr>
          <a:lstStyle>
            <a:extLst/>
          </a:lstStyle>
          <a:p>
            <a:pPr lvl="0" eaLnBrk="1" latinLnBrk="0" hangingPunct="1"/>
            <a:r>
              <a:rPr kumimoji="0" lang="fr-FR" smtClean="0"/>
              <a:t>Modifiez les styles du texte du masque</a:t>
            </a:r>
          </a:p>
          <a:p>
            <a:pPr lvl="1" eaLnBrk="1" latinLnBrk="0" hangingPunct="1"/>
            <a:r>
              <a:rPr kumimoji="0" lang="fr-FR" smtClean="0"/>
              <a:t>Deuxième niveau</a:t>
            </a:r>
          </a:p>
          <a:p>
            <a:pPr lvl="2" eaLnBrk="1" latinLnBrk="0" hangingPunct="1"/>
            <a:r>
              <a:rPr kumimoji="0" lang="fr-FR" smtClean="0"/>
              <a:t>Troisième niveau</a:t>
            </a:r>
          </a:p>
          <a:p>
            <a:pPr lvl="3" eaLnBrk="1" latinLnBrk="0" hangingPunct="1"/>
            <a:r>
              <a:rPr kumimoji="0" lang="fr-FR" smtClean="0"/>
              <a:t>Quatrième niveau</a:t>
            </a:r>
          </a:p>
          <a:p>
            <a:pPr lvl="4" eaLnBrk="1" latinLnBrk="0" hangingPunct="1"/>
            <a:r>
              <a:rPr kumimoji="0" lang="fr-FR" smtClean="0"/>
              <a:t>Cinquième niveau</a:t>
            </a:r>
            <a:endParaRPr kumimoji="0" lang="en-US"/>
          </a:p>
        </p:txBody>
      </p:sp>
      <p:sp>
        <p:nvSpPr>
          <p:cNvPr id="4" name="Espace réservé de la date 3"/>
          <p:cNvSpPr>
            <a:spLocks noGrp="1"/>
          </p:cNvSpPr>
          <p:nvPr>
            <p:ph type="dt" sz="half" idx="2"/>
          </p:nvPr>
        </p:nvSpPr>
        <p:spPr>
          <a:xfrm>
            <a:off x="457200" y="6476999"/>
            <a:ext cx="2133600" cy="274320"/>
          </a:xfrm>
          <a:prstGeom prst="rect">
            <a:avLst/>
          </a:prstGeom>
        </p:spPr>
        <p:txBody>
          <a:bodyPr vert="horz" lIns="109728" rIns="45720" bIns="0" rtlCol="0" anchor="b"/>
          <a:lstStyle>
            <a:lvl1pPr algn="l" eaLnBrk="1" latinLnBrk="0" hangingPunct="1">
              <a:defRPr kumimoji="0" sz="1200">
                <a:solidFill>
                  <a:schemeClr val="tx1">
                    <a:tint val="95000"/>
                  </a:schemeClr>
                </a:solidFill>
              </a:defRPr>
            </a:lvl1pPr>
            <a:extLst/>
          </a:lstStyle>
          <a:p>
            <a:fld id="{391FC04E-E986-4F2F-84B2-9B3F40D5C399}" type="datetime1">
              <a:rPr lang="fr-FR" smtClean="0"/>
              <a:t>25/02/2024</a:t>
            </a:fld>
            <a:endParaRPr lang="fr-FR"/>
          </a:p>
        </p:txBody>
      </p:sp>
      <p:sp>
        <p:nvSpPr>
          <p:cNvPr id="5" name="Espace réservé du pied de page 4"/>
          <p:cNvSpPr>
            <a:spLocks noGrp="1"/>
          </p:cNvSpPr>
          <p:nvPr>
            <p:ph type="ftr" sz="quarter" idx="3"/>
          </p:nvPr>
        </p:nvSpPr>
        <p:spPr>
          <a:xfrm>
            <a:off x="2640596" y="6476999"/>
            <a:ext cx="5507719" cy="274320"/>
          </a:xfrm>
          <a:prstGeom prst="rect">
            <a:avLst/>
          </a:prstGeom>
        </p:spPr>
        <p:txBody>
          <a:bodyPr vert="horz" lIns="45720" rIns="45720" bIns="0" rtlCol="0" anchor="b"/>
          <a:lstStyle>
            <a:lvl1pPr algn="l" eaLnBrk="1" latinLnBrk="0" hangingPunct="1">
              <a:defRPr kumimoji="0" sz="1200">
                <a:solidFill>
                  <a:schemeClr val="tx1">
                    <a:tint val="95000"/>
                  </a:schemeClr>
                </a:solidFill>
              </a:defRPr>
            </a:lvl1pPr>
            <a:extLst/>
          </a:lstStyle>
          <a:p>
            <a:endParaRPr lang="fr-FR"/>
          </a:p>
        </p:txBody>
      </p:sp>
      <p:sp>
        <p:nvSpPr>
          <p:cNvPr id="6" name="Espace réservé du numéro de diapositive 5"/>
          <p:cNvSpPr>
            <a:spLocks noGrp="1"/>
          </p:cNvSpPr>
          <p:nvPr>
            <p:ph type="sldNum" sz="quarter" idx="4"/>
          </p:nvPr>
        </p:nvSpPr>
        <p:spPr>
          <a:xfrm>
            <a:off x="8204396" y="6476999"/>
            <a:ext cx="733864" cy="274320"/>
          </a:xfrm>
          <a:prstGeom prst="rect">
            <a:avLst/>
          </a:prstGeom>
        </p:spPr>
        <p:txBody>
          <a:bodyPr vert="horz" bIns="0" rtlCol="0" anchor="b"/>
          <a:lstStyle>
            <a:lvl1pPr algn="r" eaLnBrk="1" latinLnBrk="0" hangingPunct="1">
              <a:defRPr kumimoji="0" sz="1200">
                <a:solidFill>
                  <a:schemeClr val="tx1">
                    <a:tint val="95000"/>
                  </a:schemeClr>
                </a:solidFill>
              </a:defRPr>
            </a:lvl1pPr>
            <a:extLst/>
          </a:lstStyle>
          <a:p>
            <a:fld id="{CB0B82E8-BC3F-45FF-92DD-C0AD1BA54385}" type="slidenum">
              <a:rPr lang="fr-FR" smtClean="0"/>
              <a:t>‹N°›</a:t>
            </a:fld>
            <a:endParaRPr lang="fr-FR"/>
          </a:p>
        </p:txBody>
      </p:sp>
    </p:spTree>
  </p:cSld>
  <p:clrMap bg1="lt1" tx1="dk1" bg2="lt2" tx2="dk2" accent1="accent1" accent2="accent2" accent3="accent3" accent4="accent4" accent5="accent5" accent6="accent6" hlink="hlink" folHlink="folHlink"/>
  <p:sldLayoutIdLst>
    <p:sldLayoutId id="2147484393" r:id="rId1"/>
    <p:sldLayoutId id="2147484394" r:id="rId2"/>
    <p:sldLayoutId id="2147484395" r:id="rId3"/>
    <p:sldLayoutId id="2147484396" r:id="rId4"/>
    <p:sldLayoutId id="2147484397" r:id="rId5"/>
    <p:sldLayoutId id="2147484398" r:id="rId6"/>
    <p:sldLayoutId id="2147484399" r:id="rId7"/>
    <p:sldLayoutId id="2147484400" r:id="rId8"/>
    <p:sldLayoutId id="2147484401" r:id="rId9"/>
    <p:sldLayoutId id="2147484402" r:id="rId10"/>
    <p:sldLayoutId id="2147484403" r:id="rId11"/>
  </p:sldLayoutIdLst>
  <p:hf hdr="0" ftr="0" dt="0"/>
  <p:txStyles>
    <p:titleStyle>
      <a:lvl1pPr algn="l" rtl="0" eaLnBrk="1" latinLnBrk="0" hangingPunct="1">
        <a:spcBef>
          <a:spcPct val="0"/>
        </a:spcBef>
        <a:buNone/>
        <a:defRPr kumimoji="0" sz="4500" b="1" kern="1200">
          <a:solidFill>
            <a:schemeClr val="accent1">
              <a:satMod val="150000"/>
            </a:schemeClr>
          </a:solidFill>
          <a:effectLst/>
          <a:latin typeface="+mj-lt"/>
          <a:ea typeface="+mj-ea"/>
          <a:cs typeface="+mj-cs"/>
        </a:defRPr>
      </a:lvl1pPr>
      <a:extLst/>
    </p:titleStyle>
    <p:body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mn-lt"/>
          <a:ea typeface="+mn-ea"/>
          <a:cs typeface="+mn-cs"/>
        </a:defRPr>
      </a:lvl1pPr>
      <a:lvl2pPr marL="731520" indent="-274320" algn="l" rtl="0" eaLnBrk="1" latinLnBrk="0" hangingPunct="1">
        <a:spcBef>
          <a:spcPct val="20000"/>
        </a:spcBef>
        <a:buClr>
          <a:schemeClr val="accent2"/>
        </a:buClr>
        <a:buSzPct val="90000"/>
        <a:buFont typeface="Wingdings"/>
        <a:buChar char=""/>
        <a:defRPr kumimoji="0" sz="2800" kern="1200">
          <a:solidFill>
            <a:schemeClr val="tx1"/>
          </a:solidFill>
          <a:latin typeface="+mn-lt"/>
          <a:ea typeface="+mn-ea"/>
          <a:cs typeface="+mn-cs"/>
        </a:defRPr>
      </a:lvl2pPr>
      <a:lvl3pPr marL="996696" indent="-228600" algn="l" rtl="0" eaLnBrk="1" latinLnBrk="0" hangingPunct="1">
        <a:spcBef>
          <a:spcPct val="20000"/>
        </a:spcBef>
        <a:buClr>
          <a:schemeClr val="accent3"/>
        </a:buClr>
        <a:buFont typeface="Arial"/>
        <a:buChar char="▪"/>
        <a:defRPr kumimoji="0" sz="2400" kern="1200">
          <a:solidFill>
            <a:schemeClr val="tx1"/>
          </a:solidFill>
          <a:latin typeface="+mn-lt"/>
          <a:ea typeface="+mn-ea"/>
          <a:cs typeface="+mn-cs"/>
        </a:defRPr>
      </a:lvl3pPr>
      <a:lvl4pPr marL="1216152" indent="-182880" algn="l" rtl="0" eaLnBrk="1" latinLnBrk="0" hangingPunct="1">
        <a:spcBef>
          <a:spcPct val="20000"/>
        </a:spcBef>
        <a:buClr>
          <a:schemeClr val="accent4"/>
        </a:buClr>
        <a:buFont typeface="Arial"/>
        <a:buChar char="▪"/>
        <a:defRPr kumimoji="0" sz="2000" kern="1200">
          <a:solidFill>
            <a:schemeClr val="tx1"/>
          </a:solidFill>
          <a:latin typeface="+mn-lt"/>
          <a:ea typeface="+mn-ea"/>
          <a:cs typeface="+mn-cs"/>
        </a:defRPr>
      </a:lvl4pPr>
      <a:lvl5pPr marL="1426464" indent="-182880" algn="l" rtl="0" eaLnBrk="1" latinLnBrk="0" hangingPunct="1">
        <a:spcBef>
          <a:spcPct val="20000"/>
        </a:spcBef>
        <a:buClr>
          <a:schemeClr val="accent5"/>
        </a:buClr>
        <a:buFont typeface="Wingdings 3"/>
        <a:buChar char=""/>
        <a:defRPr kumimoji="0" lang="en-US" sz="2000" kern="1200" smtClean="0">
          <a:solidFill>
            <a:schemeClr val="tx1"/>
          </a:solidFill>
          <a:latin typeface="+mn-lt"/>
          <a:ea typeface="+mn-ea"/>
          <a:cs typeface="+mn-cs"/>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3.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4.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5.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themeOverride" Target="../theme/themeOverride6.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hemeOverride" Target="../theme/themeOverride7.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8.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7.xml"/><Relationship Id="rId1" Type="http://schemas.openxmlformats.org/officeDocument/2006/relationships/themeOverride" Target="../theme/themeOverride9.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7.xml"/><Relationship Id="rId1" Type="http://schemas.openxmlformats.org/officeDocument/2006/relationships/themeOverride" Target="../theme/themeOverride10.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1.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hemeOverride" Target="../theme/themeOverride13.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4.xml"/></Relationships>
</file>

<file path=ppt/slides/_rels/slide1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slideLayout" Target="../slideLayouts/slideLayout7.xml"/><Relationship Id="rId1" Type="http://schemas.openxmlformats.org/officeDocument/2006/relationships/themeOverride" Target="../theme/themeOverride15.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7.xml"/><Relationship Id="rId1" Type="http://schemas.openxmlformats.org/officeDocument/2006/relationships/themeOverride" Target="../theme/themeOverride16.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7.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8.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9.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20.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20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0"/>
            <a:ext cx="4572000" cy="5085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ZoneTexte 3"/>
          <p:cNvSpPr txBox="1"/>
          <p:nvPr/>
        </p:nvSpPr>
        <p:spPr>
          <a:xfrm>
            <a:off x="0" y="603845"/>
            <a:ext cx="4572000" cy="954107"/>
          </a:xfrm>
          <a:prstGeom prst="rect">
            <a:avLst/>
          </a:prstGeom>
          <a:noFill/>
        </p:spPr>
        <p:txBody>
          <a:bodyPr wrap="square" rtlCol="0">
            <a:spAutoFit/>
          </a:bodyPr>
          <a:lstStyle/>
          <a:p>
            <a:pPr algn="ctr"/>
            <a:r>
              <a:rPr lang="en-US" sz="2800" b="1" dirty="0" err="1" smtClean="0"/>
              <a:t>Cours</a:t>
            </a:r>
            <a:r>
              <a:rPr lang="en-US" sz="2800" b="1" dirty="0" smtClean="0"/>
              <a:t> de</a:t>
            </a:r>
          </a:p>
          <a:p>
            <a:pPr algn="ctr"/>
            <a:r>
              <a:rPr lang="en-US" sz="2800" b="1" dirty="0" err="1" smtClean="0"/>
              <a:t>Systèmes</a:t>
            </a:r>
            <a:r>
              <a:rPr lang="en-US" sz="2800" b="1" dirty="0" smtClean="0"/>
              <a:t> </a:t>
            </a:r>
            <a:r>
              <a:rPr lang="en-US" sz="2800" b="1" dirty="0" err="1" smtClean="0"/>
              <a:t>Biométriques</a:t>
            </a:r>
            <a:endParaRPr lang="fr-FR" sz="2800" b="1" dirty="0"/>
          </a:p>
        </p:txBody>
      </p:sp>
      <p:sp>
        <p:nvSpPr>
          <p:cNvPr id="5" name="ZoneTexte 4"/>
          <p:cNvSpPr txBox="1"/>
          <p:nvPr/>
        </p:nvSpPr>
        <p:spPr>
          <a:xfrm>
            <a:off x="161764" y="3068960"/>
            <a:ext cx="4248472" cy="646331"/>
          </a:xfrm>
          <a:prstGeom prst="rect">
            <a:avLst/>
          </a:prstGeom>
          <a:noFill/>
        </p:spPr>
        <p:txBody>
          <a:bodyPr wrap="square" rtlCol="0">
            <a:spAutoFit/>
          </a:bodyPr>
          <a:lstStyle/>
          <a:p>
            <a:r>
              <a:rPr lang="fr-FR" dirty="0" smtClean="0"/>
              <a:t>Préparé par :  MAA. DEBBECHE </a:t>
            </a:r>
            <a:r>
              <a:rPr lang="fr-FR" dirty="0" err="1" smtClean="0"/>
              <a:t>Feriel</a:t>
            </a:r>
            <a:endParaRPr lang="fr-FR" dirty="0" smtClean="0"/>
          </a:p>
          <a:p>
            <a:endParaRPr lang="fr-FR" dirty="0"/>
          </a:p>
        </p:txBody>
      </p:sp>
      <p:sp>
        <p:nvSpPr>
          <p:cNvPr id="6" name="ZoneTexte 5"/>
          <p:cNvSpPr txBox="1"/>
          <p:nvPr/>
        </p:nvSpPr>
        <p:spPr>
          <a:xfrm>
            <a:off x="1331640" y="5384998"/>
            <a:ext cx="5976664" cy="1015663"/>
          </a:xfrm>
          <a:prstGeom prst="rect">
            <a:avLst/>
          </a:prstGeom>
          <a:noFill/>
        </p:spPr>
        <p:txBody>
          <a:bodyPr wrap="square" rtlCol="0">
            <a:spAutoFit/>
          </a:bodyPr>
          <a:lstStyle/>
          <a:p>
            <a:pPr algn="ctr"/>
            <a:r>
              <a:rPr lang="fr-FR" sz="2000" b="1" dirty="0" smtClean="0"/>
              <a:t>Master 1, RSI</a:t>
            </a:r>
          </a:p>
          <a:p>
            <a:pPr algn="ctr"/>
            <a:r>
              <a:rPr lang="fr-FR" sz="2000" b="1" dirty="0" smtClean="0"/>
              <a:t>Université </a:t>
            </a:r>
            <a:r>
              <a:rPr lang="fr-FR" sz="2000" b="1" dirty="0" err="1" smtClean="0"/>
              <a:t>Badji</a:t>
            </a:r>
            <a:r>
              <a:rPr lang="fr-FR" sz="2000" b="1" dirty="0" smtClean="0"/>
              <a:t> Mokhtar, ANNABA</a:t>
            </a:r>
          </a:p>
          <a:p>
            <a:pPr algn="ctr"/>
            <a:r>
              <a:rPr lang="fr-FR" sz="2000" b="1" dirty="0" smtClean="0"/>
              <a:t>2024</a:t>
            </a:r>
            <a:endParaRPr lang="fr-FR" sz="2000" b="1" dirty="0"/>
          </a:p>
        </p:txBody>
      </p:sp>
      <p:sp>
        <p:nvSpPr>
          <p:cNvPr id="8" name="Espace réservé du numéro de diapositive 7"/>
          <p:cNvSpPr>
            <a:spLocks noGrp="1"/>
          </p:cNvSpPr>
          <p:nvPr>
            <p:ph type="sldNum" sz="quarter" idx="12"/>
          </p:nvPr>
        </p:nvSpPr>
        <p:spPr/>
        <p:txBody>
          <a:bodyPr/>
          <a:lstStyle/>
          <a:p>
            <a:fld id="{CB0B82E8-BC3F-45FF-92DD-C0AD1BA54385}" type="slidenum">
              <a:rPr lang="fr-FR" smtClean="0"/>
              <a:t>1</a:t>
            </a:fld>
            <a:endParaRPr lang="fr-FR"/>
          </a:p>
        </p:txBody>
      </p:sp>
    </p:spTree>
    <p:extLst>
      <p:ext uri="{BB962C8B-B14F-4D97-AF65-F5344CB8AC3E}">
        <p14:creationId xmlns:p14="http://schemas.microsoft.com/office/powerpoint/2010/main" val="214189618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CB0B82E8-BC3F-45FF-92DD-C0AD1BA54385}" type="slidenum">
              <a:rPr lang="fr-FR" smtClean="0"/>
              <a:t>2</a:t>
            </a:fld>
            <a:endParaRPr lang="fr-FR"/>
          </a:p>
        </p:txBody>
      </p:sp>
      <p:graphicFrame>
        <p:nvGraphicFramePr>
          <p:cNvPr id="7" name="Tableau 6"/>
          <p:cNvGraphicFramePr>
            <a:graphicFrameLocks noGrp="1"/>
          </p:cNvGraphicFramePr>
          <p:nvPr>
            <p:extLst>
              <p:ext uri="{D42A27DB-BD31-4B8C-83A1-F6EECF244321}">
                <p14:modId xmlns:p14="http://schemas.microsoft.com/office/powerpoint/2010/main" val="747668277"/>
              </p:ext>
            </p:extLst>
          </p:nvPr>
        </p:nvGraphicFramePr>
        <p:xfrm>
          <a:off x="395536" y="404664"/>
          <a:ext cx="8352928" cy="5904655"/>
        </p:xfrm>
        <a:graphic>
          <a:graphicData uri="http://schemas.openxmlformats.org/drawingml/2006/table">
            <a:tbl>
              <a:tblPr firstRow="1" firstCol="1" bandRow="1"/>
              <a:tblGrid>
                <a:gridCol w="1426591"/>
                <a:gridCol w="5589648"/>
                <a:gridCol w="1336689"/>
              </a:tblGrid>
              <a:tr h="469208">
                <a:tc>
                  <a:txBody>
                    <a:bodyPr/>
                    <a:lstStyle/>
                    <a:p>
                      <a:pPr>
                        <a:lnSpc>
                          <a:spcPct val="115000"/>
                        </a:lnSpc>
                        <a:spcBef>
                          <a:spcPts val="600"/>
                        </a:spcBef>
                        <a:spcAft>
                          <a:spcPts val="600"/>
                        </a:spcAft>
                      </a:pPr>
                      <a:r>
                        <a:rPr lang="fr-FR" sz="1400" b="1" dirty="0">
                          <a:effectLst/>
                          <a:latin typeface="Times New Roman"/>
                          <a:ea typeface="Calibri"/>
                          <a:cs typeface="Arial"/>
                        </a:rPr>
                        <a:t> </a:t>
                      </a:r>
                      <a:endParaRPr lang="fr-FR" sz="1100" dirty="0">
                        <a:effectLst/>
                        <a:latin typeface="Calibri"/>
                        <a:ea typeface="Calibri"/>
                        <a:cs typeface="Arial"/>
                      </a:endParaRPr>
                    </a:p>
                  </a:txBody>
                  <a:tcPr marL="68580" marR="68580" marT="0" marB="0">
                    <a:lnL>
                      <a:noFill/>
                    </a:lnL>
                    <a:lnR w="1905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tcPr>
                </a:tc>
                <a:tc rowSpan="2">
                  <a:txBody>
                    <a:bodyPr/>
                    <a:lstStyle/>
                    <a:p>
                      <a:pPr algn="ctr">
                        <a:lnSpc>
                          <a:spcPct val="115000"/>
                        </a:lnSpc>
                        <a:spcBef>
                          <a:spcPts val="600"/>
                        </a:spcBef>
                        <a:spcAft>
                          <a:spcPts val="600"/>
                        </a:spcAft>
                      </a:pPr>
                      <a:r>
                        <a:rPr lang="fr-FR" sz="4800" b="1" dirty="0" smtClean="0">
                          <a:effectLst/>
                          <a:latin typeface="Times New Roman"/>
                          <a:ea typeface="Calibri"/>
                          <a:cs typeface="Arial"/>
                        </a:rPr>
                        <a:t>Plan</a:t>
                      </a:r>
                      <a:endParaRPr lang="fr-FR" sz="4800" b="1" dirty="0">
                        <a:effectLst/>
                        <a:latin typeface="Calibri"/>
                        <a:ea typeface="Calibri"/>
                        <a:cs typeface="Arial"/>
                      </a:endParaRPr>
                    </a:p>
                  </a:txBody>
                  <a:tcPr marL="68580" marR="68580"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nSpc>
                          <a:spcPct val="115000"/>
                        </a:lnSpc>
                        <a:spcBef>
                          <a:spcPts val="600"/>
                        </a:spcBef>
                        <a:spcAft>
                          <a:spcPts val="600"/>
                        </a:spcAft>
                      </a:pPr>
                      <a:r>
                        <a:rPr lang="fr-FR" sz="1400" b="1" dirty="0">
                          <a:effectLst/>
                          <a:latin typeface="Times New Roman"/>
                          <a:ea typeface="Calibri"/>
                          <a:cs typeface="Arial"/>
                        </a:rPr>
                        <a:t> </a:t>
                      </a:r>
                      <a:endParaRPr lang="fr-FR" sz="1100" dirty="0">
                        <a:effectLst/>
                        <a:latin typeface="Calibri"/>
                        <a:ea typeface="Calibri"/>
                        <a:cs typeface="Arial"/>
                      </a:endParaRPr>
                    </a:p>
                  </a:txBody>
                  <a:tcPr marL="68580" marR="68580" marT="0" marB="0">
                    <a:lnL w="19050" cap="flat" cmpd="sng" algn="ctr">
                      <a:solidFill>
                        <a:srgbClr val="000000"/>
                      </a:solidFill>
                      <a:prstDash val="solid"/>
                      <a:round/>
                      <a:headEnd type="none" w="med" len="med"/>
                      <a:tailEnd type="none" w="med" len="med"/>
                    </a:lnL>
                    <a:lnR>
                      <a:noFill/>
                    </a:lnR>
                    <a:lnT>
                      <a:noFill/>
                    </a:lnT>
                    <a:lnB w="19050" cap="flat" cmpd="sng" algn="ctr">
                      <a:solidFill>
                        <a:srgbClr val="000000"/>
                      </a:solidFill>
                      <a:prstDash val="solid"/>
                      <a:round/>
                      <a:headEnd type="none" w="med" len="med"/>
                      <a:tailEnd type="none" w="med" len="med"/>
                    </a:lnB>
                  </a:tcPr>
                </a:tc>
              </a:tr>
              <a:tr h="469208">
                <a:tc>
                  <a:txBody>
                    <a:bodyPr/>
                    <a:lstStyle/>
                    <a:p>
                      <a:pPr>
                        <a:lnSpc>
                          <a:spcPct val="115000"/>
                        </a:lnSpc>
                        <a:spcBef>
                          <a:spcPts val="600"/>
                        </a:spcBef>
                        <a:spcAft>
                          <a:spcPts val="600"/>
                        </a:spcAft>
                      </a:pPr>
                      <a:r>
                        <a:rPr lang="fr-FR" sz="1400" b="1">
                          <a:effectLst/>
                          <a:latin typeface="Times New Roman"/>
                          <a:ea typeface="Calibri"/>
                          <a:cs typeface="Arial"/>
                        </a:rPr>
                        <a:t> </a:t>
                      </a:r>
                      <a:endParaRPr lang="fr-FR" sz="1100">
                        <a:effectLst/>
                        <a:latin typeface="Calibri"/>
                        <a:ea typeface="Calibri"/>
                        <a:cs typeface="Arial"/>
                      </a:endParaRPr>
                    </a:p>
                  </a:txBody>
                  <a:tcPr marL="68580" marR="68580"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a:noFill/>
                    </a:lnB>
                  </a:tcPr>
                </a:tc>
                <a:tc vMerge="1">
                  <a:txBody>
                    <a:bodyPr/>
                    <a:lstStyle/>
                    <a:p>
                      <a:endParaRPr lang="fr-FR"/>
                    </a:p>
                  </a:txBody>
                  <a:tcPr/>
                </a:tc>
                <a:tc>
                  <a:txBody>
                    <a:bodyPr/>
                    <a:lstStyle/>
                    <a:p>
                      <a:pPr>
                        <a:lnSpc>
                          <a:spcPct val="115000"/>
                        </a:lnSpc>
                        <a:spcBef>
                          <a:spcPts val="600"/>
                        </a:spcBef>
                        <a:spcAft>
                          <a:spcPts val="600"/>
                        </a:spcAft>
                      </a:pPr>
                      <a:r>
                        <a:rPr lang="fr-FR" sz="1400" b="1">
                          <a:effectLst/>
                          <a:latin typeface="Times New Roman"/>
                          <a:ea typeface="Calibri"/>
                          <a:cs typeface="Arial"/>
                        </a:rPr>
                        <a:t> </a:t>
                      </a:r>
                      <a:endParaRPr lang="fr-FR" sz="1100">
                        <a:effectLst/>
                        <a:latin typeface="Calibri"/>
                        <a:ea typeface="Calibri"/>
                        <a:cs typeface="Arial"/>
                      </a:endParaRPr>
                    </a:p>
                  </a:txBody>
                  <a:tcPr marL="68580" marR="68580"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a:noFill/>
                    </a:lnB>
                  </a:tcPr>
                </a:tc>
              </a:tr>
              <a:tr h="4966239">
                <a:tc gridSpan="3">
                  <a:txBody>
                    <a:bodyPr/>
                    <a:lstStyle/>
                    <a:p>
                      <a:pPr marL="457200">
                        <a:lnSpc>
                          <a:spcPct val="115000"/>
                        </a:lnSpc>
                        <a:spcAft>
                          <a:spcPts val="0"/>
                        </a:spcAft>
                      </a:pPr>
                      <a:r>
                        <a:rPr lang="fr-FR" sz="1100" dirty="0">
                          <a:effectLst/>
                          <a:latin typeface="Times New Roman"/>
                          <a:ea typeface="Calibri"/>
                          <a:cs typeface="Arial"/>
                        </a:rPr>
                        <a:t> </a:t>
                      </a:r>
                      <a:endParaRPr lang="fr-FR" sz="1100" dirty="0" smtClean="0">
                        <a:effectLst/>
                        <a:latin typeface="Times New Roman"/>
                        <a:ea typeface="Calibri"/>
                        <a:cs typeface="Arial"/>
                      </a:endParaRPr>
                    </a:p>
                    <a:p>
                      <a:pPr marL="457200">
                        <a:lnSpc>
                          <a:spcPct val="115000"/>
                        </a:lnSpc>
                        <a:spcAft>
                          <a:spcPts val="0"/>
                        </a:spcAft>
                      </a:pPr>
                      <a:endParaRPr lang="fr-FR" sz="1100" dirty="0" smtClean="0">
                        <a:effectLst/>
                        <a:latin typeface="Times New Roman"/>
                        <a:ea typeface="Calibri"/>
                        <a:cs typeface="Arial"/>
                      </a:endParaRPr>
                    </a:p>
                    <a:p>
                      <a:pPr marL="457200">
                        <a:lnSpc>
                          <a:spcPct val="115000"/>
                        </a:lnSpc>
                        <a:spcAft>
                          <a:spcPts val="0"/>
                        </a:spcAft>
                      </a:pPr>
                      <a:endParaRPr lang="fr-FR" sz="1100" dirty="0" smtClean="0">
                        <a:effectLst/>
                        <a:latin typeface="Times New Roman"/>
                        <a:ea typeface="Calibri"/>
                        <a:cs typeface="Arial"/>
                      </a:endParaRPr>
                    </a:p>
                    <a:p>
                      <a:pPr marL="457200">
                        <a:lnSpc>
                          <a:spcPct val="115000"/>
                        </a:lnSpc>
                        <a:spcAft>
                          <a:spcPts val="0"/>
                        </a:spcAft>
                      </a:pPr>
                      <a:endParaRPr lang="fr-FR" sz="1100" dirty="0">
                        <a:effectLst/>
                        <a:latin typeface="Calibri"/>
                        <a:ea typeface="Calibri"/>
                        <a:cs typeface="Arial"/>
                      </a:endParaRPr>
                    </a:p>
                    <a:p>
                      <a:pPr marL="342900" lvl="0" indent="-342900">
                        <a:lnSpc>
                          <a:spcPct val="115000"/>
                        </a:lnSpc>
                        <a:spcAft>
                          <a:spcPts val="0"/>
                        </a:spcAft>
                        <a:buFont typeface="+mj-lt"/>
                        <a:buAutoNum type="arabicPeriod"/>
                      </a:pPr>
                      <a:r>
                        <a:rPr lang="fr-FR" sz="3200" dirty="0">
                          <a:solidFill>
                            <a:srgbClr val="4F81BD"/>
                          </a:solidFill>
                          <a:effectLst/>
                          <a:latin typeface="Calibri"/>
                          <a:ea typeface="Calibri"/>
                          <a:cs typeface="Times New Roman"/>
                        </a:rPr>
                        <a:t>Introduction </a:t>
                      </a:r>
                      <a:endParaRPr lang="fr-FR" sz="3200" dirty="0" smtClean="0">
                        <a:solidFill>
                          <a:srgbClr val="4F81BD"/>
                        </a:solidFill>
                        <a:effectLst/>
                        <a:latin typeface="Calibri"/>
                        <a:ea typeface="Calibri"/>
                        <a:cs typeface="Times New Roman"/>
                      </a:endParaRPr>
                    </a:p>
                    <a:p>
                      <a:pPr marL="342900" lvl="0" indent="-342900">
                        <a:lnSpc>
                          <a:spcPct val="115000"/>
                        </a:lnSpc>
                        <a:spcAft>
                          <a:spcPts val="0"/>
                        </a:spcAft>
                        <a:buFont typeface="+mj-lt"/>
                        <a:buAutoNum type="arabicPeriod"/>
                      </a:pPr>
                      <a:r>
                        <a:rPr lang="fr-FR" sz="3200" dirty="0" smtClean="0">
                          <a:solidFill>
                            <a:srgbClr val="4F81BD"/>
                          </a:solidFill>
                          <a:effectLst/>
                          <a:latin typeface="Calibri"/>
                          <a:ea typeface="Calibri"/>
                          <a:cs typeface="Times New Roman"/>
                        </a:rPr>
                        <a:t>Comment choisir?</a:t>
                      </a:r>
                      <a:endParaRPr lang="fr-FR" sz="3200" dirty="0">
                        <a:effectLst/>
                        <a:latin typeface="Times New Roman"/>
                        <a:ea typeface="Calibri"/>
                        <a:cs typeface="Times New Roman"/>
                      </a:endParaRPr>
                    </a:p>
                    <a:p>
                      <a:pPr marL="342900" lvl="0" indent="-342900">
                        <a:lnSpc>
                          <a:spcPct val="115000"/>
                        </a:lnSpc>
                        <a:spcAft>
                          <a:spcPts val="0"/>
                        </a:spcAft>
                        <a:buFont typeface="+mj-lt"/>
                        <a:buAutoNum type="arabicPeriod"/>
                      </a:pPr>
                      <a:r>
                        <a:rPr lang="fr-FR" sz="3200" dirty="0" smtClean="0">
                          <a:solidFill>
                            <a:srgbClr val="4F81BD"/>
                          </a:solidFill>
                          <a:effectLst/>
                          <a:latin typeface="Calibri"/>
                          <a:ea typeface="Calibri"/>
                          <a:cs typeface="Times New Roman"/>
                        </a:rPr>
                        <a:t>Panorama d’applications</a:t>
                      </a:r>
                      <a:endParaRPr lang="fr-FR" sz="3200" dirty="0">
                        <a:solidFill>
                          <a:schemeClr val="tx1"/>
                        </a:solidFill>
                        <a:effectLst/>
                        <a:latin typeface="Times New Roman"/>
                        <a:ea typeface="Calibri"/>
                        <a:cs typeface="Times New Roman"/>
                      </a:endParaRPr>
                    </a:p>
                    <a:p>
                      <a:pPr marL="342900" lvl="0" indent="-342900" algn="l" rtl="0" eaLnBrk="1" latinLnBrk="0" hangingPunct="1">
                        <a:lnSpc>
                          <a:spcPct val="115000"/>
                        </a:lnSpc>
                        <a:spcAft>
                          <a:spcPts val="0"/>
                        </a:spcAft>
                        <a:buFont typeface="+mj-lt"/>
                        <a:buAutoNum type="arabicPeriod"/>
                      </a:pPr>
                      <a:r>
                        <a:rPr kumimoji="0" lang="fr-FR" sz="3200" kern="1200" dirty="0" smtClean="0">
                          <a:solidFill>
                            <a:srgbClr val="4F81BD"/>
                          </a:solidFill>
                          <a:effectLst/>
                          <a:latin typeface="Calibri"/>
                          <a:ea typeface="Calibri"/>
                          <a:cs typeface="Times New Roman"/>
                        </a:rPr>
                        <a:t>Identification vs </a:t>
                      </a:r>
                      <a:r>
                        <a:rPr kumimoji="0" lang="fr-FR" sz="3200" kern="1200" dirty="0" smtClean="0">
                          <a:solidFill>
                            <a:srgbClr val="4F81BD"/>
                          </a:solidFill>
                          <a:effectLst/>
                          <a:latin typeface="Calibri"/>
                          <a:ea typeface="Calibri"/>
                          <a:cs typeface="Times New Roman"/>
                        </a:rPr>
                        <a:t>Vérification</a:t>
                      </a:r>
                    </a:p>
                    <a:p>
                      <a:pPr marL="342900" lvl="0" indent="-342900" algn="l" rtl="0" eaLnBrk="1" latinLnBrk="0" hangingPunct="1">
                        <a:lnSpc>
                          <a:spcPct val="115000"/>
                        </a:lnSpc>
                        <a:spcAft>
                          <a:spcPts val="0"/>
                        </a:spcAft>
                        <a:buFont typeface="+mj-lt"/>
                        <a:buAutoNum type="arabicPeriod"/>
                      </a:pPr>
                      <a:r>
                        <a:rPr kumimoji="0" lang="fr-FR" sz="3200" kern="1200" dirty="0" err="1" smtClean="0">
                          <a:solidFill>
                            <a:srgbClr val="4F81BD"/>
                          </a:solidFill>
                          <a:effectLst/>
                          <a:latin typeface="Calibri"/>
                          <a:ea typeface="Calibri"/>
                          <a:cs typeface="Times New Roman"/>
                        </a:rPr>
                        <a:t>Multimodalité</a:t>
                      </a:r>
                      <a:endParaRPr kumimoji="0" lang="fr-FR" sz="3200" kern="1200" dirty="0">
                        <a:solidFill>
                          <a:srgbClr val="4F81BD"/>
                        </a:solidFill>
                        <a:effectLst/>
                        <a:latin typeface="Calibri"/>
                        <a:ea typeface="Calibri"/>
                        <a:cs typeface="Times New Roman"/>
                      </a:endParaRPr>
                    </a:p>
                  </a:txBody>
                  <a:tcPr marL="68580" marR="68580" marT="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tcPr>
                </a:tc>
                <a:tc hMerge="1">
                  <a:txBody>
                    <a:bodyPr/>
                    <a:lstStyle/>
                    <a:p>
                      <a:endParaRPr lang="fr-FR"/>
                    </a:p>
                  </a:txBody>
                  <a:tcPr/>
                </a:tc>
                <a:tc hMerge="1">
                  <a:txBody>
                    <a:bodyPr/>
                    <a:lstStyle/>
                    <a:p>
                      <a:endParaRPr lang="fr-FR"/>
                    </a:p>
                  </a:txBody>
                  <a:tcPr/>
                </a:tc>
              </a:tr>
            </a:tbl>
          </a:graphicData>
        </a:graphic>
      </p:graphicFrame>
    </p:spTree>
    <p:extLst>
      <p:ext uri="{BB962C8B-B14F-4D97-AF65-F5344CB8AC3E}">
        <p14:creationId xmlns:p14="http://schemas.microsoft.com/office/powerpoint/2010/main" val="374543982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0B82E8-BC3F-45FF-92DD-C0AD1BA54385}" type="slidenum">
              <a:rPr lang="fr-FR" smtClean="0"/>
              <a:t>3</a:t>
            </a:fld>
            <a:endParaRPr lang="fr-FR"/>
          </a:p>
        </p:txBody>
      </p:sp>
      <p:cxnSp>
        <p:nvCxnSpPr>
          <p:cNvPr id="3" name="Connecteur droit 2"/>
          <p:cNvCxnSpPr/>
          <p:nvPr/>
        </p:nvCxnSpPr>
        <p:spPr>
          <a:xfrm>
            <a:off x="323528" y="1124744"/>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ZoneTexte 3"/>
          <p:cNvSpPr txBox="1"/>
          <p:nvPr/>
        </p:nvSpPr>
        <p:spPr>
          <a:xfrm>
            <a:off x="323528" y="234014"/>
            <a:ext cx="6408712" cy="784830"/>
          </a:xfrm>
          <a:prstGeom prst="rect">
            <a:avLst/>
          </a:prstGeom>
          <a:noFill/>
        </p:spPr>
        <p:txBody>
          <a:bodyPr wrap="square" rtlCol="0">
            <a:spAutoFit/>
          </a:bodyPr>
          <a:lstStyle/>
          <a:p>
            <a:pPr>
              <a:spcBef>
                <a:spcPct val="0"/>
              </a:spcBef>
            </a:pPr>
            <a:r>
              <a:rPr lang="fr-FR" sz="4500" b="1" dirty="0" smtClean="0">
                <a:solidFill>
                  <a:srgbClr val="002060"/>
                </a:solidFill>
                <a:latin typeface="+mj-lt"/>
                <a:ea typeface="+mj-ea"/>
                <a:cs typeface="+mj-cs"/>
              </a:rPr>
              <a:t>Introduction</a:t>
            </a:r>
            <a:endParaRPr lang="fr-FR" sz="4500" b="1" dirty="0">
              <a:solidFill>
                <a:srgbClr val="002060"/>
              </a:solidFill>
              <a:latin typeface="+mj-lt"/>
              <a:ea typeface="+mj-ea"/>
              <a:cs typeface="+mj-cs"/>
            </a:endParaRPr>
          </a:p>
        </p:txBody>
      </p:sp>
      <p:sp>
        <p:nvSpPr>
          <p:cNvPr id="6" name="ZoneTexte 5"/>
          <p:cNvSpPr txBox="1"/>
          <p:nvPr/>
        </p:nvSpPr>
        <p:spPr>
          <a:xfrm>
            <a:off x="323528" y="1412776"/>
            <a:ext cx="8352928" cy="4832092"/>
          </a:xfrm>
          <a:prstGeom prst="rect">
            <a:avLst/>
          </a:prstGeom>
          <a:noFill/>
        </p:spPr>
        <p:txBody>
          <a:bodyPr wrap="square" rtlCol="0">
            <a:spAutoFit/>
          </a:bodyPr>
          <a:lstStyle/>
          <a:p>
            <a:pPr marL="285750" indent="-285750" algn="just">
              <a:buFont typeface="Arial" pitchFamily="34" charset="0"/>
              <a:buChar char="•"/>
            </a:pPr>
            <a:r>
              <a:rPr lang="fr-FR" sz="2800" dirty="0"/>
              <a:t>De tout temps, les technologies nouvelles ont stimulé l'imagination des aigrefins ; de ce fait, les chercheurs s’investissent de plus en plus dans les techniques de sécurité, à savoir sécurité de l’information et sécurité des individus. La détermination de l’identité de ces derniers à travers des moyens simples, fiables, efficaces et peu dispendieux est devenue un problème crucial. </a:t>
            </a:r>
            <a:endParaRPr lang="fr-FR" sz="2800" dirty="0" smtClean="0"/>
          </a:p>
          <a:p>
            <a:pPr marL="285750" indent="-285750" algn="just">
              <a:buFont typeface="Arial" pitchFamily="34" charset="0"/>
              <a:buChar char="•"/>
            </a:pPr>
            <a:endParaRPr lang="fr-FR" sz="2800" dirty="0"/>
          </a:p>
          <a:p>
            <a:pPr marL="285750" indent="-285750" algn="just">
              <a:buFont typeface="Arial" pitchFamily="34" charset="0"/>
              <a:buChar char="•"/>
            </a:pPr>
            <a:r>
              <a:rPr lang="fr-FR" sz="2800" dirty="0" smtClean="0"/>
              <a:t>Traditionnellement</a:t>
            </a:r>
            <a:r>
              <a:rPr lang="fr-FR" sz="2800" dirty="0"/>
              <a:t>, il existe deux manières pour y procéder.</a:t>
            </a:r>
          </a:p>
        </p:txBody>
      </p:sp>
    </p:spTree>
    <p:extLst>
      <p:ext uri="{BB962C8B-B14F-4D97-AF65-F5344CB8AC3E}">
        <p14:creationId xmlns:p14="http://schemas.microsoft.com/office/powerpoint/2010/main" val="1729129353"/>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0B82E8-BC3F-45FF-92DD-C0AD1BA54385}" type="slidenum">
              <a:rPr lang="fr-FR" smtClean="0"/>
              <a:t>4</a:t>
            </a:fld>
            <a:endParaRPr lang="fr-FR"/>
          </a:p>
        </p:txBody>
      </p:sp>
      <p:cxnSp>
        <p:nvCxnSpPr>
          <p:cNvPr id="3" name="Connecteur droit 2"/>
          <p:cNvCxnSpPr/>
          <p:nvPr/>
        </p:nvCxnSpPr>
        <p:spPr>
          <a:xfrm>
            <a:off x="323528" y="1124744"/>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ZoneTexte 3"/>
          <p:cNvSpPr txBox="1"/>
          <p:nvPr/>
        </p:nvSpPr>
        <p:spPr>
          <a:xfrm>
            <a:off x="323528" y="234014"/>
            <a:ext cx="6408712" cy="784830"/>
          </a:xfrm>
          <a:prstGeom prst="rect">
            <a:avLst/>
          </a:prstGeom>
          <a:noFill/>
        </p:spPr>
        <p:txBody>
          <a:bodyPr wrap="square" rtlCol="0">
            <a:spAutoFit/>
          </a:bodyPr>
          <a:lstStyle/>
          <a:p>
            <a:pPr>
              <a:spcBef>
                <a:spcPct val="0"/>
              </a:spcBef>
            </a:pPr>
            <a:r>
              <a:rPr lang="fr-FR" sz="4500" b="1" dirty="0" smtClean="0">
                <a:solidFill>
                  <a:srgbClr val="002060"/>
                </a:solidFill>
                <a:latin typeface="+mj-lt"/>
                <a:ea typeface="+mj-ea"/>
                <a:cs typeface="+mj-cs"/>
              </a:rPr>
              <a:t>Introduction</a:t>
            </a:r>
            <a:endParaRPr lang="fr-FR" sz="4500" b="1" dirty="0">
              <a:solidFill>
                <a:srgbClr val="002060"/>
              </a:solidFill>
              <a:latin typeface="+mj-lt"/>
              <a:ea typeface="+mj-ea"/>
              <a:cs typeface="+mj-cs"/>
            </a:endParaRPr>
          </a:p>
        </p:txBody>
      </p:sp>
      <p:sp>
        <p:nvSpPr>
          <p:cNvPr id="5" name="Rectangle 4"/>
          <p:cNvSpPr/>
          <p:nvPr/>
        </p:nvSpPr>
        <p:spPr>
          <a:xfrm>
            <a:off x="323528" y="1268760"/>
            <a:ext cx="8640960" cy="5262979"/>
          </a:xfrm>
          <a:prstGeom prst="rect">
            <a:avLst/>
          </a:prstGeom>
        </p:spPr>
        <p:txBody>
          <a:bodyPr wrap="square">
            <a:spAutoFit/>
          </a:bodyPr>
          <a:lstStyle/>
          <a:p>
            <a:pPr marL="457200" indent="-457200">
              <a:buFont typeface="Arial" pitchFamily="34" charset="0"/>
              <a:buChar char="•"/>
            </a:pPr>
            <a:r>
              <a:rPr lang="fr-FR" sz="2800" dirty="0"/>
              <a:t>La première est basée essentiellement sur ce que l’on </a:t>
            </a:r>
            <a:r>
              <a:rPr lang="fr-FR" sz="2800" b="1" dirty="0" smtClean="0">
                <a:solidFill>
                  <a:srgbClr val="0070C0"/>
                </a:solidFill>
              </a:rPr>
              <a:t>sai</a:t>
            </a:r>
            <a:r>
              <a:rPr lang="fr-FR" sz="2800" dirty="0" smtClean="0">
                <a:solidFill>
                  <a:srgbClr val="0070C0"/>
                </a:solidFill>
              </a:rPr>
              <a:t>t (</a:t>
            </a:r>
            <a:r>
              <a:rPr lang="fr-FR" sz="2800" dirty="0" smtClean="0"/>
              <a:t> </a:t>
            </a:r>
            <a:r>
              <a:rPr lang="fr-FR" sz="2800" dirty="0"/>
              <a:t>mot de passe, code, etc</a:t>
            </a:r>
            <a:r>
              <a:rPr lang="fr-FR" sz="2800" dirty="0" smtClean="0"/>
              <a:t>.)</a:t>
            </a:r>
          </a:p>
          <a:p>
            <a:pPr marL="457200" indent="-457200">
              <a:buFont typeface="Arial" pitchFamily="34" charset="0"/>
              <a:buChar char="•"/>
            </a:pPr>
            <a:endParaRPr lang="fr-FR" sz="2800" dirty="0" smtClean="0"/>
          </a:p>
          <a:p>
            <a:pPr marL="457200" indent="-457200">
              <a:buFont typeface="Arial" pitchFamily="34" charset="0"/>
              <a:buChar char="•"/>
            </a:pPr>
            <a:r>
              <a:rPr lang="fr-FR" sz="2800" dirty="0" smtClean="0"/>
              <a:t>La </a:t>
            </a:r>
            <a:r>
              <a:rPr lang="fr-FR" sz="2800" dirty="0"/>
              <a:t>deuxième méthode s’appuie sur ce </a:t>
            </a:r>
            <a:r>
              <a:rPr lang="fr-FR" sz="2800" dirty="0" smtClean="0"/>
              <a:t>qu’on </a:t>
            </a:r>
            <a:r>
              <a:rPr lang="fr-FR" sz="2800" b="1" dirty="0" smtClean="0">
                <a:solidFill>
                  <a:srgbClr val="0070C0"/>
                </a:solidFill>
              </a:rPr>
              <a:t>possède </a:t>
            </a:r>
            <a:r>
              <a:rPr lang="fr-FR" sz="2800" b="1" dirty="0" smtClean="0"/>
              <a:t>(</a:t>
            </a:r>
            <a:r>
              <a:rPr lang="fr-FR" sz="2800" dirty="0" smtClean="0"/>
              <a:t>badge</a:t>
            </a:r>
            <a:r>
              <a:rPr lang="fr-FR" sz="2800" dirty="0"/>
              <a:t>, </a:t>
            </a:r>
            <a:r>
              <a:rPr lang="fr-FR" sz="2800" dirty="0" smtClean="0"/>
              <a:t>clef</a:t>
            </a:r>
            <a:r>
              <a:rPr lang="fr-FR" sz="2800" dirty="0"/>
              <a:t>, etc</a:t>
            </a:r>
            <a:r>
              <a:rPr lang="fr-FR" sz="2800" dirty="0" smtClean="0"/>
              <a:t>.)</a:t>
            </a:r>
          </a:p>
          <a:p>
            <a:pPr marL="457200" indent="-457200">
              <a:buFont typeface="Arial" pitchFamily="34" charset="0"/>
              <a:buChar char="•"/>
            </a:pPr>
            <a:endParaRPr lang="fr-FR" sz="2800" dirty="0" smtClean="0"/>
          </a:p>
          <a:p>
            <a:pPr marL="457200" indent="-457200" algn="just">
              <a:buFont typeface="Arial" pitchFamily="34" charset="0"/>
              <a:buChar char="•"/>
            </a:pPr>
            <a:r>
              <a:rPr lang="fr-FR" sz="2800" dirty="0" smtClean="0"/>
              <a:t> </a:t>
            </a:r>
            <a:r>
              <a:rPr lang="fr-FR" sz="2800" dirty="0"/>
              <a:t>Ces deux méthodes présentent des inconvénients majeurs </a:t>
            </a:r>
            <a:r>
              <a:rPr lang="fr-FR" sz="2800" dirty="0" smtClean="0"/>
              <a:t>: </a:t>
            </a:r>
            <a:r>
              <a:rPr lang="fr-FR" sz="2800" dirty="0"/>
              <a:t>dans le premier cas, un mot de passe ou bien un code peuvent être oubliés par leur porteur ou devinés par une autre personne. Dans le second cas, un badge ou une clé peuvent être perdus, volés ou copiés par des personnes mal intentionnées.</a:t>
            </a:r>
          </a:p>
        </p:txBody>
      </p:sp>
    </p:spTree>
    <p:extLst>
      <p:ext uri="{BB962C8B-B14F-4D97-AF65-F5344CB8AC3E}">
        <p14:creationId xmlns:p14="http://schemas.microsoft.com/office/powerpoint/2010/main" val="6126392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0B82E8-BC3F-45FF-92DD-C0AD1BA54385}" type="slidenum">
              <a:rPr lang="fr-FR" smtClean="0"/>
              <a:t>5</a:t>
            </a:fld>
            <a:endParaRPr lang="fr-FR"/>
          </a:p>
        </p:txBody>
      </p:sp>
      <p:cxnSp>
        <p:nvCxnSpPr>
          <p:cNvPr id="3" name="Connecteur droit 2"/>
          <p:cNvCxnSpPr/>
          <p:nvPr/>
        </p:nvCxnSpPr>
        <p:spPr>
          <a:xfrm>
            <a:off x="323528" y="1124744"/>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ZoneTexte 3"/>
          <p:cNvSpPr txBox="1"/>
          <p:nvPr/>
        </p:nvSpPr>
        <p:spPr>
          <a:xfrm>
            <a:off x="323528" y="234014"/>
            <a:ext cx="6408712" cy="784830"/>
          </a:xfrm>
          <a:prstGeom prst="rect">
            <a:avLst/>
          </a:prstGeom>
          <a:noFill/>
        </p:spPr>
        <p:txBody>
          <a:bodyPr wrap="square" rtlCol="0">
            <a:spAutoFit/>
          </a:bodyPr>
          <a:lstStyle/>
          <a:p>
            <a:pPr>
              <a:spcBef>
                <a:spcPct val="0"/>
              </a:spcBef>
            </a:pPr>
            <a:r>
              <a:rPr lang="fr-FR" sz="4500" b="1" dirty="0" smtClean="0">
                <a:solidFill>
                  <a:srgbClr val="002060"/>
                </a:solidFill>
                <a:latin typeface="+mj-lt"/>
                <a:ea typeface="+mj-ea"/>
                <a:cs typeface="+mj-cs"/>
              </a:rPr>
              <a:t>Introduction</a:t>
            </a:r>
            <a:endParaRPr lang="fr-FR" sz="4500" b="1" dirty="0">
              <a:solidFill>
                <a:srgbClr val="002060"/>
              </a:solidFill>
              <a:latin typeface="+mj-lt"/>
              <a:ea typeface="+mj-ea"/>
              <a:cs typeface="+mj-cs"/>
            </a:endParaRPr>
          </a:p>
        </p:txBody>
      </p:sp>
      <p:sp>
        <p:nvSpPr>
          <p:cNvPr id="6" name="Rectangle 5"/>
          <p:cNvSpPr/>
          <p:nvPr/>
        </p:nvSpPr>
        <p:spPr>
          <a:xfrm>
            <a:off x="323528" y="2050970"/>
            <a:ext cx="8640960" cy="3970318"/>
          </a:xfrm>
          <a:prstGeom prst="rect">
            <a:avLst/>
          </a:prstGeom>
        </p:spPr>
        <p:txBody>
          <a:bodyPr wrap="square">
            <a:spAutoFit/>
          </a:bodyPr>
          <a:lstStyle/>
          <a:p>
            <a:pPr marL="457200" indent="-457200" algn="just">
              <a:buFont typeface="Arial" pitchFamily="34" charset="0"/>
              <a:buChar char="•"/>
            </a:pPr>
            <a:r>
              <a:rPr lang="fr-FR" sz="2800" dirty="0"/>
              <a:t>L’inconvénient commun aux deux méthodes est que l'on identifie </a:t>
            </a:r>
            <a:r>
              <a:rPr lang="fr-FR" sz="2800" b="1" dirty="0">
                <a:solidFill>
                  <a:srgbClr val="0070C0"/>
                </a:solidFill>
              </a:rPr>
              <a:t>un objet </a:t>
            </a:r>
            <a:r>
              <a:rPr lang="fr-FR" sz="2800" dirty="0"/>
              <a:t>et non la personne elle-même. </a:t>
            </a:r>
            <a:endParaRPr lang="fr-FR" sz="2800" dirty="0" smtClean="0"/>
          </a:p>
          <a:p>
            <a:pPr marL="457200" indent="-457200" algn="just">
              <a:buFont typeface="Arial" pitchFamily="34" charset="0"/>
              <a:buChar char="•"/>
            </a:pPr>
            <a:endParaRPr lang="fr-FR" sz="2800" dirty="0"/>
          </a:p>
          <a:p>
            <a:pPr marL="457200" indent="-457200" algn="just">
              <a:buFont typeface="Arial" pitchFamily="34" charset="0"/>
              <a:buChar char="•"/>
            </a:pPr>
            <a:r>
              <a:rPr lang="fr-FR" sz="2800" dirty="0" smtClean="0"/>
              <a:t>Pour </a:t>
            </a:r>
            <a:r>
              <a:rPr lang="fr-FR" sz="2800" dirty="0"/>
              <a:t>pallier à ce problème, la </a:t>
            </a:r>
            <a:r>
              <a:rPr lang="fr-FR" sz="2800" dirty="0" smtClean="0"/>
              <a:t>méthode qui </a:t>
            </a:r>
            <a:r>
              <a:rPr lang="fr-FR" sz="2800" dirty="0"/>
              <a:t>apporte simplicité et confort aux utilisateurs consiste à identifier une personne à partir de ce </a:t>
            </a:r>
            <a:r>
              <a:rPr lang="fr-FR" sz="2800" b="1" dirty="0">
                <a:solidFill>
                  <a:srgbClr val="0070C0"/>
                </a:solidFill>
              </a:rPr>
              <a:t>qu’on est</a:t>
            </a:r>
            <a:r>
              <a:rPr lang="fr-FR" sz="2800" dirty="0"/>
              <a:t>. </a:t>
            </a:r>
            <a:endParaRPr lang="fr-FR" sz="2800" dirty="0" smtClean="0"/>
          </a:p>
          <a:p>
            <a:pPr marL="457200" indent="-457200" algn="just">
              <a:buFont typeface="Arial" pitchFamily="34" charset="0"/>
              <a:buChar char="•"/>
            </a:pPr>
            <a:endParaRPr lang="fr-FR" sz="2800" dirty="0"/>
          </a:p>
          <a:p>
            <a:pPr marL="457200" indent="-457200" algn="just">
              <a:buFont typeface="Arial" pitchFamily="34" charset="0"/>
              <a:buChar char="•"/>
            </a:pPr>
            <a:r>
              <a:rPr lang="fr-FR" sz="2800" dirty="0" smtClean="0"/>
              <a:t>Cette </a:t>
            </a:r>
            <a:r>
              <a:rPr lang="fr-FR" sz="2800" dirty="0"/>
              <a:t>méthode est connue sous le nom </a:t>
            </a:r>
            <a:r>
              <a:rPr lang="fr-FR" sz="2800" dirty="0" smtClean="0"/>
              <a:t>de</a:t>
            </a:r>
          </a:p>
          <a:p>
            <a:pPr algn="ctr"/>
            <a:r>
              <a:rPr lang="fr-FR" sz="2800" dirty="0" smtClean="0"/>
              <a:t> </a:t>
            </a:r>
            <a:r>
              <a:rPr lang="fr-FR" sz="2800" b="1" dirty="0">
                <a:solidFill>
                  <a:srgbClr val="0070C0"/>
                </a:solidFill>
              </a:rPr>
              <a:t>« BIOMETRIE ».</a:t>
            </a:r>
          </a:p>
        </p:txBody>
      </p:sp>
    </p:spTree>
    <p:extLst>
      <p:ext uri="{BB962C8B-B14F-4D97-AF65-F5344CB8AC3E}">
        <p14:creationId xmlns:p14="http://schemas.microsoft.com/office/powerpoint/2010/main" val="355906634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0B82E8-BC3F-45FF-92DD-C0AD1BA54385}" type="slidenum">
              <a:rPr lang="fr-FR" smtClean="0"/>
              <a:t>6</a:t>
            </a:fld>
            <a:endParaRPr lang="fr-FR"/>
          </a:p>
        </p:txBody>
      </p:sp>
      <p:cxnSp>
        <p:nvCxnSpPr>
          <p:cNvPr id="3" name="Connecteur droit 2"/>
          <p:cNvCxnSpPr/>
          <p:nvPr/>
        </p:nvCxnSpPr>
        <p:spPr>
          <a:xfrm>
            <a:off x="323528" y="1124744"/>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ZoneTexte 3"/>
          <p:cNvSpPr txBox="1"/>
          <p:nvPr/>
        </p:nvSpPr>
        <p:spPr>
          <a:xfrm>
            <a:off x="323528" y="234014"/>
            <a:ext cx="6408712" cy="784830"/>
          </a:xfrm>
          <a:prstGeom prst="rect">
            <a:avLst/>
          </a:prstGeom>
          <a:noFill/>
        </p:spPr>
        <p:txBody>
          <a:bodyPr wrap="square" rtlCol="0">
            <a:spAutoFit/>
          </a:bodyPr>
          <a:lstStyle/>
          <a:p>
            <a:pPr>
              <a:spcBef>
                <a:spcPct val="0"/>
              </a:spcBef>
            </a:pPr>
            <a:r>
              <a:rPr lang="fr-FR" sz="4500" b="1" dirty="0" smtClean="0">
                <a:solidFill>
                  <a:srgbClr val="002060"/>
                </a:solidFill>
                <a:latin typeface="+mj-lt"/>
                <a:ea typeface="+mj-ea"/>
                <a:cs typeface="+mj-cs"/>
              </a:rPr>
              <a:t>Introduction</a:t>
            </a:r>
            <a:endParaRPr lang="fr-FR" sz="4500" b="1" dirty="0">
              <a:solidFill>
                <a:srgbClr val="002060"/>
              </a:solidFill>
              <a:latin typeface="+mj-lt"/>
              <a:ea typeface="+mj-ea"/>
              <a:cs typeface="+mj-cs"/>
            </a:endParaRPr>
          </a:p>
        </p:txBody>
      </p:sp>
      <p:sp>
        <p:nvSpPr>
          <p:cNvPr id="5" name="ZoneTexte 4"/>
          <p:cNvSpPr txBox="1"/>
          <p:nvPr/>
        </p:nvSpPr>
        <p:spPr>
          <a:xfrm>
            <a:off x="1943708" y="1268760"/>
            <a:ext cx="5328592" cy="830997"/>
          </a:xfrm>
          <a:prstGeom prst="rect">
            <a:avLst/>
          </a:prstGeom>
          <a:noFill/>
        </p:spPr>
        <p:txBody>
          <a:bodyPr wrap="square" rtlCol="0">
            <a:spAutoFit/>
          </a:bodyPr>
          <a:lstStyle/>
          <a:p>
            <a:pPr algn="ctr"/>
            <a:r>
              <a:rPr lang="fr-FR" sz="4800" dirty="0" smtClean="0"/>
              <a:t>BIOMETRIE  ?</a:t>
            </a:r>
            <a:endParaRPr lang="fr-FR" sz="4800" dirty="0"/>
          </a:p>
        </p:txBody>
      </p:sp>
      <p:sp>
        <p:nvSpPr>
          <p:cNvPr id="6" name="ZoneTexte 5"/>
          <p:cNvSpPr txBox="1"/>
          <p:nvPr/>
        </p:nvSpPr>
        <p:spPr>
          <a:xfrm>
            <a:off x="323528" y="2179807"/>
            <a:ext cx="8352928" cy="523220"/>
          </a:xfrm>
          <a:prstGeom prst="rect">
            <a:avLst/>
          </a:prstGeom>
          <a:noFill/>
        </p:spPr>
        <p:txBody>
          <a:bodyPr wrap="square" rtlCol="0">
            <a:spAutoFit/>
          </a:bodyPr>
          <a:lstStyle/>
          <a:p>
            <a:pPr marL="285750" indent="-285750">
              <a:buFont typeface="Arial" pitchFamily="34" charset="0"/>
              <a:buChar char="•"/>
            </a:pPr>
            <a:r>
              <a:rPr lang="fr-FR" sz="2800" dirty="0" smtClean="0"/>
              <a:t>Signifie littéralement  « la mesure du vivant »</a:t>
            </a:r>
            <a:endParaRPr lang="fr-FR" sz="2800" dirty="0"/>
          </a:p>
        </p:txBody>
      </p:sp>
      <p:sp>
        <p:nvSpPr>
          <p:cNvPr id="7" name="ZoneTexte 6"/>
          <p:cNvSpPr txBox="1"/>
          <p:nvPr/>
        </p:nvSpPr>
        <p:spPr>
          <a:xfrm>
            <a:off x="543817" y="5157192"/>
            <a:ext cx="8532440" cy="954107"/>
          </a:xfrm>
          <a:prstGeom prst="rect">
            <a:avLst/>
          </a:prstGeom>
          <a:noFill/>
        </p:spPr>
        <p:txBody>
          <a:bodyPr wrap="square" rtlCol="0">
            <a:spAutoFit/>
          </a:bodyPr>
          <a:lstStyle/>
          <a:p>
            <a:pPr marL="285750" indent="-285750" algn="just">
              <a:buFont typeface="Arial" pitchFamily="34" charset="0"/>
              <a:buChar char="•"/>
            </a:pPr>
            <a:r>
              <a:rPr lang="fr-FR" sz="2800" dirty="0" smtClean="0"/>
              <a:t>Les sciences et technologies qui mesurent les caractéristiques humaines à des fins d’identification.</a:t>
            </a:r>
            <a:endParaRPr lang="fr-FR" sz="2800" dirty="0"/>
          </a:p>
        </p:txBody>
      </p:sp>
      <p:sp>
        <p:nvSpPr>
          <p:cNvPr id="8" name="Rectangle 7"/>
          <p:cNvSpPr/>
          <p:nvPr/>
        </p:nvSpPr>
        <p:spPr>
          <a:xfrm>
            <a:off x="333035" y="3068960"/>
            <a:ext cx="8559445" cy="1815882"/>
          </a:xfrm>
          <a:prstGeom prst="rect">
            <a:avLst/>
          </a:prstGeom>
        </p:spPr>
        <p:txBody>
          <a:bodyPr wrap="square">
            <a:spAutoFit/>
          </a:bodyPr>
          <a:lstStyle/>
          <a:p>
            <a:pPr marL="285750" indent="-285750" algn="just">
              <a:buFont typeface="Arial" pitchFamily="34" charset="0"/>
              <a:buChar char="•"/>
            </a:pPr>
            <a:r>
              <a:rPr lang="fr-FR" sz="2800" dirty="0"/>
              <a:t>De par cette étymologie, un système de contrôle biométrique peut être défini comme étant un système automatique de mesure basé sur la reconnaissance de caractéristiques propres à </a:t>
            </a:r>
            <a:r>
              <a:rPr lang="fr-FR" sz="2800" dirty="0" smtClean="0"/>
              <a:t>l'individu.</a:t>
            </a:r>
            <a:endParaRPr lang="fr-FR" sz="2800" dirty="0"/>
          </a:p>
        </p:txBody>
      </p:sp>
    </p:spTree>
    <p:extLst>
      <p:ext uri="{BB962C8B-B14F-4D97-AF65-F5344CB8AC3E}">
        <p14:creationId xmlns:p14="http://schemas.microsoft.com/office/powerpoint/2010/main" val="3772061636"/>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0B82E8-BC3F-45FF-92DD-C0AD1BA54385}" type="slidenum">
              <a:rPr lang="fr-FR" smtClean="0"/>
              <a:t>7</a:t>
            </a:fld>
            <a:endParaRPr lang="fr-FR"/>
          </a:p>
        </p:txBody>
      </p:sp>
      <p:cxnSp>
        <p:nvCxnSpPr>
          <p:cNvPr id="3" name="Connecteur droit 2"/>
          <p:cNvCxnSpPr/>
          <p:nvPr/>
        </p:nvCxnSpPr>
        <p:spPr>
          <a:xfrm>
            <a:off x="323528" y="1124744"/>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ZoneTexte 3"/>
          <p:cNvSpPr txBox="1"/>
          <p:nvPr/>
        </p:nvSpPr>
        <p:spPr>
          <a:xfrm>
            <a:off x="323528" y="234014"/>
            <a:ext cx="6408712" cy="784830"/>
          </a:xfrm>
          <a:prstGeom prst="rect">
            <a:avLst/>
          </a:prstGeom>
          <a:noFill/>
        </p:spPr>
        <p:txBody>
          <a:bodyPr wrap="square" rtlCol="0">
            <a:spAutoFit/>
          </a:bodyPr>
          <a:lstStyle/>
          <a:p>
            <a:pPr>
              <a:spcBef>
                <a:spcPct val="0"/>
              </a:spcBef>
            </a:pPr>
            <a:r>
              <a:rPr lang="fr-FR" sz="4500" b="1" dirty="0" smtClean="0">
                <a:solidFill>
                  <a:srgbClr val="002060"/>
                </a:solidFill>
                <a:latin typeface="+mj-lt"/>
                <a:ea typeface="+mj-ea"/>
                <a:cs typeface="+mj-cs"/>
              </a:rPr>
              <a:t>Introduction</a:t>
            </a:r>
            <a:endParaRPr lang="fr-FR" sz="4500" b="1" dirty="0">
              <a:solidFill>
                <a:srgbClr val="002060"/>
              </a:solidFill>
              <a:latin typeface="+mj-lt"/>
              <a:ea typeface="+mj-ea"/>
              <a:cs typeface="+mj-cs"/>
            </a:endParaRPr>
          </a:p>
        </p:txBody>
      </p:sp>
      <p:sp>
        <p:nvSpPr>
          <p:cNvPr id="9" name="Rectangle 8"/>
          <p:cNvSpPr/>
          <p:nvPr/>
        </p:nvSpPr>
        <p:spPr>
          <a:xfrm>
            <a:off x="323528" y="1484784"/>
            <a:ext cx="8820472" cy="5262979"/>
          </a:xfrm>
          <a:prstGeom prst="rect">
            <a:avLst/>
          </a:prstGeom>
        </p:spPr>
        <p:txBody>
          <a:bodyPr wrap="square">
            <a:spAutoFit/>
          </a:bodyPr>
          <a:lstStyle/>
          <a:p>
            <a:pPr marL="457200" indent="-457200">
              <a:buFont typeface="Arial" pitchFamily="34" charset="0"/>
              <a:buChar char="•"/>
            </a:pPr>
            <a:r>
              <a:rPr lang="fr-FR" sz="2800" dirty="0"/>
              <a:t>On recense </a:t>
            </a:r>
            <a:r>
              <a:rPr lang="fr-FR" sz="2800" dirty="0" smtClean="0"/>
              <a:t>plusieurs  </a:t>
            </a:r>
            <a:r>
              <a:rPr lang="fr-FR" sz="2800" dirty="0"/>
              <a:t>technologies </a:t>
            </a:r>
            <a:r>
              <a:rPr lang="fr-FR" sz="2800" dirty="0" smtClean="0"/>
              <a:t>biométriques qui peuvent être </a:t>
            </a:r>
            <a:r>
              <a:rPr lang="fr-FR" sz="2800" dirty="0"/>
              <a:t>classées en trois catégories : </a:t>
            </a:r>
            <a:endParaRPr lang="fr-FR" sz="2800" dirty="0" smtClean="0"/>
          </a:p>
          <a:p>
            <a:pPr marL="457200" indent="-457200">
              <a:buFont typeface="Arial" pitchFamily="34" charset="0"/>
              <a:buChar char="•"/>
            </a:pPr>
            <a:endParaRPr lang="fr-FR" sz="2800" dirty="0" smtClean="0"/>
          </a:p>
          <a:p>
            <a:pPr marL="1885950" lvl="3" indent="-514350">
              <a:buFont typeface="+mj-lt"/>
              <a:buAutoNum type="arabicPeriod"/>
            </a:pPr>
            <a:r>
              <a:rPr lang="fr-FR" sz="2800" dirty="0" smtClean="0"/>
              <a:t>Les </a:t>
            </a:r>
            <a:r>
              <a:rPr lang="fr-FR" sz="2800" dirty="0"/>
              <a:t>premières reposent sur l'analyse morphologique </a:t>
            </a:r>
            <a:r>
              <a:rPr lang="fr-FR" sz="2800" dirty="0" smtClean="0"/>
              <a:t>;</a:t>
            </a:r>
          </a:p>
          <a:p>
            <a:pPr lvl="3"/>
            <a:endParaRPr lang="fr-FR" sz="2800" dirty="0" smtClean="0"/>
          </a:p>
          <a:p>
            <a:pPr lvl="3"/>
            <a:r>
              <a:rPr lang="fr-FR" sz="2800" dirty="0" smtClean="0"/>
              <a:t>2.   Les </a:t>
            </a:r>
            <a:r>
              <a:rPr lang="fr-FR" sz="2800" dirty="0"/>
              <a:t>secondes sur l'analyse </a:t>
            </a:r>
            <a:r>
              <a:rPr lang="fr-FR" sz="2800" dirty="0" smtClean="0"/>
              <a:t>comportementale;</a:t>
            </a:r>
          </a:p>
          <a:p>
            <a:pPr lvl="3"/>
            <a:endParaRPr lang="fr-FR" sz="2800" dirty="0"/>
          </a:p>
          <a:p>
            <a:pPr lvl="3"/>
            <a:r>
              <a:rPr lang="fr-FR" sz="2800" dirty="0" smtClean="0"/>
              <a:t>3.</a:t>
            </a:r>
            <a:r>
              <a:rPr lang="fr-FR" sz="2800" dirty="0"/>
              <a:t> </a:t>
            </a:r>
            <a:r>
              <a:rPr lang="fr-FR" sz="2800" dirty="0" smtClean="0"/>
              <a:t>  et </a:t>
            </a:r>
            <a:r>
              <a:rPr lang="fr-FR" sz="2800" dirty="0"/>
              <a:t>les troisièmes </a:t>
            </a:r>
            <a:r>
              <a:rPr lang="fr-FR" sz="2800" dirty="0" smtClean="0"/>
              <a:t> </a:t>
            </a:r>
            <a:r>
              <a:rPr lang="fr-FR" sz="2800" dirty="0"/>
              <a:t>sur l'analyse de traces </a:t>
            </a:r>
            <a:r>
              <a:rPr lang="fr-FR" sz="2800" dirty="0" smtClean="0"/>
              <a:t> 	biologiques</a:t>
            </a:r>
          </a:p>
          <a:p>
            <a:pPr marL="1885950" lvl="3" indent="-514350">
              <a:buFont typeface="+mj-lt"/>
              <a:buAutoNum type="arabicPeriod"/>
            </a:pPr>
            <a:endParaRPr lang="fr-FR" sz="2800" dirty="0"/>
          </a:p>
          <a:p>
            <a:pPr lvl="3"/>
            <a:endParaRPr lang="fr-FR" sz="2800" dirty="0"/>
          </a:p>
        </p:txBody>
      </p:sp>
    </p:spTree>
    <p:extLst>
      <p:ext uri="{BB962C8B-B14F-4D97-AF65-F5344CB8AC3E}">
        <p14:creationId xmlns:p14="http://schemas.microsoft.com/office/powerpoint/2010/main" val="111854978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0B82E8-BC3F-45FF-92DD-C0AD1BA54385}" type="slidenum">
              <a:rPr lang="fr-FR" smtClean="0"/>
              <a:t>8</a:t>
            </a:fld>
            <a:endParaRPr lang="fr-FR"/>
          </a:p>
        </p:txBody>
      </p:sp>
      <p:cxnSp>
        <p:nvCxnSpPr>
          <p:cNvPr id="3" name="Connecteur droit 2"/>
          <p:cNvCxnSpPr/>
          <p:nvPr/>
        </p:nvCxnSpPr>
        <p:spPr>
          <a:xfrm>
            <a:off x="323528" y="1124744"/>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ZoneTexte 3"/>
          <p:cNvSpPr txBox="1"/>
          <p:nvPr/>
        </p:nvSpPr>
        <p:spPr>
          <a:xfrm>
            <a:off x="323528" y="234014"/>
            <a:ext cx="6408712" cy="784830"/>
          </a:xfrm>
          <a:prstGeom prst="rect">
            <a:avLst/>
          </a:prstGeom>
          <a:noFill/>
        </p:spPr>
        <p:txBody>
          <a:bodyPr wrap="square" rtlCol="0">
            <a:spAutoFit/>
          </a:bodyPr>
          <a:lstStyle/>
          <a:p>
            <a:pPr>
              <a:spcBef>
                <a:spcPct val="0"/>
              </a:spcBef>
            </a:pPr>
            <a:r>
              <a:rPr lang="fr-FR" sz="4500" b="1" dirty="0">
                <a:solidFill>
                  <a:srgbClr val="002060"/>
                </a:solidFill>
                <a:latin typeface="+mj-lt"/>
                <a:ea typeface="+mj-ea"/>
                <a:cs typeface="+mj-cs"/>
              </a:rPr>
              <a:t>P</a:t>
            </a:r>
            <a:r>
              <a:rPr lang="fr-FR" sz="4500" b="1" dirty="0" smtClean="0">
                <a:solidFill>
                  <a:srgbClr val="002060"/>
                </a:solidFill>
                <a:latin typeface="+mj-lt"/>
                <a:ea typeface="+mj-ea"/>
                <a:cs typeface="+mj-cs"/>
              </a:rPr>
              <a:t>roblématique</a:t>
            </a:r>
            <a:endParaRPr lang="fr-FR" sz="4500" b="1" dirty="0">
              <a:solidFill>
                <a:srgbClr val="002060"/>
              </a:solidFill>
              <a:latin typeface="+mj-lt"/>
              <a:ea typeface="+mj-ea"/>
              <a:cs typeface="+mj-cs"/>
            </a:endParaRP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68" y="-55127"/>
            <a:ext cx="9144000" cy="43462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ZoneTexte 4"/>
          <p:cNvSpPr txBox="1"/>
          <p:nvPr/>
        </p:nvSpPr>
        <p:spPr>
          <a:xfrm>
            <a:off x="7310626" y="3491900"/>
            <a:ext cx="792088" cy="369332"/>
          </a:xfrm>
          <a:prstGeom prst="rect">
            <a:avLst/>
          </a:prstGeom>
          <a:noFill/>
        </p:spPr>
        <p:txBody>
          <a:bodyPr wrap="square" rtlCol="0">
            <a:spAutoFit/>
          </a:bodyPr>
          <a:lstStyle/>
          <a:p>
            <a:r>
              <a:rPr lang="fr-FR" b="1" dirty="0" smtClean="0">
                <a:solidFill>
                  <a:schemeClr val="bg1"/>
                </a:solidFill>
              </a:rPr>
              <a:t>voix</a:t>
            </a:r>
            <a:endParaRPr lang="fr-FR" b="1" dirty="0">
              <a:solidFill>
                <a:schemeClr val="bg1"/>
              </a:solidFill>
            </a:endParaRPr>
          </a:p>
        </p:txBody>
      </p:sp>
      <p:sp>
        <p:nvSpPr>
          <p:cNvPr id="6" name="ZoneTexte 5"/>
          <p:cNvSpPr txBox="1"/>
          <p:nvPr/>
        </p:nvSpPr>
        <p:spPr>
          <a:xfrm>
            <a:off x="0" y="4509120"/>
            <a:ext cx="9161768" cy="523220"/>
          </a:xfrm>
          <a:prstGeom prst="rect">
            <a:avLst/>
          </a:prstGeom>
          <a:noFill/>
        </p:spPr>
        <p:txBody>
          <a:bodyPr wrap="square" rtlCol="0">
            <a:spAutoFit/>
          </a:bodyPr>
          <a:lstStyle/>
          <a:p>
            <a:r>
              <a:rPr lang="fr-FR" sz="2800" dirty="0" smtClean="0"/>
              <a:t>Les données biométriques présentent deux points communs:</a:t>
            </a:r>
            <a:endParaRPr lang="fr-FR" sz="2800" dirty="0"/>
          </a:p>
        </p:txBody>
      </p:sp>
      <p:sp>
        <p:nvSpPr>
          <p:cNvPr id="7" name="ZoneTexte 6"/>
          <p:cNvSpPr txBox="1"/>
          <p:nvPr/>
        </p:nvSpPr>
        <p:spPr>
          <a:xfrm>
            <a:off x="1043608" y="5548064"/>
            <a:ext cx="2736304" cy="646331"/>
          </a:xfrm>
          <a:prstGeom prst="rect">
            <a:avLst/>
          </a:prstGeom>
          <a:noFill/>
        </p:spPr>
        <p:txBody>
          <a:bodyPr wrap="square" rtlCol="0">
            <a:spAutoFit/>
          </a:bodyPr>
          <a:lstStyle/>
          <a:p>
            <a:r>
              <a:rPr lang="fr-FR" sz="3600" b="1" dirty="0">
                <a:solidFill>
                  <a:srgbClr val="002060"/>
                </a:solidFill>
                <a:effectLst>
                  <a:outerShdw blurRad="38100" dist="38100" dir="2700000" algn="tl">
                    <a:srgbClr val="000000">
                      <a:alpha val="43137"/>
                    </a:srgbClr>
                  </a:outerShdw>
                </a:effectLst>
              </a:rPr>
              <a:t>U</a:t>
            </a:r>
            <a:r>
              <a:rPr lang="fr-FR" sz="3600" b="1" dirty="0" smtClean="0">
                <a:solidFill>
                  <a:srgbClr val="002060"/>
                </a:solidFill>
                <a:effectLst>
                  <a:outerShdw blurRad="38100" dist="38100" dir="2700000" algn="tl">
                    <a:srgbClr val="000000">
                      <a:alpha val="43137"/>
                    </a:srgbClr>
                  </a:outerShdw>
                </a:effectLst>
              </a:rPr>
              <a:t>niverselles</a:t>
            </a:r>
            <a:endParaRPr lang="fr-FR" sz="3600" b="1" dirty="0">
              <a:solidFill>
                <a:srgbClr val="002060"/>
              </a:solidFill>
              <a:effectLst>
                <a:outerShdw blurRad="38100" dist="38100" dir="2700000" algn="tl">
                  <a:srgbClr val="000000">
                    <a:alpha val="43137"/>
                  </a:srgbClr>
                </a:outerShdw>
              </a:effectLst>
            </a:endParaRPr>
          </a:p>
        </p:txBody>
      </p:sp>
      <p:sp>
        <p:nvSpPr>
          <p:cNvPr id="11" name="ZoneTexte 10"/>
          <p:cNvSpPr txBox="1"/>
          <p:nvPr/>
        </p:nvSpPr>
        <p:spPr>
          <a:xfrm>
            <a:off x="5870466" y="5548064"/>
            <a:ext cx="2232248" cy="646331"/>
          </a:xfrm>
          <a:prstGeom prst="rect">
            <a:avLst/>
          </a:prstGeom>
          <a:noFill/>
        </p:spPr>
        <p:txBody>
          <a:bodyPr wrap="square" rtlCol="0">
            <a:spAutoFit/>
          </a:bodyPr>
          <a:lstStyle/>
          <a:p>
            <a:r>
              <a:rPr lang="fr-FR" sz="3600" b="1" dirty="0">
                <a:solidFill>
                  <a:srgbClr val="002060"/>
                </a:solidFill>
                <a:effectLst>
                  <a:outerShdw blurRad="38100" dist="38100" dir="2700000" algn="tl">
                    <a:srgbClr val="000000">
                      <a:alpha val="43137"/>
                    </a:srgbClr>
                  </a:outerShdw>
                </a:effectLst>
              </a:rPr>
              <a:t>Uniques</a:t>
            </a:r>
          </a:p>
        </p:txBody>
      </p:sp>
    </p:spTree>
    <p:extLst>
      <p:ext uri="{BB962C8B-B14F-4D97-AF65-F5344CB8AC3E}">
        <p14:creationId xmlns:p14="http://schemas.microsoft.com/office/powerpoint/2010/main" val="1318716478"/>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barn(inVertical)">
                                      <p:cBhvr>
                                        <p:cTn id="14" dur="500"/>
                                        <p:tgtEl>
                                          <p:spTgt spid="7"/>
                                        </p:tgtEl>
                                      </p:cBhvr>
                                    </p:animEffect>
                                  </p:childTnLst>
                                </p:cTn>
                              </p:par>
                              <p:par>
                                <p:cTn id="15" presetID="16" presetClass="entr" presetSubtype="21"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arn(inVertical)">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0B82E8-BC3F-45FF-92DD-C0AD1BA54385}" type="slidenum">
              <a:rPr lang="fr-FR" smtClean="0"/>
              <a:t>9</a:t>
            </a:fld>
            <a:endParaRPr lang="fr-FR"/>
          </a:p>
        </p:txBody>
      </p:sp>
      <p:cxnSp>
        <p:nvCxnSpPr>
          <p:cNvPr id="3" name="Connecteur droit 2"/>
          <p:cNvCxnSpPr/>
          <p:nvPr/>
        </p:nvCxnSpPr>
        <p:spPr>
          <a:xfrm>
            <a:off x="323528" y="1124744"/>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ZoneTexte 3"/>
          <p:cNvSpPr txBox="1"/>
          <p:nvPr/>
        </p:nvSpPr>
        <p:spPr>
          <a:xfrm>
            <a:off x="901914" y="234014"/>
            <a:ext cx="6408712" cy="784830"/>
          </a:xfrm>
          <a:prstGeom prst="rect">
            <a:avLst/>
          </a:prstGeom>
          <a:noFill/>
        </p:spPr>
        <p:txBody>
          <a:bodyPr wrap="square" rtlCol="0">
            <a:spAutoFit/>
          </a:bodyPr>
          <a:lstStyle/>
          <a:p>
            <a:pPr algn="ctr">
              <a:spcBef>
                <a:spcPct val="0"/>
              </a:spcBef>
            </a:pPr>
            <a:r>
              <a:rPr lang="fr-FR" sz="4500" b="1" dirty="0" smtClean="0">
                <a:solidFill>
                  <a:srgbClr val="002060"/>
                </a:solidFill>
                <a:latin typeface="+mj-lt"/>
                <a:ea typeface="+mj-ea"/>
                <a:cs typeface="+mj-cs"/>
              </a:rPr>
              <a:t>Comment choisir?</a:t>
            </a:r>
            <a:endParaRPr lang="fr-FR" sz="4500" b="1" dirty="0">
              <a:solidFill>
                <a:srgbClr val="002060"/>
              </a:solidFill>
              <a:latin typeface="+mj-lt"/>
              <a:ea typeface="+mj-ea"/>
              <a:cs typeface="+mj-cs"/>
            </a:endParaRPr>
          </a:p>
        </p:txBody>
      </p:sp>
      <p:sp>
        <p:nvSpPr>
          <p:cNvPr id="5" name="ZoneTexte 4"/>
          <p:cNvSpPr txBox="1"/>
          <p:nvPr/>
        </p:nvSpPr>
        <p:spPr>
          <a:xfrm>
            <a:off x="7310626" y="3491900"/>
            <a:ext cx="792088" cy="369332"/>
          </a:xfrm>
          <a:prstGeom prst="rect">
            <a:avLst/>
          </a:prstGeom>
          <a:noFill/>
        </p:spPr>
        <p:txBody>
          <a:bodyPr wrap="square" rtlCol="0">
            <a:spAutoFit/>
          </a:bodyPr>
          <a:lstStyle/>
          <a:p>
            <a:r>
              <a:rPr lang="fr-FR" b="1" dirty="0" smtClean="0">
                <a:solidFill>
                  <a:schemeClr val="bg1"/>
                </a:solidFill>
              </a:rPr>
              <a:t>voix</a:t>
            </a:r>
            <a:endParaRPr lang="fr-FR" b="1" dirty="0">
              <a:solidFill>
                <a:schemeClr val="bg1"/>
              </a:solidFill>
            </a:endParaRPr>
          </a:p>
        </p:txBody>
      </p:sp>
      <p:sp>
        <p:nvSpPr>
          <p:cNvPr id="9" name="Rectangle 8"/>
          <p:cNvSpPr/>
          <p:nvPr/>
        </p:nvSpPr>
        <p:spPr>
          <a:xfrm>
            <a:off x="107504" y="1556792"/>
            <a:ext cx="8856984" cy="4462760"/>
          </a:xfrm>
          <a:prstGeom prst="rect">
            <a:avLst/>
          </a:prstGeom>
        </p:spPr>
        <p:txBody>
          <a:bodyPr wrap="square">
            <a:spAutoFit/>
          </a:bodyPr>
          <a:lstStyle/>
          <a:p>
            <a:pPr marL="457200" indent="-457200" algn="just">
              <a:buFont typeface="Arial" pitchFamily="34" charset="0"/>
              <a:buChar char="•"/>
            </a:pPr>
            <a:r>
              <a:rPr lang="fr-FR" sz="3200" dirty="0"/>
              <a:t>Une comparaison entre les différentes techniques biométriques s’avère intéressante. </a:t>
            </a:r>
            <a:endParaRPr lang="fr-FR" sz="3200" dirty="0" smtClean="0"/>
          </a:p>
          <a:p>
            <a:pPr marL="457200" indent="-457200" algn="just">
              <a:buFont typeface="Arial" pitchFamily="34" charset="0"/>
              <a:buChar char="•"/>
            </a:pPr>
            <a:endParaRPr lang="fr-FR" sz="3200" dirty="0"/>
          </a:p>
          <a:p>
            <a:pPr marL="457200" indent="-457200" algn="just">
              <a:buFont typeface="Arial" pitchFamily="34" charset="0"/>
              <a:buChar char="•"/>
            </a:pPr>
            <a:r>
              <a:rPr lang="fr-FR" sz="3200" dirty="0" smtClean="0"/>
              <a:t>Elle </a:t>
            </a:r>
            <a:r>
              <a:rPr lang="fr-FR" sz="3200" dirty="0"/>
              <a:t>permet de choisir une technologie en fonction des contraintes liées à l'application. </a:t>
            </a:r>
            <a:endParaRPr lang="fr-FR" sz="3200" dirty="0" smtClean="0"/>
          </a:p>
          <a:p>
            <a:pPr algn="just"/>
            <a:endParaRPr lang="fr-FR" sz="3200" dirty="0" smtClean="0"/>
          </a:p>
          <a:p>
            <a:pPr marL="457200" indent="-457200" algn="just">
              <a:buFont typeface="Arial" pitchFamily="34" charset="0"/>
              <a:buChar char="•"/>
            </a:pPr>
            <a:r>
              <a:rPr lang="fr-FR" sz="3200" dirty="0" smtClean="0"/>
              <a:t>L'International </a:t>
            </a:r>
            <a:r>
              <a:rPr lang="fr-FR" sz="3200" dirty="0" err="1"/>
              <a:t>Biometric</a:t>
            </a:r>
            <a:r>
              <a:rPr lang="fr-FR" sz="3200" dirty="0"/>
              <a:t> Group a procédé à une comparaison sur la base de 4 critères </a:t>
            </a:r>
            <a:r>
              <a:rPr lang="fr-FR" sz="3200" dirty="0" smtClean="0"/>
              <a:t>:</a:t>
            </a:r>
          </a:p>
          <a:p>
            <a:pPr algn="just"/>
            <a:endParaRPr lang="fr-FR" sz="2800" dirty="0"/>
          </a:p>
        </p:txBody>
      </p:sp>
    </p:spTree>
    <p:extLst>
      <p:ext uri="{BB962C8B-B14F-4D97-AF65-F5344CB8AC3E}">
        <p14:creationId xmlns:p14="http://schemas.microsoft.com/office/powerpoint/2010/main" val="486649629"/>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0B82E8-BC3F-45FF-92DD-C0AD1BA54385}" type="slidenum">
              <a:rPr lang="fr-FR" smtClean="0"/>
              <a:t>10</a:t>
            </a:fld>
            <a:endParaRPr lang="fr-FR"/>
          </a:p>
        </p:txBody>
      </p:sp>
      <p:cxnSp>
        <p:nvCxnSpPr>
          <p:cNvPr id="3" name="Connecteur droit 2"/>
          <p:cNvCxnSpPr/>
          <p:nvPr/>
        </p:nvCxnSpPr>
        <p:spPr>
          <a:xfrm>
            <a:off x="323528" y="1124744"/>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ZoneTexte 3"/>
          <p:cNvSpPr txBox="1"/>
          <p:nvPr/>
        </p:nvSpPr>
        <p:spPr>
          <a:xfrm>
            <a:off x="901914" y="234014"/>
            <a:ext cx="6408712" cy="784830"/>
          </a:xfrm>
          <a:prstGeom prst="rect">
            <a:avLst/>
          </a:prstGeom>
          <a:noFill/>
        </p:spPr>
        <p:txBody>
          <a:bodyPr wrap="square" rtlCol="0">
            <a:spAutoFit/>
          </a:bodyPr>
          <a:lstStyle/>
          <a:p>
            <a:pPr algn="ctr">
              <a:spcBef>
                <a:spcPct val="0"/>
              </a:spcBef>
            </a:pPr>
            <a:r>
              <a:rPr lang="fr-FR" sz="4500" b="1" dirty="0" smtClean="0">
                <a:solidFill>
                  <a:srgbClr val="002060"/>
                </a:solidFill>
                <a:latin typeface="+mj-lt"/>
                <a:ea typeface="+mj-ea"/>
                <a:cs typeface="+mj-cs"/>
              </a:rPr>
              <a:t>Comment choisir?</a:t>
            </a:r>
            <a:endParaRPr lang="fr-FR" sz="4500" b="1" dirty="0">
              <a:solidFill>
                <a:srgbClr val="002060"/>
              </a:solidFill>
              <a:latin typeface="+mj-lt"/>
              <a:ea typeface="+mj-ea"/>
              <a:cs typeface="+mj-cs"/>
            </a:endParaRPr>
          </a:p>
        </p:txBody>
      </p:sp>
      <p:sp>
        <p:nvSpPr>
          <p:cNvPr id="6" name="Rectangle 5"/>
          <p:cNvSpPr/>
          <p:nvPr/>
        </p:nvSpPr>
        <p:spPr>
          <a:xfrm>
            <a:off x="323529" y="1268760"/>
            <a:ext cx="8568952" cy="4832092"/>
          </a:xfrm>
          <a:prstGeom prst="rect">
            <a:avLst/>
          </a:prstGeom>
        </p:spPr>
        <p:txBody>
          <a:bodyPr wrap="square">
            <a:spAutoFit/>
          </a:bodyPr>
          <a:lstStyle/>
          <a:p>
            <a:pPr marL="457200" indent="-457200" algn="just">
              <a:buFont typeface="Arial" pitchFamily="34" charset="0"/>
              <a:buChar char="•"/>
            </a:pPr>
            <a:r>
              <a:rPr lang="fr-FR" sz="2800" dirty="0"/>
              <a:t>L’</a:t>
            </a:r>
            <a:r>
              <a:rPr lang="fr-FR" sz="2800" dirty="0" err="1"/>
              <a:t>intrusivité</a:t>
            </a:r>
            <a:r>
              <a:rPr lang="fr-FR" sz="2800" dirty="0"/>
              <a:t> : Ce critère décrit dans quelle mesure l'utilisateur perçoit la technique comme intrusive</a:t>
            </a:r>
            <a:r>
              <a:rPr lang="fr-FR" sz="2800" dirty="0" smtClean="0"/>
              <a:t>.</a:t>
            </a:r>
          </a:p>
          <a:p>
            <a:pPr algn="just"/>
            <a:endParaRPr lang="fr-FR" sz="2800" dirty="0"/>
          </a:p>
          <a:p>
            <a:pPr marL="457200" indent="-457200" algn="just">
              <a:buFont typeface="Arial" pitchFamily="34" charset="0"/>
              <a:buChar char="•"/>
            </a:pPr>
            <a:r>
              <a:rPr lang="fr-FR" sz="2800" dirty="0" smtClean="0"/>
              <a:t>La </a:t>
            </a:r>
            <a:r>
              <a:rPr lang="fr-FR" sz="2800" dirty="0"/>
              <a:t>précision : C’est l’efficacité de la méthode (capacité à identifier un individu</a:t>
            </a:r>
            <a:r>
              <a:rPr lang="fr-FR" sz="2800" dirty="0" smtClean="0"/>
              <a:t>).</a:t>
            </a:r>
          </a:p>
          <a:p>
            <a:pPr algn="just"/>
            <a:endParaRPr lang="fr-FR" sz="2800" dirty="0"/>
          </a:p>
          <a:p>
            <a:pPr marL="457200" indent="-457200" algn="just">
              <a:buFont typeface="Arial" pitchFamily="34" charset="0"/>
              <a:buChar char="•"/>
            </a:pPr>
            <a:r>
              <a:rPr lang="fr-FR" sz="2800" dirty="0" smtClean="0"/>
              <a:t>Le </a:t>
            </a:r>
            <a:r>
              <a:rPr lang="fr-FR" sz="2800" dirty="0"/>
              <a:t>coût : Coût de la technologie utilisée (lecteurs, capteurs, etc</a:t>
            </a:r>
            <a:r>
              <a:rPr lang="fr-FR" sz="2800" dirty="0" smtClean="0"/>
              <a:t>.).</a:t>
            </a:r>
          </a:p>
          <a:p>
            <a:pPr algn="just"/>
            <a:endParaRPr lang="fr-FR" sz="2800" dirty="0"/>
          </a:p>
          <a:p>
            <a:pPr marL="457200" indent="-457200" algn="just">
              <a:buFont typeface="Arial" pitchFamily="34" charset="0"/>
              <a:buChar char="•"/>
            </a:pPr>
            <a:r>
              <a:rPr lang="fr-FR" sz="2800" dirty="0" smtClean="0"/>
              <a:t>L'effort </a:t>
            </a:r>
            <a:r>
              <a:rPr lang="fr-FR" sz="2800" dirty="0"/>
              <a:t>: Effort requis pour l'utilisateur lors de la mesure</a:t>
            </a:r>
          </a:p>
        </p:txBody>
      </p:sp>
    </p:spTree>
    <p:extLst>
      <p:ext uri="{BB962C8B-B14F-4D97-AF65-F5344CB8AC3E}">
        <p14:creationId xmlns:p14="http://schemas.microsoft.com/office/powerpoint/2010/main" val="3444662795"/>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0B82E8-BC3F-45FF-92DD-C0AD1BA54385}" type="slidenum">
              <a:rPr lang="fr-FR" smtClean="0"/>
              <a:t>11</a:t>
            </a:fld>
            <a:endParaRPr lang="fr-FR"/>
          </a:p>
        </p:txBody>
      </p:sp>
      <p:cxnSp>
        <p:nvCxnSpPr>
          <p:cNvPr id="3" name="Connecteur droit 2"/>
          <p:cNvCxnSpPr/>
          <p:nvPr/>
        </p:nvCxnSpPr>
        <p:spPr>
          <a:xfrm>
            <a:off x="323528" y="1124744"/>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ZoneTexte 3"/>
          <p:cNvSpPr txBox="1"/>
          <p:nvPr/>
        </p:nvSpPr>
        <p:spPr>
          <a:xfrm>
            <a:off x="901914" y="234014"/>
            <a:ext cx="6408712" cy="784830"/>
          </a:xfrm>
          <a:prstGeom prst="rect">
            <a:avLst/>
          </a:prstGeom>
          <a:noFill/>
        </p:spPr>
        <p:txBody>
          <a:bodyPr wrap="square" rtlCol="0">
            <a:spAutoFit/>
          </a:bodyPr>
          <a:lstStyle/>
          <a:p>
            <a:pPr algn="ctr">
              <a:spcBef>
                <a:spcPct val="0"/>
              </a:spcBef>
            </a:pPr>
            <a:r>
              <a:rPr lang="fr-FR" sz="4500" b="1" dirty="0" smtClean="0">
                <a:solidFill>
                  <a:srgbClr val="002060"/>
                </a:solidFill>
                <a:latin typeface="+mj-lt"/>
                <a:ea typeface="+mj-ea"/>
                <a:cs typeface="+mj-cs"/>
              </a:rPr>
              <a:t>Comment choisir?</a:t>
            </a:r>
            <a:endParaRPr lang="fr-FR" sz="4500" b="1" dirty="0">
              <a:solidFill>
                <a:srgbClr val="002060"/>
              </a:solidFill>
              <a:latin typeface="+mj-lt"/>
              <a:ea typeface="+mj-ea"/>
              <a:cs typeface="+mj-cs"/>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1914" y="1214438"/>
            <a:ext cx="7414502" cy="5526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2756119"/>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0B82E8-BC3F-45FF-92DD-C0AD1BA54385}" type="slidenum">
              <a:rPr lang="fr-FR" smtClean="0"/>
              <a:t>12</a:t>
            </a:fld>
            <a:endParaRPr lang="fr-FR"/>
          </a:p>
        </p:txBody>
      </p:sp>
      <p:cxnSp>
        <p:nvCxnSpPr>
          <p:cNvPr id="3" name="Connecteur droit 2"/>
          <p:cNvCxnSpPr/>
          <p:nvPr/>
        </p:nvCxnSpPr>
        <p:spPr>
          <a:xfrm>
            <a:off x="323528" y="836712"/>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ZoneTexte 3"/>
          <p:cNvSpPr txBox="1"/>
          <p:nvPr/>
        </p:nvSpPr>
        <p:spPr>
          <a:xfrm>
            <a:off x="901914" y="44624"/>
            <a:ext cx="6408712" cy="784830"/>
          </a:xfrm>
          <a:prstGeom prst="rect">
            <a:avLst/>
          </a:prstGeom>
          <a:noFill/>
        </p:spPr>
        <p:txBody>
          <a:bodyPr wrap="square" rtlCol="0">
            <a:spAutoFit/>
          </a:bodyPr>
          <a:lstStyle/>
          <a:p>
            <a:pPr algn="ctr">
              <a:spcBef>
                <a:spcPct val="0"/>
              </a:spcBef>
            </a:pPr>
            <a:r>
              <a:rPr lang="fr-FR" sz="4500" b="1" dirty="0" smtClean="0">
                <a:solidFill>
                  <a:srgbClr val="002060"/>
                </a:solidFill>
                <a:latin typeface="+mj-lt"/>
                <a:ea typeface="+mj-ea"/>
                <a:cs typeface="+mj-cs"/>
              </a:rPr>
              <a:t>       Comment choisir?</a:t>
            </a:r>
            <a:endParaRPr lang="fr-FR" sz="4500" b="1" dirty="0">
              <a:solidFill>
                <a:srgbClr val="002060"/>
              </a:solidFill>
              <a:latin typeface="+mj-lt"/>
              <a:ea typeface="+mj-ea"/>
              <a:cs typeface="+mj-cs"/>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1914" y="1124744"/>
            <a:ext cx="7270486" cy="5616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96043899"/>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0B82E8-BC3F-45FF-92DD-C0AD1BA54385}" type="slidenum">
              <a:rPr lang="fr-FR" smtClean="0"/>
              <a:t>13</a:t>
            </a:fld>
            <a:endParaRPr lang="fr-FR"/>
          </a:p>
        </p:txBody>
      </p:sp>
      <p:cxnSp>
        <p:nvCxnSpPr>
          <p:cNvPr id="3" name="Connecteur droit 2"/>
          <p:cNvCxnSpPr/>
          <p:nvPr/>
        </p:nvCxnSpPr>
        <p:spPr>
          <a:xfrm>
            <a:off x="323528" y="836712"/>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ZoneTexte 3"/>
          <p:cNvSpPr txBox="1"/>
          <p:nvPr/>
        </p:nvSpPr>
        <p:spPr>
          <a:xfrm>
            <a:off x="1259632" y="44624"/>
            <a:ext cx="6408712" cy="784830"/>
          </a:xfrm>
          <a:prstGeom prst="rect">
            <a:avLst/>
          </a:prstGeom>
          <a:noFill/>
        </p:spPr>
        <p:txBody>
          <a:bodyPr wrap="square" rtlCol="0">
            <a:spAutoFit/>
          </a:bodyPr>
          <a:lstStyle/>
          <a:p>
            <a:pPr algn="ctr">
              <a:spcBef>
                <a:spcPct val="0"/>
              </a:spcBef>
            </a:pPr>
            <a:r>
              <a:rPr lang="fr-FR" sz="4500" b="1" dirty="0" smtClean="0">
                <a:solidFill>
                  <a:srgbClr val="002060"/>
                </a:solidFill>
                <a:latin typeface="+mj-lt"/>
                <a:ea typeface="+mj-ea"/>
                <a:cs typeface="+mj-cs"/>
              </a:rPr>
              <a:t> </a:t>
            </a:r>
            <a:r>
              <a:rPr lang="fr-FR" sz="4500" b="1" dirty="0">
                <a:solidFill>
                  <a:srgbClr val="002060"/>
                </a:solidFill>
                <a:latin typeface="+mj-lt"/>
                <a:ea typeface="+mj-ea"/>
                <a:cs typeface="+mj-cs"/>
              </a:rPr>
              <a:t>Panorama </a:t>
            </a:r>
            <a:r>
              <a:rPr lang="fr-FR" sz="4500" b="1" dirty="0" smtClean="0">
                <a:solidFill>
                  <a:srgbClr val="002060"/>
                </a:solidFill>
                <a:latin typeface="+mj-lt"/>
                <a:ea typeface="+mj-ea"/>
                <a:cs typeface="+mj-cs"/>
              </a:rPr>
              <a:t>d’applications</a:t>
            </a:r>
            <a:endParaRPr lang="fr-FR" sz="4500" b="1" dirty="0">
              <a:solidFill>
                <a:srgbClr val="002060"/>
              </a:solidFill>
              <a:latin typeface="+mj-lt"/>
              <a:ea typeface="+mj-ea"/>
              <a:cs typeface="+mj-cs"/>
            </a:endParaRPr>
          </a:p>
        </p:txBody>
      </p:sp>
      <p:sp>
        <p:nvSpPr>
          <p:cNvPr id="5" name="Rectangle 4"/>
          <p:cNvSpPr/>
          <p:nvPr/>
        </p:nvSpPr>
        <p:spPr>
          <a:xfrm>
            <a:off x="182960" y="1700808"/>
            <a:ext cx="8640960" cy="3539430"/>
          </a:xfrm>
          <a:prstGeom prst="rect">
            <a:avLst/>
          </a:prstGeom>
        </p:spPr>
        <p:txBody>
          <a:bodyPr wrap="square">
            <a:spAutoFit/>
          </a:bodyPr>
          <a:lstStyle/>
          <a:p>
            <a:pPr marL="457200" indent="-457200" algn="just">
              <a:buFont typeface="Arial" pitchFamily="34" charset="0"/>
              <a:buChar char="•"/>
            </a:pPr>
            <a:r>
              <a:rPr lang="fr-FR" sz="3200" dirty="0"/>
              <a:t>Les usages de la biométrie sont de deux </a:t>
            </a:r>
            <a:r>
              <a:rPr lang="fr-FR" sz="3200" dirty="0" smtClean="0"/>
              <a:t>ordres: </a:t>
            </a:r>
            <a:r>
              <a:rPr lang="fr-FR" sz="3200" dirty="0"/>
              <a:t>le premier est lié aux enjeux </a:t>
            </a:r>
            <a:r>
              <a:rPr lang="fr-FR" sz="3200" dirty="0" smtClean="0"/>
              <a:t>sécuritaires </a:t>
            </a:r>
            <a:r>
              <a:rPr lang="fr-FR" sz="3200" dirty="0"/>
              <a:t>tandis que le second s’apparente à une biométrie de confort. </a:t>
            </a:r>
            <a:endParaRPr lang="fr-FR" sz="3200" dirty="0" smtClean="0"/>
          </a:p>
          <a:p>
            <a:pPr marL="457200" indent="-457200" algn="just">
              <a:buFont typeface="Arial" pitchFamily="34" charset="0"/>
              <a:buChar char="•"/>
            </a:pPr>
            <a:endParaRPr lang="fr-FR" sz="3200" dirty="0"/>
          </a:p>
          <a:p>
            <a:pPr marL="457200" indent="-457200" algn="just">
              <a:buFont typeface="Arial" pitchFamily="34" charset="0"/>
              <a:buChar char="•"/>
            </a:pPr>
            <a:r>
              <a:rPr lang="fr-FR" sz="3200" dirty="0" smtClean="0"/>
              <a:t>D’une </a:t>
            </a:r>
            <a:r>
              <a:rPr lang="fr-FR" sz="3200" dirty="0"/>
              <a:t>façon générale, Trois secteurs peuvent être délimités </a:t>
            </a:r>
            <a:r>
              <a:rPr lang="fr-FR" sz="3200" dirty="0" smtClean="0"/>
              <a:t>:</a:t>
            </a:r>
          </a:p>
        </p:txBody>
      </p:sp>
    </p:spTree>
    <p:extLst>
      <p:ext uri="{BB962C8B-B14F-4D97-AF65-F5344CB8AC3E}">
        <p14:creationId xmlns:p14="http://schemas.microsoft.com/office/powerpoint/2010/main" val="1786095636"/>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0B82E8-BC3F-45FF-92DD-C0AD1BA54385}" type="slidenum">
              <a:rPr lang="fr-FR" smtClean="0"/>
              <a:t>14</a:t>
            </a:fld>
            <a:endParaRPr lang="fr-FR"/>
          </a:p>
        </p:txBody>
      </p:sp>
      <p:cxnSp>
        <p:nvCxnSpPr>
          <p:cNvPr id="3" name="Connecteur droit 2"/>
          <p:cNvCxnSpPr/>
          <p:nvPr/>
        </p:nvCxnSpPr>
        <p:spPr>
          <a:xfrm>
            <a:off x="323528" y="836712"/>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ZoneTexte 3"/>
          <p:cNvSpPr txBox="1"/>
          <p:nvPr/>
        </p:nvSpPr>
        <p:spPr>
          <a:xfrm>
            <a:off x="1259632" y="44624"/>
            <a:ext cx="6408712" cy="784830"/>
          </a:xfrm>
          <a:prstGeom prst="rect">
            <a:avLst/>
          </a:prstGeom>
          <a:noFill/>
        </p:spPr>
        <p:txBody>
          <a:bodyPr wrap="square" rtlCol="0">
            <a:spAutoFit/>
          </a:bodyPr>
          <a:lstStyle/>
          <a:p>
            <a:pPr algn="ctr">
              <a:spcBef>
                <a:spcPct val="0"/>
              </a:spcBef>
            </a:pPr>
            <a:r>
              <a:rPr lang="fr-FR" sz="4500" b="1" dirty="0" smtClean="0">
                <a:solidFill>
                  <a:srgbClr val="002060"/>
                </a:solidFill>
                <a:latin typeface="+mj-lt"/>
                <a:ea typeface="+mj-ea"/>
                <a:cs typeface="+mj-cs"/>
              </a:rPr>
              <a:t> </a:t>
            </a:r>
            <a:r>
              <a:rPr lang="fr-FR" sz="4500" b="1" dirty="0">
                <a:solidFill>
                  <a:srgbClr val="002060"/>
                </a:solidFill>
                <a:latin typeface="+mj-lt"/>
                <a:ea typeface="+mj-ea"/>
                <a:cs typeface="+mj-cs"/>
              </a:rPr>
              <a:t>Panorama d’application</a:t>
            </a:r>
          </a:p>
        </p:txBody>
      </p:sp>
      <p:sp>
        <p:nvSpPr>
          <p:cNvPr id="5" name="Rectangle 4"/>
          <p:cNvSpPr/>
          <p:nvPr/>
        </p:nvSpPr>
        <p:spPr>
          <a:xfrm>
            <a:off x="182960" y="885701"/>
            <a:ext cx="8781528" cy="6001643"/>
          </a:xfrm>
          <a:prstGeom prst="rect">
            <a:avLst/>
          </a:prstGeom>
        </p:spPr>
        <p:txBody>
          <a:bodyPr wrap="square">
            <a:spAutoFit/>
          </a:bodyPr>
          <a:lstStyle/>
          <a:p>
            <a:pPr algn="just"/>
            <a:r>
              <a:rPr lang="fr-FR" sz="3200" dirty="0" smtClean="0"/>
              <a:t>1.    L'identification </a:t>
            </a:r>
            <a:r>
              <a:rPr lang="fr-FR" sz="3200" dirty="0"/>
              <a:t>judicaire</a:t>
            </a:r>
            <a:r>
              <a:rPr lang="fr-FR" sz="3200" dirty="0" smtClean="0"/>
              <a:t>.</a:t>
            </a:r>
          </a:p>
          <a:p>
            <a:pPr algn="just"/>
            <a:endParaRPr lang="fr-FR" sz="3200" dirty="0" smtClean="0"/>
          </a:p>
          <a:p>
            <a:pPr algn="just"/>
            <a:r>
              <a:rPr lang="fr-FR" sz="3200" dirty="0" smtClean="0"/>
              <a:t>2. </a:t>
            </a:r>
            <a:r>
              <a:rPr lang="fr-FR" sz="3200" dirty="0"/>
              <a:t>La gestion des titres délivrés par la puissance </a:t>
            </a:r>
            <a:r>
              <a:rPr lang="fr-FR" sz="3200" dirty="0" smtClean="0"/>
              <a:t>   publique </a:t>
            </a:r>
            <a:r>
              <a:rPr lang="fr-FR" sz="3200" dirty="0"/>
              <a:t>(cartes d'identité, </a:t>
            </a:r>
            <a:r>
              <a:rPr lang="fr-FR" sz="3200" dirty="0" smtClean="0"/>
              <a:t>passeports, etc.)</a:t>
            </a:r>
          </a:p>
          <a:p>
            <a:pPr algn="just"/>
            <a:endParaRPr lang="fr-FR" sz="3200" dirty="0"/>
          </a:p>
          <a:p>
            <a:pPr algn="just"/>
            <a:r>
              <a:rPr lang="fr-FR" sz="3200" dirty="0" smtClean="0"/>
              <a:t>3.   La </a:t>
            </a:r>
            <a:r>
              <a:rPr lang="fr-FR" sz="3200" dirty="0"/>
              <a:t>gestion des accès </a:t>
            </a:r>
            <a:r>
              <a:rPr lang="fr-FR" sz="3200" dirty="0" smtClean="0"/>
              <a:t>: </a:t>
            </a:r>
          </a:p>
          <a:p>
            <a:pPr algn="just"/>
            <a:endParaRPr lang="fr-FR" sz="3200" dirty="0" smtClean="0"/>
          </a:p>
          <a:p>
            <a:pPr marL="514350" indent="-514350" algn="just">
              <a:buFont typeface="Wingdings" pitchFamily="2" charset="2"/>
              <a:buChar char="ü"/>
            </a:pPr>
            <a:r>
              <a:rPr lang="fr-FR" sz="3200" dirty="0" smtClean="0"/>
              <a:t>	Physiques  (</a:t>
            </a:r>
            <a:r>
              <a:rPr lang="fr-FR" sz="3200" dirty="0"/>
              <a:t>locaux, service de recherche, </a:t>
            </a:r>
            <a:r>
              <a:rPr lang="fr-FR" sz="3200" dirty="0" smtClean="0"/>
              <a:t>		site </a:t>
            </a:r>
            <a:r>
              <a:rPr lang="fr-FR" sz="3200" dirty="0"/>
              <a:t>nucléaire, etc.) </a:t>
            </a:r>
            <a:endParaRPr lang="fr-FR" sz="3200" dirty="0" smtClean="0"/>
          </a:p>
          <a:p>
            <a:pPr marL="457200" indent="-457200" algn="just">
              <a:buFont typeface="Wingdings" pitchFamily="2" charset="2"/>
              <a:buChar char="ü"/>
            </a:pPr>
            <a:r>
              <a:rPr lang="fr-FR" sz="3200" dirty="0" smtClean="0"/>
              <a:t>     Logiques </a:t>
            </a:r>
            <a:r>
              <a:rPr lang="fr-FR" sz="3200" dirty="0"/>
              <a:t>(contrôle d’accès à un ordinateur, </a:t>
            </a:r>
            <a:r>
              <a:rPr lang="fr-FR" sz="3200" dirty="0" smtClean="0"/>
              <a:t>  	login </a:t>
            </a:r>
            <a:r>
              <a:rPr lang="fr-FR" sz="3200" dirty="0"/>
              <a:t>d’ouverture de sessions réseaux, accès </a:t>
            </a:r>
            <a:r>
              <a:rPr lang="fr-FR" sz="3200" dirty="0" smtClean="0"/>
              <a:t>	distants</a:t>
            </a:r>
            <a:r>
              <a:rPr lang="fr-FR" sz="3200" dirty="0"/>
              <a:t>, etc.)</a:t>
            </a:r>
            <a:endParaRPr lang="fr-FR" sz="3200" dirty="0" smtClean="0"/>
          </a:p>
        </p:txBody>
      </p:sp>
    </p:spTree>
    <p:extLst>
      <p:ext uri="{BB962C8B-B14F-4D97-AF65-F5344CB8AC3E}">
        <p14:creationId xmlns:p14="http://schemas.microsoft.com/office/powerpoint/2010/main" val="872882230"/>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0B82E8-BC3F-45FF-92DD-C0AD1BA54385}" type="slidenum">
              <a:rPr lang="fr-FR" smtClean="0"/>
              <a:t>15</a:t>
            </a:fld>
            <a:endParaRPr lang="fr-FR"/>
          </a:p>
        </p:txBody>
      </p:sp>
      <p:cxnSp>
        <p:nvCxnSpPr>
          <p:cNvPr id="3" name="Connecteur droit 2"/>
          <p:cNvCxnSpPr/>
          <p:nvPr/>
        </p:nvCxnSpPr>
        <p:spPr>
          <a:xfrm>
            <a:off x="323528" y="1124744"/>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ZoneTexte 4"/>
          <p:cNvSpPr txBox="1"/>
          <p:nvPr/>
        </p:nvSpPr>
        <p:spPr>
          <a:xfrm>
            <a:off x="467544" y="1177588"/>
            <a:ext cx="7704856" cy="523220"/>
          </a:xfrm>
          <a:prstGeom prst="rect">
            <a:avLst/>
          </a:prstGeom>
          <a:noFill/>
        </p:spPr>
        <p:txBody>
          <a:bodyPr wrap="square" rtlCol="0">
            <a:spAutoFit/>
          </a:bodyPr>
          <a:lstStyle/>
          <a:p>
            <a:pPr marL="285750" indent="-285750">
              <a:buFont typeface="Arial" pitchFamily="34" charset="0"/>
              <a:buChar char="•"/>
            </a:pPr>
            <a:r>
              <a:rPr lang="fr-FR" sz="2800" dirty="0" smtClean="0"/>
              <a:t>La biométrie  est utilisée dans deux buts: </a:t>
            </a:r>
            <a:endParaRPr lang="fr-FR" sz="2800" dirty="0"/>
          </a:p>
        </p:txBody>
      </p:sp>
      <p:cxnSp>
        <p:nvCxnSpPr>
          <p:cNvPr id="7" name="Connecteur droit 6"/>
          <p:cNvCxnSpPr/>
          <p:nvPr/>
        </p:nvCxnSpPr>
        <p:spPr>
          <a:xfrm>
            <a:off x="4572000" y="2204864"/>
            <a:ext cx="0" cy="4653136"/>
          </a:xfrm>
          <a:prstGeom prst="line">
            <a:avLst/>
          </a:prstGeom>
          <a:ln w="47625">
            <a:solidFill>
              <a:srgbClr val="002060"/>
            </a:solidFill>
          </a:ln>
        </p:spPr>
        <p:style>
          <a:lnRef idx="1">
            <a:schemeClr val="accent1"/>
          </a:lnRef>
          <a:fillRef idx="0">
            <a:schemeClr val="accent1"/>
          </a:fillRef>
          <a:effectRef idx="0">
            <a:schemeClr val="accent1"/>
          </a:effectRef>
          <a:fontRef idx="minor">
            <a:schemeClr val="tx1"/>
          </a:fontRef>
        </p:style>
      </p:cxnSp>
      <p:sp>
        <p:nvSpPr>
          <p:cNvPr id="8" name="ZoneTexte 7"/>
          <p:cNvSpPr txBox="1"/>
          <p:nvPr/>
        </p:nvSpPr>
        <p:spPr>
          <a:xfrm>
            <a:off x="323528" y="1700808"/>
            <a:ext cx="3672408" cy="646331"/>
          </a:xfrm>
          <a:prstGeom prst="rect">
            <a:avLst/>
          </a:prstGeom>
          <a:noFill/>
        </p:spPr>
        <p:txBody>
          <a:bodyPr wrap="square" rtlCol="0">
            <a:spAutoFit/>
          </a:bodyPr>
          <a:lstStyle/>
          <a:p>
            <a:pPr algn="ctr"/>
            <a:r>
              <a:rPr lang="fr-FR" sz="3600" b="1" dirty="0" smtClean="0">
                <a:solidFill>
                  <a:srgbClr val="0070C0"/>
                </a:solidFill>
                <a:effectLst>
                  <a:outerShdw blurRad="38100" dist="38100" dir="2700000" algn="tl">
                    <a:srgbClr val="000000">
                      <a:alpha val="43137"/>
                    </a:srgbClr>
                  </a:outerShdw>
                </a:effectLst>
              </a:rPr>
              <a:t>Authentification</a:t>
            </a:r>
            <a:endParaRPr lang="fr-FR" sz="3600" b="1" dirty="0">
              <a:solidFill>
                <a:srgbClr val="0070C0"/>
              </a:solidFill>
              <a:effectLst>
                <a:outerShdw blurRad="38100" dist="38100" dir="2700000" algn="tl">
                  <a:srgbClr val="000000">
                    <a:alpha val="43137"/>
                  </a:srgbClr>
                </a:outerShdw>
              </a:effectLst>
            </a:endParaRPr>
          </a:p>
        </p:txBody>
      </p:sp>
      <p:sp>
        <p:nvSpPr>
          <p:cNvPr id="9" name="ZoneTexte 8"/>
          <p:cNvSpPr txBox="1"/>
          <p:nvPr/>
        </p:nvSpPr>
        <p:spPr>
          <a:xfrm>
            <a:off x="4860032" y="1700808"/>
            <a:ext cx="3672408" cy="646331"/>
          </a:xfrm>
          <a:prstGeom prst="rect">
            <a:avLst/>
          </a:prstGeom>
          <a:noFill/>
        </p:spPr>
        <p:txBody>
          <a:bodyPr wrap="square" rtlCol="0">
            <a:spAutoFit/>
          </a:bodyPr>
          <a:lstStyle/>
          <a:p>
            <a:pPr algn="ctr"/>
            <a:r>
              <a:rPr lang="fr-FR" sz="3600" b="1" dirty="0" smtClean="0">
                <a:solidFill>
                  <a:srgbClr val="0070C0"/>
                </a:solidFill>
                <a:effectLst>
                  <a:outerShdw blurRad="38100" dist="38100" dir="2700000" algn="tl">
                    <a:srgbClr val="000000">
                      <a:alpha val="43137"/>
                    </a:srgbClr>
                  </a:outerShdw>
                </a:effectLst>
              </a:rPr>
              <a:t>Identification</a:t>
            </a:r>
            <a:endParaRPr lang="fr-FR" sz="3600" b="1" dirty="0">
              <a:solidFill>
                <a:srgbClr val="0070C0"/>
              </a:solidFill>
              <a:effectLst>
                <a:outerShdw blurRad="38100" dist="38100" dir="2700000" algn="tl">
                  <a:srgbClr val="000000">
                    <a:alpha val="43137"/>
                  </a:srgbClr>
                </a:outerShdw>
              </a:effectLst>
            </a:endParaRPr>
          </a:p>
        </p:txBody>
      </p:sp>
      <p:sp>
        <p:nvSpPr>
          <p:cNvPr id="10" name="ZoneTexte 9"/>
          <p:cNvSpPr txBox="1"/>
          <p:nvPr/>
        </p:nvSpPr>
        <p:spPr>
          <a:xfrm>
            <a:off x="4716016" y="2597417"/>
            <a:ext cx="4427984" cy="4154984"/>
          </a:xfrm>
          <a:prstGeom prst="rect">
            <a:avLst/>
          </a:prstGeom>
          <a:noFill/>
        </p:spPr>
        <p:txBody>
          <a:bodyPr wrap="square" rtlCol="0">
            <a:spAutoFit/>
          </a:bodyPr>
          <a:lstStyle/>
          <a:p>
            <a:pPr algn="just"/>
            <a:r>
              <a:rPr lang="fr-FR" dirty="0"/>
              <a:t>L'identification répond à la question </a:t>
            </a:r>
            <a:endParaRPr lang="fr-FR" dirty="0" smtClean="0"/>
          </a:p>
          <a:p>
            <a:pPr algn="just"/>
            <a:endParaRPr lang="fr-FR" b="1" dirty="0" smtClean="0">
              <a:solidFill>
                <a:srgbClr val="002060"/>
              </a:solidFill>
              <a:effectLst>
                <a:outerShdw blurRad="38100" dist="38100" dir="2700000" algn="tl">
                  <a:srgbClr val="000000">
                    <a:alpha val="43137"/>
                  </a:srgbClr>
                </a:outerShdw>
              </a:effectLst>
            </a:endParaRPr>
          </a:p>
          <a:p>
            <a:pPr algn="ctr"/>
            <a:r>
              <a:rPr lang="fr-FR" sz="2400" b="1" dirty="0" smtClean="0">
                <a:solidFill>
                  <a:srgbClr val="002060"/>
                </a:solidFill>
                <a:effectLst>
                  <a:outerShdw blurRad="38100" dist="38100" dir="2700000" algn="tl">
                    <a:srgbClr val="000000">
                      <a:alpha val="43137"/>
                    </a:srgbClr>
                  </a:outerShdw>
                </a:effectLst>
              </a:rPr>
              <a:t>«</a:t>
            </a:r>
            <a:r>
              <a:rPr lang="fr-FR" sz="2400" b="1" dirty="0">
                <a:solidFill>
                  <a:srgbClr val="002060"/>
                </a:solidFill>
                <a:effectLst>
                  <a:outerShdw blurRad="38100" dist="38100" dir="2700000" algn="tl">
                    <a:srgbClr val="000000">
                      <a:alpha val="43137"/>
                    </a:srgbClr>
                  </a:outerShdw>
                </a:effectLst>
              </a:rPr>
              <a:t> qui êtes-vous ? ». </a:t>
            </a:r>
            <a:endParaRPr lang="fr-FR" sz="2400" b="1" dirty="0" smtClean="0">
              <a:solidFill>
                <a:srgbClr val="002060"/>
              </a:solidFill>
              <a:effectLst>
                <a:outerShdw blurRad="38100" dist="38100" dir="2700000" algn="tl">
                  <a:srgbClr val="000000">
                    <a:alpha val="43137"/>
                  </a:srgbClr>
                </a:outerShdw>
              </a:effectLst>
            </a:endParaRPr>
          </a:p>
          <a:p>
            <a:pPr algn="just"/>
            <a:endParaRPr lang="fr-FR" b="1" dirty="0">
              <a:solidFill>
                <a:srgbClr val="002060"/>
              </a:solidFill>
              <a:effectLst>
                <a:outerShdw blurRad="38100" dist="38100" dir="2700000" algn="tl">
                  <a:srgbClr val="000000">
                    <a:alpha val="43137"/>
                  </a:srgbClr>
                </a:outerShdw>
              </a:effectLst>
            </a:endParaRPr>
          </a:p>
          <a:p>
            <a:pPr algn="just"/>
            <a:endParaRPr lang="fr-FR" dirty="0" smtClean="0"/>
          </a:p>
          <a:p>
            <a:pPr algn="just"/>
            <a:endParaRPr lang="fr-FR" dirty="0"/>
          </a:p>
          <a:p>
            <a:pPr algn="just"/>
            <a:r>
              <a:rPr lang="fr-FR" dirty="0" smtClean="0"/>
              <a:t>Dans </a:t>
            </a:r>
            <a:r>
              <a:rPr lang="fr-FR" dirty="0"/>
              <a:t>ce cas, la personne est identifiée parmi </a:t>
            </a:r>
            <a:r>
              <a:rPr lang="fr-FR" dirty="0" smtClean="0"/>
              <a:t>N d'autres . </a:t>
            </a:r>
            <a:r>
              <a:rPr lang="fr-FR" dirty="0"/>
              <a:t>Ses données personnelles sont comparées aux données d'autres personnes contenues dans la même base de données ou dans d'éventuelles bases de données reliées</a:t>
            </a:r>
            <a:r>
              <a:rPr lang="fr-FR" dirty="0" smtClean="0"/>
              <a:t>. </a:t>
            </a:r>
          </a:p>
          <a:p>
            <a:pPr algn="just"/>
            <a:endParaRPr lang="fr-FR" dirty="0" smtClean="0"/>
          </a:p>
          <a:p>
            <a:pPr algn="ctr"/>
            <a:r>
              <a:rPr lang="fr-FR" sz="2400" b="1" dirty="0" smtClean="0">
                <a:solidFill>
                  <a:srgbClr val="002060"/>
                </a:solidFill>
                <a:effectLst>
                  <a:outerShdw blurRad="38100" dist="38100" dir="2700000" algn="tl">
                    <a:srgbClr val="000000">
                      <a:alpha val="43137"/>
                    </a:srgbClr>
                  </a:outerShdw>
                </a:effectLst>
              </a:rPr>
              <a:t>(vérification 1 :N)</a:t>
            </a:r>
            <a:endParaRPr lang="fr-FR" sz="2400" b="1" dirty="0">
              <a:solidFill>
                <a:srgbClr val="002060"/>
              </a:solidFill>
              <a:effectLst>
                <a:outerShdw blurRad="38100" dist="38100" dir="2700000" algn="tl">
                  <a:srgbClr val="000000">
                    <a:alpha val="43137"/>
                  </a:srgbClr>
                </a:outerShdw>
              </a:effectLst>
            </a:endParaRPr>
          </a:p>
        </p:txBody>
      </p:sp>
      <p:sp>
        <p:nvSpPr>
          <p:cNvPr id="11" name="ZoneTexte 10"/>
          <p:cNvSpPr txBox="1"/>
          <p:nvPr/>
        </p:nvSpPr>
        <p:spPr>
          <a:xfrm>
            <a:off x="-36512" y="2545734"/>
            <a:ext cx="4536504" cy="4339650"/>
          </a:xfrm>
          <a:prstGeom prst="rect">
            <a:avLst/>
          </a:prstGeom>
          <a:noFill/>
        </p:spPr>
        <p:txBody>
          <a:bodyPr wrap="square" rtlCol="0">
            <a:spAutoFit/>
          </a:bodyPr>
          <a:lstStyle/>
          <a:p>
            <a:pPr algn="just"/>
            <a:r>
              <a:rPr lang="fr-FR" dirty="0"/>
              <a:t>L'authentification répond à la question : </a:t>
            </a:r>
            <a:endParaRPr lang="fr-FR" dirty="0" smtClean="0"/>
          </a:p>
          <a:p>
            <a:pPr algn="just"/>
            <a:endParaRPr lang="fr-FR" b="1" dirty="0">
              <a:solidFill>
                <a:srgbClr val="002060"/>
              </a:solidFill>
              <a:effectLst>
                <a:outerShdw blurRad="38100" dist="38100" dir="2700000" algn="tl">
                  <a:srgbClr val="000000">
                    <a:alpha val="43137"/>
                  </a:srgbClr>
                </a:outerShdw>
              </a:effectLst>
            </a:endParaRPr>
          </a:p>
          <a:p>
            <a:pPr algn="just"/>
            <a:r>
              <a:rPr lang="fr-FR" sz="2400" b="1" dirty="0" smtClean="0">
                <a:solidFill>
                  <a:srgbClr val="002060"/>
                </a:solidFill>
                <a:effectLst>
                  <a:outerShdw blurRad="38100" dist="38100" dir="2700000" algn="tl">
                    <a:srgbClr val="000000">
                      <a:alpha val="43137"/>
                    </a:srgbClr>
                  </a:outerShdw>
                </a:effectLst>
              </a:rPr>
              <a:t>«</a:t>
            </a:r>
            <a:r>
              <a:rPr lang="fr-FR" sz="2400" b="1" dirty="0">
                <a:solidFill>
                  <a:srgbClr val="002060"/>
                </a:solidFill>
                <a:effectLst>
                  <a:outerShdw blurRad="38100" dist="38100" dir="2700000" algn="tl">
                    <a:srgbClr val="000000">
                      <a:alpha val="43137"/>
                    </a:srgbClr>
                  </a:outerShdw>
                </a:effectLst>
              </a:rPr>
              <a:t> Etes-vous bien celui que vous prétendez être ? ».</a:t>
            </a:r>
            <a:r>
              <a:rPr lang="fr-FR" sz="2400" b="1" dirty="0"/>
              <a:t> </a:t>
            </a:r>
            <a:endParaRPr lang="fr-FR" sz="2400" b="1" dirty="0" smtClean="0"/>
          </a:p>
          <a:p>
            <a:pPr algn="just"/>
            <a:endParaRPr lang="fr-FR" dirty="0"/>
          </a:p>
          <a:p>
            <a:pPr algn="just"/>
            <a:endParaRPr lang="fr-FR" dirty="0" smtClean="0"/>
          </a:p>
          <a:p>
            <a:pPr algn="just"/>
            <a:r>
              <a:rPr lang="fr-FR" dirty="0" smtClean="0"/>
              <a:t>Dans </a:t>
            </a:r>
            <a:r>
              <a:rPr lang="fr-FR" dirty="0"/>
              <a:t>ce cas, la biométrie permet de certifier l'identité d'une personne en comparant les données qu'elle va présenter avec les données préenregistrées de la personne qu'elle prétend être </a:t>
            </a:r>
            <a:endParaRPr lang="fr-FR" dirty="0" smtClean="0"/>
          </a:p>
          <a:p>
            <a:pPr algn="ctr"/>
            <a:endParaRPr lang="fr-FR" b="1" dirty="0" smtClean="0">
              <a:solidFill>
                <a:srgbClr val="002060"/>
              </a:solidFill>
              <a:effectLst>
                <a:outerShdw blurRad="38100" dist="38100" dir="2700000" algn="tl">
                  <a:srgbClr val="000000">
                    <a:alpha val="43137"/>
                  </a:srgbClr>
                </a:outerShdw>
              </a:effectLst>
            </a:endParaRPr>
          </a:p>
          <a:p>
            <a:pPr algn="ctr"/>
            <a:endParaRPr lang="fr-FR" sz="2400" b="1" dirty="0" smtClean="0">
              <a:solidFill>
                <a:srgbClr val="002060"/>
              </a:solidFill>
              <a:effectLst>
                <a:outerShdw blurRad="38100" dist="38100" dir="2700000" algn="tl">
                  <a:srgbClr val="000000">
                    <a:alpha val="43137"/>
                  </a:srgbClr>
                </a:outerShdw>
              </a:effectLst>
            </a:endParaRPr>
          </a:p>
          <a:p>
            <a:pPr algn="ctr"/>
            <a:r>
              <a:rPr lang="fr-FR" sz="2400" b="1" dirty="0" smtClean="0">
                <a:solidFill>
                  <a:srgbClr val="002060"/>
                </a:solidFill>
                <a:effectLst>
                  <a:outerShdw blurRad="38100" dist="38100" dir="2700000" algn="tl">
                    <a:srgbClr val="000000">
                      <a:alpha val="43137"/>
                    </a:srgbClr>
                  </a:outerShdw>
                </a:effectLst>
              </a:rPr>
              <a:t>(</a:t>
            </a:r>
            <a:r>
              <a:rPr lang="fr-FR" sz="2400" b="1" dirty="0">
                <a:solidFill>
                  <a:srgbClr val="002060"/>
                </a:solidFill>
                <a:effectLst>
                  <a:outerShdw blurRad="38100" dist="38100" dir="2700000" algn="tl">
                    <a:srgbClr val="000000">
                      <a:alpha val="43137"/>
                    </a:srgbClr>
                  </a:outerShdw>
                </a:effectLst>
              </a:rPr>
              <a:t>vérification 1 :1</a:t>
            </a:r>
            <a:r>
              <a:rPr lang="fr-FR" sz="2400" b="1" dirty="0" smtClean="0">
                <a:solidFill>
                  <a:srgbClr val="002060"/>
                </a:solidFill>
                <a:effectLst>
                  <a:outerShdw blurRad="38100" dist="38100" dir="2700000" algn="tl">
                    <a:srgbClr val="000000">
                      <a:alpha val="43137"/>
                    </a:srgbClr>
                  </a:outerShdw>
                </a:effectLst>
              </a:rPr>
              <a:t>)</a:t>
            </a:r>
            <a:endParaRPr lang="fr-FR" sz="2400" b="1" dirty="0">
              <a:solidFill>
                <a:srgbClr val="002060"/>
              </a:solidFill>
              <a:effectLst>
                <a:outerShdw blurRad="38100" dist="38100" dir="2700000" algn="tl">
                  <a:srgbClr val="000000">
                    <a:alpha val="43137"/>
                  </a:srgbClr>
                </a:outerShdw>
              </a:effectLst>
            </a:endParaRPr>
          </a:p>
        </p:txBody>
      </p:sp>
      <p:sp>
        <p:nvSpPr>
          <p:cNvPr id="6" name="Rectangle 5"/>
          <p:cNvSpPr/>
          <p:nvPr/>
        </p:nvSpPr>
        <p:spPr>
          <a:xfrm>
            <a:off x="1187624" y="0"/>
            <a:ext cx="7344816" cy="888705"/>
          </a:xfrm>
          <a:prstGeom prst="rect">
            <a:avLst/>
          </a:prstGeom>
        </p:spPr>
        <p:txBody>
          <a:bodyPr wrap="square">
            <a:spAutoFit/>
          </a:bodyPr>
          <a:lstStyle/>
          <a:p>
            <a:pPr lvl="0">
              <a:lnSpc>
                <a:spcPct val="115000"/>
              </a:lnSpc>
            </a:pPr>
            <a:r>
              <a:rPr lang="fr-FR" sz="4500" b="1" dirty="0">
                <a:solidFill>
                  <a:srgbClr val="002060"/>
                </a:solidFill>
                <a:latin typeface="+mj-lt"/>
                <a:ea typeface="+mj-ea"/>
                <a:cs typeface="+mj-cs"/>
              </a:rPr>
              <a:t>Identification vs Vérification</a:t>
            </a:r>
          </a:p>
        </p:txBody>
      </p:sp>
    </p:spTree>
    <p:extLst>
      <p:ext uri="{BB962C8B-B14F-4D97-AF65-F5344CB8AC3E}">
        <p14:creationId xmlns:p14="http://schemas.microsoft.com/office/powerpoint/2010/main" val="2723589898"/>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0B82E8-BC3F-45FF-92DD-C0AD1BA54385}" type="slidenum">
              <a:rPr lang="fr-FR" smtClean="0"/>
              <a:t>16</a:t>
            </a:fld>
            <a:endParaRPr lang="fr-FR"/>
          </a:p>
        </p:txBody>
      </p:sp>
      <p:cxnSp>
        <p:nvCxnSpPr>
          <p:cNvPr id="3" name="Connecteur droit 2"/>
          <p:cNvCxnSpPr/>
          <p:nvPr/>
        </p:nvCxnSpPr>
        <p:spPr>
          <a:xfrm>
            <a:off x="323528" y="1124744"/>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ZoneTexte 3"/>
          <p:cNvSpPr txBox="1"/>
          <p:nvPr/>
        </p:nvSpPr>
        <p:spPr>
          <a:xfrm>
            <a:off x="323528" y="201376"/>
            <a:ext cx="6408712" cy="841962"/>
          </a:xfrm>
          <a:prstGeom prst="rect">
            <a:avLst/>
          </a:prstGeom>
          <a:noFill/>
        </p:spPr>
        <p:txBody>
          <a:bodyPr wrap="square" rtlCol="0">
            <a:spAutoFit/>
          </a:bodyPr>
          <a:lstStyle/>
          <a:p>
            <a:pPr lvl="0">
              <a:lnSpc>
                <a:spcPct val="115000"/>
              </a:lnSpc>
            </a:pPr>
            <a:r>
              <a:rPr lang="fr-FR" sz="4500" b="1" dirty="0" err="1">
                <a:solidFill>
                  <a:srgbClr val="002060"/>
                </a:solidFill>
                <a:latin typeface="+mj-lt"/>
                <a:ea typeface="+mj-ea"/>
                <a:cs typeface="+mj-cs"/>
              </a:rPr>
              <a:t>Multimodalité</a:t>
            </a:r>
            <a:endParaRPr lang="fr-FR" sz="4500" b="1" dirty="0">
              <a:solidFill>
                <a:srgbClr val="002060"/>
              </a:solidFill>
              <a:latin typeface="+mj-lt"/>
              <a:ea typeface="+mj-ea"/>
              <a:cs typeface="+mj-cs"/>
            </a:endParaRPr>
          </a:p>
        </p:txBody>
      </p:sp>
      <p:sp>
        <p:nvSpPr>
          <p:cNvPr id="5" name="ZoneTexte 4"/>
          <p:cNvSpPr txBox="1"/>
          <p:nvPr/>
        </p:nvSpPr>
        <p:spPr>
          <a:xfrm>
            <a:off x="323528" y="1556792"/>
            <a:ext cx="8352928" cy="1200329"/>
          </a:xfrm>
          <a:prstGeom prst="rect">
            <a:avLst/>
          </a:prstGeom>
          <a:noFill/>
        </p:spPr>
        <p:txBody>
          <a:bodyPr wrap="square" rtlCol="0">
            <a:spAutoFit/>
          </a:bodyPr>
          <a:lstStyle/>
          <a:p>
            <a:pPr marL="285750" indent="-285750" algn="just">
              <a:buFont typeface="Arial" pitchFamily="34" charset="0"/>
              <a:buChar char="•"/>
            </a:pPr>
            <a:r>
              <a:rPr lang="fr-FR" sz="2400" dirty="0" smtClean="0"/>
              <a:t>Il est impossible d’affirmer qu’un système biométrique  utilisant une certaine modalité  (surtout physiologique) en surpasse un autre.</a:t>
            </a:r>
            <a:endParaRPr lang="fr-FR" sz="2400" dirty="0"/>
          </a:p>
        </p:txBody>
      </p:sp>
      <p:sp>
        <p:nvSpPr>
          <p:cNvPr id="6" name="ZoneTexte 5"/>
          <p:cNvSpPr txBox="1"/>
          <p:nvPr/>
        </p:nvSpPr>
        <p:spPr>
          <a:xfrm>
            <a:off x="259293" y="3212976"/>
            <a:ext cx="8561180" cy="1200329"/>
          </a:xfrm>
          <a:prstGeom prst="rect">
            <a:avLst/>
          </a:prstGeom>
          <a:noFill/>
        </p:spPr>
        <p:txBody>
          <a:bodyPr wrap="square" rtlCol="0">
            <a:spAutoFit/>
          </a:bodyPr>
          <a:lstStyle/>
          <a:p>
            <a:pPr marL="285750" indent="-285750" algn="justLow">
              <a:buFont typeface="Arial" pitchFamily="34" charset="0"/>
              <a:buChar char="•"/>
            </a:pPr>
            <a:r>
              <a:rPr lang="fr-FR" sz="2400" dirty="0" smtClean="0"/>
              <a:t>A l’heure actuelle la combinaison de plusieurs biométries se révèle très utile pour identifier/ authentifier une personne avec le plus haut degré de fiabilité.</a:t>
            </a:r>
            <a:endParaRPr lang="fr-FR" sz="2400" dirty="0"/>
          </a:p>
        </p:txBody>
      </p:sp>
      <p:sp>
        <p:nvSpPr>
          <p:cNvPr id="8" name="ZoneTexte 7"/>
          <p:cNvSpPr txBox="1"/>
          <p:nvPr/>
        </p:nvSpPr>
        <p:spPr>
          <a:xfrm>
            <a:off x="179512" y="5013176"/>
            <a:ext cx="6984776" cy="800219"/>
          </a:xfrm>
          <a:prstGeom prst="rect">
            <a:avLst/>
          </a:prstGeom>
          <a:noFill/>
        </p:spPr>
        <p:txBody>
          <a:bodyPr wrap="square" rtlCol="0">
            <a:spAutoFit/>
          </a:bodyPr>
          <a:lstStyle/>
          <a:p>
            <a:pPr marL="342900" lvl="6" indent="-342900">
              <a:buFont typeface="Arial" pitchFamily="34" charset="0"/>
              <a:buChar char="•"/>
            </a:pPr>
            <a:r>
              <a:rPr lang="fr-FR" sz="2400" dirty="0" smtClean="0"/>
              <a:t>On parle alors de     </a:t>
            </a:r>
            <a:r>
              <a:rPr lang="fr-FR" sz="2800" b="1" dirty="0" smtClean="0">
                <a:solidFill>
                  <a:srgbClr val="002060"/>
                </a:solidFill>
                <a:effectLst>
                  <a:outerShdw blurRad="38100" dist="38100" dir="2700000" algn="tl">
                    <a:srgbClr val="000000">
                      <a:alpha val="43137"/>
                    </a:srgbClr>
                  </a:outerShdw>
                </a:effectLst>
              </a:rPr>
              <a:t>Biométrie Multimodale</a:t>
            </a:r>
          </a:p>
          <a:p>
            <a:endParaRPr lang="fr-FR" dirty="0"/>
          </a:p>
        </p:txBody>
      </p:sp>
    </p:spTree>
    <p:extLst>
      <p:ext uri="{BB962C8B-B14F-4D97-AF65-F5344CB8AC3E}">
        <p14:creationId xmlns:p14="http://schemas.microsoft.com/office/powerpoint/2010/main" val="1777122329"/>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0B82E8-BC3F-45FF-92DD-C0AD1BA54385}" type="slidenum">
              <a:rPr lang="fr-FR" smtClean="0"/>
              <a:t>17</a:t>
            </a:fld>
            <a:endParaRPr lang="fr-FR"/>
          </a:p>
        </p:txBody>
      </p:sp>
      <p:cxnSp>
        <p:nvCxnSpPr>
          <p:cNvPr id="3" name="Connecteur droit 2"/>
          <p:cNvCxnSpPr/>
          <p:nvPr/>
        </p:nvCxnSpPr>
        <p:spPr>
          <a:xfrm>
            <a:off x="323528" y="1124744"/>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ZoneTexte 3"/>
          <p:cNvSpPr txBox="1"/>
          <p:nvPr/>
        </p:nvSpPr>
        <p:spPr>
          <a:xfrm>
            <a:off x="323528" y="234014"/>
            <a:ext cx="6408712" cy="841962"/>
          </a:xfrm>
          <a:prstGeom prst="rect">
            <a:avLst/>
          </a:prstGeom>
          <a:noFill/>
        </p:spPr>
        <p:txBody>
          <a:bodyPr wrap="square" rtlCol="0">
            <a:spAutoFit/>
          </a:bodyPr>
          <a:lstStyle/>
          <a:p>
            <a:pPr>
              <a:lnSpc>
                <a:spcPct val="115000"/>
              </a:lnSpc>
            </a:pPr>
            <a:r>
              <a:rPr lang="fr-FR" sz="4500" b="1" dirty="0" err="1">
                <a:solidFill>
                  <a:srgbClr val="002060"/>
                </a:solidFill>
                <a:latin typeface="+mj-lt"/>
                <a:ea typeface="+mj-ea"/>
                <a:cs typeface="+mj-cs"/>
              </a:rPr>
              <a:t>Multimodalité</a:t>
            </a:r>
            <a:endParaRPr lang="fr-FR" sz="4500" b="1" dirty="0">
              <a:solidFill>
                <a:srgbClr val="002060"/>
              </a:solidFill>
              <a:latin typeface="+mj-lt"/>
              <a:ea typeface="+mj-ea"/>
              <a:cs typeface="+mj-cs"/>
            </a:endParaRPr>
          </a:p>
        </p:txBody>
      </p:sp>
      <p:sp>
        <p:nvSpPr>
          <p:cNvPr id="5" name="AutoShape 2" descr="empreinte digitale — Wiktionnair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6" name="AutoShape 4" descr="empreinte digitale — Wiktionnair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grpSp>
        <p:nvGrpSpPr>
          <p:cNvPr id="12" name="Groupe 11"/>
          <p:cNvGrpSpPr/>
          <p:nvPr/>
        </p:nvGrpSpPr>
        <p:grpSpPr>
          <a:xfrm>
            <a:off x="307975" y="1566525"/>
            <a:ext cx="5508104" cy="4666004"/>
            <a:chOff x="1115616" y="1196752"/>
            <a:chExt cx="5292588" cy="4666004"/>
          </a:xfrm>
        </p:grpSpPr>
        <p:grpSp>
          <p:nvGrpSpPr>
            <p:cNvPr id="10" name="Groupe 9"/>
            <p:cNvGrpSpPr/>
            <p:nvPr/>
          </p:nvGrpSpPr>
          <p:grpSpPr>
            <a:xfrm>
              <a:off x="1907704" y="2025062"/>
              <a:ext cx="3888432" cy="3837694"/>
              <a:chOff x="1907704" y="2025062"/>
              <a:chExt cx="3888432" cy="3837694"/>
            </a:xfrm>
          </p:grpSpPr>
          <p:pic>
            <p:nvPicPr>
              <p:cNvPr id="3079"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7704" y="2025062"/>
                <a:ext cx="1228573" cy="14759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80"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7945" y="2110957"/>
                <a:ext cx="1728191" cy="1304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Plus 6"/>
              <p:cNvSpPr/>
              <p:nvPr/>
            </p:nvSpPr>
            <p:spPr>
              <a:xfrm>
                <a:off x="3275856" y="2420888"/>
                <a:ext cx="720080" cy="648072"/>
              </a:xfrm>
              <a:prstGeom prst="mathPlus">
                <a:avLst/>
              </a:prstGeom>
              <a:solidFill>
                <a:srgbClr val="002060"/>
              </a:solidFill>
              <a:ln>
                <a:noFill/>
              </a:ln>
              <a:effectLst>
                <a:glow rad="127000">
                  <a:srgbClr val="002060"/>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Égal 7"/>
              <p:cNvSpPr/>
              <p:nvPr/>
            </p:nvSpPr>
            <p:spPr>
              <a:xfrm>
                <a:off x="2987826" y="3614232"/>
                <a:ext cx="1080119" cy="720080"/>
              </a:xfrm>
              <a:prstGeom prst="mathEqual">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 name="ZoneTexte 8"/>
              <p:cNvSpPr txBox="1"/>
              <p:nvPr/>
            </p:nvSpPr>
            <p:spPr>
              <a:xfrm>
                <a:off x="3131840" y="4293096"/>
                <a:ext cx="321818" cy="1569660"/>
              </a:xfrm>
              <a:prstGeom prst="rect">
                <a:avLst/>
              </a:prstGeom>
              <a:noFill/>
            </p:spPr>
            <p:txBody>
              <a:bodyPr wrap="square" rtlCol="0">
                <a:spAutoFit/>
              </a:bodyPr>
              <a:lstStyle/>
              <a:p>
                <a:r>
                  <a:rPr lang="fr-FR" sz="9600" b="1" dirty="0" smtClean="0">
                    <a:solidFill>
                      <a:srgbClr val="002060"/>
                    </a:solidFill>
                    <a:effectLst>
                      <a:outerShdw blurRad="38100" dist="38100" dir="2700000" algn="tl">
                        <a:srgbClr val="000000">
                          <a:alpha val="43137"/>
                        </a:srgbClr>
                      </a:outerShdw>
                    </a:effectLst>
                  </a:rPr>
                  <a:t>?</a:t>
                </a:r>
                <a:endParaRPr lang="fr-FR" sz="9600" b="1" dirty="0">
                  <a:solidFill>
                    <a:srgbClr val="002060"/>
                  </a:solidFill>
                  <a:effectLst>
                    <a:outerShdw blurRad="38100" dist="38100" dir="2700000" algn="tl">
                      <a:srgbClr val="000000">
                        <a:alpha val="43137"/>
                      </a:srgbClr>
                    </a:outerShdw>
                  </a:effectLst>
                </a:endParaRPr>
              </a:p>
            </p:txBody>
          </p:sp>
        </p:grpSp>
        <p:sp>
          <p:nvSpPr>
            <p:cNvPr id="11" name="Ellipse 10"/>
            <p:cNvSpPr/>
            <p:nvPr/>
          </p:nvSpPr>
          <p:spPr>
            <a:xfrm>
              <a:off x="1115616" y="1196752"/>
              <a:ext cx="5292588" cy="4608512"/>
            </a:xfrm>
            <a:prstGeom prst="ellipse">
              <a:avLst/>
            </a:prstGeom>
            <a:noFill/>
            <a:ln>
              <a:solidFill>
                <a:srgbClr val="002060">
                  <a:alpha val="49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3" name="ZoneTexte 12"/>
          <p:cNvSpPr txBox="1"/>
          <p:nvPr/>
        </p:nvSpPr>
        <p:spPr>
          <a:xfrm>
            <a:off x="5642613" y="2283259"/>
            <a:ext cx="3419872" cy="2062103"/>
          </a:xfrm>
          <a:prstGeom prst="rect">
            <a:avLst/>
          </a:prstGeom>
          <a:noFill/>
        </p:spPr>
        <p:txBody>
          <a:bodyPr wrap="square" rtlCol="0">
            <a:spAutoFit/>
          </a:bodyPr>
          <a:lstStyle/>
          <a:p>
            <a:pPr algn="ctr"/>
            <a:r>
              <a:rPr lang="fr-FR" sz="3200" dirty="0" smtClean="0">
                <a:effectLst>
                  <a:outerShdw blurRad="38100" dist="38100" dir="2700000" algn="tl">
                    <a:srgbClr val="000000">
                      <a:alpha val="43137"/>
                    </a:srgbClr>
                  </a:outerShdw>
                </a:effectLst>
              </a:rPr>
              <a:t>Quel est l’</a:t>
            </a:r>
            <a:r>
              <a:rPr lang="fr-FR" sz="3200" dirty="0" err="1" smtClean="0">
                <a:effectLst>
                  <a:outerShdw blurRad="38100" dist="38100" dir="2700000" algn="tl">
                    <a:srgbClr val="000000">
                      <a:alpha val="43137"/>
                    </a:srgbClr>
                  </a:outerShdw>
                </a:effectLst>
              </a:rPr>
              <a:t>intétêt</a:t>
            </a:r>
            <a:r>
              <a:rPr lang="fr-FR" sz="3200" dirty="0" smtClean="0">
                <a:effectLst>
                  <a:outerShdw blurRad="38100" dist="38100" dir="2700000" algn="tl">
                    <a:srgbClr val="000000">
                      <a:alpha val="43137"/>
                    </a:srgbClr>
                  </a:outerShdw>
                </a:effectLst>
              </a:rPr>
              <a:t> d’utiliser plusieurs  biométries plutôt qu’une seule?</a:t>
            </a:r>
            <a:endParaRPr lang="fr-FR" sz="32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023977713"/>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0B82E8-BC3F-45FF-92DD-C0AD1BA54385}" type="slidenum">
              <a:rPr lang="fr-FR" smtClean="0"/>
              <a:t>18</a:t>
            </a:fld>
            <a:endParaRPr lang="fr-FR"/>
          </a:p>
        </p:txBody>
      </p:sp>
      <p:cxnSp>
        <p:nvCxnSpPr>
          <p:cNvPr id="3" name="Connecteur droit 2"/>
          <p:cNvCxnSpPr/>
          <p:nvPr/>
        </p:nvCxnSpPr>
        <p:spPr>
          <a:xfrm>
            <a:off x="323528" y="1124744"/>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ZoneTexte 4"/>
          <p:cNvSpPr txBox="1"/>
          <p:nvPr/>
        </p:nvSpPr>
        <p:spPr>
          <a:xfrm>
            <a:off x="107504" y="1340768"/>
            <a:ext cx="8676436" cy="1200329"/>
          </a:xfrm>
          <a:prstGeom prst="rect">
            <a:avLst/>
          </a:prstGeom>
          <a:noFill/>
        </p:spPr>
        <p:txBody>
          <a:bodyPr wrap="square" rtlCol="0">
            <a:spAutoFit/>
          </a:bodyPr>
          <a:lstStyle/>
          <a:p>
            <a:pPr marL="285750" indent="-285750" algn="just">
              <a:buFont typeface="Arial" pitchFamily="34" charset="0"/>
              <a:buChar char="•"/>
            </a:pPr>
            <a:r>
              <a:rPr lang="fr-FR" sz="2400" dirty="0" smtClean="0"/>
              <a:t>Selon le besoin et le contexte, les différentes données biométriques sont complémentaires en termes  de simplicité d’usage, de coût et même d’acceptation culturelle.</a:t>
            </a:r>
            <a:endParaRPr lang="fr-FR" sz="2400" dirty="0"/>
          </a:p>
        </p:txBody>
      </p:sp>
      <p:sp>
        <p:nvSpPr>
          <p:cNvPr id="6" name="ZoneTexte 5"/>
          <p:cNvSpPr txBox="1"/>
          <p:nvPr/>
        </p:nvSpPr>
        <p:spPr>
          <a:xfrm>
            <a:off x="107504" y="2679303"/>
            <a:ext cx="8208912" cy="461665"/>
          </a:xfrm>
          <a:prstGeom prst="rect">
            <a:avLst/>
          </a:prstGeom>
          <a:noFill/>
        </p:spPr>
        <p:txBody>
          <a:bodyPr wrap="square" rtlCol="0">
            <a:spAutoFit/>
          </a:bodyPr>
          <a:lstStyle/>
          <a:p>
            <a:pPr marL="285750" indent="-285750" algn="just">
              <a:buFont typeface="Arial" pitchFamily="34" charset="0"/>
              <a:buChar char="•"/>
            </a:pPr>
            <a:r>
              <a:rPr lang="fr-FR" sz="2400" dirty="0" smtClean="0"/>
              <a:t>Systèmes d’identification plus efficaces. </a:t>
            </a:r>
            <a:endParaRPr lang="fr-FR" sz="2400" dirty="0"/>
          </a:p>
        </p:txBody>
      </p:sp>
      <p:sp>
        <p:nvSpPr>
          <p:cNvPr id="7" name="ZoneTexte 6"/>
          <p:cNvSpPr txBox="1"/>
          <p:nvPr/>
        </p:nvSpPr>
        <p:spPr>
          <a:xfrm>
            <a:off x="162053" y="3471391"/>
            <a:ext cx="6570187" cy="461665"/>
          </a:xfrm>
          <a:prstGeom prst="rect">
            <a:avLst/>
          </a:prstGeom>
          <a:noFill/>
        </p:spPr>
        <p:txBody>
          <a:bodyPr wrap="square" rtlCol="0">
            <a:spAutoFit/>
          </a:bodyPr>
          <a:lstStyle/>
          <a:p>
            <a:pPr marL="285750" indent="-285750" algn="just">
              <a:buFont typeface="Arial" pitchFamily="34" charset="0"/>
              <a:buChar char="•"/>
            </a:pPr>
            <a:r>
              <a:rPr lang="fr-FR" sz="2400" dirty="0" smtClean="0"/>
              <a:t>L’autre avantage  est bien sûr le renforcement de</a:t>
            </a:r>
            <a:endParaRPr lang="fr-FR" sz="2400" dirty="0"/>
          </a:p>
        </p:txBody>
      </p:sp>
      <p:pic>
        <p:nvPicPr>
          <p:cNvPr id="614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57002" y="4403708"/>
            <a:ext cx="4386090" cy="2454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ZoneTexte 7"/>
          <p:cNvSpPr txBox="1"/>
          <p:nvPr/>
        </p:nvSpPr>
        <p:spPr>
          <a:xfrm>
            <a:off x="6732240" y="3429000"/>
            <a:ext cx="1940848" cy="523220"/>
          </a:xfrm>
          <a:prstGeom prst="rect">
            <a:avLst/>
          </a:prstGeom>
          <a:noFill/>
        </p:spPr>
        <p:txBody>
          <a:bodyPr wrap="square" rtlCol="0">
            <a:spAutoFit/>
          </a:bodyPr>
          <a:lstStyle/>
          <a:p>
            <a:r>
              <a:rPr lang="fr-FR" sz="2800" b="1" dirty="0" smtClean="0">
                <a:solidFill>
                  <a:srgbClr val="002060"/>
                </a:solidFill>
                <a:effectLst>
                  <a:outerShdw blurRad="38100" dist="38100" dir="2700000" algn="tl">
                    <a:srgbClr val="000000">
                      <a:alpha val="43137"/>
                    </a:srgbClr>
                  </a:outerShdw>
                </a:effectLst>
              </a:rPr>
              <a:t>la Sécurité</a:t>
            </a:r>
            <a:endParaRPr lang="fr-FR" sz="2800" dirty="0"/>
          </a:p>
        </p:txBody>
      </p:sp>
      <p:sp>
        <p:nvSpPr>
          <p:cNvPr id="10" name="ZoneTexte 9"/>
          <p:cNvSpPr txBox="1"/>
          <p:nvPr/>
        </p:nvSpPr>
        <p:spPr>
          <a:xfrm>
            <a:off x="323528" y="234014"/>
            <a:ext cx="6408712" cy="841962"/>
          </a:xfrm>
          <a:prstGeom prst="rect">
            <a:avLst/>
          </a:prstGeom>
          <a:noFill/>
        </p:spPr>
        <p:txBody>
          <a:bodyPr wrap="square" rtlCol="0">
            <a:spAutoFit/>
          </a:bodyPr>
          <a:lstStyle/>
          <a:p>
            <a:pPr>
              <a:lnSpc>
                <a:spcPct val="115000"/>
              </a:lnSpc>
            </a:pPr>
            <a:r>
              <a:rPr lang="fr-FR" sz="4500" b="1" dirty="0" err="1">
                <a:solidFill>
                  <a:srgbClr val="002060"/>
                </a:solidFill>
                <a:latin typeface="+mj-lt"/>
                <a:ea typeface="+mj-ea"/>
                <a:cs typeface="+mj-cs"/>
              </a:rPr>
              <a:t>Multimodalité</a:t>
            </a:r>
            <a:endParaRPr lang="fr-FR" sz="4500" b="1" dirty="0">
              <a:solidFill>
                <a:srgbClr val="002060"/>
              </a:solidFill>
              <a:latin typeface="+mj-lt"/>
              <a:ea typeface="+mj-ea"/>
              <a:cs typeface="+mj-cs"/>
            </a:endParaRPr>
          </a:p>
        </p:txBody>
      </p:sp>
    </p:spTree>
    <p:extLst>
      <p:ext uri="{BB962C8B-B14F-4D97-AF65-F5344CB8AC3E}">
        <p14:creationId xmlns:p14="http://schemas.microsoft.com/office/powerpoint/2010/main" val="327169805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6148"/>
                                        </p:tgtEl>
                                        <p:attrNameLst>
                                          <p:attrName>style.visibility</p:attrName>
                                        </p:attrNameLst>
                                      </p:cBhvr>
                                      <p:to>
                                        <p:strVal val="visible"/>
                                      </p:to>
                                    </p:set>
                                    <p:animEffect transition="in" filter="fade">
                                      <p:cBhvr>
                                        <p:cTn id="19" dur="1000"/>
                                        <p:tgtEl>
                                          <p:spTgt spid="6148"/>
                                        </p:tgtEl>
                                      </p:cBhvr>
                                    </p:animEffect>
                                    <p:anim calcmode="lin" valueType="num">
                                      <p:cBhvr>
                                        <p:cTn id="20" dur="1000" fill="hold"/>
                                        <p:tgtEl>
                                          <p:spTgt spid="6148"/>
                                        </p:tgtEl>
                                        <p:attrNameLst>
                                          <p:attrName>ppt_x</p:attrName>
                                        </p:attrNameLst>
                                      </p:cBhvr>
                                      <p:tavLst>
                                        <p:tav tm="0">
                                          <p:val>
                                            <p:strVal val="#ppt_x"/>
                                          </p:val>
                                        </p:tav>
                                        <p:tav tm="100000">
                                          <p:val>
                                            <p:strVal val="#ppt_x"/>
                                          </p:val>
                                        </p:tav>
                                      </p:tavLst>
                                    </p:anim>
                                    <p:anim calcmode="lin" valueType="num">
                                      <p:cBhvr>
                                        <p:cTn id="21" dur="1000" fill="hold"/>
                                        <p:tgtEl>
                                          <p:spTgt spid="614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0B82E8-BC3F-45FF-92DD-C0AD1BA54385}" type="slidenum">
              <a:rPr lang="fr-FR" smtClean="0"/>
              <a:t>19</a:t>
            </a:fld>
            <a:endParaRPr lang="fr-FR"/>
          </a:p>
        </p:txBody>
      </p:sp>
      <p:cxnSp>
        <p:nvCxnSpPr>
          <p:cNvPr id="3" name="Connecteur droit 2"/>
          <p:cNvCxnSpPr/>
          <p:nvPr/>
        </p:nvCxnSpPr>
        <p:spPr>
          <a:xfrm>
            <a:off x="323528" y="1124744"/>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ZoneTexte 3"/>
          <p:cNvSpPr txBox="1"/>
          <p:nvPr/>
        </p:nvSpPr>
        <p:spPr>
          <a:xfrm>
            <a:off x="323528" y="234014"/>
            <a:ext cx="6408712" cy="784830"/>
          </a:xfrm>
          <a:prstGeom prst="rect">
            <a:avLst/>
          </a:prstGeom>
          <a:noFill/>
        </p:spPr>
        <p:txBody>
          <a:bodyPr wrap="square" rtlCol="0">
            <a:spAutoFit/>
          </a:bodyPr>
          <a:lstStyle/>
          <a:p>
            <a:pPr>
              <a:spcBef>
                <a:spcPct val="0"/>
              </a:spcBef>
            </a:pPr>
            <a:r>
              <a:rPr lang="fr-FR" sz="4500" b="1" dirty="0">
                <a:solidFill>
                  <a:srgbClr val="002060"/>
                </a:solidFill>
                <a:latin typeface="+mj-lt"/>
                <a:ea typeface="+mj-ea"/>
                <a:cs typeface="+mj-cs"/>
              </a:rPr>
              <a:t>P</a:t>
            </a:r>
            <a:r>
              <a:rPr lang="fr-FR" sz="4500" b="1" dirty="0" smtClean="0">
                <a:solidFill>
                  <a:srgbClr val="002060"/>
                </a:solidFill>
                <a:latin typeface="+mj-lt"/>
                <a:ea typeface="+mj-ea"/>
                <a:cs typeface="+mj-cs"/>
              </a:rPr>
              <a:t>roblématique</a:t>
            </a:r>
            <a:endParaRPr lang="fr-FR" sz="4500" b="1" dirty="0">
              <a:solidFill>
                <a:srgbClr val="002060"/>
              </a:solidFill>
              <a:latin typeface="+mj-lt"/>
              <a:ea typeface="+mj-ea"/>
              <a:cs typeface="+mj-cs"/>
            </a:endParaRPr>
          </a:p>
        </p:txBody>
      </p:sp>
      <p:sp>
        <p:nvSpPr>
          <p:cNvPr id="5" name="ZoneTexte 4"/>
          <p:cNvSpPr txBox="1"/>
          <p:nvPr/>
        </p:nvSpPr>
        <p:spPr>
          <a:xfrm>
            <a:off x="0" y="1340768"/>
            <a:ext cx="9036496" cy="3108543"/>
          </a:xfrm>
          <a:prstGeom prst="rect">
            <a:avLst/>
          </a:prstGeom>
          <a:noFill/>
        </p:spPr>
        <p:txBody>
          <a:bodyPr wrap="square" rtlCol="0">
            <a:spAutoFit/>
          </a:bodyPr>
          <a:lstStyle/>
          <a:p>
            <a:pPr algn="just"/>
            <a:r>
              <a:rPr lang="fr-FR" sz="2800" dirty="0" smtClean="0">
                <a:solidFill>
                  <a:srgbClr val="002060"/>
                </a:solidFill>
              </a:rPr>
              <a:t>Cependant, le développement important des systèmes biométriques s’accompagne également de plusieurs menaces car les données biométriques sont des données:</a:t>
            </a:r>
          </a:p>
          <a:p>
            <a:pPr algn="just"/>
            <a:endParaRPr lang="fr-FR" sz="2800" dirty="0" smtClean="0">
              <a:solidFill>
                <a:srgbClr val="002060"/>
              </a:solidFill>
            </a:endParaRPr>
          </a:p>
          <a:p>
            <a:pPr marL="2171700" lvl="4" indent="-342900" algn="just">
              <a:buFont typeface="Arial" pitchFamily="34" charset="0"/>
              <a:buChar char="•"/>
            </a:pPr>
            <a:r>
              <a:rPr lang="fr-FR" sz="2800" b="1" dirty="0" smtClean="0">
                <a:solidFill>
                  <a:srgbClr val="002060"/>
                </a:solidFill>
              </a:rPr>
              <a:t>personnelles, </a:t>
            </a:r>
          </a:p>
          <a:p>
            <a:pPr marL="2171700" lvl="4" indent="-342900" algn="just">
              <a:buFont typeface="Arial" pitchFamily="34" charset="0"/>
              <a:buChar char="•"/>
            </a:pPr>
            <a:r>
              <a:rPr lang="fr-FR" sz="2800" b="1" dirty="0" smtClean="0">
                <a:solidFill>
                  <a:srgbClr val="002060"/>
                </a:solidFill>
              </a:rPr>
              <a:t>non-révocables, </a:t>
            </a:r>
          </a:p>
          <a:p>
            <a:pPr marL="2171700" lvl="4" indent="-342900" algn="just">
              <a:buFont typeface="Arial" pitchFamily="34" charset="0"/>
              <a:buChar char="•"/>
            </a:pPr>
            <a:r>
              <a:rPr lang="fr-FR" sz="2800" dirty="0" smtClean="0">
                <a:solidFill>
                  <a:srgbClr val="002060"/>
                </a:solidFill>
              </a:rPr>
              <a:t>et donc  particulièrement </a:t>
            </a:r>
            <a:r>
              <a:rPr lang="fr-FR" sz="2800" b="1" dirty="0" smtClean="0">
                <a:solidFill>
                  <a:srgbClr val="002060"/>
                </a:solidFill>
              </a:rPr>
              <a:t>sensibles</a:t>
            </a:r>
            <a:r>
              <a:rPr lang="fr-FR" sz="2800" dirty="0" smtClean="0">
                <a:solidFill>
                  <a:srgbClr val="002060"/>
                </a:solidFill>
              </a:rPr>
              <a:t>.</a:t>
            </a:r>
            <a:endParaRPr lang="fr-FR" sz="2800" dirty="0">
              <a:solidFill>
                <a:srgbClr val="002060"/>
              </a:solidFill>
            </a:endParaRPr>
          </a:p>
        </p:txBody>
      </p:sp>
      <p:sp>
        <p:nvSpPr>
          <p:cNvPr id="6" name="ZoneTexte 5"/>
          <p:cNvSpPr txBox="1"/>
          <p:nvPr/>
        </p:nvSpPr>
        <p:spPr>
          <a:xfrm>
            <a:off x="32068" y="4941168"/>
            <a:ext cx="9004428" cy="1384995"/>
          </a:xfrm>
          <a:prstGeom prst="rect">
            <a:avLst/>
          </a:prstGeom>
          <a:noFill/>
        </p:spPr>
        <p:txBody>
          <a:bodyPr wrap="square" rtlCol="0">
            <a:spAutoFit/>
          </a:bodyPr>
          <a:lstStyle/>
          <a:p>
            <a:pPr algn="just"/>
            <a:r>
              <a:rPr lang="fr-FR" sz="2800" dirty="0" smtClean="0">
                <a:solidFill>
                  <a:srgbClr val="002060"/>
                </a:solidFill>
              </a:rPr>
              <a:t>Les attaques et les vulnérabilités sur les systèmes biométriques sont nombreuses et peuvent grandement porter atteinte à la </a:t>
            </a:r>
            <a:r>
              <a:rPr lang="fr-FR" sz="2800" b="1" dirty="0" smtClean="0">
                <a:solidFill>
                  <a:srgbClr val="002060"/>
                </a:solidFill>
                <a:effectLst>
                  <a:outerShdw blurRad="38100" dist="38100" dir="2700000" algn="tl">
                    <a:srgbClr val="000000">
                      <a:alpha val="43137"/>
                    </a:srgbClr>
                  </a:outerShdw>
                </a:effectLst>
              </a:rPr>
              <a:t>vie privée </a:t>
            </a:r>
            <a:r>
              <a:rPr lang="fr-FR" sz="2800" dirty="0" smtClean="0">
                <a:solidFill>
                  <a:srgbClr val="002060"/>
                </a:solidFill>
              </a:rPr>
              <a:t>d’un individu.</a:t>
            </a:r>
            <a:endParaRPr lang="fr-FR" sz="2800" dirty="0">
              <a:solidFill>
                <a:srgbClr val="002060"/>
              </a:solidFill>
            </a:endParaRPr>
          </a:p>
        </p:txBody>
      </p:sp>
    </p:spTree>
    <p:extLst>
      <p:ext uri="{BB962C8B-B14F-4D97-AF65-F5344CB8AC3E}">
        <p14:creationId xmlns:p14="http://schemas.microsoft.com/office/powerpoint/2010/main" val="3969863059"/>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0B82E8-BC3F-45FF-92DD-C0AD1BA54385}" type="slidenum">
              <a:rPr lang="fr-FR" smtClean="0"/>
              <a:t>20</a:t>
            </a:fld>
            <a:endParaRPr lang="fr-FR"/>
          </a:p>
        </p:txBody>
      </p:sp>
      <p:cxnSp>
        <p:nvCxnSpPr>
          <p:cNvPr id="3" name="Connecteur droit 2"/>
          <p:cNvCxnSpPr/>
          <p:nvPr/>
        </p:nvCxnSpPr>
        <p:spPr>
          <a:xfrm>
            <a:off x="323528" y="1124744"/>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ZoneTexte 3"/>
          <p:cNvSpPr txBox="1"/>
          <p:nvPr/>
        </p:nvSpPr>
        <p:spPr>
          <a:xfrm>
            <a:off x="323528" y="234014"/>
            <a:ext cx="6408712" cy="784830"/>
          </a:xfrm>
          <a:prstGeom prst="rect">
            <a:avLst/>
          </a:prstGeom>
          <a:noFill/>
        </p:spPr>
        <p:txBody>
          <a:bodyPr wrap="square" rtlCol="0">
            <a:spAutoFit/>
          </a:bodyPr>
          <a:lstStyle/>
          <a:p>
            <a:pPr>
              <a:spcBef>
                <a:spcPct val="0"/>
              </a:spcBef>
            </a:pPr>
            <a:r>
              <a:rPr lang="fr-FR" sz="4500" b="1" dirty="0">
                <a:solidFill>
                  <a:srgbClr val="002060"/>
                </a:solidFill>
                <a:latin typeface="+mj-lt"/>
                <a:ea typeface="+mj-ea"/>
                <a:cs typeface="+mj-cs"/>
              </a:rPr>
              <a:t>P</a:t>
            </a:r>
            <a:r>
              <a:rPr lang="fr-FR" sz="4500" b="1" dirty="0" smtClean="0">
                <a:solidFill>
                  <a:srgbClr val="002060"/>
                </a:solidFill>
                <a:latin typeface="+mj-lt"/>
                <a:ea typeface="+mj-ea"/>
                <a:cs typeface="+mj-cs"/>
              </a:rPr>
              <a:t>roblématique</a:t>
            </a:r>
            <a:endParaRPr lang="fr-FR" sz="4500" b="1" dirty="0">
              <a:solidFill>
                <a:srgbClr val="002060"/>
              </a:solidFill>
              <a:latin typeface="+mj-lt"/>
              <a:ea typeface="+mj-ea"/>
              <a:cs typeface="+mj-cs"/>
            </a:endParaRPr>
          </a:p>
        </p:txBody>
      </p:sp>
      <p:sp>
        <p:nvSpPr>
          <p:cNvPr id="5" name="ZoneTexte 4"/>
          <p:cNvSpPr txBox="1"/>
          <p:nvPr/>
        </p:nvSpPr>
        <p:spPr>
          <a:xfrm>
            <a:off x="179512" y="1412776"/>
            <a:ext cx="8856984" cy="1964512"/>
          </a:xfrm>
          <a:prstGeom prst="rect">
            <a:avLst/>
          </a:prstGeom>
          <a:noFill/>
        </p:spPr>
        <p:txBody>
          <a:bodyPr wrap="square" rtlCol="0">
            <a:spAutoFit/>
          </a:bodyPr>
          <a:lstStyle/>
          <a:p>
            <a:pPr marL="457200" indent="-457200" algn="just">
              <a:lnSpc>
                <a:spcPct val="150000"/>
              </a:lnSpc>
              <a:buFont typeface="Wingdings" pitchFamily="2" charset="2"/>
              <a:buChar char="Ø"/>
            </a:pPr>
            <a:r>
              <a:rPr lang="fr-FR" sz="2800" dirty="0" smtClean="0">
                <a:solidFill>
                  <a:srgbClr val="002060"/>
                </a:solidFill>
              </a:rPr>
              <a:t>Pour pallier ce problème, des méthodes révocables pour la  protection du modèle biométrique sont proposées (</a:t>
            </a:r>
            <a:r>
              <a:rPr lang="fr-FR" sz="2800" b="1" dirty="0" err="1" smtClean="0">
                <a:solidFill>
                  <a:srgbClr val="002060"/>
                </a:solidFill>
                <a:effectLst>
                  <a:outerShdw blurRad="38100" dist="38100" dir="2700000" algn="tl">
                    <a:srgbClr val="000000">
                      <a:alpha val="43137"/>
                    </a:srgbClr>
                  </a:outerShdw>
                </a:effectLst>
              </a:rPr>
              <a:t>Cancelable</a:t>
            </a:r>
            <a:r>
              <a:rPr lang="fr-FR" sz="2800" b="1" dirty="0" smtClean="0">
                <a:solidFill>
                  <a:srgbClr val="002060"/>
                </a:solidFill>
                <a:effectLst>
                  <a:outerShdw blurRad="38100" dist="38100" dir="2700000" algn="tl">
                    <a:srgbClr val="000000">
                      <a:alpha val="43137"/>
                    </a:srgbClr>
                  </a:outerShdw>
                </a:effectLst>
              </a:rPr>
              <a:t> </a:t>
            </a:r>
            <a:r>
              <a:rPr lang="fr-FR" sz="2800" b="1" dirty="0" err="1" smtClean="0">
                <a:solidFill>
                  <a:srgbClr val="002060"/>
                </a:solidFill>
                <a:effectLst>
                  <a:outerShdw blurRad="38100" dist="38100" dir="2700000" algn="tl">
                    <a:srgbClr val="000000">
                      <a:alpha val="43137"/>
                    </a:srgbClr>
                  </a:outerShdw>
                </a:effectLst>
              </a:rPr>
              <a:t>Biometric</a:t>
            </a:r>
            <a:r>
              <a:rPr lang="fr-FR" sz="2800" b="1" dirty="0" smtClean="0">
                <a:solidFill>
                  <a:srgbClr val="002060"/>
                </a:solidFill>
                <a:effectLst>
                  <a:outerShdw blurRad="38100" dist="38100" dir="2700000" algn="tl">
                    <a:srgbClr val="000000">
                      <a:alpha val="43137"/>
                    </a:srgbClr>
                  </a:outerShdw>
                </a:effectLst>
              </a:rPr>
              <a:t> Template Protection </a:t>
            </a:r>
            <a:r>
              <a:rPr lang="fr-FR" sz="2800" b="1" dirty="0" err="1" smtClean="0">
                <a:solidFill>
                  <a:srgbClr val="002060"/>
                </a:solidFill>
                <a:effectLst>
                  <a:outerShdw blurRad="38100" dist="38100" dir="2700000" algn="tl">
                    <a:srgbClr val="000000">
                      <a:alpha val="43137"/>
                    </a:srgbClr>
                  </a:outerShdw>
                </a:effectLst>
              </a:rPr>
              <a:t>Methods</a:t>
            </a:r>
            <a:r>
              <a:rPr lang="fr-FR" sz="2800" dirty="0" smtClean="0">
                <a:solidFill>
                  <a:srgbClr val="002060"/>
                </a:solidFill>
              </a:rPr>
              <a:t>).</a:t>
            </a:r>
            <a:endParaRPr lang="fr-FR" sz="2800" dirty="0">
              <a:solidFill>
                <a:srgbClr val="002060"/>
              </a:solidFill>
            </a:endParaRPr>
          </a:p>
        </p:txBody>
      </p:sp>
      <p:sp>
        <p:nvSpPr>
          <p:cNvPr id="6" name="ZoneTexte 5"/>
          <p:cNvSpPr txBox="1"/>
          <p:nvPr/>
        </p:nvSpPr>
        <p:spPr>
          <a:xfrm>
            <a:off x="144016" y="3933056"/>
            <a:ext cx="9036496" cy="2677656"/>
          </a:xfrm>
          <a:prstGeom prst="rect">
            <a:avLst/>
          </a:prstGeom>
          <a:noFill/>
        </p:spPr>
        <p:txBody>
          <a:bodyPr wrap="square" rtlCol="0">
            <a:spAutoFit/>
          </a:bodyPr>
          <a:lstStyle/>
          <a:p>
            <a:pPr marL="457200" indent="-457200" algn="just">
              <a:lnSpc>
                <a:spcPct val="150000"/>
              </a:lnSpc>
              <a:buFont typeface="Wingdings" pitchFamily="2" charset="2"/>
              <a:buChar char="Ø"/>
            </a:pPr>
            <a:r>
              <a:rPr lang="fr-FR" sz="2800" dirty="0" smtClean="0">
                <a:solidFill>
                  <a:srgbClr val="002060"/>
                </a:solidFill>
              </a:rPr>
              <a:t>Ce concept repose sur une transformation des données biométriques brutes, de telle sorte que les données transformées soient </a:t>
            </a:r>
            <a:r>
              <a:rPr lang="fr-FR" sz="2800" b="1" dirty="0" smtClean="0">
                <a:solidFill>
                  <a:srgbClr val="002060"/>
                </a:solidFill>
                <a:effectLst>
                  <a:outerShdw blurRad="38100" dist="38100" dir="2700000" algn="tl">
                    <a:srgbClr val="000000">
                      <a:alpha val="43137"/>
                    </a:srgbClr>
                  </a:outerShdw>
                </a:effectLst>
              </a:rPr>
              <a:t>sûres</a:t>
            </a:r>
            <a:r>
              <a:rPr lang="fr-FR" sz="2800" dirty="0" smtClean="0">
                <a:solidFill>
                  <a:srgbClr val="002060"/>
                </a:solidFill>
              </a:rPr>
              <a:t> et </a:t>
            </a:r>
            <a:r>
              <a:rPr lang="fr-FR" sz="2800" b="1" dirty="0" smtClean="0">
                <a:solidFill>
                  <a:srgbClr val="002060"/>
                </a:solidFill>
                <a:effectLst>
                  <a:outerShdw blurRad="38100" dist="38100" dir="2700000" algn="tl">
                    <a:srgbClr val="000000">
                      <a:alpha val="43137"/>
                    </a:srgbClr>
                  </a:outerShdw>
                </a:effectLst>
              </a:rPr>
              <a:t>respectueuses de la vie privée.</a:t>
            </a:r>
            <a:endParaRPr lang="fr-FR" sz="2800" b="1"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445613427"/>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0B82E8-BC3F-45FF-92DD-C0AD1BA54385}" type="slidenum">
              <a:rPr lang="fr-FR" smtClean="0"/>
              <a:t>21</a:t>
            </a:fld>
            <a:endParaRPr lang="fr-FR"/>
          </a:p>
        </p:txBody>
      </p:sp>
      <p:cxnSp>
        <p:nvCxnSpPr>
          <p:cNvPr id="3" name="Connecteur droit 2"/>
          <p:cNvCxnSpPr/>
          <p:nvPr/>
        </p:nvCxnSpPr>
        <p:spPr>
          <a:xfrm>
            <a:off x="323528" y="1124744"/>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ZoneTexte 3"/>
          <p:cNvSpPr txBox="1"/>
          <p:nvPr/>
        </p:nvSpPr>
        <p:spPr>
          <a:xfrm>
            <a:off x="323528" y="234014"/>
            <a:ext cx="6408712" cy="784830"/>
          </a:xfrm>
          <a:prstGeom prst="rect">
            <a:avLst/>
          </a:prstGeom>
          <a:noFill/>
        </p:spPr>
        <p:txBody>
          <a:bodyPr wrap="square" rtlCol="0">
            <a:spAutoFit/>
          </a:bodyPr>
          <a:lstStyle/>
          <a:p>
            <a:pPr>
              <a:spcBef>
                <a:spcPct val="0"/>
              </a:spcBef>
            </a:pPr>
            <a:r>
              <a:rPr lang="fr-FR" sz="4500" b="1" dirty="0">
                <a:solidFill>
                  <a:srgbClr val="002060"/>
                </a:solidFill>
                <a:latin typeface="+mj-lt"/>
                <a:ea typeface="+mj-ea"/>
                <a:cs typeface="+mj-cs"/>
              </a:rPr>
              <a:t>P</a:t>
            </a:r>
            <a:r>
              <a:rPr lang="fr-FR" sz="4500" b="1" dirty="0" smtClean="0">
                <a:solidFill>
                  <a:srgbClr val="002060"/>
                </a:solidFill>
                <a:latin typeface="+mj-lt"/>
                <a:ea typeface="+mj-ea"/>
                <a:cs typeface="+mj-cs"/>
              </a:rPr>
              <a:t>roblématique</a:t>
            </a:r>
            <a:endParaRPr lang="fr-FR" sz="4500" b="1" dirty="0">
              <a:solidFill>
                <a:srgbClr val="002060"/>
              </a:solidFill>
              <a:latin typeface="+mj-lt"/>
              <a:ea typeface="+mj-ea"/>
              <a:cs typeface="+mj-cs"/>
            </a:endParaRPr>
          </a:p>
        </p:txBody>
      </p:sp>
      <p:sp>
        <p:nvSpPr>
          <p:cNvPr id="5" name="ZoneTexte 4"/>
          <p:cNvSpPr txBox="1"/>
          <p:nvPr/>
        </p:nvSpPr>
        <p:spPr>
          <a:xfrm>
            <a:off x="0" y="1124744"/>
            <a:ext cx="9144000" cy="5632311"/>
          </a:xfrm>
          <a:prstGeom prst="rect">
            <a:avLst/>
          </a:prstGeom>
          <a:noFill/>
        </p:spPr>
        <p:txBody>
          <a:bodyPr wrap="square" rtlCol="0">
            <a:spAutoFit/>
          </a:bodyPr>
          <a:lstStyle/>
          <a:p>
            <a:pPr algn="just">
              <a:lnSpc>
                <a:spcPct val="150000"/>
              </a:lnSpc>
            </a:pPr>
            <a:r>
              <a:rPr lang="fr-FR" sz="2400" dirty="0" smtClean="0">
                <a:solidFill>
                  <a:srgbClr val="002060"/>
                </a:solidFill>
              </a:rPr>
              <a:t>Ces méthodes doivent garantir  les propriétés suivantes:</a:t>
            </a:r>
          </a:p>
          <a:p>
            <a:pPr marL="1257300" lvl="2" indent="-342900" algn="just">
              <a:lnSpc>
                <a:spcPct val="150000"/>
              </a:lnSpc>
              <a:buFont typeface="Arial" pitchFamily="34" charset="0"/>
              <a:buChar char="•"/>
            </a:pPr>
            <a:r>
              <a:rPr lang="fr-FR" sz="2400" b="1" dirty="0" smtClean="0">
                <a:solidFill>
                  <a:srgbClr val="002060"/>
                </a:solidFill>
                <a:effectLst>
                  <a:outerShdw blurRad="38100" dist="38100" dir="2700000" algn="tl">
                    <a:srgbClr val="000000">
                      <a:alpha val="43137"/>
                    </a:srgbClr>
                  </a:outerShdw>
                </a:effectLst>
              </a:rPr>
              <a:t>Non-</a:t>
            </a:r>
            <a:r>
              <a:rPr lang="fr-FR" sz="2400" b="1" dirty="0" err="1" smtClean="0">
                <a:solidFill>
                  <a:srgbClr val="002060"/>
                </a:solidFill>
                <a:effectLst>
                  <a:outerShdw blurRad="38100" dist="38100" dir="2700000" algn="tl">
                    <a:srgbClr val="000000">
                      <a:alpha val="43137"/>
                    </a:srgbClr>
                  </a:outerShdw>
                </a:effectLst>
              </a:rPr>
              <a:t>inversibilité</a:t>
            </a:r>
            <a:r>
              <a:rPr lang="fr-FR" sz="2400" dirty="0" smtClean="0">
                <a:solidFill>
                  <a:srgbClr val="002060"/>
                </a:solidFill>
                <a:effectLst>
                  <a:outerShdw blurRad="38100" dist="38100" dir="2700000" algn="tl">
                    <a:srgbClr val="000000">
                      <a:alpha val="43137"/>
                    </a:srgbClr>
                  </a:outerShdw>
                </a:effectLst>
              </a:rPr>
              <a:t> </a:t>
            </a:r>
            <a:r>
              <a:rPr lang="fr-FR" sz="2400" dirty="0" smtClean="0">
                <a:solidFill>
                  <a:srgbClr val="002060"/>
                </a:solidFill>
              </a:rPr>
              <a:t>: il ne doit pas être possible de retrouver des informations sur la donnée biométrique originale à partir de sa transformée.</a:t>
            </a:r>
          </a:p>
          <a:p>
            <a:pPr marL="1257300" lvl="2" indent="-342900" algn="just">
              <a:lnSpc>
                <a:spcPct val="150000"/>
              </a:lnSpc>
              <a:buFont typeface="Arial" pitchFamily="34" charset="0"/>
              <a:buChar char="•"/>
            </a:pPr>
            <a:r>
              <a:rPr lang="fr-FR" sz="2400" b="1" dirty="0" smtClean="0">
                <a:solidFill>
                  <a:srgbClr val="002060"/>
                </a:solidFill>
                <a:effectLst>
                  <a:outerShdw blurRad="38100" dist="38100" dir="2700000" algn="tl">
                    <a:srgbClr val="000000">
                      <a:alpha val="43137"/>
                    </a:srgbClr>
                  </a:outerShdw>
                </a:effectLst>
              </a:rPr>
              <a:t>Performance</a:t>
            </a:r>
            <a:r>
              <a:rPr lang="fr-FR" sz="2400" dirty="0" smtClean="0">
                <a:solidFill>
                  <a:srgbClr val="002060"/>
                </a:solidFill>
              </a:rPr>
              <a:t> : l’efficacité du système de vérification ne doit pas être détériorée par la transformation.</a:t>
            </a:r>
          </a:p>
          <a:p>
            <a:pPr marL="1257300" lvl="2" indent="-342900" algn="just">
              <a:lnSpc>
                <a:spcPct val="150000"/>
              </a:lnSpc>
              <a:buFont typeface="Arial" pitchFamily="34" charset="0"/>
              <a:buChar char="•"/>
            </a:pPr>
            <a:r>
              <a:rPr lang="fr-FR" sz="2400" b="1" dirty="0" smtClean="0">
                <a:solidFill>
                  <a:srgbClr val="002060"/>
                </a:solidFill>
                <a:effectLst>
                  <a:outerShdw blurRad="38100" dist="38100" dir="2700000" algn="tl">
                    <a:srgbClr val="000000">
                      <a:alpha val="43137"/>
                    </a:srgbClr>
                  </a:outerShdw>
                </a:effectLst>
              </a:rPr>
              <a:t>Diversité</a:t>
            </a:r>
            <a:r>
              <a:rPr lang="fr-FR" sz="2400" dirty="0" smtClean="0">
                <a:solidFill>
                  <a:srgbClr val="002060"/>
                </a:solidFill>
              </a:rPr>
              <a:t> : il doit être possible de générer plusieurs données protégées à partir d’une seule donnée brute.</a:t>
            </a:r>
          </a:p>
          <a:p>
            <a:pPr marL="1257300" lvl="2" indent="-342900" algn="just">
              <a:lnSpc>
                <a:spcPct val="150000"/>
              </a:lnSpc>
              <a:buFont typeface="Arial" pitchFamily="34" charset="0"/>
              <a:buChar char="•"/>
            </a:pPr>
            <a:r>
              <a:rPr lang="fr-FR" sz="2400" dirty="0" smtClean="0">
                <a:solidFill>
                  <a:srgbClr val="002060"/>
                </a:solidFill>
              </a:rPr>
              <a:t> </a:t>
            </a:r>
            <a:r>
              <a:rPr lang="fr-FR" sz="2400" b="1" dirty="0" smtClean="0">
                <a:solidFill>
                  <a:srgbClr val="002060"/>
                </a:solidFill>
                <a:effectLst>
                  <a:outerShdw blurRad="38100" dist="38100" dir="2700000" algn="tl">
                    <a:srgbClr val="000000">
                      <a:alpha val="43137"/>
                    </a:srgbClr>
                  </a:outerShdw>
                </a:effectLst>
              </a:rPr>
              <a:t>Révocabilité</a:t>
            </a:r>
            <a:r>
              <a:rPr lang="fr-FR" sz="2400" dirty="0" smtClean="0">
                <a:solidFill>
                  <a:srgbClr val="002060"/>
                </a:solidFill>
              </a:rPr>
              <a:t> : on doit pouvoir facilement révoquer les données en cas de compromission.</a:t>
            </a:r>
            <a:endParaRPr lang="fr-FR" sz="2400" dirty="0">
              <a:solidFill>
                <a:srgbClr val="002060"/>
              </a:solidFill>
            </a:endParaRPr>
          </a:p>
        </p:txBody>
      </p:sp>
    </p:spTree>
    <p:extLst>
      <p:ext uri="{BB962C8B-B14F-4D97-AF65-F5344CB8AC3E}">
        <p14:creationId xmlns:p14="http://schemas.microsoft.com/office/powerpoint/2010/main" val="2362258873"/>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0">
              <a:schemeClr val="bg2">
                <a:tint val="48000"/>
                <a:satMod val="300000"/>
              </a:schemeClr>
            </a:gs>
            <a:gs pos="12000">
              <a:schemeClr val="bg2">
                <a:tint val="48000"/>
                <a:satMod val="300000"/>
              </a:schemeClr>
            </a:gs>
            <a:gs pos="55000">
              <a:schemeClr val="bg2">
                <a:tint val="49000"/>
                <a:satMod val="300000"/>
              </a:schemeClr>
            </a:gs>
            <a:gs pos="100000">
              <a:schemeClr val="bg2">
                <a:shade val="30000"/>
              </a:schemeClr>
            </a:gs>
          </a:gsLst>
          <a:path path="circle">
            <a:fillToRect l="10000" t="-25000" r="10000" b="125000"/>
          </a:path>
        </a:gra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0B82E8-BC3F-45FF-92DD-C0AD1BA54385}" type="slidenum">
              <a:rPr lang="fr-FR" smtClean="0"/>
              <a:t>22</a:t>
            </a:fld>
            <a:endParaRPr lang="fr-FR"/>
          </a:p>
        </p:txBody>
      </p:sp>
      <p:cxnSp>
        <p:nvCxnSpPr>
          <p:cNvPr id="3" name="Connecteur droit 2"/>
          <p:cNvCxnSpPr/>
          <p:nvPr/>
        </p:nvCxnSpPr>
        <p:spPr>
          <a:xfrm>
            <a:off x="323528" y="1124744"/>
            <a:ext cx="82089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ZoneTexte 3"/>
          <p:cNvSpPr txBox="1"/>
          <p:nvPr/>
        </p:nvSpPr>
        <p:spPr>
          <a:xfrm>
            <a:off x="323528" y="234014"/>
            <a:ext cx="6408712" cy="784830"/>
          </a:xfrm>
          <a:prstGeom prst="rect">
            <a:avLst/>
          </a:prstGeom>
          <a:noFill/>
        </p:spPr>
        <p:txBody>
          <a:bodyPr wrap="square" rtlCol="0">
            <a:spAutoFit/>
          </a:bodyPr>
          <a:lstStyle/>
          <a:p>
            <a:pPr>
              <a:spcBef>
                <a:spcPct val="0"/>
              </a:spcBef>
            </a:pPr>
            <a:r>
              <a:rPr lang="fr-FR" sz="4500" b="1" dirty="0">
                <a:solidFill>
                  <a:srgbClr val="002060"/>
                </a:solidFill>
                <a:latin typeface="+mj-lt"/>
                <a:ea typeface="+mj-ea"/>
                <a:cs typeface="+mj-cs"/>
              </a:rPr>
              <a:t>P</a:t>
            </a:r>
            <a:r>
              <a:rPr lang="fr-FR" sz="4500" b="1" dirty="0" smtClean="0">
                <a:solidFill>
                  <a:srgbClr val="002060"/>
                </a:solidFill>
                <a:latin typeface="+mj-lt"/>
                <a:ea typeface="+mj-ea"/>
                <a:cs typeface="+mj-cs"/>
              </a:rPr>
              <a:t>roblématique</a:t>
            </a:r>
            <a:endParaRPr lang="fr-FR" sz="4500" b="1" dirty="0">
              <a:solidFill>
                <a:srgbClr val="002060"/>
              </a:solidFill>
              <a:latin typeface="+mj-lt"/>
              <a:ea typeface="+mj-ea"/>
              <a:cs typeface="+mj-cs"/>
            </a:endParaRPr>
          </a:p>
        </p:txBody>
      </p:sp>
      <p:sp>
        <p:nvSpPr>
          <p:cNvPr id="5" name="ZoneTexte 4"/>
          <p:cNvSpPr txBox="1"/>
          <p:nvPr/>
        </p:nvSpPr>
        <p:spPr>
          <a:xfrm>
            <a:off x="107504" y="1412776"/>
            <a:ext cx="8892480" cy="5262979"/>
          </a:xfrm>
          <a:prstGeom prst="rect">
            <a:avLst/>
          </a:prstGeom>
          <a:noFill/>
        </p:spPr>
        <p:txBody>
          <a:bodyPr wrap="square" rtlCol="0">
            <a:spAutoFit/>
          </a:bodyPr>
          <a:lstStyle/>
          <a:p>
            <a:pPr marL="457200" indent="-457200" algn="just">
              <a:lnSpc>
                <a:spcPct val="150000"/>
              </a:lnSpc>
              <a:buFont typeface="Arial" pitchFamily="34" charset="0"/>
              <a:buChar char="•"/>
            </a:pPr>
            <a:r>
              <a:rPr lang="fr-FR" sz="2800" dirty="0" smtClean="0">
                <a:solidFill>
                  <a:srgbClr val="002060"/>
                </a:solidFill>
              </a:rPr>
              <a:t>Les techniques de biométrie révocable permettent d’éviter de stocker les données originales.</a:t>
            </a:r>
          </a:p>
          <a:p>
            <a:pPr marL="457200" indent="-457200" algn="just">
              <a:lnSpc>
                <a:spcPct val="150000"/>
              </a:lnSpc>
              <a:buFont typeface="Arial" pitchFamily="34" charset="0"/>
              <a:buChar char="•"/>
            </a:pPr>
            <a:r>
              <a:rPr lang="fr-FR" sz="2800" dirty="0" smtClean="0">
                <a:solidFill>
                  <a:srgbClr val="002060"/>
                </a:solidFill>
              </a:rPr>
              <a:t>Seules les données transformées sont conservées pour la vérification.</a:t>
            </a:r>
          </a:p>
          <a:p>
            <a:pPr marL="457200" indent="-457200" algn="just">
              <a:lnSpc>
                <a:spcPct val="150000"/>
              </a:lnSpc>
              <a:buFont typeface="Arial" pitchFamily="34" charset="0"/>
              <a:buChar char="•"/>
            </a:pPr>
            <a:r>
              <a:rPr lang="fr-FR" sz="2800" dirty="0" smtClean="0">
                <a:solidFill>
                  <a:srgbClr val="002060"/>
                </a:solidFill>
              </a:rPr>
              <a:t>La propriété de révocabilité est ainsi garantie : si une donnée transformée est compromise, il suffit de changer (les paramètres de) la fonction de transformation.</a:t>
            </a:r>
            <a:endParaRPr lang="fr-FR" sz="2800" dirty="0">
              <a:solidFill>
                <a:srgbClr val="002060"/>
              </a:solidFill>
            </a:endParaRPr>
          </a:p>
        </p:txBody>
      </p:sp>
    </p:spTree>
    <p:extLst>
      <p:ext uri="{BB962C8B-B14F-4D97-AF65-F5344CB8AC3E}">
        <p14:creationId xmlns:p14="http://schemas.microsoft.com/office/powerpoint/2010/main" val="1315409984"/>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2.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3.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4.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5.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6.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7.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8.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9.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10.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11.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12.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13.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14.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15.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16.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17.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18.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19.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20.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docProps/app.xml><?xml version="1.0" encoding="utf-8"?>
<Properties xmlns="http://schemas.openxmlformats.org/officeDocument/2006/extended-properties" xmlns:vt="http://schemas.openxmlformats.org/officeDocument/2006/docPropsVTypes">
  <Template/>
  <TotalTime>5315</TotalTime>
  <Words>925</Words>
  <Application>Microsoft Office PowerPoint</Application>
  <PresentationFormat>Affichage à l'écran (4:3)</PresentationFormat>
  <Paragraphs>163</Paragraphs>
  <Slides>22</Slides>
  <Notes>2</Notes>
  <HiddenSlides>0</HiddenSlides>
  <MMClips>0</MMClips>
  <ScaleCrop>false</ScaleCrop>
  <HeadingPairs>
    <vt:vector size="4" baseType="variant">
      <vt:variant>
        <vt:lpstr>Thème</vt:lpstr>
      </vt:variant>
      <vt:variant>
        <vt:i4>1</vt:i4>
      </vt:variant>
      <vt:variant>
        <vt:lpstr>Titres des diapositives</vt:lpstr>
      </vt:variant>
      <vt:variant>
        <vt:i4>22</vt:i4>
      </vt:variant>
    </vt:vector>
  </HeadingPairs>
  <TitlesOfParts>
    <vt:vector size="23" baseType="lpstr">
      <vt:lpstr>Module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ECC</dc:creator>
  <cp:lastModifiedBy>ECC</cp:lastModifiedBy>
  <cp:revision>65</cp:revision>
  <dcterms:created xsi:type="dcterms:W3CDTF">2022-05-18T08:06:57Z</dcterms:created>
  <dcterms:modified xsi:type="dcterms:W3CDTF">2024-02-25T07:07:36Z</dcterms:modified>
</cp:coreProperties>
</file>