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8" r:id="rId3"/>
    <p:sldId id="259" r:id="rId4"/>
    <p:sldId id="261" r:id="rId5"/>
    <p:sldId id="262" r:id="rId6"/>
    <p:sldId id="266" r:id="rId7"/>
    <p:sldId id="267" r:id="rId8"/>
    <p:sldId id="268" r:id="rId9"/>
    <p:sldId id="269" r:id="rId10"/>
    <p:sldId id="270" r:id="rId11"/>
    <p:sldId id="264" r:id="rId12"/>
    <p:sldId id="265" r:id="rId13"/>
    <p:sldId id="263" r:id="rId14"/>
    <p:sldId id="273" r:id="rId15"/>
    <p:sldId id="275" r:id="rId16"/>
    <p:sldId id="277" r:id="rId17"/>
  </p:sldIdLst>
  <p:sldSz cx="18288000" cy="10287000"/>
  <p:notesSz cx="6858000" cy="9144000"/>
  <p:embeddedFontLst>
    <p:embeddedFont>
      <p:font typeface="Calibri" panose="020F0502020204030204" pitchFamily="34" charset="0"/>
      <p:regular r:id="rId19"/>
      <p:bold r:id="rId20"/>
      <p:italic r:id="rId21"/>
      <p:boldItalic r:id="rId22"/>
    </p:embeddedFont>
    <p:embeddedFont>
      <p:font typeface="Prompt" panose="00000500000000000000" pitchFamily="2" charset="-34"/>
      <p:regular r:id="rId23"/>
      <p:bold r:id="rId24"/>
      <p:italic r:id="rId25"/>
      <p:boldItalic r:id="rId26"/>
    </p:embeddedFont>
    <p:embeddedFont>
      <p:font typeface="Prompt Bold" panose="00000800000000000000" charset="-34"/>
      <p:regular r:id="rId27"/>
    </p:embeddedFont>
    <p:embeddedFont>
      <p:font typeface="Prompt Light" panose="00000400000000000000" pitchFamily="2" charset="-3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368" autoAdjust="0"/>
    <p:restoredTop sz="94622" autoAdjust="0"/>
  </p:normalViewPr>
  <p:slideViewPr>
    <p:cSldViewPr>
      <p:cViewPr>
        <p:scale>
          <a:sx n="25" d="100"/>
          <a:sy n="25" d="100"/>
        </p:scale>
        <p:origin x="2044" y="5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A6E8BA-B46A-4F6F-8F2A-6023081D7428}" type="datetimeFigureOut">
              <a:rPr lang="fr-FR" smtClean="0"/>
              <a:t>16/04/2025</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F8FDD6-F9CE-496D-A9AB-CBC088DA1B5F}" type="slidenum">
              <a:rPr lang="fr-FR" smtClean="0"/>
              <a:t>‹N°›</a:t>
            </a:fld>
            <a:endParaRPr lang="fr-FR"/>
          </a:p>
        </p:txBody>
      </p:sp>
    </p:spTree>
    <p:extLst>
      <p:ext uri="{BB962C8B-B14F-4D97-AF65-F5344CB8AC3E}">
        <p14:creationId xmlns:p14="http://schemas.microsoft.com/office/powerpoint/2010/main" val="869940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910"/>
        </a:solidFill>
        <a:effectLst/>
      </p:bgPr>
    </p:bg>
    <p:spTree>
      <p:nvGrpSpPr>
        <p:cNvPr id="1" name=""/>
        <p:cNvGrpSpPr/>
        <p:nvPr/>
      </p:nvGrpSpPr>
      <p:grpSpPr>
        <a:xfrm>
          <a:off x="0" y="0"/>
          <a:ext cx="0" cy="0"/>
          <a:chOff x="0" y="0"/>
          <a:chExt cx="0" cy="0"/>
        </a:xfrm>
      </p:grpSpPr>
      <p:sp>
        <p:nvSpPr>
          <p:cNvPr id="8" name="TextBox 8"/>
          <p:cNvSpPr txBox="1"/>
          <p:nvPr/>
        </p:nvSpPr>
        <p:spPr>
          <a:xfrm>
            <a:off x="8382000" y="3395761"/>
            <a:ext cx="9259994" cy="1923604"/>
          </a:xfrm>
          <a:prstGeom prst="rect">
            <a:avLst/>
          </a:prstGeom>
        </p:spPr>
        <p:txBody>
          <a:bodyPr wrap="square" lIns="0" tIns="0" rIns="0" bIns="0" rtlCol="0" anchor="t">
            <a:spAutoFit/>
          </a:bodyPr>
          <a:lstStyle/>
          <a:p>
            <a:pPr algn="l">
              <a:lnSpc>
                <a:spcPts val="15000"/>
              </a:lnSpc>
            </a:pPr>
            <a:r>
              <a:rPr lang="en-US" sz="12500" b="1" dirty="0">
                <a:solidFill>
                  <a:srgbClr val="E8EEF2"/>
                </a:solidFill>
                <a:latin typeface="Prompt Bold"/>
                <a:ea typeface="Prompt Bold"/>
                <a:cs typeface="Prompt Bold"/>
                <a:sym typeface="Prompt Bold"/>
              </a:rPr>
              <a:t>S</a:t>
            </a:r>
            <a:r>
              <a:rPr lang="fr-FR" sz="9600" b="1" dirty="0" err="1">
                <a:solidFill>
                  <a:srgbClr val="E8EEF2"/>
                </a:solidFill>
                <a:latin typeface="Prompt Bold"/>
                <a:ea typeface="Prompt Bold"/>
                <a:cs typeface="Prompt Bold"/>
                <a:sym typeface="Prompt Bold"/>
              </a:rPr>
              <a:t>earch</a:t>
            </a:r>
            <a:r>
              <a:rPr lang="en-US" sz="12500" b="1" dirty="0">
                <a:solidFill>
                  <a:srgbClr val="E8EEF2"/>
                </a:solidFill>
                <a:latin typeface="Prompt Bold"/>
                <a:ea typeface="Prompt Bold"/>
                <a:cs typeface="Prompt Bold"/>
                <a:sym typeface="Prompt Bold"/>
              </a:rPr>
              <a:t> </a:t>
            </a:r>
          </a:p>
        </p:txBody>
      </p:sp>
      <p:sp>
        <p:nvSpPr>
          <p:cNvPr id="11" name="AutoShape 11"/>
          <p:cNvSpPr/>
          <p:nvPr/>
        </p:nvSpPr>
        <p:spPr>
          <a:xfrm flipV="1">
            <a:off x="7461690" y="2665278"/>
            <a:ext cx="19050" cy="4956443"/>
          </a:xfrm>
          <a:prstGeom prst="line">
            <a:avLst/>
          </a:prstGeom>
          <a:ln w="38100" cap="flat">
            <a:solidFill>
              <a:srgbClr val="E8EEF2"/>
            </a:solidFill>
            <a:prstDash val="solid"/>
            <a:headEnd type="none" w="sm" len="sm"/>
            <a:tailEnd type="none" w="sm" len="sm"/>
          </a:ln>
        </p:spPr>
      </p:sp>
      <p:sp>
        <p:nvSpPr>
          <p:cNvPr id="12" name="Freeform 12"/>
          <p:cNvSpPr/>
          <p:nvPr/>
        </p:nvSpPr>
        <p:spPr>
          <a:xfrm>
            <a:off x="12774118" y="-1090665"/>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stretch>
              <a:fillRect/>
            </a:stretch>
          </a:blipFill>
        </p:spPr>
      </p:sp>
      <p:sp>
        <p:nvSpPr>
          <p:cNvPr id="9" name="TextBox 9"/>
          <p:cNvSpPr txBox="1"/>
          <p:nvPr/>
        </p:nvSpPr>
        <p:spPr>
          <a:xfrm>
            <a:off x="8382000" y="5143499"/>
            <a:ext cx="9660044" cy="1231106"/>
          </a:xfrm>
          <a:prstGeom prst="rect">
            <a:avLst/>
          </a:prstGeom>
        </p:spPr>
        <p:txBody>
          <a:bodyPr wrap="square" lIns="0" tIns="0" rIns="0" bIns="0" rtlCol="0" anchor="t">
            <a:spAutoFit/>
          </a:bodyPr>
          <a:lstStyle/>
          <a:p>
            <a:pPr marL="0" lvl="0" indent="0" algn="l">
              <a:lnSpc>
                <a:spcPts val="9600"/>
              </a:lnSpc>
              <a:spcBef>
                <a:spcPct val="0"/>
              </a:spcBef>
            </a:pPr>
            <a:r>
              <a:rPr lang="en-US" sz="8000" dirty="0">
                <a:solidFill>
                  <a:srgbClr val="24DBC5"/>
                </a:solidFill>
                <a:latin typeface="Prompt Light"/>
                <a:ea typeface="Prompt Light"/>
                <a:cs typeface="Prompt Light"/>
                <a:sym typeface="Prompt Light"/>
              </a:rPr>
              <a:t>Engines</a:t>
            </a:r>
            <a:endParaRPr lang="en-US" sz="8000" u="none" strike="noStrike" dirty="0">
              <a:solidFill>
                <a:srgbClr val="24DBC5"/>
              </a:solidFill>
              <a:latin typeface="Prompt Light"/>
              <a:ea typeface="Prompt Light"/>
              <a:cs typeface="Prompt Light"/>
              <a:sym typeface="Prompt Light"/>
            </a:endParaRPr>
          </a:p>
        </p:txBody>
      </p:sp>
      <p:sp>
        <p:nvSpPr>
          <p:cNvPr id="7" name="TextBox 12">
            <a:extLst>
              <a:ext uri="{FF2B5EF4-FFF2-40B4-BE49-F238E27FC236}">
                <a16:creationId xmlns:a16="http://schemas.microsoft.com/office/drawing/2014/main" id="{69E0EC55-3D8E-40A3-98B5-C87A50037FE7}"/>
              </a:ext>
            </a:extLst>
          </p:cNvPr>
          <p:cNvSpPr txBox="1"/>
          <p:nvPr/>
        </p:nvSpPr>
        <p:spPr>
          <a:xfrm>
            <a:off x="13792200" y="8294375"/>
            <a:ext cx="4249844" cy="488595"/>
          </a:xfrm>
          <a:prstGeom prst="rect">
            <a:avLst/>
          </a:prstGeom>
        </p:spPr>
        <p:txBody>
          <a:bodyPr wrap="square" lIns="0" tIns="0" rIns="0" bIns="0" rtlCol="0" anchor="t">
            <a:spAutoFit/>
          </a:bodyPr>
          <a:lstStyle/>
          <a:p>
            <a:pPr marL="0" lvl="0" indent="0" algn="l">
              <a:lnSpc>
                <a:spcPts val="3840"/>
              </a:lnSpc>
              <a:spcBef>
                <a:spcPct val="0"/>
              </a:spcBef>
            </a:pPr>
            <a:r>
              <a:rPr lang="en-US" sz="3200" b="1" dirty="0">
                <a:solidFill>
                  <a:srgbClr val="24DBC5"/>
                </a:solidFill>
                <a:latin typeface="Prompt Bold"/>
                <a:ea typeface="Prompt Bold"/>
                <a:cs typeface="Prompt Bold"/>
                <a:sym typeface="Prompt Bold"/>
              </a:rPr>
              <a:t>UNDER SUPERVISION</a:t>
            </a:r>
          </a:p>
        </p:txBody>
      </p:sp>
      <p:sp>
        <p:nvSpPr>
          <p:cNvPr id="10" name="TextBox 5">
            <a:extLst>
              <a:ext uri="{FF2B5EF4-FFF2-40B4-BE49-F238E27FC236}">
                <a16:creationId xmlns:a16="http://schemas.microsoft.com/office/drawing/2014/main" id="{15DB9DA1-E415-4911-A203-1A541D015CE7}"/>
              </a:ext>
            </a:extLst>
          </p:cNvPr>
          <p:cNvSpPr txBox="1"/>
          <p:nvPr/>
        </p:nvSpPr>
        <p:spPr>
          <a:xfrm>
            <a:off x="13792200" y="8807977"/>
            <a:ext cx="3962400" cy="538609"/>
          </a:xfrm>
          <a:prstGeom prst="rect">
            <a:avLst/>
          </a:prstGeom>
        </p:spPr>
        <p:txBody>
          <a:bodyPr wrap="square" lIns="0" tIns="0" rIns="0" bIns="0" rtlCol="0" anchor="t">
            <a:spAutoFit/>
          </a:bodyPr>
          <a:lstStyle/>
          <a:p>
            <a:pPr marL="0" lvl="0" indent="0" algn="l">
              <a:lnSpc>
                <a:spcPts val="4160"/>
              </a:lnSpc>
              <a:spcBef>
                <a:spcPct val="0"/>
              </a:spcBef>
            </a:pPr>
            <a:r>
              <a:rPr lang="en-US" sz="3200" u="none" dirty="0" err="1">
                <a:solidFill>
                  <a:srgbClr val="E8EEF2"/>
                </a:solidFill>
                <a:latin typeface="Prompt Light"/>
                <a:ea typeface="Prompt Light"/>
                <a:cs typeface="Prompt Light"/>
                <a:sym typeface="Prompt Light"/>
              </a:rPr>
              <a:t>Pr.Mohamed</a:t>
            </a:r>
            <a:r>
              <a:rPr lang="en-US" sz="3200" u="none" dirty="0">
                <a:solidFill>
                  <a:srgbClr val="E8EEF2"/>
                </a:solidFill>
                <a:latin typeface="Prompt Light"/>
                <a:ea typeface="Prompt Light"/>
                <a:cs typeface="Prompt Light"/>
                <a:sym typeface="Prompt Light"/>
              </a:rPr>
              <a:t> </a:t>
            </a:r>
            <a:r>
              <a:rPr lang="en-US" sz="2400" u="none" dirty="0">
                <a:solidFill>
                  <a:srgbClr val="E8EEF2"/>
                </a:solidFill>
                <a:latin typeface="Prompt Light"/>
                <a:ea typeface="Prompt Light"/>
                <a:cs typeface="Prompt Light"/>
                <a:sym typeface="Prompt Light"/>
              </a:rPr>
              <a:t>ben</a:t>
            </a:r>
            <a:r>
              <a:rPr lang="en-US" sz="3200" u="none" dirty="0">
                <a:solidFill>
                  <a:srgbClr val="E8EEF2"/>
                </a:solidFill>
                <a:latin typeface="Prompt Light"/>
                <a:ea typeface="Prompt Light"/>
                <a:cs typeface="Prompt Light"/>
                <a:sym typeface="Prompt Light"/>
              </a:rPr>
              <a:t> </a:t>
            </a:r>
            <a:r>
              <a:rPr lang="en-US" sz="3200" u="none" dirty="0" err="1">
                <a:solidFill>
                  <a:srgbClr val="E8EEF2"/>
                </a:solidFill>
                <a:latin typeface="Prompt Light"/>
                <a:ea typeface="Prompt Light"/>
                <a:cs typeface="Prompt Light"/>
                <a:sym typeface="Prompt Light"/>
              </a:rPr>
              <a:t>ali</a:t>
            </a:r>
            <a:endParaRPr lang="en-US" sz="3200" u="none" dirty="0">
              <a:solidFill>
                <a:srgbClr val="E8EEF2"/>
              </a:solidFill>
              <a:latin typeface="Prompt Light"/>
              <a:ea typeface="Prompt Light"/>
              <a:cs typeface="Prompt Light"/>
              <a:sym typeface="Prompt Light"/>
            </a:endParaRPr>
          </a:p>
        </p:txBody>
      </p:sp>
      <p:sp>
        <p:nvSpPr>
          <p:cNvPr id="13" name="TextBox 12">
            <a:extLst>
              <a:ext uri="{FF2B5EF4-FFF2-40B4-BE49-F238E27FC236}">
                <a16:creationId xmlns:a16="http://schemas.microsoft.com/office/drawing/2014/main" id="{5D2104BC-124E-4760-A3A4-DEE05AE96429}"/>
              </a:ext>
            </a:extLst>
          </p:cNvPr>
          <p:cNvSpPr txBox="1"/>
          <p:nvPr/>
        </p:nvSpPr>
        <p:spPr>
          <a:xfrm>
            <a:off x="1153332" y="8193238"/>
            <a:ext cx="4249844" cy="488595"/>
          </a:xfrm>
          <a:prstGeom prst="rect">
            <a:avLst/>
          </a:prstGeom>
        </p:spPr>
        <p:txBody>
          <a:bodyPr wrap="square" lIns="0" tIns="0" rIns="0" bIns="0" rtlCol="0" anchor="t">
            <a:spAutoFit/>
          </a:bodyPr>
          <a:lstStyle/>
          <a:p>
            <a:pPr marL="0" lvl="0" indent="0" algn="l">
              <a:lnSpc>
                <a:spcPts val="3840"/>
              </a:lnSpc>
              <a:spcBef>
                <a:spcPct val="0"/>
              </a:spcBef>
            </a:pPr>
            <a:r>
              <a:rPr lang="en-US" sz="3200" b="1" dirty="0">
                <a:solidFill>
                  <a:srgbClr val="24DBC5"/>
                </a:solidFill>
                <a:latin typeface="Prompt Bold"/>
                <a:ea typeface="Prompt Bold"/>
                <a:cs typeface="Prompt Bold"/>
                <a:sym typeface="Prompt Bold"/>
              </a:rPr>
              <a:t>MADE BY</a:t>
            </a:r>
          </a:p>
        </p:txBody>
      </p:sp>
      <p:sp>
        <p:nvSpPr>
          <p:cNvPr id="15" name="TextBox 5">
            <a:extLst>
              <a:ext uri="{FF2B5EF4-FFF2-40B4-BE49-F238E27FC236}">
                <a16:creationId xmlns:a16="http://schemas.microsoft.com/office/drawing/2014/main" id="{80502B3F-CE15-40E7-B409-94B55CF571D7}"/>
              </a:ext>
            </a:extLst>
          </p:cNvPr>
          <p:cNvSpPr txBox="1"/>
          <p:nvPr/>
        </p:nvSpPr>
        <p:spPr>
          <a:xfrm>
            <a:off x="1066800" y="8538673"/>
            <a:ext cx="6253162" cy="2154436"/>
          </a:xfrm>
          <a:prstGeom prst="rect">
            <a:avLst/>
          </a:prstGeom>
        </p:spPr>
        <p:txBody>
          <a:bodyPr wrap="square" lIns="0" tIns="0" rIns="0" bIns="0" rtlCol="0" anchor="t">
            <a:spAutoFit/>
          </a:bodyPr>
          <a:lstStyle/>
          <a:p>
            <a:pPr marL="0" lvl="0" indent="0" algn="l">
              <a:lnSpc>
                <a:spcPts val="4160"/>
              </a:lnSpc>
              <a:spcBef>
                <a:spcPct val="0"/>
              </a:spcBef>
            </a:pPr>
            <a:r>
              <a:rPr lang="en-US" sz="2400" u="none" dirty="0" err="1">
                <a:solidFill>
                  <a:srgbClr val="E8EEF2"/>
                </a:solidFill>
                <a:latin typeface="Prompt Light"/>
                <a:ea typeface="Prompt Light"/>
                <a:cs typeface="Prompt Light"/>
                <a:sym typeface="Prompt Light"/>
              </a:rPr>
              <a:t>Ramoul</a:t>
            </a:r>
            <a:r>
              <a:rPr lang="en-US" sz="2400" u="none" dirty="0">
                <a:solidFill>
                  <a:srgbClr val="E8EEF2"/>
                </a:solidFill>
                <a:latin typeface="Prompt Light"/>
                <a:ea typeface="Prompt Light"/>
                <a:cs typeface="Prompt Light"/>
                <a:sym typeface="Prompt Light"/>
              </a:rPr>
              <a:t> </a:t>
            </a:r>
            <a:r>
              <a:rPr lang="en-US" sz="2400" u="none" dirty="0" err="1">
                <a:solidFill>
                  <a:srgbClr val="E8EEF2"/>
                </a:solidFill>
                <a:latin typeface="Prompt Light"/>
                <a:ea typeface="Prompt Light"/>
                <a:cs typeface="Prompt Light"/>
                <a:sym typeface="Prompt Light"/>
              </a:rPr>
              <a:t>Chouaib</a:t>
            </a:r>
            <a:r>
              <a:rPr lang="en-US" sz="2400" u="none" dirty="0">
                <a:solidFill>
                  <a:srgbClr val="E8EEF2"/>
                </a:solidFill>
                <a:latin typeface="Prompt Light"/>
                <a:ea typeface="Prompt Light"/>
                <a:cs typeface="Prompt Light"/>
                <a:sym typeface="Prompt Light"/>
              </a:rPr>
              <a:t> </a:t>
            </a:r>
            <a:r>
              <a:rPr lang="en-US" sz="2400" u="none" dirty="0" err="1">
                <a:solidFill>
                  <a:srgbClr val="E8EEF2"/>
                </a:solidFill>
                <a:latin typeface="Prompt Light"/>
                <a:ea typeface="Prompt Light"/>
                <a:cs typeface="Prompt Light"/>
                <a:sym typeface="Prompt Light"/>
              </a:rPr>
              <a:t>taki</a:t>
            </a:r>
            <a:r>
              <a:rPr lang="en-US" sz="2400" u="none" dirty="0">
                <a:solidFill>
                  <a:srgbClr val="E8EEF2"/>
                </a:solidFill>
                <a:latin typeface="Prompt Light"/>
                <a:ea typeface="Prompt Light"/>
                <a:cs typeface="Prompt Light"/>
                <a:sym typeface="Prompt Light"/>
              </a:rPr>
              <a:t> </a:t>
            </a:r>
            <a:r>
              <a:rPr lang="en-US" sz="2400" u="none" dirty="0" err="1">
                <a:solidFill>
                  <a:srgbClr val="E8EEF2"/>
                </a:solidFill>
                <a:latin typeface="Prompt Light"/>
                <a:ea typeface="Prompt Light"/>
                <a:cs typeface="Prompt Light"/>
                <a:sym typeface="Prompt Light"/>
              </a:rPr>
              <a:t>eddine</a:t>
            </a:r>
            <a:endParaRPr lang="en-US" sz="2400" u="none" dirty="0">
              <a:solidFill>
                <a:srgbClr val="E8EEF2"/>
              </a:solidFill>
              <a:latin typeface="Prompt Light"/>
              <a:ea typeface="Prompt Light"/>
              <a:cs typeface="Prompt Light"/>
              <a:sym typeface="Prompt Light"/>
            </a:endParaRPr>
          </a:p>
          <a:p>
            <a:pPr marL="0" lvl="0" indent="0" algn="l">
              <a:lnSpc>
                <a:spcPts val="4160"/>
              </a:lnSpc>
              <a:spcBef>
                <a:spcPct val="0"/>
              </a:spcBef>
            </a:pPr>
            <a:r>
              <a:rPr lang="en-US" sz="2400" dirty="0" err="1">
                <a:solidFill>
                  <a:srgbClr val="E8EEF2"/>
                </a:solidFill>
                <a:latin typeface="Prompt Light"/>
                <a:ea typeface="Prompt Light"/>
                <a:cs typeface="Prompt Light"/>
                <a:sym typeface="Prompt Light"/>
              </a:rPr>
              <a:t>S</a:t>
            </a:r>
            <a:r>
              <a:rPr lang="en-US" sz="2400" u="none" dirty="0" err="1">
                <a:solidFill>
                  <a:srgbClr val="E8EEF2"/>
                </a:solidFill>
                <a:latin typeface="Prompt Light"/>
                <a:ea typeface="Prompt Light"/>
                <a:cs typeface="Prompt Light"/>
                <a:sym typeface="Prompt Light"/>
              </a:rPr>
              <a:t>lougha</a:t>
            </a:r>
            <a:r>
              <a:rPr lang="en-US" sz="2400" u="none" dirty="0">
                <a:solidFill>
                  <a:srgbClr val="E8EEF2"/>
                </a:solidFill>
                <a:latin typeface="Prompt Light"/>
                <a:ea typeface="Prompt Light"/>
                <a:cs typeface="Prompt Light"/>
                <a:sym typeface="Prompt Light"/>
              </a:rPr>
              <a:t> Mohamed </a:t>
            </a:r>
            <a:r>
              <a:rPr lang="en-US" sz="2400" u="none" dirty="0" err="1">
                <a:solidFill>
                  <a:srgbClr val="E8EEF2"/>
                </a:solidFill>
                <a:latin typeface="Prompt Light"/>
                <a:ea typeface="Prompt Light"/>
                <a:cs typeface="Prompt Light"/>
                <a:sym typeface="Prompt Light"/>
              </a:rPr>
              <a:t>achraf</a:t>
            </a:r>
            <a:endParaRPr lang="en-US" sz="2400" u="none" dirty="0">
              <a:solidFill>
                <a:srgbClr val="E8EEF2"/>
              </a:solidFill>
              <a:latin typeface="Prompt Light"/>
              <a:ea typeface="Prompt Light"/>
              <a:cs typeface="Prompt Light"/>
              <a:sym typeface="Prompt Light"/>
            </a:endParaRPr>
          </a:p>
          <a:p>
            <a:pPr marL="0" lvl="0" indent="0" algn="l">
              <a:lnSpc>
                <a:spcPts val="4160"/>
              </a:lnSpc>
              <a:spcBef>
                <a:spcPct val="0"/>
              </a:spcBef>
            </a:pPr>
            <a:r>
              <a:rPr lang="en-US" sz="2400" dirty="0" err="1">
                <a:solidFill>
                  <a:srgbClr val="E8EEF2"/>
                </a:solidFill>
                <a:latin typeface="Prompt Light"/>
                <a:ea typeface="Prompt Light"/>
                <a:cs typeface="Prompt Light"/>
                <a:sym typeface="Prompt Light"/>
              </a:rPr>
              <a:t>Benamrane</a:t>
            </a:r>
            <a:r>
              <a:rPr lang="en-US" sz="2400" dirty="0">
                <a:solidFill>
                  <a:srgbClr val="E8EEF2"/>
                </a:solidFill>
                <a:latin typeface="Prompt Light"/>
                <a:ea typeface="Prompt Light"/>
                <a:cs typeface="Prompt Light"/>
                <a:sym typeface="Prompt Light"/>
              </a:rPr>
              <a:t> Mohamed </a:t>
            </a:r>
            <a:r>
              <a:rPr lang="en-US" sz="2400" dirty="0" err="1">
                <a:solidFill>
                  <a:srgbClr val="E8EEF2"/>
                </a:solidFill>
                <a:latin typeface="Prompt Light"/>
                <a:ea typeface="Prompt Light"/>
                <a:cs typeface="Prompt Light"/>
                <a:sym typeface="Prompt Light"/>
              </a:rPr>
              <a:t>achraf</a:t>
            </a:r>
            <a:r>
              <a:rPr lang="en-US" sz="2400" u="none" dirty="0">
                <a:solidFill>
                  <a:srgbClr val="E8EEF2"/>
                </a:solidFill>
                <a:latin typeface="Prompt Light"/>
                <a:ea typeface="Prompt Light"/>
                <a:cs typeface="Prompt Light"/>
                <a:sym typeface="Prompt Light"/>
              </a:rPr>
              <a:t> </a:t>
            </a:r>
          </a:p>
          <a:p>
            <a:pPr marL="0" lvl="0" indent="0" algn="l">
              <a:lnSpc>
                <a:spcPts val="4160"/>
              </a:lnSpc>
              <a:spcBef>
                <a:spcPct val="0"/>
              </a:spcBef>
            </a:pPr>
            <a:endParaRPr lang="en-US" sz="3200" u="none" dirty="0">
              <a:solidFill>
                <a:srgbClr val="E8EEF2"/>
              </a:solidFill>
              <a:latin typeface="Prompt Light"/>
              <a:ea typeface="Prompt Light"/>
              <a:cs typeface="Prompt Light"/>
              <a:sym typeface="Prompt Light"/>
            </a:endParaRPr>
          </a:p>
        </p:txBody>
      </p:sp>
      <p:pic>
        <p:nvPicPr>
          <p:cNvPr id="3" name="Picture 2">
            <a:extLst>
              <a:ext uri="{FF2B5EF4-FFF2-40B4-BE49-F238E27FC236}">
                <a16:creationId xmlns:a16="http://schemas.microsoft.com/office/drawing/2014/main" id="{D8F71F5F-89D6-43C0-ABA6-F874BDDF75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1237" y="2665278"/>
            <a:ext cx="5038725" cy="4267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91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grpSp>
        <p:nvGrpSpPr>
          <p:cNvPr id="4" name="Group 4"/>
          <p:cNvGrpSpPr/>
          <p:nvPr/>
        </p:nvGrpSpPr>
        <p:grpSpPr>
          <a:xfrm>
            <a:off x="7852402" y="1241169"/>
            <a:ext cx="5206035" cy="2999897"/>
            <a:chOff x="0" y="0"/>
            <a:chExt cx="6941380" cy="3999863"/>
          </a:xfrm>
        </p:grpSpPr>
        <p:sp>
          <p:nvSpPr>
            <p:cNvPr id="5" name="AutoShape 5"/>
            <p:cNvSpPr/>
            <p:nvPr/>
          </p:nvSpPr>
          <p:spPr>
            <a:xfrm>
              <a:off x="0" y="0"/>
              <a:ext cx="6941380" cy="3999863"/>
            </a:xfrm>
            <a:prstGeom prst="rect">
              <a:avLst/>
            </a:prstGeom>
            <a:solidFill>
              <a:srgbClr val="0A0910"/>
            </a:solidFill>
          </p:spPr>
        </p:sp>
      </p:grpSp>
      <p:grpSp>
        <p:nvGrpSpPr>
          <p:cNvPr id="6" name="Group 6"/>
          <p:cNvGrpSpPr/>
          <p:nvPr/>
        </p:nvGrpSpPr>
        <p:grpSpPr>
          <a:xfrm>
            <a:off x="7852402" y="4264136"/>
            <a:ext cx="5206035" cy="2999897"/>
            <a:chOff x="0" y="0"/>
            <a:chExt cx="6941380" cy="3999863"/>
          </a:xfrm>
        </p:grpSpPr>
        <p:sp>
          <p:nvSpPr>
            <p:cNvPr id="7" name="AutoShape 7"/>
            <p:cNvSpPr/>
            <p:nvPr/>
          </p:nvSpPr>
          <p:spPr>
            <a:xfrm>
              <a:off x="0" y="0"/>
              <a:ext cx="6941380" cy="3999863"/>
            </a:xfrm>
            <a:prstGeom prst="rect">
              <a:avLst/>
            </a:prstGeom>
            <a:solidFill>
              <a:srgbClr val="0A0910"/>
            </a:solidFill>
          </p:spPr>
        </p:sp>
      </p:grpSp>
      <p:grpSp>
        <p:nvGrpSpPr>
          <p:cNvPr id="8" name="Group 8"/>
          <p:cNvGrpSpPr/>
          <p:nvPr/>
        </p:nvGrpSpPr>
        <p:grpSpPr>
          <a:xfrm>
            <a:off x="7852402" y="7287103"/>
            <a:ext cx="5206035" cy="2999897"/>
            <a:chOff x="0" y="0"/>
            <a:chExt cx="6941380" cy="3999863"/>
          </a:xfrm>
        </p:grpSpPr>
        <p:sp>
          <p:nvSpPr>
            <p:cNvPr id="9" name="AutoShape 9"/>
            <p:cNvSpPr/>
            <p:nvPr/>
          </p:nvSpPr>
          <p:spPr>
            <a:xfrm>
              <a:off x="0" y="0"/>
              <a:ext cx="6941380" cy="3999863"/>
            </a:xfrm>
            <a:prstGeom prst="rect">
              <a:avLst/>
            </a:prstGeom>
            <a:solidFill>
              <a:srgbClr val="0A0910"/>
            </a:solidFill>
          </p:spPr>
        </p:sp>
      </p:grpSp>
      <p:sp>
        <p:nvSpPr>
          <p:cNvPr id="10" name="TextBox 10"/>
          <p:cNvSpPr txBox="1"/>
          <p:nvPr/>
        </p:nvSpPr>
        <p:spPr>
          <a:xfrm>
            <a:off x="13507304" y="4533900"/>
            <a:ext cx="3480698" cy="485775"/>
          </a:xfrm>
          <a:prstGeom prst="rect">
            <a:avLst/>
          </a:prstGeom>
        </p:spPr>
        <p:txBody>
          <a:bodyPr lIns="0" tIns="0" rIns="0" bIns="0" rtlCol="0" anchor="t">
            <a:spAutoFit/>
          </a:bodyPr>
          <a:lstStyle/>
          <a:p>
            <a:pPr marL="0" lvl="0" indent="0" algn="l">
              <a:lnSpc>
                <a:spcPts val="3840"/>
              </a:lnSpc>
              <a:spcBef>
                <a:spcPct val="0"/>
              </a:spcBef>
            </a:pPr>
            <a:r>
              <a:rPr lang="en-US" sz="3200" b="1" dirty="0">
                <a:solidFill>
                  <a:srgbClr val="24DBC5"/>
                </a:solidFill>
                <a:latin typeface="Prompt Bold"/>
                <a:ea typeface="Prompt Bold"/>
                <a:cs typeface="Prompt Bold"/>
                <a:sym typeface="Prompt Bold"/>
              </a:rPr>
              <a:t>OBJECTIVES</a:t>
            </a:r>
          </a:p>
        </p:txBody>
      </p:sp>
      <p:sp>
        <p:nvSpPr>
          <p:cNvPr id="11" name="TextBox 11"/>
          <p:cNvSpPr txBox="1"/>
          <p:nvPr/>
        </p:nvSpPr>
        <p:spPr>
          <a:xfrm>
            <a:off x="13507304" y="5219700"/>
            <a:ext cx="4780696" cy="1291379"/>
          </a:xfrm>
          <a:prstGeom prst="rect">
            <a:avLst/>
          </a:prstGeom>
        </p:spPr>
        <p:txBody>
          <a:bodyPr wrap="square" lIns="0" tIns="0" rIns="0" bIns="0" rtlCol="0" anchor="t">
            <a:spAutoFit/>
          </a:bodyPr>
          <a:lstStyle/>
          <a:p>
            <a:pPr marL="0" lvl="0" indent="0" algn="l">
              <a:lnSpc>
                <a:spcPts val="3359"/>
              </a:lnSpc>
              <a:spcBef>
                <a:spcPct val="0"/>
              </a:spcBef>
            </a:pPr>
            <a:r>
              <a:rPr lang="en-US" sz="2400" dirty="0">
                <a:solidFill>
                  <a:schemeClr val="bg1"/>
                </a:solidFill>
                <a:latin typeface="Prompt Light" panose="00000400000000000000" pitchFamily="2" charset="-34"/>
                <a:cs typeface="Prompt Light" panose="00000400000000000000" pitchFamily="2" charset="-34"/>
              </a:rPr>
              <a:t>Goals of understanding query processing, ranking, and relevance</a:t>
            </a:r>
            <a:endParaRPr lang="en-US" sz="2400" dirty="0">
              <a:solidFill>
                <a:schemeClr val="bg1"/>
              </a:solidFill>
              <a:latin typeface="Prompt Light" panose="00000400000000000000" pitchFamily="2" charset="-34"/>
              <a:ea typeface="Prompt Light"/>
              <a:cs typeface="Prompt Light" panose="00000400000000000000" pitchFamily="2" charset="-34"/>
              <a:sym typeface="Prompt Light"/>
            </a:endParaRPr>
          </a:p>
        </p:txBody>
      </p:sp>
      <p:sp>
        <p:nvSpPr>
          <p:cNvPr id="12" name="TextBox 12"/>
          <p:cNvSpPr txBox="1"/>
          <p:nvPr/>
        </p:nvSpPr>
        <p:spPr>
          <a:xfrm>
            <a:off x="13507304" y="1609725"/>
            <a:ext cx="3306074" cy="975908"/>
          </a:xfrm>
          <a:prstGeom prst="rect">
            <a:avLst/>
          </a:prstGeom>
        </p:spPr>
        <p:txBody>
          <a:bodyPr lIns="0" tIns="0" rIns="0" bIns="0" rtlCol="0" anchor="t">
            <a:spAutoFit/>
          </a:bodyPr>
          <a:lstStyle/>
          <a:p>
            <a:pPr marL="0" lvl="0" indent="0" algn="l">
              <a:lnSpc>
                <a:spcPts val="3840"/>
              </a:lnSpc>
              <a:spcBef>
                <a:spcPct val="0"/>
              </a:spcBef>
            </a:pPr>
            <a:r>
              <a:rPr lang="en-US" sz="3200" b="1" dirty="0">
                <a:solidFill>
                  <a:srgbClr val="24DBC5"/>
                </a:solidFill>
                <a:latin typeface="Prompt Bold"/>
                <a:ea typeface="Prompt Bold"/>
                <a:cs typeface="Prompt Bold"/>
                <a:sym typeface="Prompt Bold"/>
              </a:rPr>
              <a:t>INTRODUCTION</a:t>
            </a:r>
          </a:p>
          <a:p>
            <a:pPr marL="0" lvl="0" indent="0" algn="l">
              <a:lnSpc>
                <a:spcPts val="3840"/>
              </a:lnSpc>
              <a:spcBef>
                <a:spcPct val="0"/>
              </a:spcBef>
            </a:pPr>
            <a:endParaRPr lang="en-US" sz="3200" b="1" dirty="0">
              <a:solidFill>
                <a:srgbClr val="24DBC5"/>
              </a:solidFill>
              <a:latin typeface="Prompt Bold"/>
              <a:ea typeface="Prompt Bold"/>
              <a:cs typeface="Prompt Bold"/>
              <a:sym typeface="Prompt Bold"/>
            </a:endParaRPr>
          </a:p>
        </p:txBody>
      </p:sp>
      <p:sp>
        <p:nvSpPr>
          <p:cNvPr id="13" name="TextBox 13"/>
          <p:cNvSpPr txBox="1"/>
          <p:nvPr/>
        </p:nvSpPr>
        <p:spPr>
          <a:xfrm>
            <a:off x="13507304" y="2247900"/>
            <a:ext cx="4780696" cy="855362"/>
          </a:xfrm>
          <a:prstGeom prst="rect">
            <a:avLst/>
          </a:prstGeom>
        </p:spPr>
        <p:txBody>
          <a:bodyPr wrap="square" lIns="0" tIns="0" rIns="0" bIns="0" rtlCol="0" anchor="t">
            <a:spAutoFit/>
          </a:bodyPr>
          <a:lstStyle/>
          <a:p>
            <a:pPr marL="0" lvl="0" indent="0" algn="l">
              <a:lnSpc>
                <a:spcPts val="3359"/>
              </a:lnSpc>
              <a:spcBef>
                <a:spcPct val="0"/>
              </a:spcBef>
            </a:pPr>
            <a:r>
              <a:rPr lang="en-US" sz="2400" dirty="0">
                <a:solidFill>
                  <a:schemeClr val="bg1"/>
                </a:solidFill>
                <a:latin typeface="Prompt Light" panose="00000400000000000000" pitchFamily="2" charset="-34"/>
                <a:cs typeface="Prompt Light" panose="00000400000000000000" pitchFamily="2" charset="-34"/>
              </a:rPr>
              <a:t>What is a search engine and why is it important?</a:t>
            </a:r>
            <a:endParaRPr lang="en-US" sz="2400" dirty="0">
              <a:solidFill>
                <a:schemeClr val="bg1"/>
              </a:solidFill>
              <a:latin typeface="Prompt Light" panose="00000400000000000000" pitchFamily="2" charset="-34"/>
              <a:ea typeface="Prompt Light"/>
              <a:cs typeface="Prompt Light" panose="00000400000000000000" pitchFamily="2" charset="-34"/>
              <a:sym typeface="Prompt Light"/>
            </a:endParaRPr>
          </a:p>
        </p:txBody>
      </p:sp>
      <p:sp>
        <p:nvSpPr>
          <p:cNvPr id="14" name="TextBox 14"/>
          <p:cNvSpPr txBox="1"/>
          <p:nvPr/>
        </p:nvSpPr>
        <p:spPr>
          <a:xfrm>
            <a:off x="13507304" y="7734300"/>
            <a:ext cx="4115549" cy="485775"/>
          </a:xfrm>
          <a:prstGeom prst="rect">
            <a:avLst/>
          </a:prstGeom>
        </p:spPr>
        <p:txBody>
          <a:bodyPr lIns="0" tIns="0" rIns="0" bIns="0" rtlCol="0" anchor="t">
            <a:spAutoFit/>
          </a:bodyPr>
          <a:lstStyle/>
          <a:p>
            <a:pPr marL="0" lvl="0" indent="0" algn="l">
              <a:lnSpc>
                <a:spcPts val="3840"/>
              </a:lnSpc>
              <a:spcBef>
                <a:spcPct val="0"/>
              </a:spcBef>
            </a:pPr>
            <a:r>
              <a:rPr lang="en-US" sz="3200" b="1" dirty="0">
                <a:solidFill>
                  <a:srgbClr val="24DBC5"/>
                </a:solidFill>
                <a:latin typeface="Prompt Bold"/>
                <a:ea typeface="Prompt Bold"/>
                <a:cs typeface="Prompt Bold"/>
                <a:sym typeface="Prompt Bold"/>
              </a:rPr>
              <a:t>CONCLUSIONS</a:t>
            </a:r>
          </a:p>
        </p:txBody>
      </p:sp>
      <p:sp>
        <p:nvSpPr>
          <p:cNvPr id="15" name="TextBox 15"/>
          <p:cNvSpPr txBox="1"/>
          <p:nvPr/>
        </p:nvSpPr>
        <p:spPr>
          <a:xfrm>
            <a:off x="13507304" y="8267700"/>
            <a:ext cx="4805130" cy="1291379"/>
          </a:xfrm>
          <a:prstGeom prst="rect">
            <a:avLst/>
          </a:prstGeom>
        </p:spPr>
        <p:txBody>
          <a:bodyPr wrap="square" lIns="0" tIns="0" rIns="0" bIns="0" rtlCol="0" anchor="t">
            <a:spAutoFit/>
          </a:bodyPr>
          <a:lstStyle/>
          <a:p>
            <a:pPr marL="0" lvl="0" indent="0" algn="l">
              <a:lnSpc>
                <a:spcPts val="3359"/>
              </a:lnSpc>
              <a:spcBef>
                <a:spcPct val="0"/>
              </a:spcBef>
            </a:pPr>
            <a:r>
              <a:rPr lang="en-US" sz="2400" dirty="0">
                <a:solidFill>
                  <a:schemeClr val="bg1"/>
                </a:solidFill>
                <a:latin typeface="Prompt Light" panose="00000400000000000000" pitchFamily="2" charset="-34"/>
                <a:cs typeface="Prompt Light" panose="00000400000000000000" pitchFamily="2" charset="-34"/>
              </a:rPr>
              <a:t>Summary of how search engines turn queries into useful results</a:t>
            </a:r>
            <a:endParaRPr lang="en-US" sz="2400" dirty="0">
              <a:solidFill>
                <a:schemeClr val="bg1"/>
              </a:solidFill>
              <a:latin typeface="Prompt Light" panose="00000400000000000000" pitchFamily="2" charset="-34"/>
              <a:ea typeface="Prompt Light"/>
              <a:cs typeface="Prompt Light" panose="00000400000000000000" pitchFamily="2" charset="-34"/>
              <a:sym typeface="Prompt Light"/>
            </a:endParaRPr>
          </a:p>
        </p:txBody>
      </p:sp>
      <p:sp>
        <p:nvSpPr>
          <p:cNvPr id="16" name="TextBox 16"/>
          <p:cNvSpPr txBox="1"/>
          <p:nvPr/>
        </p:nvSpPr>
        <p:spPr>
          <a:xfrm>
            <a:off x="1147417" y="1241169"/>
            <a:ext cx="4868730" cy="1219200"/>
          </a:xfrm>
          <a:prstGeom prst="rect">
            <a:avLst/>
          </a:prstGeom>
        </p:spPr>
        <p:txBody>
          <a:bodyPr lIns="0" tIns="0" rIns="0" bIns="0" rtlCol="0" anchor="t">
            <a:spAutoFit/>
          </a:bodyPr>
          <a:lstStyle/>
          <a:p>
            <a:pPr marL="0" lvl="0" indent="0" algn="l">
              <a:lnSpc>
                <a:spcPts val="9600"/>
              </a:lnSpc>
              <a:spcBef>
                <a:spcPct val="0"/>
              </a:spcBef>
            </a:pPr>
            <a:r>
              <a:rPr lang="en-US" sz="8000" spc="-336">
                <a:solidFill>
                  <a:srgbClr val="E8EEF2"/>
                </a:solidFill>
                <a:latin typeface="Prompt Light"/>
                <a:ea typeface="Prompt Light"/>
                <a:cs typeface="Prompt Light"/>
                <a:sym typeface="Prompt Light"/>
              </a:rPr>
              <a:t>TABLE OF </a:t>
            </a:r>
          </a:p>
        </p:txBody>
      </p:sp>
      <p:sp>
        <p:nvSpPr>
          <p:cNvPr id="17" name="TextBox 17"/>
          <p:cNvSpPr txBox="1"/>
          <p:nvPr/>
        </p:nvSpPr>
        <p:spPr>
          <a:xfrm>
            <a:off x="1147417" y="2584194"/>
            <a:ext cx="5848460" cy="1219200"/>
          </a:xfrm>
          <a:prstGeom prst="rect">
            <a:avLst/>
          </a:prstGeom>
        </p:spPr>
        <p:txBody>
          <a:bodyPr lIns="0" tIns="0" rIns="0" bIns="0" rtlCol="0" anchor="t">
            <a:spAutoFit/>
          </a:bodyPr>
          <a:lstStyle/>
          <a:p>
            <a:pPr marL="0" lvl="0" indent="0" algn="l">
              <a:lnSpc>
                <a:spcPts val="9600"/>
              </a:lnSpc>
              <a:spcBef>
                <a:spcPct val="0"/>
              </a:spcBef>
            </a:pPr>
            <a:r>
              <a:rPr lang="en-US" sz="8000" b="1" spc="-336">
                <a:solidFill>
                  <a:srgbClr val="24DBC5"/>
                </a:solidFill>
                <a:latin typeface="Prompt Bold"/>
                <a:ea typeface="Prompt Bold"/>
                <a:cs typeface="Prompt Bold"/>
                <a:sym typeface="Prompt Bold"/>
              </a:rPr>
              <a:t>CONTENTS</a:t>
            </a:r>
          </a:p>
        </p:txBody>
      </p:sp>
      <p:sp>
        <p:nvSpPr>
          <p:cNvPr id="18" name="TextBox 18"/>
          <p:cNvSpPr txBox="1"/>
          <p:nvPr/>
        </p:nvSpPr>
        <p:spPr>
          <a:xfrm>
            <a:off x="10847782" y="1350551"/>
            <a:ext cx="1996608" cy="1219200"/>
          </a:xfrm>
          <a:prstGeom prst="rect">
            <a:avLst/>
          </a:prstGeom>
        </p:spPr>
        <p:txBody>
          <a:bodyPr lIns="0" tIns="0" rIns="0" bIns="0" rtlCol="0" anchor="t">
            <a:spAutoFit/>
          </a:bodyPr>
          <a:lstStyle/>
          <a:p>
            <a:pPr marL="0" lvl="0" indent="0" algn="r">
              <a:lnSpc>
                <a:spcPts val="9600"/>
              </a:lnSpc>
              <a:spcBef>
                <a:spcPct val="0"/>
              </a:spcBef>
            </a:pPr>
            <a:r>
              <a:rPr lang="en-US" sz="8000" spc="-336">
                <a:solidFill>
                  <a:srgbClr val="E8EEF2"/>
                </a:solidFill>
                <a:latin typeface="Prompt Light"/>
                <a:ea typeface="Prompt Light"/>
                <a:cs typeface="Prompt Light"/>
                <a:sym typeface="Prompt Light"/>
              </a:rPr>
              <a:t>01</a:t>
            </a:r>
          </a:p>
        </p:txBody>
      </p:sp>
      <p:sp>
        <p:nvSpPr>
          <p:cNvPr id="19" name="TextBox 19"/>
          <p:cNvSpPr txBox="1"/>
          <p:nvPr/>
        </p:nvSpPr>
        <p:spPr>
          <a:xfrm>
            <a:off x="10847782" y="4347540"/>
            <a:ext cx="1996608" cy="1219200"/>
          </a:xfrm>
          <a:prstGeom prst="rect">
            <a:avLst/>
          </a:prstGeom>
        </p:spPr>
        <p:txBody>
          <a:bodyPr lIns="0" tIns="0" rIns="0" bIns="0" rtlCol="0" anchor="t">
            <a:spAutoFit/>
          </a:bodyPr>
          <a:lstStyle/>
          <a:p>
            <a:pPr marL="0" lvl="0" indent="0" algn="r">
              <a:lnSpc>
                <a:spcPts val="9600"/>
              </a:lnSpc>
              <a:spcBef>
                <a:spcPct val="0"/>
              </a:spcBef>
            </a:pPr>
            <a:r>
              <a:rPr lang="en-US" sz="8000" spc="-336">
                <a:solidFill>
                  <a:srgbClr val="E8EEF2"/>
                </a:solidFill>
                <a:latin typeface="Prompt Light"/>
                <a:ea typeface="Prompt Light"/>
                <a:cs typeface="Prompt Light"/>
                <a:sym typeface="Prompt Light"/>
              </a:rPr>
              <a:t>02</a:t>
            </a:r>
          </a:p>
        </p:txBody>
      </p:sp>
      <p:sp>
        <p:nvSpPr>
          <p:cNvPr id="20" name="TextBox 20"/>
          <p:cNvSpPr txBox="1"/>
          <p:nvPr/>
        </p:nvSpPr>
        <p:spPr>
          <a:xfrm>
            <a:off x="10847782" y="7373415"/>
            <a:ext cx="1996608" cy="1219200"/>
          </a:xfrm>
          <a:prstGeom prst="rect">
            <a:avLst/>
          </a:prstGeom>
        </p:spPr>
        <p:txBody>
          <a:bodyPr lIns="0" tIns="0" rIns="0" bIns="0" rtlCol="0" anchor="t">
            <a:spAutoFit/>
          </a:bodyPr>
          <a:lstStyle/>
          <a:p>
            <a:pPr marL="0" lvl="0" indent="0" algn="r">
              <a:lnSpc>
                <a:spcPts val="9600"/>
              </a:lnSpc>
              <a:spcBef>
                <a:spcPct val="0"/>
              </a:spcBef>
            </a:pPr>
            <a:r>
              <a:rPr lang="en-US" sz="8000" spc="-336">
                <a:solidFill>
                  <a:srgbClr val="E8EEF2"/>
                </a:solidFill>
                <a:latin typeface="Prompt Light"/>
                <a:ea typeface="Prompt Light"/>
                <a:cs typeface="Prompt Light"/>
                <a:sym typeface="Prompt Light"/>
              </a:rPr>
              <a:t>03</a:t>
            </a:r>
          </a:p>
        </p:txBody>
      </p:sp>
      <p:sp>
        <p:nvSpPr>
          <p:cNvPr id="21" name="AutoShape 21"/>
          <p:cNvSpPr/>
          <p:nvPr/>
        </p:nvSpPr>
        <p:spPr>
          <a:xfrm>
            <a:off x="6995878" y="1960151"/>
            <a:ext cx="4278535" cy="0"/>
          </a:xfrm>
          <a:prstGeom prst="line">
            <a:avLst/>
          </a:prstGeom>
          <a:ln w="38100" cap="flat">
            <a:solidFill>
              <a:srgbClr val="E8EEF2"/>
            </a:solidFill>
            <a:prstDash val="solid"/>
            <a:headEnd type="none" w="sm" len="sm"/>
            <a:tailEnd type="none" w="sm" len="sm"/>
          </a:ln>
        </p:spPr>
      </p:sp>
      <p:sp>
        <p:nvSpPr>
          <p:cNvPr id="22" name="AutoShape 22"/>
          <p:cNvSpPr/>
          <p:nvPr/>
        </p:nvSpPr>
        <p:spPr>
          <a:xfrm>
            <a:off x="7073412" y="4990633"/>
            <a:ext cx="4201001" cy="0"/>
          </a:xfrm>
          <a:prstGeom prst="line">
            <a:avLst/>
          </a:prstGeom>
          <a:ln w="38100" cap="flat">
            <a:solidFill>
              <a:srgbClr val="E8EEF2"/>
            </a:solidFill>
            <a:prstDash val="solid"/>
            <a:headEnd type="none" w="sm" len="sm"/>
            <a:tailEnd type="none" w="sm" len="sm"/>
          </a:ln>
        </p:spPr>
      </p:sp>
      <p:sp>
        <p:nvSpPr>
          <p:cNvPr id="23" name="AutoShape 23"/>
          <p:cNvSpPr/>
          <p:nvPr/>
        </p:nvSpPr>
        <p:spPr>
          <a:xfrm flipV="1">
            <a:off x="7022129" y="7963965"/>
            <a:ext cx="4252284" cy="0"/>
          </a:xfrm>
          <a:prstGeom prst="line">
            <a:avLst/>
          </a:prstGeom>
          <a:ln w="38100" cap="flat">
            <a:solidFill>
              <a:srgbClr val="E8EEF2"/>
            </a:solidFill>
            <a:prstDash val="solid"/>
            <a:headEnd type="none" w="sm" len="sm"/>
            <a:tailEnd type="none" w="sm" len="sm"/>
          </a:ln>
        </p:spPr>
      </p:sp>
      <p:sp>
        <p:nvSpPr>
          <p:cNvPr id="24" name="Freeform 24"/>
          <p:cNvSpPr/>
          <p:nvPr/>
        </p:nvSpPr>
        <p:spPr>
          <a:xfrm>
            <a:off x="-1146267" y="5009683"/>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stretch>
              <a:fillRect/>
            </a:stretch>
          </a:blipFill>
        </p:spPr>
      </p:sp>
      <p:sp>
        <p:nvSpPr>
          <p:cNvPr id="25" name="Freeform 25"/>
          <p:cNvSpPr/>
          <p:nvPr/>
        </p:nvSpPr>
        <p:spPr>
          <a:xfrm>
            <a:off x="-4291415" y="5009683"/>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alphaModFix amt="50000"/>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EEF2"/>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sp>
        <p:nvSpPr>
          <p:cNvPr id="4" name="TextBox 4"/>
          <p:cNvSpPr txBox="1"/>
          <p:nvPr/>
        </p:nvSpPr>
        <p:spPr>
          <a:xfrm>
            <a:off x="1644086" y="7260590"/>
            <a:ext cx="11337950" cy="1219200"/>
          </a:xfrm>
          <a:prstGeom prst="rect">
            <a:avLst/>
          </a:prstGeom>
        </p:spPr>
        <p:txBody>
          <a:bodyPr lIns="0" tIns="0" rIns="0" bIns="0" rtlCol="0" anchor="t">
            <a:spAutoFit/>
          </a:bodyPr>
          <a:lstStyle/>
          <a:p>
            <a:pPr marL="0" lvl="0" indent="0" algn="l">
              <a:lnSpc>
                <a:spcPts val="9600"/>
              </a:lnSpc>
              <a:spcBef>
                <a:spcPct val="0"/>
              </a:spcBef>
            </a:pPr>
            <a:r>
              <a:rPr lang="en-US" sz="8000" b="1" dirty="0">
                <a:solidFill>
                  <a:srgbClr val="24DBC5"/>
                </a:solidFill>
                <a:latin typeface="Prompt Bold"/>
                <a:ea typeface="Prompt Bold"/>
                <a:cs typeface="Prompt Bold"/>
                <a:sym typeface="Prompt Bold"/>
              </a:rPr>
              <a:t>INTRODUCTION</a:t>
            </a:r>
          </a:p>
        </p:txBody>
      </p:sp>
      <p:sp>
        <p:nvSpPr>
          <p:cNvPr id="5" name="TextBox 5"/>
          <p:cNvSpPr txBox="1"/>
          <p:nvPr/>
        </p:nvSpPr>
        <p:spPr>
          <a:xfrm>
            <a:off x="1644086" y="8746490"/>
            <a:ext cx="8176428" cy="538609"/>
          </a:xfrm>
          <a:prstGeom prst="rect">
            <a:avLst/>
          </a:prstGeom>
        </p:spPr>
        <p:txBody>
          <a:bodyPr lIns="0" tIns="0" rIns="0" bIns="0" rtlCol="0" anchor="t">
            <a:spAutoFit/>
          </a:bodyPr>
          <a:lstStyle/>
          <a:p>
            <a:pPr marL="0" lvl="0" indent="0" algn="l">
              <a:lnSpc>
                <a:spcPts val="4160"/>
              </a:lnSpc>
              <a:spcBef>
                <a:spcPct val="0"/>
              </a:spcBef>
            </a:pPr>
            <a:r>
              <a:rPr lang="en-US" sz="3200" u="none" dirty="0">
                <a:solidFill>
                  <a:srgbClr val="E8EEF2"/>
                </a:solidFill>
                <a:latin typeface="Prompt Light"/>
                <a:ea typeface="Prompt Light"/>
                <a:cs typeface="Prompt Light"/>
                <a:sym typeface="Prompt Light"/>
              </a:rPr>
              <a:t>What is </a:t>
            </a:r>
            <a:r>
              <a:rPr lang="en-US" sz="3200" dirty="0">
                <a:solidFill>
                  <a:schemeClr val="bg1"/>
                </a:solidFill>
                <a:latin typeface="Prompt Light" panose="00000400000000000000" pitchFamily="2" charset="-34"/>
                <a:cs typeface="Prompt Light" panose="00000400000000000000" pitchFamily="2" charset="-34"/>
              </a:rPr>
              <a:t>a search engine </a:t>
            </a:r>
            <a:r>
              <a:rPr lang="en-US" sz="3200" u="none" dirty="0">
                <a:solidFill>
                  <a:srgbClr val="E8EEF2"/>
                </a:solidFill>
                <a:latin typeface="Prompt Light"/>
                <a:ea typeface="Prompt Light"/>
                <a:cs typeface="Prompt Light"/>
                <a:sym typeface="Prompt Light"/>
              </a:rPr>
              <a:t>?</a:t>
            </a:r>
          </a:p>
        </p:txBody>
      </p:sp>
      <p:sp>
        <p:nvSpPr>
          <p:cNvPr id="6" name="AutoShape 6"/>
          <p:cNvSpPr/>
          <p:nvPr/>
        </p:nvSpPr>
        <p:spPr>
          <a:xfrm flipV="1">
            <a:off x="1009650" y="5521057"/>
            <a:ext cx="0" cy="3737243"/>
          </a:xfrm>
          <a:prstGeom prst="line">
            <a:avLst/>
          </a:prstGeom>
          <a:ln w="38100" cap="flat">
            <a:solidFill>
              <a:srgbClr val="E8EEF2"/>
            </a:solidFill>
            <a:prstDash val="solid"/>
            <a:headEnd type="none" w="sm" len="sm"/>
            <a:tailEnd type="none" w="sm" len="sm"/>
          </a:ln>
        </p:spPr>
      </p:sp>
      <p:sp>
        <p:nvSpPr>
          <p:cNvPr id="7" name="TextBox 7"/>
          <p:cNvSpPr txBox="1"/>
          <p:nvPr/>
        </p:nvSpPr>
        <p:spPr>
          <a:xfrm>
            <a:off x="1644086" y="3706760"/>
            <a:ext cx="3364115" cy="3682918"/>
          </a:xfrm>
          <a:prstGeom prst="rect">
            <a:avLst/>
          </a:prstGeom>
        </p:spPr>
        <p:txBody>
          <a:bodyPr lIns="0" tIns="0" rIns="0" bIns="0" rtlCol="0" anchor="t">
            <a:spAutoFit/>
          </a:bodyPr>
          <a:lstStyle/>
          <a:p>
            <a:pPr marL="0" lvl="0" indent="0" algn="l">
              <a:lnSpc>
                <a:spcPts val="28999"/>
              </a:lnSpc>
              <a:spcBef>
                <a:spcPct val="0"/>
              </a:spcBef>
            </a:pPr>
            <a:r>
              <a:rPr lang="en-US" sz="24166" spc="-1014">
                <a:solidFill>
                  <a:srgbClr val="E8EEF2"/>
                </a:solidFill>
                <a:latin typeface="Prompt Light"/>
                <a:ea typeface="Prompt Light"/>
                <a:cs typeface="Prompt Light"/>
                <a:sym typeface="Prompt Light"/>
              </a:rPr>
              <a:t>01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EEF2"/>
        </a:solidFill>
        <a:effectLst/>
      </p:bgPr>
    </p:bg>
    <p:spTree>
      <p:nvGrpSpPr>
        <p:cNvPr id="1" name=""/>
        <p:cNvGrpSpPr/>
        <p:nvPr/>
      </p:nvGrpSpPr>
      <p:grpSpPr>
        <a:xfrm>
          <a:off x="0" y="0"/>
          <a:ext cx="0" cy="0"/>
          <a:chOff x="0" y="0"/>
          <a:chExt cx="0" cy="0"/>
        </a:xfrm>
      </p:grpSpPr>
      <p:grpSp>
        <p:nvGrpSpPr>
          <p:cNvPr id="2" name="Group 2"/>
          <p:cNvGrpSpPr/>
          <p:nvPr/>
        </p:nvGrpSpPr>
        <p:grpSpPr>
          <a:xfrm>
            <a:off x="-2760641" y="0"/>
            <a:ext cx="23799718" cy="13241519"/>
            <a:chOff x="0" y="0"/>
            <a:chExt cx="31732957" cy="17655358"/>
          </a:xfrm>
        </p:grpSpPr>
        <p:sp>
          <p:nvSpPr>
            <p:cNvPr id="3" name="AutoShape 3"/>
            <p:cNvSpPr/>
            <p:nvPr/>
          </p:nvSpPr>
          <p:spPr>
            <a:xfrm>
              <a:off x="0" y="0"/>
              <a:ext cx="31732957" cy="17655358"/>
            </a:xfrm>
            <a:prstGeom prst="rect">
              <a:avLst/>
            </a:prstGeom>
            <a:solidFill>
              <a:srgbClr val="0A0910"/>
            </a:solidFill>
          </p:spPr>
        </p:sp>
      </p:grpSp>
      <p:grpSp>
        <p:nvGrpSpPr>
          <p:cNvPr id="4" name="Group 4"/>
          <p:cNvGrpSpPr/>
          <p:nvPr/>
        </p:nvGrpSpPr>
        <p:grpSpPr>
          <a:xfrm>
            <a:off x="8265837" y="2224334"/>
            <a:ext cx="10572062" cy="9446362"/>
            <a:chOff x="0" y="0"/>
            <a:chExt cx="14096082" cy="12595149"/>
          </a:xfrm>
        </p:grpSpPr>
        <p:sp>
          <p:nvSpPr>
            <p:cNvPr id="5" name="AutoShape 5"/>
            <p:cNvSpPr/>
            <p:nvPr/>
          </p:nvSpPr>
          <p:spPr>
            <a:xfrm>
              <a:off x="0" y="0"/>
              <a:ext cx="14096082" cy="12595149"/>
            </a:xfrm>
            <a:prstGeom prst="rect">
              <a:avLst/>
            </a:prstGeom>
            <a:solidFill>
              <a:srgbClr val="0A0910"/>
            </a:solidFill>
          </p:spPr>
        </p:sp>
      </p:grpSp>
      <p:sp>
        <p:nvSpPr>
          <p:cNvPr id="6" name="TextBox 6"/>
          <p:cNvSpPr txBox="1"/>
          <p:nvPr/>
        </p:nvSpPr>
        <p:spPr>
          <a:xfrm>
            <a:off x="1023918" y="3443534"/>
            <a:ext cx="8729682" cy="1231106"/>
          </a:xfrm>
          <a:prstGeom prst="rect">
            <a:avLst/>
          </a:prstGeom>
        </p:spPr>
        <p:txBody>
          <a:bodyPr wrap="square" lIns="0" tIns="0" rIns="0" bIns="0" rtlCol="0" anchor="t">
            <a:spAutoFit/>
          </a:bodyPr>
          <a:lstStyle/>
          <a:p>
            <a:pPr algn="l">
              <a:lnSpc>
                <a:spcPts val="9600"/>
              </a:lnSpc>
            </a:pPr>
            <a:r>
              <a:rPr lang="en-US" sz="8000" b="1" dirty="0">
                <a:solidFill>
                  <a:srgbClr val="24DBC5"/>
                </a:solidFill>
                <a:latin typeface="Prompt Bold"/>
                <a:ea typeface="Prompt Bold"/>
                <a:cs typeface="Prompt Bold"/>
                <a:sym typeface="Prompt Bold"/>
              </a:rPr>
              <a:t>SEARCH ENGINES</a:t>
            </a:r>
          </a:p>
        </p:txBody>
      </p:sp>
      <p:sp>
        <p:nvSpPr>
          <p:cNvPr id="7" name="TextBox 7"/>
          <p:cNvSpPr txBox="1"/>
          <p:nvPr/>
        </p:nvSpPr>
        <p:spPr>
          <a:xfrm>
            <a:off x="1023918" y="4846249"/>
            <a:ext cx="9720282" cy="2693045"/>
          </a:xfrm>
          <a:prstGeom prst="rect">
            <a:avLst/>
          </a:prstGeom>
        </p:spPr>
        <p:txBody>
          <a:bodyPr wrap="square" lIns="0" tIns="0" rIns="0" bIns="0" rtlCol="0" anchor="t">
            <a:spAutoFit/>
          </a:bodyPr>
          <a:lstStyle/>
          <a:p>
            <a:pPr algn="l">
              <a:lnSpc>
                <a:spcPts val="4160"/>
              </a:lnSpc>
            </a:pPr>
            <a:r>
              <a:rPr lang="en-US" sz="3200" dirty="0">
                <a:solidFill>
                  <a:schemeClr val="bg1"/>
                </a:solidFill>
                <a:latin typeface="Prompt Light" panose="00000400000000000000" pitchFamily="2" charset="-34"/>
                <a:cs typeface="Prompt Light" panose="00000400000000000000" pitchFamily="2" charset="-34"/>
              </a:rPr>
              <a:t>A search engine is a system that searches the internet for information based on a user’s query. It retrieves and ranks the most relevant results using complex algorithms and indexing techniques.</a:t>
            </a:r>
            <a:endParaRPr lang="en-US" sz="3200" dirty="0">
              <a:solidFill>
                <a:schemeClr val="bg1"/>
              </a:solidFill>
              <a:latin typeface="Prompt Light" panose="00000400000000000000" pitchFamily="2" charset="-34"/>
              <a:ea typeface="Prompt Light"/>
              <a:cs typeface="Prompt Light" panose="00000400000000000000" pitchFamily="2" charset="-34"/>
              <a:sym typeface="Prompt Light"/>
            </a:endParaRPr>
          </a:p>
        </p:txBody>
      </p:sp>
      <p:sp>
        <p:nvSpPr>
          <p:cNvPr id="8" name="TextBox 8"/>
          <p:cNvSpPr txBox="1"/>
          <p:nvPr/>
        </p:nvSpPr>
        <p:spPr>
          <a:xfrm>
            <a:off x="1028700" y="2224334"/>
            <a:ext cx="8115300" cy="1219200"/>
          </a:xfrm>
          <a:prstGeom prst="rect">
            <a:avLst/>
          </a:prstGeom>
        </p:spPr>
        <p:txBody>
          <a:bodyPr lIns="0" tIns="0" rIns="0" bIns="0" rtlCol="0" anchor="t">
            <a:spAutoFit/>
          </a:bodyPr>
          <a:lstStyle/>
          <a:p>
            <a:pPr algn="l">
              <a:lnSpc>
                <a:spcPts val="9600"/>
              </a:lnSpc>
            </a:pPr>
            <a:r>
              <a:rPr lang="en-US" sz="8000" dirty="0">
                <a:solidFill>
                  <a:srgbClr val="E8EEF2"/>
                </a:solidFill>
                <a:latin typeface="Prompt Light"/>
                <a:ea typeface="Prompt Light"/>
                <a:cs typeface="Prompt Light"/>
                <a:sym typeface="Prompt Light"/>
              </a:rPr>
              <a:t>What is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grpSp>
        <p:nvGrpSpPr>
          <p:cNvPr id="4" name="Group 4"/>
          <p:cNvGrpSpPr/>
          <p:nvPr/>
        </p:nvGrpSpPr>
        <p:grpSpPr>
          <a:xfrm>
            <a:off x="8618978" y="2761378"/>
            <a:ext cx="6684213" cy="668421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DBC5">
                <a:alpha val="49804"/>
              </a:srgbClr>
            </a:soli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5399173" y="1028700"/>
            <a:ext cx="7489654" cy="1219200"/>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E8EEF2"/>
                </a:solidFill>
                <a:latin typeface="Prompt Bold"/>
                <a:ea typeface="Prompt Bold"/>
                <a:cs typeface="Prompt Bold"/>
                <a:sym typeface="Prompt Bold"/>
              </a:rPr>
              <a:t>PROBLEMS</a:t>
            </a:r>
          </a:p>
        </p:txBody>
      </p:sp>
      <p:grpSp>
        <p:nvGrpSpPr>
          <p:cNvPr id="8" name="Group 8"/>
          <p:cNvGrpSpPr/>
          <p:nvPr/>
        </p:nvGrpSpPr>
        <p:grpSpPr>
          <a:xfrm>
            <a:off x="2984809" y="2761378"/>
            <a:ext cx="6684213" cy="668421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DBC5">
                <a:alpha val="80000"/>
              </a:srgbClr>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3359"/>
                </a:lnSpc>
              </a:pPr>
              <a:endParaRPr/>
            </a:p>
          </p:txBody>
        </p:sp>
      </p:grpSp>
      <p:sp>
        <p:nvSpPr>
          <p:cNvPr id="11" name="TextBox 11"/>
          <p:cNvSpPr txBox="1"/>
          <p:nvPr/>
        </p:nvSpPr>
        <p:spPr>
          <a:xfrm>
            <a:off x="9296400" y="4265034"/>
            <a:ext cx="5634170" cy="975908"/>
          </a:xfrm>
          <a:prstGeom prst="rect">
            <a:avLst/>
          </a:prstGeom>
        </p:spPr>
        <p:txBody>
          <a:bodyPr wrap="square" lIns="0" tIns="0" rIns="0" bIns="0" rtlCol="0" anchor="t">
            <a:spAutoFit/>
          </a:bodyPr>
          <a:lstStyle/>
          <a:p>
            <a:pPr marL="0" lvl="0" indent="0" algn="ctr">
              <a:lnSpc>
                <a:spcPts val="3840"/>
              </a:lnSpc>
              <a:spcBef>
                <a:spcPct val="0"/>
              </a:spcBef>
            </a:pPr>
            <a:r>
              <a:rPr lang="en-US" sz="3200" b="1" dirty="0">
                <a:solidFill>
                  <a:srgbClr val="E8EEF2"/>
                </a:solidFill>
                <a:latin typeface="Prompt Bold"/>
                <a:ea typeface="Prompt Bold"/>
                <a:cs typeface="Prompt Bold"/>
                <a:sym typeface="Prompt Bold"/>
              </a:rPr>
              <a:t>PROBLEM 02: Vague or</a:t>
            </a:r>
            <a:br>
              <a:rPr lang="en-US" sz="3200" b="1" dirty="0">
                <a:solidFill>
                  <a:srgbClr val="E8EEF2"/>
                </a:solidFill>
                <a:latin typeface="Prompt Bold"/>
                <a:ea typeface="Prompt Bold"/>
                <a:cs typeface="Prompt Bold"/>
                <a:sym typeface="Prompt Bold"/>
              </a:rPr>
            </a:br>
            <a:r>
              <a:rPr lang="en-US" sz="3200" b="1" dirty="0">
                <a:solidFill>
                  <a:srgbClr val="E8EEF2"/>
                </a:solidFill>
                <a:latin typeface="Prompt Bold"/>
                <a:ea typeface="Prompt Bold"/>
                <a:cs typeface="Prompt Bold"/>
                <a:sym typeface="Prompt Bold"/>
              </a:rPr>
              <a:t>ambiguous queries</a:t>
            </a:r>
          </a:p>
        </p:txBody>
      </p:sp>
      <p:sp>
        <p:nvSpPr>
          <p:cNvPr id="12" name="TextBox 12"/>
          <p:cNvSpPr txBox="1"/>
          <p:nvPr/>
        </p:nvSpPr>
        <p:spPr>
          <a:xfrm>
            <a:off x="9669020" y="5267135"/>
            <a:ext cx="4584125" cy="2163413"/>
          </a:xfrm>
          <a:prstGeom prst="rect">
            <a:avLst/>
          </a:prstGeom>
        </p:spPr>
        <p:txBody>
          <a:bodyPr lIns="0" tIns="0" rIns="0" bIns="0" rtlCol="0" anchor="t">
            <a:spAutoFit/>
          </a:bodyPr>
          <a:lstStyle/>
          <a:p>
            <a:pPr marL="0" lvl="0" indent="0" algn="ctr">
              <a:lnSpc>
                <a:spcPts val="3359"/>
              </a:lnSpc>
              <a:spcBef>
                <a:spcPct val="0"/>
              </a:spcBef>
            </a:pPr>
            <a:r>
              <a:rPr lang="en-US" sz="2400" dirty="0">
                <a:solidFill>
                  <a:schemeClr val="bg1"/>
                </a:solidFill>
                <a:latin typeface="Prompt Light" panose="00000400000000000000" pitchFamily="2" charset="-34"/>
                <a:cs typeface="Prompt Light" panose="00000400000000000000" pitchFamily="2" charset="-34"/>
              </a:rPr>
              <a:t>Users often use short or unclear queries. Search engines need to understand their intent to give relevant results.</a:t>
            </a:r>
            <a:endParaRPr lang="en-US" sz="2399" u="none" dirty="0">
              <a:solidFill>
                <a:schemeClr val="bg1"/>
              </a:solidFill>
              <a:latin typeface="Prompt Light" panose="00000400000000000000" pitchFamily="2" charset="-34"/>
              <a:ea typeface="Prompt Light"/>
              <a:cs typeface="Prompt Light" panose="00000400000000000000" pitchFamily="2" charset="-34"/>
              <a:sym typeface="Prompt Light"/>
            </a:endParaRPr>
          </a:p>
        </p:txBody>
      </p:sp>
      <p:sp>
        <p:nvSpPr>
          <p:cNvPr id="13" name="TextBox 13"/>
          <p:cNvSpPr txBox="1"/>
          <p:nvPr/>
        </p:nvSpPr>
        <p:spPr>
          <a:xfrm>
            <a:off x="4034853" y="4226693"/>
            <a:ext cx="4584125" cy="975908"/>
          </a:xfrm>
          <a:prstGeom prst="rect">
            <a:avLst/>
          </a:prstGeom>
        </p:spPr>
        <p:txBody>
          <a:bodyPr lIns="0" tIns="0" rIns="0" bIns="0" rtlCol="0" anchor="t">
            <a:spAutoFit/>
          </a:bodyPr>
          <a:lstStyle/>
          <a:p>
            <a:pPr marL="0" lvl="0" indent="0" algn="ctr">
              <a:lnSpc>
                <a:spcPts val="3840"/>
              </a:lnSpc>
              <a:spcBef>
                <a:spcPct val="0"/>
              </a:spcBef>
            </a:pPr>
            <a:r>
              <a:rPr lang="en-US" sz="3200" b="1" dirty="0">
                <a:solidFill>
                  <a:srgbClr val="E8EEF2"/>
                </a:solidFill>
                <a:latin typeface="Prompt Bold"/>
                <a:ea typeface="Prompt Bold"/>
                <a:cs typeface="Prompt Bold"/>
                <a:sym typeface="Prompt Bold"/>
              </a:rPr>
              <a:t>PROBLEM 01:Too </a:t>
            </a:r>
            <a:br>
              <a:rPr lang="en-US" sz="3200" b="1" dirty="0">
                <a:solidFill>
                  <a:srgbClr val="E8EEF2"/>
                </a:solidFill>
                <a:latin typeface="Prompt Bold"/>
                <a:ea typeface="Prompt Bold"/>
                <a:cs typeface="Prompt Bold"/>
                <a:sym typeface="Prompt Bold"/>
              </a:rPr>
            </a:br>
            <a:r>
              <a:rPr lang="en-US" sz="3200" b="1" dirty="0">
                <a:solidFill>
                  <a:srgbClr val="E8EEF2"/>
                </a:solidFill>
                <a:latin typeface="Prompt Bold"/>
                <a:ea typeface="Prompt Bold"/>
                <a:cs typeface="Prompt Bold"/>
                <a:sym typeface="Prompt Bold"/>
              </a:rPr>
              <a:t>Much information</a:t>
            </a:r>
          </a:p>
        </p:txBody>
      </p:sp>
      <p:sp>
        <p:nvSpPr>
          <p:cNvPr id="14" name="TextBox 14"/>
          <p:cNvSpPr txBox="1"/>
          <p:nvPr/>
        </p:nvSpPr>
        <p:spPr>
          <a:xfrm>
            <a:off x="3986467" y="5305371"/>
            <a:ext cx="4584125" cy="2163413"/>
          </a:xfrm>
          <a:prstGeom prst="rect">
            <a:avLst/>
          </a:prstGeom>
        </p:spPr>
        <p:txBody>
          <a:bodyPr lIns="0" tIns="0" rIns="0" bIns="0" rtlCol="0" anchor="t">
            <a:spAutoFit/>
          </a:bodyPr>
          <a:lstStyle/>
          <a:p>
            <a:pPr marL="0" lvl="0" indent="0" algn="ctr">
              <a:lnSpc>
                <a:spcPts val="3359"/>
              </a:lnSpc>
              <a:spcBef>
                <a:spcPct val="0"/>
              </a:spcBef>
            </a:pPr>
            <a:r>
              <a:rPr lang="en-US" sz="2400" dirty="0">
                <a:solidFill>
                  <a:schemeClr val="bg1"/>
                </a:solidFill>
                <a:latin typeface="Prompt Light" panose="00000400000000000000" pitchFamily="2" charset="-34"/>
                <a:cs typeface="Prompt Light" panose="00000400000000000000" pitchFamily="2" charset="-34"/>
              </a:rPr>
              <a:t>Users are overwhelmed with millions of results; search engines must rank them effectively to show the most relevant ones.</a:t>
            </a:r>
            <a:endParaRPr lang="en-US" sz="2399" u="none" dirty="0">
              <a:solidFill>
                <a:schemeClr val="bg1"/>
              </a:solidFill>
              <a:latin typeface="Prompt Light" panose="00000400000000000000" pitchFamily="2" charset="-34"/>
              <a:ea typeface="Prompt Light"/>
              <a:cs typeface="Prompt Light" panose="00000400000000000000" pitchFamily="2" charset="-34"/>
              <a:sym typeface="Prompt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grpSp>
        <p:nvGrpSpPr>
          <p:cNvPr id="4" name="Group 4"/>
          <p:cNvGrpSpPr/>
          <p:nvPr/>
        </p:nvGrpSpPr>
        <p:grpSpPr>
          <a:xfrm>
            <a:off x="0" y="695654"/>
            <a:ext cx="18288000" cy="3571266"/>
            <a:chOff x="0" y="0"/>
            <a:chExt cx="24384000" cy="4761688"/>
          </a:xfrm>
        </p:grpSpPr>
        <p:sp>
          <p:nvSpPr>
            <p:cNvPr id="5" name="AutoShape 5"/>
            <p:cNvSpPr/>
            <p:nvPr/>
          </p:nvSpPr>
          <p:spPr>
            <a:xfrm>
              <a:off x="0" y="0"/>
              <a:ext cx="24384000" cy="4761688"/>
            </a:xfrm>
            <a:prstGeom prst="rect">
              <a:avLst/>
            </a:prstGeom>
            <a:solidFill>
              <a:srgbClr val="0A0910"/>
            </a:solidFill>
          </p:spPr>
        </p:sp>
      </p:grpSp>
      <p:sp>
        <p:nvSpPr>
          <p:cNvPr id="6" name="TextBox 6"/>
          <p:cNvSpPr txBox="1"/>
          <p:nvPr/>
        </p:nvSpPr>
        <p:spPr>
          <a:xfrm>
            <a:off x="1028700" y="1262087"/>
            <a:ext cx="9434599" cy="1219200"/>
          </a:xfrm>
          <a:prstGeom prst="rect">
            <a:avLst/>
          </a:prstGeom>
        </p:spPr>
        <p:txBody>
          <a:bodyPr lIns="0" tIns="0" rIns="0" bIns="0" rtlCol="0" anchor="t">
            <a:spAutoFit/>
          </a:bodyPr>
          <a:lstStyle/>
          <a:p>
            <a:pPr algn="l">
              <a:lnSpc>
                <a:spcPts val="9600"/>
              </a:lnSpc>
            </a:pPr>
            <a:r>
              <a:rPr lang="en-US" sz="8000" b="1">
                <a:solidFill>
                  <a:srgbClr val="24DBC5"/>
                </a:solidFill>
                <a:latin typeface="Prompt Bold"/>
                <a:ea typeface="Prompt Bold"/>
                <a:cs typeface="Prompt Bold"/>
                <a:sym typeface="Prompt Bold"/>
              </a:rPr>
              <a:t>LITERATURE </a:t>
            </a:r>
          </a:p>
        </p:txBody>
      </p:sp>
      <p:graphicFrame>
        <p:nvGraphicFramePr>
          <p:cNvPr id="7" name="Table 7"/>
          <p:cNvGraphicFramePr>
            <a:graphicFrameLocks noGrp="1"/>
          </p:cNvGraphicFramePr>
          <p:nvPr>
            <p:extLst>
              <p:ext uri="{D42A27DB-BD31-4B8C-83A1-F6EECF244321}">
                <p14:modId xmlns:p14="http://schemas.microsoft.com/office/powerpoint/2010/main" val="3114425041"/>
              </p:ext>
            </p:extLst>
          </p:nvPr>
        </p:nvGraphicFramePr>
        <p:xfrm>
          <a:off x="1006278" y="3757694"/>
          <a:ext cx="16291122" cy="9539206"/>
        </p:xfrm>
        <a:graphic>
          <a:graphicData uri="http://schemas.openxmlformats.org/drawingml/2006/table">
            <a:tbl>
              <a:tblPr/>
              <a:tblGrid>
                <a:gridCol w="5430374">
                  <a:extLst>
                    <a:ext uri="{9D8B030D-6E8A-4147-A177-3AD203B41FA5}">
                      <a16:colId xmlns:a16="http://schemas.microsoft.com/office/drawing/2014/main" val="20000"/>
                    </a:ext>
                  </a:extLst>
                </a:gridCol>
                <a:gridCol w="5430374">
                  <a:extLst>
                    <a:ext uri="{9D8B030D-6E8A-4147-A177-3AD203B41FA5}">
                      <a16:colId xmlns:a16="http://schemas.microsoft.com/office/drawing/2014/main" val="20001"/>
                    </a:ext>
                  </a:extLst>
                </a:gridCol>
                <a:gridCol w="5430374">
                  <a:extLst>
                    <a:ext uri="{9D8B030D-6E8A-4147-A177-3AD203B41FA5}">
                      <a16:colId xmlns:a16="http://schemas.microsoft.com/office/drawing/2014/main" val="20002"/>
                    </a:ext>
                  </a:extLst>
                </a:gridCol>
              </a:tblGrid>
              <a:tr h="7019934">
                <a:tc>
                  <a:txBody>
                    <a:bodyPr/>
                    <a:lstStyle/>
                    <a:p>
                      <a:pPr algn="ctr">
                        <a:lnSpc>
                          <a:spcPts val="4199"/>
                        </a:lnSpc>
                        <a:defRPr/>
                      </a:pPr>
                      <a:r>
                        <a:rPr lang="en-US" sz="3000" dirty="0">
                          <a:solidFill>
                            <a:schemeClr val="bg1"/>
                          </a:solidFill>
                          <a:latin typeface="Prompt" panose="00000500000000000000" pitchFamily="2" charset="-34"/>
                          <a:cs typeface="Prompt" panose="00000500000000000000" pitchFamily="2" charset="-34"/>
                        </a:rPr>
                        <a:t>Search engines began in the 1990s with simple keyword matching. Over time, they integrated ranking algorithms like PageRank, then AI and NLP techniques like BERT to understand natural language queries and improve results relevance.</a:t>
                      </a:r>
                      <a:r>
                        <a:rPr lang="en-US" sz="3000" dirty="0">
                          <a:solidFill>
                            <a:schemeClr val="bg1"/>
                          </a:solidFill>
                          <a:latin typeface="Prompt" panose="00000500000000000000" pitchFamily="2" charset="-34"/>
                          <a:ea typeface="Prompt Light"/>
                          <a:cs typeface="Prompt" panose="00000500000000000000" pitchFamily="2" charset="-34"/>
                          <a:sym typeface="Prompt Light"/>
                        </a:rPr>
                        <a:t>.</a:t>
                      </a: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a:lnSpc>
                          <a:spcPts val="4199"/>
                        </a:lnSpc>
                        <a:defRPr/>
                      </a:pPr>
                      <a:endParaRPr lang="en-US" sz="2100" dirty="0">
                        <a:solidFill>
                          <a:srgbClr val="E8EEF2"/>
                        </a:solidFill>
                        <a:latin typeface="Prompt Light"/>
                        <a:ea typeface="Prompt Light"/>
                        <a:cs typeface="Prompt Light"/>
                        <a:sym typeface="Prompt Ligh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r>
                        <a:rPr lang="fr-FR" sz="3200" dirty="0">
                          <a:solidFill>
                            <a:schemeClr val="bg1"/>
                          </a:solidFill>
                          <a:latin typeface="Prompt" panose="00000500000000000000" pitchFamily="2" charset="-34"/>
                          <a:cs typeface="Prompt" panose="00000500000000000000" pitchFamily="2" charset="-34"/>
                        </a:rPr>
                        <a:t>Timeline </a:t>
                      </a:r>
                      <a:r>
                        <a:rPr lang="fr-FR" sz="3200" dirty="0" err="1">
                          <a:solidFill>
                            <a:schemeClr val="bg1"/>
                          </a:solidFill>
                          <a:latin typeface="Prompt" panose="00000500000000000000" pitchFamily="2" charset="-34"/>
                          <a:cs typeface="Prompt" panose="00000500000000000000" pitchFamily="2" charset="-34"/>
                        </a:rPr>
                        <a:t>example</a:t>
                      </a:r>
                      <a:r>
                        <a:rPr lang="fr-FR" sz="3200" dirty="0">
                          <a:solidFill>
                            <a:schemeClr val="bg1"/>
                          </a:solidFill>
                          <a:latin typeface="Prompt Light" panose="00000400000000000000" pitchFamily="2" charset="-34"/>
                          <a:cs typeface="Prompt Light" panose="00000400000000000000" pitchFamily="2" charset="-34"/>
                        </a:rPr>
                        <a:t>:</a:t>
                      </a:r>
                      <a:br>
                        <a:rPr lang="fr-FR" sz="3200" dirty="0">
                          <a:solidFill>
                            <a:schemeClr val="bg1"/>
                          </a:solidFill>
                          <a:latin typeface="Prompt Light" panose="00000400000000000000" pitchFamily="2" charset="-34"/>
                          <a:cs typeface="Prompt Light" panose="00000400000000000000" pitchFamily="2" charset="-34"/>
                        </a:rPr>
                      </a:br>
                      <a:r>
                        <a:rPr lang="fr-FR" sz="3200" dirty="0">
                          <a:solidFill>
                            <a:schemeClr val="bg1"/>
                          </a:solidFill>
                          <a:latin typeface="Prompt Light" panose="00000400000000000000" pitchFamily="2" charset="-34"/>
                          <a:cs typeface="Prompt Light" panose="00000400000000000000" pitchFamily="2" charset="-34"/>
                        </a:rPr>
                        <a:t>.</a:t>
                      </a:r>
                      <a:r>
                        <a:rPr lang="en-US" sz="2400" b="1" dirty="0">
                          <a:solidFill>
                            <a:schemeClr val="bg1"/>
                          </a:solidFill>
                          <a:latin typeface="Prompt Light" panose="00000400000000000000" pitchFamily="2" charset="-34"/>
                          <a:cs typeface="Prompt Light" panose="00000400000000000000" pitchFamily="2" charset="-34"/>
                        </a:rPr>
                        <a:t>1998</a:t>
                      </a:r>
                      <a:r>
                        <a:rPr lang="en-US" sz="2400" dirty="0">
                          <a:solidFill>
                            <a:schemeClr val="bg1"/>
                          </a:solidFill>
                          <a:latin typeface="Prompt Light" panose="00000400000000000000" pitchFamily="2" charset="-34"/>
                          <a:cs typeface="Prompt Light" panose="00000400000000000000" pitchFamily="2" charset="-34"/>
                        </a:rPr>
                        <a:t> – Google founded</a:t>
                      </a:r>
                    </a:p>
                    <a:p>
                      <a:r>
                        <a:rPr lang="en-US" sz="2400" b="1" dirty="0">
                          <a:solidFill>
                            <a:schemeClr val="bg1"/>
                          </a:solidFill>
                          <a:latin typeface="Prompt Light" panose="00000400000000000000" pitchFamily="2" charset="-34"/>
                          <a:cs typeface="Prompt Light" panose="00000400000000000000" pitchFamily="2" charset="-34"/>
                        </a:rPr>
                        <a:t>.2000</a:t>
                      </a:r>
                      <a:r>
                        <a:rPr lang="en-US" sz="2400" dirty="0">
                          <a:solidFill>
                            <a:schemeClr val="bg1"/>
                          </a:solidFill>
                          <a:latin typeface="Prompt Light" panose="00000400000000000000" pitchFamily="2" charset="-34"/>
                          <a:cs typeface="Prompt Light" panose="00000400000000000000" pitchFamily="2" charset="-34"/>
                        </a:rPr>
                        <a:t> – PageRank popularized</a:t>
                      </a:r>
                    </a:p>
                    <a:p>
                      <a:r>
                        <a:rPr lang="en-US" sz="2400" b="1" dirty="0">
                          <a:solidFill>
                            <a:schemeClr val="bg1"/>
                          </a:solidFill>
                          <a:latin typeface="Prompt Light" panose="00000400000000000000" pitchFamily="2" charset="-34"/>
                          <a:cs typeface="Prompt Light" panose="00000400000000000000" pitchFamily="2" charset="-34"/>
                        </a:rPr>
                        <a:t>.2010</a:t>
                      </a:r>
                      <a:r>
                        <a:rPr lang="en-US" sz="2400" dirty="0">
                          <a:solidFill>
                            <a:schemeClr val="bg1"/>
                          </a:solidFill>
                          <a:latin typeface="Prompt Light" panose="00000400000000000000" pitchFamily="2" charset="-34"/>
                          <a:cs typeface="Prompt Light" panose="00000400000000000000" pitchFamily="2" charset="-34"/>
                        </a:rPr>
                        <a:t> – NLP &amp; AI integrated</a:t>
                      </a:r>
                    </a:p>
                    <a:p>
                      <a:r>
                        <a:rPr lang="en-US" sz="2400" b="1" dirty="0">
                          <a:solidFill>
                            <a:schemeClr val="bg1"/>
                          </a:solidFill>
                          <a:latin typeface="Prompt Light" panose="00000400000000000000" pitchFamily="2" charset="-34"/>
                          <a:cs typeface="Prompt Light" panose="00000400000000000000" pitchFamily="2" charset="-34"/>
                        </a:rPr>
                        <a:t>.2020</a:t>
                      </a:r>
                      <a:r>
                        <a:rPr lang="en-US" sz="2400" dirty="0">
                          <a:solidFill>
                            <a:schemeClr val="bg1"/>
                          </a:solidFill>
                          <a:latin typeface="Prompt Light" panose="00000400000000000000" pitchFamily="2" charset="-34"/>
                          <a:cs typeface="Prompt Light" panose="00000400000000000000" pitchFamily="2" charset="-34"/>
                        </a:rPr>
                        <a:t> – BERT and deep learning applied</a:t>
                      </a:r>
                    </a:p>
                    <a:p>
                      <a:pPr algn="ctr">
                        <a:lnSpc>
                          <a:spcPts val="4199"/>
                        </a:lnSpc>
                        <a:defRPr/>
                      </a:pPr>
                      <a:endParaRPr lang="en-US" sz="2100" dirty="0">
                        <a:solidFill>
                          <a:srgbClr val="E8EEF2"/>
                        </a:solidFill>
                        <a:latin typeface="Prompt Light"/>
                        <a:ea typeface="Prompt Light"/>
                        <a:cs typeface="Prompt Light"/>
                        <a:sym typeface="Prompt Ligh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19272">
                <a:tc>
                  <a:txBody>
                    <a:bodyPr/>
                    <a:lstStyle/>
                    <a:p>
                      <a:pPr algn="ctr">
                        <a:lnSpc>
                          <a:spcPts val="4199"/>
                        </a:lnSpc>
                        <a:defRPr/>
                      </a:pPr>
                      <a:endParaRPr lang="en-US" sz="2100" dirty="0">
                        <a:solidFill>
                          <a:srgbClr val="E8EEF2"/>
                        </a:solidFill>
                        <a:latin typeface="Prompt Light"/>
                        <a:ea typeface="Prompt Light"/>
                        <a:cs typeface="Prompt Light"/>
                        <a:sym typeface="Prompt Ligh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a:lnSpc>
                          <a:spcPts val="4199"/>
                        </a:lnSpc>
                        <a:defRPr/>
                      </a:pPr>
                      <a:endParaRPr lang="en-US" sz="2100" dirty="0">
                        <a:solidFill>
                          <a:srgbClr val="E8EEF2"/>
                        </a:solidFill>
                        <a:latin typeface="Prompt Light"/>
                        <a:ea typeface="Prompt Light"/>
                        <a:cs typeface="Prompt Light"/>
                        <a:sym typeface="Prompt Ligh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ctr">
                        <a:lnSpc>
                          <a:spcPts val="4199"/>
                        </a:lnSpc>
                        <a:defRPr/>
                      </a:pPr>
                      <a:endParaRPr lang="en-US" sz="2100" dirty="0">
                        <a:solidFill>
                          <a:srgbClr val="E8EEF2"/>
                        </a:solidFill>
                        <a:latin typeface="Prompt Light"/>
                        <a:ea typeface="Prompt Light"/>
                        <a:cs typeface="Prompt Light"/>
                        <a:sym typeface="Prompt Light"/>
                      </a:endParaRPr>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 name="TextBox 8"/>
          <p:cNvSpPr txBox="1"/>
          <p:nvPr/>
        </p:nvSpPr>
        <p:spPr>
          <a:xfrm>
            <a:off x="1028700" y="2481287"/>
            <a:ext cx="9434599" cy="1219200"/>
          </a:xfrm>
          <a:prstGeom prst="rect">
            <a:avLst/>
          </a:prstGeom>
        </p:spPr>
        <p:txBody>
          <a:bodyPr lIns="0" tIns="0" rIns="0" bIns="0" rtlCol="0" anchor="t">
            <a:spAutoFit/>
          </a:bodyPr>
          <a:lstStyle/>
          <a:p>
            <a:pPr algn="l">
              <a:lnSpc>
                <a:spcPts val="9600"/>
              </a:lnSpc>
            </a:pPr>
            <a:r>
              <a:rPr lang="en-US" sz="8000">
                <a:solidFill>
                  <a:srgbClr val="E8EEF2"/>
                </a:solidFill>
                <a:latin typeface="Prompt Light"/>
                <a:ea typeface="Prompt Light"/>
                <a:cs typeface="Prompt Light"/>
                <a:sym typeface="Prompt Light"/>
              </a:rPr>
              <a:t>REVIEW</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EEF2"/>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grpSp>
        <p:nvGrpSpPr>
          <p:cNvPr id="4" name="Group 4"/>
          <p:cNvGrpSpPr/>
          <p:nvPr/>
        </p:nvGrpSpPr>
        <p:grpSpPr>
          <a:xfrm>
            <a:off x="5279158" y="5143500"/>
            <a:ext cx="3353922" cy="1235290"/>
            <a:chOff x="0" y="0"/>
            <a:chExt cx="1411780" cy="519976"/>
          </a:xfrm>
        </p:grpSpPr>
        <p:sp>
          <p:nvSpPr>
            <p:cNvPr id="5" name="Freeform 5"/>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49804"/>
              </a:srgbClr>
            </a:solidFill>
          </p:spPr>
        </p:sp>
        <p:sp>
          <p:nvSpPr>
            <p:cNvPr id="6" name="TextBox 6"/>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1028700" y="1028700"/>
            <a:ext cx="7133590" cy="1219200"/>
          </a:xfrm>
          <a:prstGeom prst="rect">
            <a:avLst/>
          </a:prstGeom>
        </p:spPr>
        <p:txBody>
          <a:bodyPr lIns="0" tIns="0" rIns="0" bIns="0" rtlCol="0" anchor="t">
            <a:spAutoFit/>
          </a:bodyPr>
          <a:lstStyle/>
          <a:p>
            <a:pPr marL="0" lvl="0" indent="0" algn="l">
              <a:lnSpc>
                <a:spcPts val="9600"/>
              </a:lnSpc>
              <a:spcBef>
                <a:spcPct val="0"/>
              </a:spcBef>
            </a:pPr>
            <a:r>
              <a:rPr lang="en-US" sz="8000">
                <a:solidFill>
                  <a:srgbClr val="E8EEF2"/>
                </a:solidFill>
                <a:latin typeface="Prompt Light"/>
                <a:ea typeface="Prompt Light"/>
                <a:cs typeface="Prompt Light"/>
                <a:sym typeface="Prompt Light"/>
              </a:rPr>
              <a:t>THEORETICAL</a:t>
            </a:r>
          </a:p>
        </p:txBody>
      </p:sp>
      <p:sp>
        <p:nvSpPr>
          <p:cNvPr id="12" name="TextBox 12"/>
          <p:cNvSpPr txBox="1"/>
          <p:nvPr/>
        </p:nvSpPr>
        <p:spPr>
          <a:xfrm>
            <a:off x="1028700" y="2247900"/>
            <a:ext cx="7133590" cy="1219200"/>
          </a:xfrm>
          <a:prstGeom prst="rect">
            <a:avLst/>
          </a:prstGeom>
        </p:spPr>
        <p:txBody>
          <a:bodyPr lIns="0" tIns="0" rIns="0" bIns="0" rtlCol="0" anchor="t">
            <a:spAutoFit/>
          </a:bodyPr>
          <a:lstStyle/>
          <a:p>
            <a:pPr marL="0" lvl="0" indent="0" algn="l">
              <a:lnSpc>
                <a:spcPts val="9600"/>
              </a:lnSpc>
              <a:spcBef>
                <a:spcPct val="0"/>
              </a:spcBef>
            </a:pPr>
            <a:r>
              <a:rPr lang="en-US" sz="8000" b="1">
                <a:solidFill>
                  <a:srgbClr val="24DBC5"/>
                </a:solidFill>
                <a:latin typeface="Prompt Bold"/>
                <a:ea typeface="Prompt Bold"/>
                <a:cs typeface="Prompt Bold"/>
                <a:sym typeface="Prompt Bold"/>
              </a:rPr>
              <a:t>FRAMEWORK</a:t>
            </a:r>
          </a:p>
        </p:txBody>
      </p:sp>
      <p:sp>
        <p:nvSpPr>
          <p:cNvPr id="13" name="AutoShape 13"/>
          <p:cNvSpPr/>
          <p:nvPr/>
        </p:nvSpPr>
        <p:spPr>
          <a:xfrm>
            <a:off x="1147505" y="7203705"/>
            <a:ext cx="17355161" cy="0"/>
          </a:xfrm>
          <a:prstGeom prst="line">
            <a:avLst/>
          </a:prstGeom>
          <a:ln w="38100" cap="flat">
            <a:solidFill>
              <a:srgbClr val="E8EEF2"/>
            </a:solidFill>
            <a:prstDash val="solid"/>
            <a:headEnd type="oval" w="lg" len="lg"/>
            <a:tailEnd type="none" w="sm" len="sm"/>
          </a:ln>
        </p:spPr>
      </p:sp>
      <p:sp>
        <p:nvSpPr>
          <p:cNvPr id="15" name="AutoShape 15"/>
          <p:cNvSpPr/>
          <p:nvPr/>
        </p:nvSpPr>
        <p:spPr>
          <a:xfrm>
            <a:off x="5298208" y="6824266"/>
            <a:ext cx="0" cy="720779"/>
          </a:xfrm>
          <a:prstGeom prst="line">
            <a:avLst/>
          </a:prstGeom>
          <a:ln w="38100" cap="flat">
            <a:solidFill>
              <a:srgbClr val="24DBC5"/>
            </a:solidFill>
            <a:prstDash val="solid"/>
            <a:headEnd type="none" w="sm" len="sm"/>
            <a:tailEnd type="none" w="sm" len="sm"/>
          </a:ln>
        </p:spPr>
      </p:sp>
      <p:sp>
        <p:nvSpPr>
          <p:cNvPr id="16" name="AutoShape 16"/>
          <p:cNvSpPr/>
          <p:nvPr/>
        </p:nvSpPr>
        <p:spPr>
          <a:xfrm>
            <a:off x="9467962" y="6824266"/>
            <a:ext cx="0" cy="720779"/>
          </a:xfrm>
          <a:prstGeom prst="line">
            <a:avLst/>
          </a:prstGeom>
          <a:ln w="38100" cap="flat">
            <a:solidFill>
              <a:srgbClr val="24DBC5"/>
            </a:solidFill>
            <a:prstDash val="solid"/>
            <a:headEnd type="none" w="sm" len="sm"/>
            <a:tailEnd type="none" w="sm" len="sm"/>
          </a:ln>
        </p:spPr>
      </p:sp>
      <p:sp>
        <p:nvSpPr>
          <p:cNvPr id="17" name="AutoShape 17"/>
          <p:cNvSpPr/>
          <p:nvPr/>
        </p:nvSpPr>
        <p:spPr>
          <a:xfrm>
            <a:off x="13637716" y="6824266"/>
            <a:ext cx="0" cy="720779"/>
          </a:xfrm>
          <a:prstGeom prst="line">
            <a:avLst/>
          </a:prstGeom>
          <a:ln w="38100" cap="flat">
            <a:solidFill>
              <a:srgbClr val="24DBC5"/>
            </a:solidFill>
            <a:prstDash val="solid"/>
            <a:headEnd type="none" w="sm" len="sm"/>
            <a:tailEnd type="none" w="sm" len="sm"/>
          </a:ln>
        </p:spPr>
      </p:sp>
      <p:grpSp>
        <p:nvGrpSpPr>
          <p:cNvPr id="18" name="Group 18"/>
          <p:cNvGrpSpPr/>
          <p:nvPr/>
        </p:nvGrpSpPr>
        <p:grpSpPr>
          <a:xfrm>
            <a:off x="1147505" y="5143500"/>
            <a:ext cx="3353922" cy="1235290"/>
            <a:chOff x="0" y="0"/>
            <a:chExt cx="1411780" cy="519976"/>
          </a:xfrm>
        </p:grpSpPr>
        <p:sp>
          <p:nvSpPr>
            <p:cNvPr id="19" name="Freeform 19"/>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29804"/>
              </a:srgbClr>
            </a:solidFill>
          </p:spPr>
        </p:sp>
        <p:sp>
          <p:nvSpPr>
            <p:cNvPr id="20" name="TextBox 20"/>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grpSp>
        <p:nvGrpSpPr>
          <p:cNvPr id="22" name="Group 22"/>
          <p:cNvGrpSpPr/>
          <p:nvPr/>
        </p:nvGrpSpPr>
        <p:grpSpPr>
          <a:xfrm>
            <a:off x="9487012" y="5143500"/>
            <a:ext cx="3353922" cy="1235290"/>
            <a:chOff x="0" y="0"/>
            <a:chExt cx="1411780" cy="519976"/>
          </a:xfrm>
        </p:grpSpPr>
        <p:sp>
          <p:nvSpPr>
            <p:cNvPr id="23" name="Freeform 23"/>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69804"/>
              </a:srgbClr>
            </a:solidFill>
          </p:spPr>
        </p:sp>
        <p:sp>
          <p:nvSpPr>
            <p:cNvPr id="24" name="TextBox 24"/>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grpSp>
        <p:nvGrpSpPr>
          <p:cNvPr id="26" name="Group 26"/>
          <p:cNvGrpSpPr/>
          <p:nvPr/>
        </p:nvGrpSpPr>
        <p:grpSpPr>
          <a:xfrm>
            <a:off x="13621985" y="5143500"/>
            <a:ext cx="3353922" cy="1235290"/>
            <a:chOff x="0" y="0"/>
            <a:chExt cx="1411780" cy="519976"/>
          </a:xfrm>
        </p:grpSpPr>
        <p:sp>
          <p:nvSpPr>
            <p:cNvPr id="27" name="Freeform 27"/>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89804"/>
              </a:srgbClr>
            </a:solidFill>
          </p:spPr>
        </p:sp>
        <p:sp>
          <p:nvSpPr>
            <p:cNvPr id="28" name="TextBox 28"/>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sp>
        <p:nvSpPr>
          <p:cNvPr id="30" name="Freeform 30"/>
          <p:cNvSpPr/>
          <p:nvPr/>
        </p:nvSpPr>
        <p:spPr>
          <a:xfrm>
            <a:off x="13129479" y="-933450"/>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stretch>
              <a:fillRect/>
            </a:stretch>
          </a:blipFill>
        </p:spPr>
      </p:sp>
      <p:sp>
        <p:nvSpPr>
          <p:cNvPr id="31" name="Freeform 31"/>
          <p:cNvSpPr/>
          <p:nvPr/>
        </p:nvSpPr>
        <p:spPr>
          <a:xfrm>
            <a:off x="9984332" y="-933450"/>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alphaModFix amt="50000"/>
            </a:blip>
            <a:stretch>
              <a:fillRect/>
            </a:stretch>
          </a:blipFill>
        </p:spPr>
      </p:sp>
      <p:sp>
        <p:nvSpPr>
          <p:cNvPr id="33" name="Oval 32">
            <a:extLst>
              <a:ext uri="{FF2B5EF4-FFF2-40B4-BE49-F238E27FC236}">
                <a16:creationId xmlns:a16="http://schemas.microsoft.com/office/drawing/2014/main" id="{47A48631-C5AA-44CB-AB63-1D6E0228A5AE}"/>
              </a:ext>
            </a:extLst>
          </p:cNvPr>
          <p:cNvSpPr/>
          <p:nvPr/>
        </p:nvSpPr>
        <p:spPr>
          <a:xfrm flipH="1">
            <a:off x="1028700" y="7089406"/>
            <a:ext cx="243145" cy="22859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4" name="TextBox 8">
            <a:extLst>
              <a:ext uri="{FF2B5EF4-FFF2-40B4-BE49-F238E27FC236}">
                <a16:creationId xmlns:a16="http://schemas.microsoft.com/office/drawing/2014/main" id="{9C8D8FF7-3880-4DE0-853C-1294BCD7AEC2}"/>
              </a:ext>
            </a:extLst>
          </p:cNvPr>
          <p:cNvSpPr txBox="1"/>
          <p:nvPr/>
        </p:nvSpPr>
        <p:spPr>
          <a:xfrm>
            <a:off x="981882" y="7578655"/>
            <a:ext cx="3364925" cy="855362"/>
          </a:xfrm>
          <a:prstGeom prst="rect">
            <a:avLst/>
          </a:prstGeom>
        </p:spPr>
        <p:txBody>
          <a:bodyPr lIns="0" tIns="0" rIns="0" bIns="0" rtlCol="0" anchor="t">
            <a:spAutoFit/>
          </a:bodyPr>
          <a:lstStyle/>
          <a:p>
            <a:pPr marL="0" lvl="0" indent="0" algn="l">
              <a:lnSpc>
                <a:spcPts val="3359"/>
              </a:lnSpc>
              <a:spcBef>
                <a:spcPct val="0"/>
              </a:spcBef>
            </a:pPr>
            <a:r>
              <a:rPr lang="fr-FR" sz="2400" dirty="0" err="1">
                <a:solidFill>
                  <a:schemeClr val="bg1"/>
                </a:solidFill>
              </a:rPr>
              <a:t>Early</a:t>
            </a:r>
            <a:r>
              <a:rPr lang="fr-FR" sz="2400" dirty="0">
                <a:solidFill>
                  <a:schemeClr val="bg1"/>
                </a:solidFill>
              </a:rPr>
              <a:t> keyword-</a:t>
            </a:r>
            <a:r>
              <a:rPr lang="fr-FR" sz="2400" dirty="0" err="1">
                <a:solidFill>
                  <a:schemeClr val="bg1"/>
                </a:solidFill>
              </a:rPr>
              <a:t>based</a:t>
            </a:r>
            <a:r>
              <a:rPr lang="fr-FR" sz="2400" dirty="0">
                <a:solidFill>
                  <a:schemeClr val="bg1"/>
                </a:solidFill>
              </a:rPr>
              <a:t> </a:t>
            </a:r>
            <a:r>
              <a:rPr lang="fr-FR" sz="2400" dirty="0" err="1">
                <a:solidFill>
                  <a:schemeClr val="bg1"/>
                </a:solidFill>
              </a:rPr>
              <a:t>search</a:t>
            </a:r>
            <a:endParaRPr lang="en-US" sz="2399" u="none" dirty="0">
              <a:solidFill>
                <a:schemeClr val="bg1"/>
              </a:solidFill>
              <a:latin typeface="Prompt Light"/>
              <a:ea typeface="Prompt Light"/>
              <a:cs typeface="Prompt Light"/>
              <a:sym typeface="Prompt Light"/>
            </a:endParaRPr>
          </a:p>
        </p:txBody>
      </p:sp>
      <p:sp>
        <p:nvSpPr>
          <p:cNvPr id="36" name="TextBox 9">
            <a:extLst>
              <a:ext uri="{FF2B5EF4-FFF2-40B4-BE49-F238E27FC236}">
                <a16:creationId xmlns:a16="http://schemas.microsoft.com/office/drawing/2014/main" id="{573F272E-298F-452C-BA86-20AF49414DFF}"/>
              </a:ext>
            </a:extLst>
          </p:cNvPr>
          <p:cNvSpPr txBox="1"/>
          <p:nvPr/>
        </p:nvSpPr>
        <p:spPr>
          <a:xfrm>
            <a:off x="5279158" y="7602692"/>
            <a:ext cx="3364925" cy="855362"/>
          </a:xfrm>
          <a:prstGeom prst="rect">
            <a:avLst/>
          </a:prstGeom>
        </p:spPr>
        <p:txBody>
          <a:bodyPr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Link analysis and ranking (PageRank)</a:t>
            </a:r>
          </a:p>
        </p:txBody>
      </p:sp>
      <p:sp>
        <p:nvSpPr>
          <p:cNvPr id="38" name="TextBox 11">
            <a:extLst>
              <a:ext uri="{FF2B5EF4-FFF2-40B4-BE49-F238E27FC236}">
                <a16:creationId xmlns:a16="http://schemas.microsoft.com/office/drawing/2014/main" id="{FEFC3F18-8937-4F80-B1E9-58F0D9914837}"/>
              </a:ext>
            </a:extLst>
          </p:cNvPr>
          <p:cNvSpPr txBox="1"/>
          <p:nvPr/>
        </p:nvSpPr>
        <p:spPr>
          <a:xfrm>
            <a:off x="9487012" y="7658100"/>
            <a:ext cx="3364925" cy="855362"/>
          </a:xfrm>
          <a:prstGeom prst="rect">
            <a:avLst/>
          </a:prstGeom>
        </p:spPr>
        <p:txBody>
          <a:bodyPr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Semantic search and personalization</a:t>
            </a:r>
          </a:p>
        </p:txBody>
      </p:sp>
      <p:sp>
        <p:nvSpPr>
          <p:cNvPr id="39" name="TextBox 10">
            <a:extLst>
              <a:ext uri="{FF2B5EF4-FFF2-40B4-BE49-F238E27FC236}">
                <a16:creationId xmlns:a16="http://schemas.microsoft.com/office/drawing/2014/main" id="{BF6E91FE-ADE8-4D07-9F50-8C3F3D23B5FE}"/>
              </a:ext>
            </a:extLst>
          </p:cNvPr>
          <p:cNvSpPr txBox="1"/>
          <p:nvPr/>
        </p:nvSpPr>
        <p:spPr>
          <a:xfrm>
            <a:off x="13563600" y="7658100"/>
            <a:ext cx="4666013" cy="855362"/>
          </a:xfrm>
          <a:prstGeom prst="rect">
            <a:avLst/>
          </a:prstGeom>
        </p:spPr>
        <p:txBody>
          <a:bodyPr wrap="square"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AI and deep learning for contextual search</a:t>
            </a:r>
          </a:p>
        </p:txBody>
      </p:sp>
      <p:sp>
        <p:nvSpPr>
          <p:cNvPr id="40" name="TextBox 14">
            <a:extLst>
              <a:ext uri="{FF2B5EF4-FFF2-40B4-BE49-F238E27FC236}">
                <a16:creationId xmlns:a16="http://schemas.microsoft.com/office/drawing/2014/main" id="{61C5AFFB-3D0D-4F89-94B5-A90CC25B9D5B}"/>
              </a:ext>
            </a:extLst>
          </p:cNvPr>
          <p:cNvSpPr txBox="1"/>
          <p:nvPr/>
        </p:nvSpPr>
        <p:spPr>
          <a:xfrm>
            <a:off x="5257800"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2005</a:t>
            </a:r>
          </a:p>
        </p:txBody>
      </p:sp>
      <p:sp>
        <p:nvSpPr>
          <p:cNvPr id="41" name="TextBox 21">
            <a:extLst>
              <a:ext uri="{FF2B5EF4-FFF2-40B4-BE49-F238E27FC236}">
                <a16:creationId xmlns:a16="http://schemas.microsoft.com/office/drawing/2014/main" id="{E2817F6C-3FF9-4CEE-B164-4E884DC792E7}"/>
              </a:ext>
            </a:extLst>
          </p:cNvPr>
          <p:cNvSpPr txBox="1"/>
          <p:nvPr/>
        </p:nvSpPr>
        <p:spPr>
          <a:xfrm>
            <a:off x="1099421"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2000 </a:t>
            </a:r>
          </a:p>
        </p:txBody>
      </p:sp>
      <p:sp>
        <p:nvSpPr>
          <p:cNvPr id="42" name="TextBox 25">
            <a:extLst>
              <a:ext uri="{FF2B5EF4-FFF2-40B4-BE49-F238E27FC236}">
                <a16:creationId xmlns:a16="http://schemas.microsoft.com/office/drawing/2014/main" id="{31F7DD19-A770-444B-A7E8-E9720D992C3B}"/>
              </a:ext>
            </a:extLst>
          </p:cNvPr>
          <p:cNvSpPr txBox="1"/>
          <p:nvPr/>
        </p:nvSpPr>
        <p:spPr>
          <a:xfrm>
            <a:off x="9405221"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2010</a:t>
            </a:r>
          </a:p>
        </p:txBody>
      </p:sp>
      <p:sp>
        <p:nvSpPr>
          <p:cNvPr id="43" name="TextBox 29">
            <a:extLst>
              <a:ext uri="{FF2B5EF4-FFF2-40B4-BE49-F238E27FC236}">
                <a16:creationId xmlns:a16="http://schemas.microsoft.com/office/drawing/2014/main" id="{F079F387-A869-40B7-B954-DAA99565E6DC}"/>
              </a:ext>
            </a:extLst>
          </p:cNvPr>
          <p:cNvSpPr txBox="1"/>
          <p:nvPr/>
        </p:nvSpPr>
        <p:spPr>
          <a:xfrm>
            <a:off x="13563600"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2020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EEF2"/>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grpSp>
        <p:nvGrpSpPr>
          <p:cNvPr id="4" name="Group 4"/>
          <p:cNvGrpSpPr/>
          <p:nvPr/>
        </p:nvGrpSpPr>
        <p:grpSpPr>
          <a:xfrm>
            <a:off x="5279158" y="5143500"/>
            <a:ext cx="3353922" cy="1235290"/>
            <a:chOff x="0" y="0"/>
            <a:chExt cx="1411780" cy="519976"/>
          </a:xfrm>
        </p:grpSpPr>
        <p:sp>
          <p:nvSpPr>
            <p:cNvPr id="5" name="Freeform 5"/>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49804"/>
              </a:srgbClr>
            </a:solidFill>
          </p:spPr>
        </p:sp>
        <p:sp>
          <p:nvSpPr>
            <p:cNvPr id="6" name="TextBox 6"/>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1028700" y="1028700"/>
            <a:ext cx="7133590" cy="1219200"/>
          </a:xfrm>
          <a:prstGeom prst="rect">
            <a:avLst/>
          </a:prstGeom>
        </p:spPr>
        <p:txBody>
          <a:bodyPr lIns="0" tIns="0" rIns="0" bIns="0" rtlCol="0" anchor="t">
            <a:spAutoFit/>
          </a:bodyPr>
          <a:lstStyle/>
          <a:p>
            <a:pPr marL="0" lvl="0" indent="0" algn="l">
              <a:lnSpc>
                <a:spcPts val="9600"/>
              </a:lnSpc>
              <a:spcBef>
                <a:spcPct val="0"/>
              </a:spcBef>
            </a:pPr>
            <a:r>
              <a:rPr lang="en-US" sz="8000">
                <a:solidFill>
                  <a:srgbClr val="E8EEF2"/>
                </a:solidFill>
                <a:latin typeface="Prompt Light"/>
                <a:ea typeface="Prompt Light"/>
                <a:cs typeface="Prompt Light"/>
                <a:sym typeface="Prompt Light"/>
              </a:rPr>
              <a:t>THEORETICAL</a:t>
            </a:r>
          </a:p>
        </p:txBody>
      </p:sp>
      <p:sp>
        <p:nvSpPr>
          <p:cNvPr id="12" name="TextBox 12"/>
          <p:cNvSpPr txBox="1"/>
          <p:nvPr/>
        </p:nvSpPr>
        <p:spPr>
          <a:xfrm>
            <a:off x="1028700" y="2247900"/>
            <a:ext cx="7133590" cy="1219200"/>
          </a:xfrm>
          <a:prstGeom prst="rect">
            <a:avLst/>
          </a:prstGeom>
        </p:spPr>
        <p:txBody>
          <a:bodyPr lIns="0" tIns="0" rIns="0" bIns="0" rtlCol="0" anchor="t">
            <a:spAutoFit/>
          </a:bodyPr>
          <a:lstStyle/>
          <a:p>
            <a:pPr marL="0" lvl="0" indent="0" algn="l">
              <a:lnSpc>
                <a:spcPts val="9600"/>
              </a:lnSpc>
              <a:spcBef>
                <a:spcPct val="0"/>
              </a:spcBef>
            </a:pPr>
            <a:r>
              <a:rPr lang="en-US" sz="8000" b="1">
                <a:solidFill>
                  <a:srgbClr val="24DBC5"/>
                </a:solidFill>
                <a:latin typeface="Prompt Bold"/>
                <a:ea typeface="Prompt Bold"/>
                <a:cs typeface="Prompt Bold"/>
                <a:sym typeface="Prompt Bold"/>
              </a:rPr>
              <a:t>FRAMEWORK</a:t>
            </a:r>
          </a:p>
        </p:txBody>
      </p:sp>
      <p:sp>
        <p:nvSpPr>
          <p:cNvPr id="13" name="AutoShape 13"/>
          <p:cNvSpPr/>
          <p:nvPr/>
        </p:nvSpPr>
        <p:spPr>
          <a:xfrm>
            <a:off x="1147505" y="7203705"/>
            <a:ext cx="17355161" cy="0"/>
          </a:xfrm>
          <a:prstGeom prst="line">
            <a:avLst/>
          </a:prstGeom>
          <a:ln w="38100" cap="flat">
            <a:solidFill>
              <a:srgbClr val="E8EEF2"/>
            </a:solidFill>
            <a:prstDash val="solid"/>
            <a:headEnd type="oval" w="lg" len="lg"/>
            <a:tailEnd type="none" w="sm" len="sm"/>
          </a:ln>
        </p:spPr>
      </p:sp>
      <p:sp>
        <p:nvSpPr>
          <p:cNvPr id="15" name="AutoShape 15"/>
          <p:cNvSpPr/>
          <p:nvPr/>
        </p:nvSpPr>
        <p:spPr>
          <a:xfrm>
            <a:off x="5298208" y="6824266"/>
            <a:ext cx="0" cy="720779"/>
          </a:xfrm>
          <a:prstGeom prst="line">
            <a:avLst/>
          </a:prstGeom>
          <a:ln w="38100" cap="flat">
            <a:solidFill>
              <a:srgbClr val="24DBC5"/>
            </a:solidFill>
            <a:prstDash val="solid"/>
            <a:headEnd type="none" w="sm" len="sm"/>
            <a:tailEnd type="none" w="sm" len="sm"/>
          </a:ln>
        </p:spPr>
      </p:sp>
      <p:sp>
        <p:nvSpPr>
          <p:cNvPr id="16" name="AutoShape 16"/>
          <p:cNvSpPr/>
          <p:nvPr/>
        </p:nvSpPr>
        <p:spPr>
          <a:xfrm>
            <a:off x="9467962" y="6824266"/>
            <a:ext cx="0" cy="720779"/>
          </a:xfrm>
          <a:prstGeom prst="line">
            <a:avLst/>
          </a:prstGeom>
          <a:ln w="38100" cap="flat">
            <a:solidFill>
              <a:srgbClr val="24DBC5"/>
            </a:solidFill>
            <a:prstDash val="solid"/>
            <a:headEnd type="none" w="sm" len="sm"/>
            <a:tailEnd type="none" w="sm" len="sm"/>
          </a:ln>
        </p:spPr>
      </p:sp>
      <p:sp>
        <p:nvSpPr>
          <p:cNvPr id="17" name="AutoShape 17"/>
          <p:cNvSpPr/>
          <p:nvPr/>
        </p:nvSpPr>
        <p:spPr>
          <a:xfrm>
            <a:off x="13637716" y="6824266"/>
            <a:ext cx="0" cy="720779"/>
          </a:xfrm>
          <a:prstGeom prst="line">
            <a:avLst/>
          </a:prstGeom>
          <a:ln w="38100" cap="flat">
            <a:solidFill>
              <a:srgbClr val="24DBC5"/>
            </a:solidFill>
            <a:prstDash val="solid"/>
            <a:headEnd type="none" w="sm" len="sm"/>
            <a:tailEnd type="none" w="sm" len="sm"/>
          </a:ln>
        </p:spPr>
      </p:sp>
      <p:grpSp>
        <p:nvGrpSpPr>
          <p:cNvPr id="18" name="Group 18"/>
          <p:cNvGrpSpPr/>
          <p:nvPr/>
        </p:nvGrpSpPr>
        <p:grpSpPr>
          <a:xfrm>
            <a:off x="1147505" y="5143500"/>
            <a:ext cx="3353922" cy="1235290"/>
            <a:chOff x="0" y="0"/>
            <a:chExt cx="1411780" cy="519976"/>
          </a:xfrm>
        </p:grpSpPr>
        <p:sp>
          <p:nvSpPr>
            <p:cNvPr id="19" name="Freeform 19"/>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29804"/>
              </a:srgbClr>
            </a:solidFill>
          </p:spPr>
        </p:sp>
        <p:sp>
          <p:nvSpPr>
            <p:cNvPr id="20" name="TextBox 20"/>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grpSp>
        <p:nvGrpSpPr>
          <p:cNvPr id="22" name="Group 22"/>
          <p:cNvGrpSpPr/>
          <p:nvPr/>
        </p:nvGrpSpPr>
        <p:grpSpPr>
          <a:xfrm>
            <a:off x="9487012" y="5143500"/>
            <a:ext cx="3353922" cy="1235290"/>
            <a:chOff x="0" y="0"/>
            <a:chExt cx="1411780" cy="519976"/>
          </a:xfrm>
        </p:grpSpPr>
        <p:sp>
          <p:nvSpPr>
            <p:cNvPr id="23" name="Freeform 23"/>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69804"/>
              </a:srgbClr>
            </a:solidFill>
          </p:spPr>
        </p:sp>
        <p:sp>
          <p:nvSpPr>
            <p:cNvPr id="24" name="TextBox 24"/>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grpSp>
        <p:nvGrpSpPr>
          <p:cNvPr id="26" name="Group 26"/>
          <p:cNvGrpSpPr/>
          <p:nvPr/>
        </p:nvGrpSpPr>
        <p:grpSpPr>
          <a:xfrm>
            <a:off x="13621985" y="5143500"/>
            <a:ext cx="3353922" cy="1235290"/>
            <a:chOff x="0" y="0"/>
            <a:chExt cx="1411780" cy="519976"/>
          </a:xfrm>
        </p:grpSpPr>
        <p:sp>
          <p:nvSpPr>
            <p:cNvPr id="27" name="Freeform 27"/>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89804"/>
              </a:srgbClr>
            </a:solidFill>
          </p:spPr>
        </p:sp>
        <p:sp>
          <p:nvSpPr>
            <p:cNvPr id="28" name="TextBox 28"/>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sp>
        <p:nvSpPr>
          <p:cNvPr id="30" name="Freeform 30"/>
          <p:cNvSpPr/>
          <p:nvPr/>
        </p:nvSpPr>
        <p:spPr>
          <a:xfrm>
            <a:off x="13129479" y="-933450"/>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stretch>
              <a:fillRect/>
            </a:stretch>
          </a:blipFill>
        </p:spPr>
      </p:sp>
      <p:sp>
        <p:nvSpPr>
          <p:cNvPr id="31" name="Freeform 31"/>
          <p:cNvSpPr/>
          <p:nvPr/>
        </p:nvSpPr>
        <p:spPr>
          <a:xfrm>
            <a:off x="9984332" y="-933450"/>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alphaModFix amt="50000"/>
            </a:blip>
            <a:stretch>
              <a:fillRect/>
            </a:stretch>
          </a:blipFill>
        </p:spPr>
      </p:sp>
      <p:sp>
        <p:nvSpPr>
          <p:cNvPr id="33" name="Oval 32">
            <a:extLst>
              <a:ext uri="{FF2B5EF4-FFF2-40B4-BE49-F238E27FC236}">
                <a16:creationId xmlns:a16="http://schemas.microsoft.com/office/drawing/2014/main" id="{47A48631-C5AA-44CB-AB63-1D6E0228A5AE}"/>
              </a:ext>
            </a:extLst>
          </p:cNvPr>
          <p:cNvSpPr/>
          <p:nvPr/>
        </p:nvSpPr>
        <p:spPr>
          <a:xfrm flipH="1">
            <a:off x="1034818" y="7089406"/>
            <a:ext cx="243145" cy="22859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4" name="Oval 33">
            <a:extLst>
              <a:ext uri="{FF2B5EF4-FFF2-40B4-BE49-F238E27FC236}">
                <a16:creationId xmlns:a16="http://schemas.microsoft.com/office/drawing/2014/main" id="{A2EFFA65-667E-45E8-90CA-917F408FC80B}"/>
              </a:ext>
            </a:extLst>
          </p:cNvPr>
          <p:cNvSpPr/>
          <p:nvPr/>
        </p:nvSpPr>
        <p:spPr>
          <a:xfrm flipH="1">
            <a:off x="5176635" y="7102691"/>
            <a:ext cx="243145" cy="22859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5" name="TextBox 8">
            <a:extLst>
              <a:ext uri="{FF2B5EF4-FFF2-40B4-BE49-F238E27FC236}">
                <a16:creationId xmlns:a16="http://schemas.microsoft.com/office/drawing/2014/main" id="{608857B7-5AC7-4E99-916A-4ACC35B45706}"/>
              </a:ext>
            </a:extLst>
          </p:cNvPr>
          <p:cNvSpPr txBox="1"/>
          <p:nvPr/>
        </p:nvSpPr>
        <p:spPr>
          <a:xfrm>
            <a:off x="981882" y="7578655"/>
            <a:ext cx="3364925" cy="855362"/>
          </a:xfrm>
          <a:prstGeom prst="rect">
            <a:avLst/>
          </a:prstGeom>
        </p:spPr>
        <p:txBody>
          <a:bodyPr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Early keyword-based search</a:t>
            </a:r>
            <a:endParaRPr lang="en-US" sz="2399" u="none" dirty="0">
              <a:solidFill>
                <a:srgbClr val="E8EEF2"/>
              </a:solidFill>
              <a:latin typeface="Prompt Light"/>
              <a:ea typeface="Prompt Light"/>
              <a:cs typeface="Prompt Light"/>
              <a:sym typeface="Prompt Light"/>
            </a:endParaRPr>
          </a:p>
        </p:txBody>
      </p:sp>
      <p:sp>
        <p:nvSpPr>
          <p:cNvPr id="36" name="TextBox 9">
            <a:extLst>
              <a:ext uri="{FF2B5EF4-FFF2-40B4-BE49-F238E27FC236}">
                <a16:creationId xmlns:a16="http://schemas.microsoft.com/office/drawing/2014/main" id="{465AA608-DBD4-438B-A651-4A2AD8AA664F}"/>
              </a:ext>
            </a:extLst>
          </p:cNvPr>
          <p:cNvSpPr txBox="1"/>
          <p:nvPr/>
        </p:nvSpPr>
        <p:spPr>
          <a:xfrm>
            <a:off x="5279158" y="7602692"/>
            <a:ext cx="3364925" cy="855362"/>
          </a:xfrm>
          <a:prstGeom prst="rect">
            <a:avLst/>
          </a:prstGeom>
        </p:spPr>
        <p:txBody>
          <a:bodyPr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Link analysis and ranking (PageRank)</a:t>
            </a:r>
          </a:p>
        </p:txBody>
      </p:sp>
      <p:sp>
        <p:nvSpPr>
          <p:cNvPr id="37" name="TextBox 11">
            <a:extLst>
              <a:ext uri="{FF2B5EF4-FFF2-40B4-BE49-F238E27FC236}">
                <a16:creationId xmlns:a16="http://schemas.microsoft.com/office/drawing/2014/main" id="{0562ACD6-6821-406F-BA17-90A599481699}"/>
              </a:ext>
            </a:extLst>
          </p:cNvPr>
          <p:cNvSpPr txBox="1"/>
          <p:nvPr/>
        </p:nvSpPr>
        <p:spPr>
          <a:xfrm>
            <a:off x="9487012" y="7658100"/>
            <a:ext cx="3364925" cy="855362"/>
          </a:xfrm>
          <a:prstGeom prst="rect">
            <a:avLst/>
          </a:prstGeom>
        </p:spPr>
        <p:txBody>
          <a:bodyPr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Semantic search and personalization</a:t>
            </a:r>
          </a:p>
        </p:txBody>
      </p:sp>
      <p:sp>
        <p:nvSpPr>
          <p:cNvPr id="39" name="TextBox 10">
            <a:extLst>
              <a:ext uri="{FF2B5EF4-FFF2-40B4-BE49-F238E27FC236}">
                <a16:creationId xmlns:a16="http://schemas.microsoft.com/office/drawing/2014/main" id="{519E3EF1-7AFA-461D-8F5C-4731CC45A0A7}"/>
              </a:ext>
            </a:extLst>
          </p:cNvPr>
          <p:cNvSpPr txBox="1"/>
          <p:nvPr/>
        </p:nvSpPr>
        <p:spPr>
          <a:xfrm>
            <a:off x="13563600" y="7658100"/>
            <a:ext cx="4666013" cy="855362"/>
          </a:xfrm>
          <a:prstGeom prst="rect">
            <a:avLst/>
          </a:prstGeom>
        </p:spPr>
        <p:txBody>
          <a:bodyPr wrap="square"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AI and deep learning for contextual search</a:t>
            </a:r>
          </a:p>
        </p:txBody>
      </p:sp>
      <p:sp>
        <p:nvSpPr>
          <p:cNvPr id="40" name="TextBox 14">
            <a:extLst>
              <a:ext uri="{FF2B5EF4-FFF2-40B4-BE49-F238E27FC236}">
                <a16:creationId xmlns:a16="http://schemas.microsoft.com/office/drawing/2014/main" id="{0995517C-EB81-4EC4-9738-EC6FA824E13D}"/>
              </a:ext>
            </a:extLst>
          </p:cNvPr>
          <p:cNvSpPr txBox="1"/>
          <p:nvPr/>
        </p:nvSpPr>
        <p:spPr>
          <a:xfrm>
            <a:off x="5257800" y="5275370"/>
            <a:ext cx="2481979" cy="975908"/>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2005</a:t>
            </a:r>
          </a:p>
          <a:p>
            <a:pPr marL="0" lvl="0" indent="0" algn="l">
              <a:lnSpc>
                <a:spcPts val="3840"/>
              </a:lnSpc>
              <a:spcBef>
                <a:spcPct val="0"/>
              </a:spcBef>
            </a:pPr>
            <a:endParaRPr lang="en-US" sz="3200" u="none" dirty="0">
              <a:solidFill>
                <a:srgbClr val="E8EEF2"/>
              </a:solidFill>
              <a:latin typeface="Prompt"/>
              <a:ea typeface="Prompt"/>
              <a:cs typeface="Prompt"/>
              <a:sym typeface="Prompt"/>
            </a:endParaRPr>
          </a:p>
        </p:txBody>
      </p:sp>
      <p:sp>
        <p:nvSpPr>
          <p:cNvPr id="41" name="TextBox 21">
            <a:extLst>
              <a:ext uri="{FF2B5EF4-FFF2-40B4-BE49-F238E27FC236}">
                <a16:creationId xmlns:a16="http://schemas.microsoft.com/office/drawing/2014/main" id="{FE66C187-5113-4FF9-A19B-DECAB75A28CA}"/>
              </a:ext>
            </a:extLst>
          </p:cNvPr>
          <p:cNvSpPr txBox="1"/>
          <p:nvPr/>
        </p:nvSpPr>
        <p:spPr>
          <a:xfrm>
            <a:off x="1099421"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2000 </a:t>
            </a:r>
          </a:p>
        </p:txBody>
      </p:sp>
      <p:sp>
        <p:nvSpPr>
          <p:cNvPr id="42" name="TextBox 25">
            <a:extLst>
              <a:ext uri="{FF2B5EF4-FFF2-40B4-BE49-F238E27FC236}">
                <a16:creationId xmlns:a16="http://schemas.microsoft.com/office/drawing/2014/main" id="{7B721676-066B-4C3A-8F2B-42601B0A27FA}"/>
              </a:ext>
            </a:extLst>
          </p:cNvPr>
          <p:cNvSpPr txBox="1"/>
          <p:nvPr/>
        </p:nvSpPr>
        <p:spPr>
          <a:xfrm>
            <a:off x="9405221"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2010</a:t>
            </a:r>
          </a:p>
        </p:txBody>
      </p:sp>
      <p:sp>
        <p:nvSpPr>
          <p:cNvPr id="43" name="TextBox 29">
            <a:extLst>
              <a:ext uri="{FF2B5EF4-FFF2-40B4-BE49-F238E27FC236}">
                <a16:creationId xmlns:a16="http://schemas.microsoft.com/office/drawing/2014/main" id="{AFBB5028-14C8-4254-8176-BE6435F6893A}"/>
              </a:ext>
            </a:extLst>
          </p:cNvPr>
          <p:cNvSpPr txBox="1"/>
          <p:nvPr/>
        </p:nvSpPr>
        <p:spPr>
          <a:xfrm>
            <a:off x="13563600"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2020</a:t>
            </a:r>
          </a:p>
        </p:txBody>
      </p:sp>
    </p:spTree>
    <p:extLst>
      <p:ext uri="{BB962C8B-B14F-4D97-AF65-F5344CB8AC3E}">
        <p14:creationId xmlns:p14="http://schemas.microsoft.com/office/powerpoint/2010/main" val="4043304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EEF2"/>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grpSp>
        <p:nvGrpSpPr>
          <p:cNvPr id="4" name="Group 4"/>
          <p:cNvGrpSpPr/>
          <p:nvPr/>
        </p:nvGrpSpPr>
        <p:grpSpPr>
          <a:xfrm>
            <a:off x="5279158" y="5143500"/>
            <a:ext cx="3353922" cy="1235290"/>
            <a:chOff x="0" y="0"/>
            <a:chExt cx="1411780" cy="519976"/>
          </a:xfrm>
        </p:grpSpPr>
        <p:sp>
          <p:nvSpPr>
            <p:cNvPr id="5" name="Freeform 5"/>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49804"/>
              </a:srgbClr>
            </a:solidFill>
          </p:spPr>
        </p:sp>
        <p:sp>
          <p:nvSpPr>
            <p:cNvPr id="6" name="TextBox 6"/>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1028700" y="1028700"/>
            <a:ext cx="7133590" cy="1219200"/>
          </a:xfrm>
          <a:prstGeom prst="rect">
            <a:avLst/>
          </a:prstGeom>
        </p:spPr>
        <p:txBody>
          <a:bodyPr lIns="0" tIns="0" rIns="0" bIns="0" rtlCol="0" anchor="t">
            <a:spAutoFit/>
          </a:bodyPr>
          <a:lstStyle/>
          <a:p>
            <a:pPr marL="0" lvl="0" indent="0" algn="l">
              <a:lnSpc>
                <a:spcPts val="9600"/>
              </a:lnSpc>
              <a:spcBef>
                <a:spcPct val="0"/>
              </a:spcBef>
            </a:pPr>
            <a:r>
              <a:rPr lang="en-US" sz="8000">
                <a:solidFill>
                  <a:srgbClr val="E8EEF2"/>
                </a:solidFill>
                <a:latin typeface="Prompt Light"/>
                <a:ea typeface="Prompt Light"/>
                <a:cs typeface="Prompt Light"/>
                <a:sym typeface="Prompt Light"/>
              </a:rPr>
              <a:t>THEORETICAL</a:t>
            </a:r>
          </a:p>
        </p:txBody>
      </p:sp>
      <p:sp>
        <p:nvSpPr>
          <p:cNvPr id="8" name="TextBox 8"/>
          <p:cNvSpPr txBox="1"/>
          <p:nvPr/>
        </p:nvSpPr>
        <p:spPr>
          <a:xfrm>
            <a:off x="981882" y="7578655"/>
            <a:ext cx="3364925" cy="855362"/>
          </a:xfrm>
          <a:prstGeom prst="rect">
            <a:avLst/>
          </a:prstGeom>
        </p:spPr>
        <p:txBody>
          <a:bodyPr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Early keyword-based search</a:t>
            </a:r>
          </a:p>
        </p:txBody>
      </p:sp>
      <p:sp>
        <p:nvSpPr>
          <p:cNvPr id="9" name="TextBox 9"/>
          <p:cNvSpPr txBox="1"/>
          <p:nvPr/>
        </p:nvSpPr>
        <p:spPr>
          <a:xfrm>
            <a:off x="5279158" y="7602692"/>
            <a:ext cx="3364925" cy="855362"/>
          </a:xfrm>
          <a:prstGeom prst="rect">
            <a:avLst/>
          </a:prstGeom>
        </p:spPr>
        <p:txBody>
          <a:bodyPr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Link analysis and ranking (PageRank)</a:t>
            </a:r>
          </a:p>
        </p:txBody>
      </p:sp>
      <p:sp>
        <p:nvSpPr>
          <p:cNvPr id="10" name="TextBox 10"/>
          <p:cNvSpPr txBox="1"/>
          <p:nvPr/>
        </p:nvSpPr>
        <p:spPr>
          <a:xfrm>
            <a:off x="13563600" y="7658100"/>
            <a:ext cx="4666013" cy="855362"/>
          </a:xfrm>
          <a:prstGeom prst="rect">
            <a:avLst/>
          </a:prstGeom>
        </p:spPr>
        <p:txBody>
          <a:bodyPr wrap="square"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AI and deep learning for contextual search</a:t>
            </a:r>
          </a:p>
        </p:txBody>
      </p:sp>
      <p:sp>
        <p:nvSpPr>
          <p:cNvPr id="11" name="TextBox 11"/>
          <p:cNvSpPr txBox="1"/>
          <p:nvPr/>
        </p:nvSpPr>
        <p:spPr>
          <a:xfrm>
            <a:off x="9487012" y="7658100"/>
            <a:ext cx="3364925" cy="855362"/>
          </a:xfrm>
          <a:prstGeom prst="rect">
            <a:avLst/>
          </a:prstGeom>
        </p:spPr>
        <p:txBody>
          <a:bodyPr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Semantic search and personalization</a:t>
            </a:r>
          </a:p>
        </p:txBody>
      </p:sp>
      <p:sp>
        <p:nvSpPr>
          <p:cNvPr id="12" name="TextBox 12"/>
          <p:cNvSpPr txBox="1"/>
          <p:nvPr/>
        </p:nvSpPr>
        <p:spPr>
          <a:xfrm>
            <a:off x="1028700" y="2247900"/>
            <a:ext cx="7133590" cy="1219200"/>
          </a:xfrm>
          <a:prstGeom prst="rect">
            <a:avLst/>
          </a:prstGeom>
        </p:spPr>
        <p:txBody>
          <a:bodyPr lIns="0" tIns="0" rIns="0" bIns="0" rtlCol="0" anchor="t">
            <a:spAutoFit/>
          </a:bodyPr>
          <a:lstStyle/>
          <a:p>
            <a:pPr marL="0" lvl="0" indent="0" algn="l">
              <a:lnSpc>
                <a:spcPts val="9600"/>
              </a:lnSpc>
              <a:spcBef>
                <a:spcPct val="0"/>
              </a:spcBef>
            </a:pPr>
            <a:r>
              <a:rPr lang="en-US" sz="8000" b="1">
                <a:solidFill>
                  <a:srgbClr val="24DBC5"/>
                </a:solidFill>
                <a:latin typeface="Prompt Bold"/>
                <a:ea typeface="Prompt Bold"/>
                <a:cs typeface="Prompt Bold"/>
                <a:sym typeface="Prompt Bold"/>
              </a:rPr>
              <a:t>FRAMEWORK</a:t>
            </a:r>
          </a:p>
        </p:txBody>
      </p:sp>
      <p:sp>
        <p:nvSpPr>
          <p:cNvPr id="13" name="AutoShape 13"/>
          <p:cNvSpPr/>
          <p:nvPr/>
        </p:nvSpPr>
        <p:spPr>
          <a:xfrm>
            <a:off x="1147505" y="7203705"/>
            <a:ext cx="17355161" cy="0"/>
          </a:xfrm>
          <a:prstGeom prst="line">
            <a:avLst/>
          </a:prstGeom>
          <a:ln w="38100" cap="flat">
            <a:solidFill>
              <a:srgbClr val="E8EEF2"/>
            </a:solidFill>
            <a:prstDash val="solid"/>
            <a:headEnd type="oval" w="lg" len="lg"/>
            <a:tailEnd type="none" w="sm" len="sm"/>
          </a:ln>
        </p:spPr>
      </p:sp>
      <p:sp>
        <p:nvSpPr>
          <p:cNvPr id="14" name="TextBox 14"/>
          <p:cNvSpPr txBox="1"/>
          <p:nvPr/>
        </p:nvSpPr>
        <p:spPr>
          <a:xfrm>
            <a:off x="5257800"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2005</a:t>
            </a:r>
          </a:p>
        </p:txBody>
      </p:sp>
      <p:sp>
        <p:nvSpPr>
          <p:cNvPr id="15" name="AutoShape 15"/>
          <p:cNvSpPr/>
          <p:nvPr/>
        </p:nvSpPr>
        <p:spPr>
          <a:xfrm>
            <a:off x="5298208" y="6824266"/>
            <a:ext cx="0" cy="720779"/>
          </a:xfrm>
          <a:prstGeom prst="line">
            <a:avLst/>
          </a:prstGeom>
          <a:ln w="38100" cap="flat">
            <a:solidFill>
              <a:srgbClr val="24DBC5"/>
            </a:solidFill>
            <a:prstDash val="solid"/>
            <a:headEnd type="none" w="sm" len="sm"/>
            <a:tailEnd type="none" w="sm" len="sm"/>
          </a:ln>
        </p:spPr>
      </p:sp>
      <p:sp>
        <p:nvSpPr>
          <p:cNvPr id="16" name="AutoShape 16"/>
          <p:cNvSpPr/>
          <p:nvPr/>
        </p:nvSpPr>
        <p:spPr>
          <a:xfrm>
            <a:off x="9467962" y="6824266"/>
            <a:ext cx="0" cy="720779"/>
          </a:xfrm>
          <a:prstGeom prst="line">
            <a:avLst/>
          </a:prstGeom>
          <a:ln w="38100" cap="flat">
            <a:solidFill>
              <a:srgbClr val="24DBC5"/>
            </a:solidFill>
            <a:prstDash val="solid"/>
            <a:headEnd type="none" w="sm" len="sm"/>
            <a:tailEnd type="none" w="sm" len="sm"/>
          </a:ln>
        </p:spPr>
      </p:sp>
      <p:sp>
        <p:nvSpPr>
          <p:cNvPr id="17" name="AutoShape 17"/>
          <p:cNvSpPr/>
          <p:nvPr/>
        </p:nvSpPr>
        <p:spPr>
          <a:xfrm>
            <a:off x="13637716" y="6824266"/>
            <a:ext cx="0" cy="720779"/>
          </a:xfrm>
          <a:prstGeom prst="line">
            <a:avLst/>
          </a:prstGeom>
          <a:ln w="38100" cap="flat">
            <a:solidFill>
              <a:srgbClr val="24DBC5"/>
            </a:solidFill>
            <a:prstDash val="solid"/>
            <a:headEnd type="none" w="sm" len="sm"/>
            <a:tailEnd type="none" w="sm" len="sm"/>
          </a:ln>
        </p:spPr>
      </p:sp>
      <p:grpSp>
        <p:nvGrpSpPr>
          <p:cNvPr id="18" name="Group 18"/>
          <p:cNvGrpSpPr/>
          <p:nvPr/>
        </p:nvGrpSpPr>
        <p:grpSpPr>
          <a:xfrm>
            <a:off x="1147505" y="5143500"/>
            <a:ext cx="3353922" cy="1235290"/>
            <a:chOff x="0" y="0"/>
            <a:chExt cx="1411780" cy="519976"/>
          </a:xfrm>
        </p:grpSpPr>
        <p:sp>
          <p:nvSpPr>
            <p:cNvPr id="19" name="Freeform 19"/>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29804"/>
              </a:srgbClr>
            </a:solidFill>
          </p:spPr>
        </p:sp>
        <p:sp>
          <p:nvSpPr>
            <p:cNvPr id="20" name="TextBox 20"/>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sp>
        <p:nvSpPr>
          <p:cNvPr id="21" name="TextBox 21"/>
          <p:cNvSpPr txBox="1"/>
          <p:nvPr/>
        </p:nvSpPr>
        <p:spPr>
          <a:xfrm>
            <a:off x="1099421"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2000 </a:t>
            </a:r>
          </a:p>
        </p:txBody>
      </p:sp>
      <p:grpSp>
        <p:nvGrpSpPr>
          <p:cNvPr id="22" name="Group 22"/>
          <p:cNvGrpSpPr/>
          <p:nvPr/>
        </p:nvGrpSpPr>
        <p:grpSpPr>
          <a:xfrm>
            <a:off x="9487012" y="5143500"/>
            <a:ext cx="3353922" cy="1235290"/>
            <a:chOff x="0" y="0"/>
            <a:chExt cx="1411780" cy="519976"/>
          </a:xfrm>
        </p:grpSpPr>
        <p:sp>
          <p:nvSpPr>
            <p:cNvPr id="23" name="Freeform 23"/>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69804"/>
              </a:srgbClr>
            </a:solidFill>
          </p:spPr>
        </p:sp>
        <p:sp>
          <p:nvSpPr>
            <p:cNvPr id="24" name="TextBox 24"/>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sp>
        <p:nvSpPr>
          <p:cNvPr id="25" name="TextBox 25"/>
          <p:cNvSpPr txBox="1"/>
          <p:nvPr/>
        </p:nvSpPr>
        <p:spPr>
          <a:xfrm>
            <a:off x="9405221"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2010</a:t>
            </a:r>
          </a:p>
        </p:txBody>
      </p:sp>
      <p:grpSp>
        <p:nvGrpSpPr>
          <p:cNvPr id="26" name="Group 26"/>
          <p:cNvGrpSpPr/>
          <p:nvPr/>
        </p:nvGrpSpPr>
        <p:grpSpPr>
          <a:xfrm>
            <a:off x="13621985" y="5143500"/>
            <a:ext cx="3353922" cy="1235290"/>
            <a:chOff x="0" y="0"/>
            <a:chExt cx="1411780" cy="519976"/>
          </a:xfrm>
        </p:grpSpPr>
        <p:sp>
          <p:nvSpPr>
            <p:cNvPr id="27" name="Freeform 27"/>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89804"/>
              </a:srgbClr>
            </a:solidFill>
          </p:spPr>
        </p:sp>
        <p:sp>
          <p:nvSpPr>
            <p:cNvPr id="28" name="TextBox 28"/>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sp>
        <p:nvSpPr>
          <p:cNvPr id="29" name="TextBox 29"/>
          <p:cNvSpPr txBox="1"/>
          <p:nvPr/>
        </p:nvSpPr>
        <p:spPr>
          <a:xfrm>
            <a:off x="13563600"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2020</a:t>
            </a:r>
          </a:p>
        </p:txBody>
      </p:sp>
      <p:sp>
        <p:nvSpPr>
          <p:cNvPr id="30" name="Freeform 30"/>
          <p:cNvSpPr/>
          <p:nvPr/>
        </p:nvSpPr>
        <p:spPr>
          <a:xfrm>
            <a:off x="13129479" y="-933450"/>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stretch>
              <a:fillRect/>
            </a:stretch>
          </a:blipFill>
        </p:spPr>
      </p:sp>
      <p:sp>
        <p:nvSpPr>
          <p:cNvPr id="31" name="Freeform 31"/>
          <p:cNvSpPr/>
          <p:nvPr/>
        </p:nvSpPr>
        <p:spPr>
          <a:xfrm>
            <a:off x="9984332" y="-933450"/>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alphaModFix amt="50000"/>
            </a:blip>
            <a:stretch>
              <a:fillRect/>
            </a:stretch>
          </a:blipFill>
        </p:spPr>
      </p:sp>
      <p:sp>
        <p:nvSpPr>
          <p:cNvPr id="33" name="Oval 32">
            <a:extLst>
              <a:ext uri="{FF2B5EF4-FFF2-40B4-BE49-F238E27FC236}">
                <a16:creationId xmlns:a16="http://schemas.microsoft.com/office/drawing/2014/main" id="{47A48631-C5AA-44CB-AB63-1D6E0228A5AE}"/>
              </a:ext>
            </a:extLst>
          </p:cNvPr>
          <p:cNvSpPr/>
          <p:nvPr/>
        </p:nvSpPr>
        <p:spPr>
          <a:xfrm flipH="1">
            <a:off x="1034818" y="7089406"/>
            <a:ext cx="243145" cy="22859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4" name="Oval 33">
            <a:extLst>
              <a:ext uri="{FF2B5EF4-FFF2-40B4-BE49-F238E27FC236}">
                <a16:creationId xmlns:a16="http://schemas.microsoft.com/office/drawing/2014/main" id="{A2EFFA65-667E-45E8-90CA-917F408FC80B}"/>
              </a:ext>
            </a:extLst>
          </p:cNvPr>
          <p:cNvSpPr/>
          <p:nvPr/>
        </p:nvSpPr>
        <p:spPr>
          <a:xfrm flipH="1">
            <a:off x="9346389" y="7107428"/>
            <a:ext cx="243145" cy="22859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973105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EEF2"/>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grpSp>
        <p:nvGrpSpPr>
          <p:cNvPr id="4" name="Group 4"/>
          <p:cNvGrpSpPr/>
          <p:nvPr/>
        </p:nvGrpSpPr>
        <p:grpSpPr>
          <a:xfrm>
            <a:off x="5279158" y="5143500"/>
            <a:ext cx="3353922" cy="1235290"/>
            <a:chOff x="0" y="0"/>
            <a:chExt cx="1411780" cy="519976"/>
          </a:xfrm>
        </p:grpSpPr>
        <p:sp>
          <p:nvSpPr>
            <p:cNvPr id="5" name="Freeform 5"/>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49804"/>
              </a:srgbClr>
            </a:solidFill>
          </p:spPr>
        </p:sp>
        <p:sp>
          <p:nvSpPr>
            <p:cNvPr id="6" name="TextBox 6"/>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1028700" y="1028700"/>
            <a:ext cx="7133590" cy="1219200"/>
          </a:xfrm>
          <a:prstGeom prst="rect">
            <a:avLst/>
          </a:prstGeom>
        </p:spPr>
        <p:txBody>
          <a:bodyPr lIns="0" tIns="0" rIns="0" bIns="0" rtlCol="0" anchor="t">
            <a:spAutoFit/>
          </a:bodyPr>
          <a:lstStyle/>
          <a:p>
            <a:pPr marL="0" lvl="0" indent="0" algn="l">
              <a:lnSpc>
                <a:spcPts val="9600"/>
              </a:lnSpc>
              <a:spcBef>
                <a:spcPct val="0"/>
              </a:spcBef>
            </a:pPr>
            <a:r>
              <a:rPr lang="en-US" sz="8000">
                <a:solidFill>
                  <a:srgbClr val="E8EEF2"/>
                </a:solidFill>
                <a:latin typeface="Prompt Light"/>
                <a:ea typeface="Prompt Light"/>
                <a:cs typeface="Prompt Light"/>
                <a:sym typeface="Prompt Light"/>
              </a:rPr>
              <a:t>THEORETICAL</a:t>
            </a:r>
          </a:p>
        </p:txBody>
      </p:sp>
      <p:sp>
        <p:nvSpPr>
          <p:cNvPr id="12" name="TextBox 12"/>
          <p:cNvSpPr txBox="1"/>
          <p:nvPr/>
        </p:nvSpPr>
        <p:spPr>
          <a:xfrm>
            <a:off x="1028700" y="2247900"/>
            <a:ext cx="7133590" cy="1219200"/>
          </a:xfrm>
          <a:prstGeom prst="rect">
            <a:avLst/>
          </a:prstGeom>
        </p:spPr>
        <p:txBody>
          <a:bodyPr lIns="0" tIns="0" rIns="0" bIns="0" rtlCol="0" anchor="t">
            <a:spAutoFit/>
          </a:bodyPr>
          <a:lstStyle/>
          <a:p>
            <a:pPr marL="0" lvl="0" indent="0" algn="l">
              <a:lnSpc>
                <a:spcPts val="9600"/>
              </a:lnSpc>
              <a:spcBef>
                <a:spcPct val="0"/>
              </a:spcBef>
            </a:pPr>
            <a:r>
              <a:rPr lang="en-US" sz="8000" b="1">
                <a:solidFill>
                  <a:srgbClr val="24DBC5"/>
                </a:solidFill>
                <a:latin typeface="Prompt Bold"/>
                <a:ea typeface="Prompt Bold"/>
                <a:cs typeface="Prompt Bold"/>
                <a:sym typeface="Prompt Bold"/>
              </a:rPr>
              <a:t>FRAMEWORK</a:t>
            </a:r>
          </a:p>
        </p:txBody>
      </p:sp>
      <p:sp>
        <p:nvSpPr>
          <p:cNvPr id="13" name="AutoShape 13"/>
          <p:cNvSpPr/>
          <p:nvPr/>
        </p:nvSpPr>
        <p:spPr>
          <a:xfrm>
            <a:off x="1147505" y="7203705"/>
            <a:ext cx="17355161" cy="0"/>
          </a:xfrm>
          <a:prstGeom prst="line">
            <a:avLst/>
          </a:prstGeom>
          <a:ln w="38100" cap="flat">
            <a:solidFill>
              <a:srgbClr val="E8EEF2"/>
            </a:solidFill>
            <a:prstDash val="solid"/>
            <a:headEnd type="oval" w="lg" len="lg"/>
            <a:tailEnd type="none" w="sm" len="sm"/>
          </a:ln>
        </p:spPr>
      </p:sp>
      <p:sp>
        <p:nvSpPr>
          <p:cNvPr id="15" name="AutoShape 15"/>
          <p:cNvSpPr/>
          <p:nvPr/>
        </p:nvSpPr>
        <p:spPr>
          <a:xfrm>
            <a:off x="5298208" y="6824266"/>
            <a:ext cx="0" cy="720779"/>
          </a:xfrm>
          <a:prstGeom prst="line">
            <a:avLst/>
          </a:prstGeom>
          <a:ln w="38100" cap="flat">
            <a:solidFill>
              <a:srgbClr val="24DBC5"/>
            </a:solidFill>
            <a:prstDash val="solid"/>
            <a:headEnd type="none" w="sm" len="sm"/>
            <a:tailEnd type="none" w="sm" len="sm"/>
          </a:ln>
        </p:spPr>
      </p:sp>
      <p:sp>
        <p:nvSpPr>
          <p:cNvPr id="16" name="AutoShape 16"/>
          <p:cNvSpPr/>
          <p:nvPr/>
        </p:nvSpPr>
        <p:spPr>
          <a:xfrm>
            <a:off x="9467962" y="6824266"/>
            <a:ext cx="0" cy="720779"/>
          </a:xfrm>
          <a:prstGeom prst="line">
            <a:avLst/>
          </a:prstGeom>
          <a:ln w="38100" cap="flat">
            <a:solidFill>
              <a:srgbClr val="24DBC5"/>
            </a:solidFill>
            <a:prstDash val="solid"/>
            <a:headEnd type="none" w="sm" len="sm"/>
            <a:tailEnd type="none" w="sm" len="sm"/>
          </a:ln>
        </p:spPr>
      </p:sp>
      <p:sp>
        <p:nvSpPr>
          <p:cNvPr id="17" name="AutoShape 17"/>
          <p:cNvSpPr/>
          <p:nvPr/>
        </p:nvSpPr>
        <p:spPr>
          <a:xfrm>
            <a:off x="13637716" y="6824266"/>
            <a:ext cx="0" cy="720779"/>
          </a:xfrm>
          <a:prstGeom prst="line">
            <a:avLst/>
          </a:prstGeom>
          <a:ln w="38100" cap="flat">
            <a:solidFill>
              <a:srgbClr val="24DBC5"/>
            </a:solidFill>
            <a:prstDash val="solid"/>
            <a:headEnd type="none" w="sm" len="sm"/>
            <a:tailEnd type="none" w="sm" len="sm"/>
          </a:ln>
        </p:spPr>
      </p:sp>
      <p:grpSp>
        <p:nvGrpSpPr>
          <p:cNvPr id="18" name="Group 18"/>
          <p:cNvGrpSpPr/>
          <p:nvPr/>
        </p:nvGrpSpPr>
        <p:grpSpPr>
          <a:xfrm>
            <a:off x="1147505" y="5143500"/>
            <a:ext cx="3353922" cy="1235290"/>
            <a:chOff x="0" y="0"/>
            <a:chExt cx="1411780" cy="519976"/>
          </a:xfrm>
        </p:grpSpPr>
        <p:sp>
          <p:nvSpPr>
            <p:cNvPr id="19" name="Freeform 19"/>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29804"/>
              </a:srgbClr>
            </a:solidFill>
          </p:spPr>
        </p:sp>
        <p:sp>
          <p:nvSpPr>
            <p:cNvPr id="20" name="TextBox 20"/>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grpSp>
        <p:nvGrpSpPr>
          <p:cNvPr id="22" name="Group 22"/>
          <p:cNvGrpSpPr/>
          <p:nvPr/>
        </p:nvGrpSpPr>
        <p:grpSpPr>
          <a:xfrm>
            <a:off x="9487012" y="5143500"/>
            <a:ext cx="3353922" cy="1235290"/>
            <a:chOff x="0" y="0"/>
            <a:chExt cx="1411780" cy="519976"/>
          </a:xfrm>
        </p:grpSpPr>
        <p:sp>
          <p:nvSpPr>
            <p:cNvPr id="23" name="Freeform 23"/>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69804"/>
              </a:srgbClr>
            </a:solidFill>
          </p:spPr>
        </p:sp>
        <p:sp>
          <p:nvSpPr>
            <p:cNvPr id="24" name="TextBox 24"/>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grpSp>
        <p:nvGrpSpPr>
          <p:cNvPr id="26" name="Group 26"/>
          <p:cNvGrpSpPr/>
          <p:nvPr/>
        </p:nvGrpSpPr>
        <p:grpSpPr>
          <a:xfrm>
            <a:off x="13621985" y="5143500"/>
            <a:ext cx="3353922" cy="1235290"/>
            <a:chOff x="0" y="0"/>
            <a:chExt cx="1411780" cy="519976"/>
          </a:xfrm>
        </p:grpSpPr>
        <p:sp>
          <p:nvSpPr>
            <p:cNvPr id="27" name="Freeform 27"/>
            <p:cNvSpPr/>
            <p:nvPr/>
          </p:nvSpPr>
          <p:spPr>
            <a:xfrm>
              <a:off x="0" y="0"/>
              <a:ext cx="1411780" cy="519976"/>
            </a:xfrm>
            <a:custGeom>
              <a:avLst/>
              <a:gdLst/>
              <a:ahLst/>
              <a:cxnLst/>
              <a:rect l="l" t="t" r="r" b="b"/>
              <a:pathLst>
                <a:path w="1411780" h="519976">
                  <a:moveTo>
                    <a:pt x="0" y="0"/>
                  </a:moveTo>
                  <a:lnTo>
                    <a:pt x="1411780" y="0"/>
                  </a:lnTo>
                  <a:lnTo>
                    <a:pt x="1411780" y="519976"/>
                  </a:lnTo>
                  <a:lnTo>
                    <a:pt x="0" y="519976"/>
                  </a:lnTo>
                  <a:close/>
                </a:path>
              </a:pathLst>
            </a:custGeom>
            <a:solidFill>
              <a:srgbClr val="0A0910">
                <a:alpha val="89804"/>
              </a:srgbClr>
            </a:solidFill>
          </p:spPr>
        </p:sp>
        <p:sp>
          <p:nvSpPr>
            <p:cNvPr id="28" name="TextBox 28"/>
            <p:cNvSpPr txBox="1"/>
            <p:nvPr/>
          </p:nvSpPr>
          <p:spPr>
            <a:xfrm>
              <a:off x="0" y="-38100"/>
              <a:ext cx="1411780" cy="558076"/>
            </a:xfrm>
            <a:prstGeom prst="rect">
              <a:avLst/>
            </a:prstGeom>
          </p:spPr>
          <p:txBody>
            <a:bodyPr lIns="50800" tIns="50800" rIns="50800" bIns="50800" rtlCol="0" anchor="ctr"/>
            <a:lstStyle/>
            <a:p>
              <a:pPr algn="ctr">
                <a:lnSpc>
                  <a:spcPts val="3359"/>
                </a:lnSpc>
              </a:pPr>
              <a:endParaRPr/>
            </a:p>
          </p:txBody>
        </p:sp>
      </p:grpSp>
      <p:sp>
        <p:nvSpPr>
          <p:cNvPr id="30" name="Freeform 30"/>
          <p:cNvSpPr/>
          <p:nvPr/>
        </p:nvSpPr>
        <p:spPr>
          <a:xfrm>
            <a:off x="13129479" y="-933450"/>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stretch>
              <a:fillRect/>
            </a:stretch>
          </a:blipFill>
        </p:spPr>
      </p:sp>
      <p:sp>
        <p:nvSpPr>
          <p:cNvPr id="31" name="Freeform 31"/>
          <p:cNvSpPr/>
          <p:nvPr/>
        </p:nvSpPr>
        <p:spPr>
          <a:xfrm>
            <a:off x="9984332" y="-933450"/>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alphaModFix amt="50000"/>
            </a:blip>
            <a:stretch>
              <a:fillRect/>
            </a:stretch>
          </a:blipFill>
        </p:spPr>
      </p:sp>
      <p:sp>
        <p:nvSpPr>
          <p:cNvPr id="33" name="Oval 32">
            <a:extLst>
              <a:ext uri="{FF2B5EF4-FFF2-40B4-BE49-F238E27FC236}">
                <a16:creationId xmlns:a16="http://schemas.microsoft.com/office/drawing/2014/main" id="{47A48631-C5AA-44CB-AB63-1D6E0228A5AE}"/>
              </a:ext>
            </a:extLst>
          </p:cNvPr>
          <p:cNvSpPr/>
          <p:nvPr/>
        </p:nvSpPr>
        <p:spPr>
          <a:xfrm flipH="1">
            <a:off x="1034818" y="7089406"/>
            <a:ext cx="243145" cy="22859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4" name="Oval 33">
            <a:extLst>
              <a:ext uri="{FF2B5EF4-FFF2-40B4-BE49-F238E27FC236}">
                <a16:creationId xmlns:a16="http://schemas.microsoft.com/office/drawing/2014/main" id="{A2EFFA65-667E-45E8-90CA-917F408FC80B}"/>
              </a:ext>
            </a:extLst>
          </p:cNvPr>
          <p:cNvSpPr/>
          <p:nvPr/>
        </p:nvSpPr>
        <p:spPr>
          <a:xfrm flipH="1">
            <a:off x="13516143" y="7107428"/>
            <a:ext cx="243145" cy="22859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5" name="TextBox 8">
            <a:extLst>
              <a:ext uri="{FF2B5EF4-FFF2-40B4-BE49-F238E27FC236}">
                <a16:creationId xmlns:a16="http://schemas.microsoft.com/office/drawing/2014/main" id="{B1175FA1-AF4C-451D-9CD1-EB6146DB0DCF}"/>
              </a:ext>
            </a:extLst>
          </p:cNvPr>
          <p:cNvSpPr txBox="1"/>
          <p:nvPr/>
        </p:nvSpPr>
        <p:spPr>
          <a:xfrm>
            <a:off x="981882" y="7578655"/>
            <a:ext cx="3364925" cy="855362"/>
          </a:xfrm>
          <a:prstGeom prst="rect">
            <a:avLst/>
          </a:prstGeom>
        </p:spPr>
        <p:txBody>
          <a:bodyPr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Early keyword-based search</a:t>
            </a:r>
          </a:p>
        </p:txBody>
      </p:sp>
      <p:sp>
        <p:nvSpPr>
          <p:cNvPr id="37" name="TextBox 9">
            <a:extLst>
              <a:ext uri="{FF2B5EF4-FFF2-40B4-BE49-F238E27FC236}">
                <a16:creationId xmlns:a16="http://schemas.microsoft.com/office/drawing/2014/main" id="{D3894F2C-DC4E-48F9-ACD4-BD04537037EA}"/>
              </a:ext>
            </a:extLst>
          </p:cNvPr>
          <p:cNvSpPr txBox="1"/>
          <p:nvPr/>
        </p:nvSpPr>
        <p:spPr>
          <a:xfrm>
            <a:off x="5279158" y="7602692"/>
            <a:ext cx="3364925" cy="855362"/>
          </a:xfrm>
          <a:prstGeom prst="rect">
            <a:avLst/>
          </a:prstGeom>
        </p:spPr>
        <p:txBody>
          <a:bodyPr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Link analysis and ranking (PageRank)</a:t>
            </a:r>
          </a:p>
        </p:txBody>
      </p:sp>
      <p:sp>
        <p:nvSpPr>
          <p:cNvPr id="38" name="TextBox 11">
            <a:extLst>
              <a:ext uri="{FF2B5EF4-FFF2-40B4-BE49-F238E27FC236}">
                <a16:creationId xmlns:a16="http://schemas.microsoft.com/office/drawing/2014/main" id="{F00ED755-A482-48C9-A558-9285A57E81EB}"/>
              </a:ext>
            </a:extLst>
          </p:cNvPr>
          <p:cNvSpPr txBox="1"/>
          <p:nvPr/>
        </p:nvSpPr>
        <p:spPr>
          <a:xfrm>
            <a:off x="9487012" y="7658100"/>
            <a:ext cx="3364925" cy="855362"/>
          </a:xfrm>
          <a:prstGeom prst="rect">
            <a:avLst/>
          </a:prstGeom>
        </p:spPr>
        <p:txBody>
          <a:bodyPr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Semantic search and personalization</a:t>
            </a:r>
          </a:p>
        </p:txBody>
      </p:sp>
      <p:sp>
        <p:nvSpPr>
          <p:cNvPr id="40" name="TextBox 10">
            <a:extLst>
              <a:ext uri="{FF2B5EF4-FFF2-40B4-BE49-F238E27FC236}">
                <a16:creationId xmlns:a16="http://schemas.microsoft.com/office/drawing/2014/main" id="{5DEA7AEC-0716-4F61-91E9-06325764F415}"/>
              </a:ext>
            </a:extLst>
          </p:cNvPr>
          <p:cNvSpPr txBox="1"/>
          <p:nvPr/>
        </p:nvSpPr>
        <p:spPr>
          <a:xfrm>
            <a:off x="13563600" y="7658100"/>
            <a:ext cx="4666013" cy="855362"/>
          </a:xfrm>
          <a:prstGeom prst="rect">
            <a:avLst/>
          </a:prstGeom>
        </p:spPr>
        <p:txBody>
          <a:bodyPr wrap="square" lIns="0" tIns="0" rIns="0" bIns="0" rtlCol="0" anchor="t">
            <a:spAutoFit/>
          </a:bodyPr>
          <a:lstStyle/>
          <a:p>
            <a:pPr marL="0" lvl="0" indent="0" algn="l">
              <a:lnSpc>
                <a:spcPts val="3359"/>
              </a:lnSpc>
              <a:spcBef>
                <a:spcPct val="0"/>
              </a:spcBef>
            </a:pPr>
            <a:r>
              <a:rPr lang="en-US" sz="2399" dirty="0">
                <a:solidFill>
                  <a:srgbClr val="E8EEF2"/>
                </a:solidFill>
                <a:latin typeface="Prompt Light"/>
                <a:ea typeface="Prompt Light"/>
                <a:cs typeface="Prompt Light"/>
                <a:sym typeface="Prompt Light"/>
              </a:rPr>
              <a:t>AI and deep learning for contextual search</a:t>
            </a:r>
          </a:p>
        </p:txBody>
      </p:sp>
      <p:sp>
        <p:nvSpPr>
          <p:cNvPr id="41" name="TextBox 14">
            <a:extLst>
              <a:ext uri="{FF2B5EF4-FFF2-40B4-BE49-F238E27FC236}">
                <a16:creationId xmlns:a16="http://schemas.microsoft.com/office/drawing/2014/main" id="{0C68B4FA-BF4D-4C38-BB88-1A77443BE680}"/>
              </a:ext>
            </a:extLst>
          </p:cNvPr>
          <p:cNvSpPr txBox="1"/>
          <p:nvPr/>
        </p:nvSpPr>
        <p:spPr>
          <a:xfrm>
            <a:off x="5257800"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2005</a:t>
            </a:r>
          </a:p>
        </p:txBody>
      </p:sp>
      <p:sp>
        <p:nvSpPr>
          <p:cNvPr id="42" name="TextBox 21">
            <a:extLst>
              <a:ext uri="{FF2B5EF4-FFF2-40B4-BE49-F238E27FC236}">
                <a16:creationId xmlns:a16="http://schemas.microsoft.com/office/drawing/2014/main" id="{C05833CA-B324-415B-BDC9-0B482820E1B9}"/>
              </a:ext>
            </a:extLst>
          </p:cNvPr>
          <p:cNvSpPr txBox="1"/>
          <p:nvPr/>
        </p:nvSpPr>
        <p:spPr>
          <a:xfrm>
            <a:off x="1099421"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2000 </a:t>
            </a:r>
          </a:p>
        </p:txBody>
      </p:sp>
      <p:sp>
        <p:nvSpPr>
          <p:cNvPr id="43" name="TextBox 25">
            <a:extLst>
              <a:ext uri="{FF2B5EF4-FFF2-40B4-BE49-F238E27FC236}">
                <a16:creationId xmlns:a16="http://schemas.microsoft.com/office/drawing/2014/main" id="{0EACF72B-82D1-47CC-9733-025129B348E7}"/>
              </a:ext>
            </a:extLst>
          </p:cNvPr>
          <p:cNvSpPr txBox="1"/>
          <p:nvPr/>
        </p:nvSpPr>
        <p:spPr>
          <a:xfrm>
            <a:off x="9405221"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2010</a:t>
            </a:r>
          </a:p>
        </p:txBody>
      </p:sp>
      <p:sp>
        <p:nvSpPr>
          <p:cNvPr id="44" name="TextBox 29">
            <a:extLst>
              <a:ext uri="{FF2B5EF4-FFF2-40B4-BE49-F238E27FC236}">
                <a16:creationId xmlns:a16="http://schemas.microsoft.com/office/drawing/2014/main" id="{63D1A9C9-8B05-4610-9CD3-0B3109256770}"/>
              </a:ext>
            </a:extLst>
          </p:cNvPr>
          <p:cNvSpPr txBox="1"/>
          <p:nvPr/>
        </p:nvSpPr>
        <p:spPr>
          <a:xfrm>
            <a:off x="13563600" y="5275370"/>
            <a:ext cx="2481979"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a:ea typeface="Prompt"/>
                <a:cs typeface="Prompt"/>
                <a:sym typeface="Prompt"/>
              </a:rPr>
              <a:t>2020</a:t>
            </a:r>
          </a:p>
        </p:txBody>
      </p:sp>
    </p:spTree>
    <p:extLst>
      <p:ext uri="{BB962C8B-B14F-4D97-AF65-F5344CB8AC3E}">
        <p14:creationId xmlns:p14="http://schemas.microsoft.com/office/powerpoint/2010/main" val="3952274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91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sp>
        <p:nvSpPr>
          <p:cNvPr id="4" name="TextBox 4"/>
          <p:cNvSpPr txBox="1"/>
          <p:nvPr/>
        </p:nvSpPr>
        <p:spPr>
          <a:xfrm>
            <a:off x="8302626" y="3726116"/>
            <a:ext cx="8956674" cy="1219200"/>
          </a:xfrm>
          <a:prstGeom prst="rect">
            <a:avLst/>
          </a:prstGeom>
        </p:spPr>
        <p:txBody>
          <a:bodyPr lIns="0" tIns="0" rIns="0" bIns="0" rtlCol="0" anchor="t">
            <a:spAutoFit/>
          </a:bodyPr>
          <a:lstStyle/>
          <a:p>
            <a:pPr marL="0" lvl="0" indent="0" algn="r">
              <a:lnSpc>
                <a:spcPts val="9600"/>
              </a:lnSpc>
              <a:spcBef>
                <a:spcPct val="0"/>
              </a:spcBef>
            </a:pPr>
            <a:r>
              <a:rPr lang="en-US" sz="8000" b="1">
                <a:solidFill>
                  <a:srgbClr val="24DBC5"/>
                </a:solidFill>
                <a:latin typeface="Prompt Bold"/>
                <a:ea typeface="Prompt Bold"/>
                <a:cs typeface="Prompt Bold"/>
                <a:sym typeface="Prompt Bold"/>
              </a:rPr>
              <a:t>OBJECTIVES</a:t>
            </a:r>
          </a:p>
        </p:txBody>
      </p:sp>
      <p:sp>
        <p:nvSpPr>
          <p:cNvPr id="5" name="TextBox 5"/>
          <p:cNvSpPr txBox="1"/>
          <p:nvPr/>
        </p:nvSpPr>
        <p:spPr>
          <a:xfrm>
            <a:off x="11621083" y="5122134"/>
            <a:ext cx="5638217" cy="4847481"/>
          </a:xfrm>
          <a:prstGeom prst="rect">
            <a:avLst/>
          </a:prstGeom>
        </p:spPr>
        <p:txBody>
          <a:bodyPr lIns="0" tIns="0" rIns="0" bIns="0" rtlCol="0" anchor="t">
            <a:spAutoFit/>
          </a:bodyPr>
          <a:lstStyle/>
          <a:p>
            <a:pPr marL="0" lvl="0" indent="0" algn="r">
              <a:lnSpc>
                <a:spcPts val="4160"/>
              </a:lnSpc>
              <a:spcBef>
                <a:spcPct val="0"/>
              </a:spcBef>
            </a:pPr>
            <a:r>
              <a:rPr lang="en-US" sz="3200" u="none" dirty="0">
                <a:solidFill>
                  <a:srgbClr val="E8EEF2"/>
                </a:solidFill>
                <a:latin typeface="Prompt Light"/>
                <a:ea typeface="Prompt Light"/>
                <a:cs typeface="Prompt Light"/>
                <a:sym typeface="Prompt Light"/>
              </a:rPr>
              <a:t>The objectives of search engines include efficient information retrieval, accurate ranking, semantic understanding, and delivering fast, relevant, and personalized search experiences across different domains.</a:t>
            </a:r>
          </a:p>
        </p:txBody>
      </p:sp>
      <p:sp>
        <p:nvSpPr>
          <p:cNvPr id="6" name="AutoShape 6"/>
          <p:cNvSpPr/>
          <p:nvPr/>
        </p:nvSpPr>
        <p:spPr>
          <a:xfrm flipV="1">
            <a:off x="17812362" y="2420576"/>
            <a:ext cx="0" cy="3737243"/>
          </a:xfrm>
          <a:prstGeom prst="line">
            <a:avLst/>
          </a:prstGeom>
          <a:ln w="38100" cap="flat">
            <a:solidFill>
              <a:srgbClr val="E8EEF2"/>
            </a:solidFill>
            <a:prstDash val="solid"/>
            <a:headEnd type="none" w="sm" len="sm"/>
            <a:tailEnd type="none" w="sm" len="sm"/>
          </a:ln>
        </p:spPr>
      </p:sp>
      <p:sp>
        <p:nvSpPr>
          <p:cNvPr id="7" name="TextBox 7"/>
          <p:cNvSpPr txBox="1"/>
          <p:nvPr/>
        </p:nvSpPr>
        <p:spPr>
          <a:xfrm>
            <a:off x="12780963" y="582251"/>
            <a:ext cx="4478337" cy="3676650"/>
          </a:xfrm>
          <a:prstGeom prst="rect">
            <a:avLst/>
          </a:prstGeom>
        </p:spPr>
        <p:txBody>
          <a:bodyPr lIns="0" tIns="0" rIns="0" bIns="0" rtlCol="0" anchor="t">
            <a:spAutoFit/>
          </a:bodyPr>
          <a:lstStyle/>
          <a:p>
            <a:pPr marL="0" lvl="0" indent="0" algn="r">
              <a:lnSpc>
                <a:spcPts val="28999"/>
              </a:lnSpc>
              <a:spcBef>
                <a:spcPct val="0"/>
              </a:spcBef>
            </a:pPr>
            <a:r>
              <a:rPr lang="en-US" sz="24166" spc="-1014">
                <a:solidFill>
                  <a:srgbClr val="E8EEF2"/>
                </a:solidFill>
                <a:latin typeface="Prompt Light"/>
                <a:ea typeface="Prompt Light"/>
                <a:cs typeface="Prompt Light"/>
                <a:sym typeface="Prompt Light"/>
              </a:rPr>
              <a:t>02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A3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sp>
        <p:nvSpPr>
          <p:cNvPr id="4" name="Freeform 4"/>
          <p:cNvSpPr/>
          <p:nvPr/>
        </p:nvSpPr>
        <p:spPr>
          <a:xfrm>
            <a:off x="12289147" y="269124"/>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stretch>
              <a:fillRect/>
            </a:stretch>
          </a:blipFill>
        </p:spPr>
      </p:sp>
      <p:sp>
        <p:nvSpPr>
          <p:cNvPr id="5" name="TextBox 5"/>
          <p:cNvSpPr txBox="1"/>
          <p:nvPr/>
        </p:nvSpPr>
        <p:spPr>
          <a:xfrm>
            <a:off x="1028700" y="2247900"/>
            <a:ext cx="8907619" cy="1219200"/>
          </a:xfrm>
          <a:prstGeom prst="rect">
            <a:avLst/>
          </a:prstGeom>
        </p:spPr>
        <p:txBody>
          <a:bodyPr lIns="0" tIns="0" rIns="0" bIns="0" rtlCol="0" anchor="t">
            <a:spAutoFit/>
          </a:bodyPr>
          <a:lstStyle/>
          <a:p>
            <a:pPr algn="l">
              <a:lnSpc>
                <a:spcPts val="9600"/>
              </a:lnSpc>
            </a:pPr>
            <a:r>
              <a:rPr lang="en-US" sz="8000" b="1" dirty="0">
                <a:solidFill>
                  <a:srgbClr val="24DBC5"/>
                </a:solidFill>
                <a:latin typeface="Prompt Bold"/>
                <a:ea typeface="Prompt Bold"/>
                <a:cs typeface="Prompt Bold"/>
                <a:sym typeface="Prompt Bold"/>
              </a:rPr>
              <a:t>OBJECTIVES</a:t>
            </a:r>
          </a:p>
        </p:txBody>
      </p:sp>
      <p:grpSp>
        <p:nvGrpSpPr>
          <p:cNvPr id="6" name="Group 6"/>
          <p:cNvGrpSpPr/>
          <p:nvPr/>
        </p:nvGrpSpPr>
        <p:grpSpPr>
          <a:xfrm>
            <a:off x="0" y="5822199"/>
            <a:ext cx="18288000" cy="4464801"/>
            <a:chOff x="0" y="0"/>
            <a:chExt cx="24384000" cy="5953068"/>
          </a:xfrm>
        </p:grpSpPr>
        <p:sp>
          <p:nvSpPr>
            <p:cNvPr id="7" name="AutoShape 7"/>
            <p:cNvSpPr/>
            <p:nvPr/>
          </p:nvSpPr>
          <p:spPr>
            <a:xfrm>
              <a:off x="0" y="0"/>
              <a:ext cx="6096000" cy="5953068"/>
            </a:xfrm>
            <a:prstGeom prst="rect">
              <a:avLst/>
            </a:prstGeom>
            <a:solidFill>
              <a:srgbClr val="0A0910">
                <a:alpha val="60000"/>
              </a:srgbClr>
            </a:solidFill>
          </p:spPr>
        </p:sp>
        <p:sp>
          <p:nvSpPr>
            <p:cNvPr id="8" name="AutoShape 8"/>
            <p:cNvSpPr/>
            <p:nvPr/>
          </p:nvSpPr>
          <p:spPr>
            <a:xfrm>
              <a:off x="6096000" y="0"/>
              <a:ext cx="6096000" cy="5953068"/>
            </a:xfrm>
            <a:prstGeom prst="rect">
              <a:avLst/>
            </a:prstGeom>
            <a:solidFill>
              <a:srgbClr val="0A0910">
                <a:alpha val="60000"/>
              </a:srgbClr>
            </a:solidFill>
          </p:spPr>
        </p:sp>
        <p:sp>
          <p:nvSpPr>
            <p:cNvPr id="9" name="AutoShape 9"/>
            <p:cNvSpPr/>
            <p:nvPr/>
          </p:nvSpPr>
          <p:spPr>
            <a:xfrm>
              <a:off x="12192000" y="0"/>
              <a:ext cx="6096000" cy="5953068"/>
            </a:xfrm>
            <a:prstGeom prst="rect">
              <a:avLst/>
            </a:prstGeom>
            <a:solidFill>
              <a:srgbClr val="0A0910">
                <a:alpha val="60000"/>
              </a:srgbClr>
            </a:solidFill>
          </p:spPr>
        </p:sp>
        <p:sp>
          <p:nvSpPr>
            <p:cNvPr id="10" name="AutoShape 10"/>
            <p:cNvSpPr/>
            <p:nvPr/>
          </p:nvSpPr>
          <p:spPr>
            <a:xfrm>
              <a:off x="18288000" y="0"/>
              <a:ext cx="6096000" cy="5953068"/>
            </a:xfrm>
            <a:prstGeom prst="rect">
              <a:avLst/>
            </a:prstGeom>
            <a:solidFill>
              <a:srgbClr val="0A0910">
                <a:alpha val="60000"/>
              </a:srgbClr>
            </a:solidFill>
          </p:spPr>
        </p:sp>
      </p:grpSp>
      <p:grpSp>
        <p:nvGrpSpPr>
          <p:cNvPr id="11" name="Group 11"/>
          <p:cNvGrpSpPr/>
          <p:nvPr/>
        </p:nvGrpSpPr>
        <p:grpSpPr>
          <a:xfrm>
            <a:off x="9144000" y="5822199"/>
            <a:ext cx="4539394" cy="4464801"/>
            <a:chOff x="0" y="0"/>
            <a:chExt cx="1195561" cy="1175915"/>
          </a:xfrm>
        </p:grpSpPr>
        <p:sp>
          <p:nvSpPr>
            <p:cNvPr id="12" name="Freeform 12"/>
            <p:cNvSpPr/>
            <p:nvPr/>
          </p:nvSpPr>
          <p:spPr>
            <a:xfrm>
              <a:off x="0" y="0"/>
              <a:ext cx="1195561" cy="1175915"/>
            </a:xfrm>
            <a:custGeom>
              <a:avLst/>
              <a:gdLst/>
              <a:ahLst/>
              <a:cxnLst/>
              <a:rect l="l" t="t" r="r" b="b"/>
              <a:pathLst>
                <a:path w="1195561" h="1175915">
                  <a:moveTo>
                    <a:pt x="0" y="0"/>
                  </a:moveTo>
                  <a:lnTo>
                    <a:pt x="1195561" y="0"/>
                  </a:lnTo>
                  <a:lnTo>
                    <a:pt x="1195561" y="1175915"/>
                  </a:lnTo>
                  <a:lnTo>
                    <a:pt x="0" y="1175915"/>
                  </a:lnTo>
                  <a:close/>
                </a:path>
              </a:pathLst>
            </a:custGeom>
            <a:solidFill>
              <a:srgbClr val="000000">
                <a:alpha val="40000"/>
              </a:srgbClr>
            </a:solidFill>
          </p:spPr>
        </p:sp>
        <p:sp>
          <p:nvSpPr>
            <p:cNvPr id="13" name="TextBox 13"/>
            <p:cNvSpPr txBox="1"/>
            <p:nvPr/>
          </p:nvSpPr>
          <p:spPr>
            <a:xfrm>
              <a:off x="0" y="-38100"/>
              <a:ext cx="1195561" cy="1214015"/>
            </a:xfrm>
            <a:prstGeom prst="rect">
              <a:avLst/>
            </a:prstGeom>
          </p:spPr>
          <p:txBody>
            <a:bodyPr lIns="50800" tIns="50800" rIns="50800" bIns="50800" rtlCol="0" anchor="ctr"/>
            <a:lstStyle/>
            <a:p>
              <a:pPr algn="ctr">
                <a:lnSpc>
                  <a:spcPts val="3359"/>
                </a:lnSpc>
              </a:pPr>
              <a:endParaRPr/>
            </a:p>
          </p:txBody>
        </p:sp>
      </p:grpSp>
      <p:grpSp>
        <p:nvGrpSpPr>
          <p:cNvPr id="14" name="Group 14"/>
          <p:cNvGrpSpPr/>
          <p:nvPr/>
        </p:nvGrpSpPr>
        <p:grpSpPr>
          <a:xfrm>
            <a:off x="4604606" y="5822199"/>
            <a:ext cx="4539394" cy="4464801"/>
            <a:chOff x="0" y="0"/>
            <a:chExt cx="1195561" cy="1175915"/>
          </a:xfrm>
        </p:grpSpPr>
        <p:sp>
          <p:nvSpPr>
            <p:cNvPr id="15" name="Freeform 15"/>
            <p:cNvSpPr/>
            <p:nvPr/>
          </p:nvSpPr>
          <p:spPr>
            <a:xfrm>
              <a:off x="0" y="0"/>
              <a:ext cx="1195561" cy="1175915"/>
            </a:xfrm>
            <a:custGeom>
              <a:avLst/>
              <a:gdLst/>
              <a:ahLst/>
              <a:cxnLst/>
              <a:rect l="l" t="t" r="r" b="b"/>
              <a:pathLst>
                <a:path w="1195561" h="1175915">
                  <a:moveTo>
                    <a:pt x="0" y="0"/>
                  </a:moveTo>
                  <a:lnTo>
                    <a:pt x="1195561" y="0"/>
                  </a:lnTo>
                  <a:lnTo>
                    <a:pt x="1195561" y="1175915"/>
                  </a:lnTo>
                  <a:lnTo>
                    <a:pt x="0" y="1175915"/>
                  </a:lnTo>
                  <a:close/>
                </a:path>
              </a:pathLst>
            </a:custGeom>
            <a:solidFill>
              <a:srgbClr val="000000">
                <a:alpha val="40000"/>
              </a:srgbClr>
            </a:solidFill>
          </p:spPr>
        </p:sp>
        <p:sp>
          <p:nvSpPr>
            <p:cNvPr id="16" name="TextBox 16"/>
            <p:cNvSpPr txBox="1"/>
            <p:nvPr/>
          </p:nvSpPr>
          <p:spPr>
            <a:xfrm>
              <a:off x="0" y="-38100"/>
              <a:ext cx="1195561" cy="1214015"/>
            </a:xfrm>
            <a:prstGeom prst="rect">
              <a:avLst/>
            </a:prstGeom>
          </p:spPr>
          <p:txBody>
            <a:bodyPr lIns="50800" tIns="50800" rIns="50800" bIns="50800" rtlCol="0" anchor="ctr"/>
            <a:lstStyle/>
            <a:p>
              <a:pPr algn="ctr">
                <a:lnSpc>
                  <a:spcPts val="3359"/>
                </a:lnSpc>
              </a:pPr>
              <a:endParaRPr/>
            </a:p>
          </p:txBody>
        </p:sp>
      </p:grpSp>
      <p:sp>
        <p:nvSpPr>
          <p:cNvPr id="17" name="Freeform 17"/>
          <p:cNvSpPr/>
          <p:nvPr/>
        </p:nvSpPr>
        <p:spPr>
          <a:xfrm>
            <a:off x="9144000" y="269124"/>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alphaModFix amt="50000"/>
            </a:blip>
            <a:stretch>
              <a:fillRect/>
            </a:stretch>
          </a:blipFill>
        </p:spPr>
      </p:sp>
      <p:grpSp>
        <p:nvGrpSpPr>
          <p:cNvPr id="18" name="Group 18"/>
          <p:cNvGrpSpPr/>
          <p:nvPr/>
        </p:nvGrpSpPr>
        <p:grpSpPr>
          <a:xfrm>
            <a:off x="9525" y="5822199"/>
            <a:ext cx="4539394" cy="4464801"/>
            <a:chOff x="0" y="0"/>
            <a:chExt cx="1195561" cy="1175915"/>
          </a:xfrm>
        </p:grpSpPr>
        <p:sp>
          <p:nvSpPr>
            <p:cNvPr id="19" name="Freeform 19"/>
            <p:cNvSpPr/>
            <p:nvPr/>
          </p:nvSpPr>
          <p:spPr>
            <a:xfrm>
              <a:off x="0" y="0"/>
              <a:ext cx="1195561" cy="1175915"/>
            </a:xfrm>
            <a:custGeom>
              <a:avLst/>
              <a:gdLst/>
              <a:ahLst/>
              <a:cxnLst/>
              <a:rect l="l" t="t" r="r" b="b"/>
              <a:pathLst>
                <a:path w="1195561" h="1175915">
                  <a:moveTo>
                    <a:pt x="0" y="0"/>
                  </a:moveTo>
                  <a:lnTo>
                    <a:pt x="1195561" y="0"/>
                  </a:lnTo>
                  <a:lnTo>
                    <a:pt x="1195561" y="1175915"/>
                  </a:lnTo>
                  <a:lnTo>
                    <a:pt x="0" y="1175915"/>
                  </a:lnTo>
                  <a:close/>
                </a:path>
              </a:pathLst>
            </a:custGeom>
            <a:solidFill>
              <a:srgbClr val="000000">
                <a:alpha val="40000"/>
              </a:srgbClr>
            </a:solidFill>
          </p:spPr>
        </p:sp>
        <p:sp>
          <p:nvSpPr>
            <p:cNvPr id="20" name="TextBox 20"/>
            <p:cNvSpPr txBox="1"/>
            <p:nvPr/>
          </p:nvSpPr>
          <p:spPr>
            <a:xfrm>
              <a:off x="0" y="-38100"/>
              <a:ext cx="1195561" cy="1214015"/>
            </a:xfrm>
            <a:prstGeom prst="rect">
              <a:avLst/>
            </a:prstGeom>
          </p:spPr>
          <p:txBody>
            <a:bodyPr lIns="50800" tIns="50800" rIns="50800" bIns="50800" rtlCol="0" anchor="ctr"/>
            <a:lstStyle/>
            <a:p>
              <a:pPr algn="ctr">
                <a:lnSpc>
                  <a:spcPts val="3359"/>
                </a:lnSpc>
              </a:pPr>
              <a:endParaRPr/>
            </a:p>
          </p:txBody>
        </p:sp>
      </p:grpSp>
      <p:sp>
        <p:nvSpPr>
          <p:cNvPr id="21" name="TextBox 21"/>
          <p:cNvSpPr txBox="1"/>
          <p:nvPr/>
        </p:nvSpPr>
        <p:spPr>
          <a:xfrm>
            <a:off x="274660" y="6743700"/>
            <a:ext cx="3870752" cy="975908"/>
          </a:xfrm>
          <a:prstGeom prst="rect">
            <a:avLst/>
          </a:prstGeom>
        </p:spPr>
        <p:txBody>
          <a:bodyPr lIns="0" tIns="0" rIns="0" bIns="0" rtlCol="0" anchor="t">
            <a:spAutoFit/>
          </a:bodyPr>
          <a:lstStyle/>
          <a:p>
            <a:pPr marL="0" lvl="0" indent="0" algn="ctr">
              <a:lnSpc>
                <a:spcPts val="3840"/>
              </a:lnSpc>
              <a:spcBef>
                <a:spcPct val="0"/>
              </a:spcBef>
            </a:pPr>
            <a:r>
              <a:rPr lang="en-US" sz="3200" b="1" dirty="0">
                <a:solidFill>
                  <a:srgbClr val="E8EEF2"/>
                </a:solidFill>
                <a:latin typeface="Prompt Bold"/>
                <a:ea typeface="Prompt Bold"/>
                <a:cs typeface="Prompt Bold"/>
                <a:sym typeface="Prompt Bold"/>
              </a:rPr>
              <a:t>Information Retrieval</a:t>
            </a:r>
          </a:p>
        </p:txBody>
      </p:sp>
      <p:sp>
        <p:nvSpPr>
          <p:cNvPr id="22" name="TextBox 22"/>
          <p:cNvSpPr txBox="1"/>
          <p:nvPr/>
        </p:nvSpPr>
        <p:spPr>
          <a:xfrm>
            <a:off x="252778" y="8343900"/>
            <a:ext cx="3870752" cy="1727396"/>
          </a:xfrm>
          <a:prstGeom prst="rect">
            <a:avLst/>
          </a:prstGeom>
        </p:spPr>
        <p:txBody>
          <a:bodyPr lIns="0" tIns="0" rIns="0" bIns="0" rtlCol="0" anchor="t">
            <a:spAutoFit/>
          </a:bodyPr>
          <a:lstStyle/>
          <a:p>
            <a:pPr marL="0" lvl="0" indent="0" algn="ctr">
              <a:lnSpc>
                <a:spcPts val="3359"/>
              </a:lnSpc>
              <a:spcBef>
                <a:spcPct val="0"/>
              </a:spcBef>
            </a:pPr>
            <a:r>
              <a:rPr lang="en-US" sz="2400" dirty="0">
                <a:solidFill>
                  <a:srgbClr val="E8EEF2"/>
                </a:solidFill>
                <a:latin typeface="Prompt Light"/>
                <a:ea typeface="Prompt Light"/>
                <a:cs typeface="Prompt Light"/>
                <a:sym typeface="Prompt Light"/>
              </a:rPr>
              <a:t>Automatically retrieving relevant content from indexed data in response to a user query.</a:t>
            </a:r>
          </a:p>
        </p:txBody>
      </p:sp>
      <p:sp>
        <p:nvSpPr>
          <p:cNvPr id="24" name="TextBox 24"/>
          <p:cNvSpPr txBox="1"/>
          <p:nvPr/>
        </p:nvSpPr>
        <p:spPr>
          <a:xfrm>
            <a:off x="1608427" y="5600700"/>
            <a:ext cx="1159455" cy="1219200"/>
          </a:xfrm>
          <a:prstGeom prst="rect">
            <a:avLst/>
          </a:prstGeom>
        </p:spPr>
        <p:txBody>
          <a:bodyPr lIns="0" tIns="0" rIns="0" bIns="0" rtlCol="0" anchor="t">
            <a:spAutoFit/>
          </a:bodyPr>
          <a:lstStyle/>
          <a:p>
            <a:pPr marL="0" lvl="0" indent="0" algn="ctr">
              <a:lnSpc>
                <a:spcPts val="9600"/>
              </a:lnSpc>
              <a:spcBef>
                <a:spcPct val="0"/>
              </a:spcBef>
            </a:pPr>
            <a:r>
              <a:rPr lang="en-US" sz="8000" spc="-336" dirty="0">
                <a:solidFill>
                  <a:srgbClr val="E8EEF2"/>
                </a:solidFill>
                <a:latin typeface="Prompt Light"/>
                <a:ea typeface="Prompt Light"/>
                <a:cs typeface="Prompt Light"/>
                <a:sym typeface="Prompt Light"/>
              </a:rPr>
              <a:t>01</a:t>
            </a:r>
          </a:p>
        </p:txBody>
      </p:sp>
      <p:sp>
        <p:nvSpPr>
          <p:cNvPr id="25" name="TextBox 25"/>
          <p:cNvSpPr txBox="1"/>
          <p:nvPr/>
        </p:nvSpPr>
        <p:spPr>
          <a:xfrm>
            <a:off x="6040573" y="5600700"/>
            <a:ext cx="1319990" cy="1219200"/>
          </a:xfrm>
          <a:prstGeom prst="rect">
            <a:avLst/>
          </a:prstGeom>
        </p:spPr>
        <p:txBody>
          <a:bodyPr lIns="0" tIns="0" rIns="0" bIns="0" rtlCol="0" anchor="t">
            <a:spAutoFit/>
          </a:bodyPr>
          <a:lstStyle/>
          <a:p>
            <a:pPr marL="0" lvl="0" indent="0" algn="ctr">
              <a:lnSpc>
                <a:spcPts val="9600"/>
              </a:lnSpc>
              <a:spcBef>
                <a:spcPct val="0"/>
              </a:spcBef>
            </a:pPr>
            <a:r>
              <a:rPr lang="en-US" sz="8000" spc="-336" dirty="0">
                <a:solidFill>
                  <a:srgbClr val="E8EEF2"/>
                </a:solidFill>
                <a:latin typeface="Prompt Light"/>
                <a:ea typeface="Prompt Light"/>
                <a:cs typeface="Prompt Light"/>
                <a:sym typeface="Prompt Light"/>
              </a:rPr>
              <a:t>02</a:t>
            </a:r>
          </a:p>
        </p:txBody>
      </p:sp>
      <p:sp>
        <p:nvSpPr>
          <p:cNvPr id="26" name="TextBox 26"/>
          <p:cNvSpPr txBox="1"/>
          <p:nvPr/>
        </p:nvSpPr>
        <p:spPr>
          <a:xfrm>
            <a:off x="10603494" y="5600700"/>
            <a:ext cx="1480525" cy="1219200"/>
          </a:xfrm>
          <a:prstGeom prst="rect">
            <a:avLst/>
          </a:prstGeom>
        </p:spPr>
        <p:txBody>
          <a:bodyPr lIns="0" tIns="0" rIns="0" bIns="0" rtlCol="0" anchor="t">
            <a:spAutoFit/>
          </a:bodyPr>
          <a:lstStyle/>
          <a:p>
            <a:pPr marL="0" lvl="0" indent="0" algn="ctr">
              <a:lnSpc>
                <a:spcPts val="9600"/>
              </a:lnSpc>
              <a:spcBef>
                <a:spcPct val="0"/>
              </a:spcBef>
            </a:pPr>
            <a:r>
              <a:rPr lang="en-US" sz="8000" spc="-336" dirty="0">
                <a:solidFill>
                  <a:srgbClr val="E8EEF2"/>
                </a:solidFill>
                <a:latin typeface="Prompt Light"/>
                <a:ea typeface="Prompt Light"/>
                <a:cs typeface="Prompt Light"/>
                <a:sym typeface="Prompt Light"/>
              </a:rPr>
              <a:t>03</a:t>
            </a:r>
          </a:p>
        </p:txBody>
      </p:sp>
      <p:grpSp>
        <p:nvGrpSpPr>
          <p:cNvPr id="27" name="Group 27"/>
          <p:cNvGrpSpPr/>
          <p:nvPr/>
        </p:nvGrpSpPr>
        <p:grpSpPr>
          <a:xfrm>
            <a:off x="13775661" y="5822199"/>
            <a:ext cx="4539394" cy="4464801"/>
            <a:chOff x="0" y="0"/>
            <a:chExt cx="1195561" cy="1175915"/>
          </a:xfrm>
        </p:grpSpPr>
        <p:sp>
          <p:nvSpPr>
            <p:cNvPr id="28" name="Freeform 28"/>
            <p:cNvSpPr/>
            <p:nvPr/>
          </p:nvSpPr>
          <p:spPr>
            <a:xfrm>
              <a:off x="0" y="0"/>
              <a:ext cx="1195561" cy="1175915"/>
            </a:xfrm>
            <a:custGeom>
              <a:avLst/>
              <a:gdLst/>
              <a:ahLst/>
              <a:cxnLst/>
              <a:rect l="l" t="t" r="r" b="b"/>
              <a:pathLst>
                <a:path w="1195561" h="1175915">
                  <a:moveTo>
                    <a:pt x="0" y="0"/>
                  </a:moveTo>
                  <a:lnTo>
                    <a:pt x="1195561" y="0"/>
                  </a:lnTo>
                  <a:lnTo>
                    <a:pt x="1195561" y="1175915"/>
                  </a:lnTo>
                  <a:lnTo>
                    <a:pt x="0" y="1175915"/>
                  </a:lnTo>
                  <a:close/>
                </a:path>
              </a:pathLst>
            </a:custGeom>
            <a:solidFill>
              <a:srgbClr val="000000">
                <a:alpha val="40000"/>
              </a:srgbClr>
            </a:solidFill>
          </p:spPr>
        </p:sp>
        <p:sp>
          <p:nvSpPr>
            <p:cNvPr id="29" name="TextBox 29"/>
            <p:cNvSpPr txBox="1"/>
            <p:nvPr/>
          </p:nvSpPr>
          <p:spPr>
            <a:xfrm>
              <a:off x="0" y="-38100"/>
              <a:ext cx="1195561" cy="1214015"/>
            </a:xfrm>
            <a:prstGeom prst="rect">
              <a:avLst/>
            </a:prstGeom>
          </p:spPr>
          <p:txBody>
            <a:bodyPr lIns="50800" tIns="50800" rIns="50800" bIns="50800" rtlCol="0" anchor="ctr"/>
            <a:lstStyle/>
            <a:p>
              <a:pPr algn="ctr">
                <a:lnSpc>
                  <a:spcPts val="3359"/>
                </a:lnSpc>
              </a:pPr>
              <a:endParaRPr/>
            </a:p>
          </p:txBody>
        </p:sp>
      </p:grpSp>
      <p:sp>
        <p:nvSpPr>
          <p:cNvPr id="30" name="TextBox 30"/>
          <p:cNvSpPr txBox="1"/>
          <p:nvPr/>
        </p:nvSpPr>
        <p:spPr>
          <a:xfrm>
            <a:off x="15390071" y="5676900"/>
            <a:ext cx="1293234" cy="1219200"/>
          </a:xfrm>
          <a:prstGeom prst="rect">
            <a:avLst/>
          </a:prstGeom>
        </p:spPr>
        <p:txBody>
          <a:bodyPr lIns="0" tIns="0" rIns="0" bIns="0" rtlCol="0" anchor="t">
            <a:spAutoFit/>
          </a:bodyPr>
          <a:lstStyle/>
          <a:p>
            <a:pPr marL="0" lvl="0" indent="0" algn="ctr">
              <a:lnSpc>
                <a:spcPts val="9600"/>
              </a:lnSpc>
              <a:spcBef>
                <a:spcPct val="0"/>
              </a:spcBef>
            </a:pPr>
            <a:r>
              <a:rPr lang="en-US" sz="8000" spc="-336" dirty="0">
                <a:solidFill>
                  <a:srgbClr val="E8EEF2"/>
                </a:solidFill>
                <a:latin typeface="Prompt Light"/>
                <a:ea typeface="Prompt Light"/>
                <a:cs typeface="Prompt Light"/>
                <a:sym typeface="Prompt Light"/>
              </a:rPr>
              <a:t>04</a:t>
            </a:r>
          </a:p>
        </p:txBody>
      </p:sp>
      <p:sp>
        <p:nvSpPr>
          <p:cNvPr id="31" name="TextBox 31"/>
          <p:cNvSpPr txBox="1"/>
          <p:nvPr/>
        </p:nvSpPr>
        <p:spPr>
          <a:xfrm>
            <a:off x="4846660" y="6743700"/>
            <a:ext cx="3870752" cy="975908"/>
          </a:xfrm>
          <a:prstGeom prst="rect">
            <a:avLst/>
          </a:prstGeom>
        </p:spPr>
        <p:txBody>
          <a:bodyPr lIns="0" tIns="0" rIns="0" bIns="0" rtlCol="0" anchor="t">
            <a:spAutoFit/>
          </a:bodyPr>
          <a:lstStyle/>
          <a:p>
            <a:pPr marL="0" lvl="0" indent="0" algn="ctr">
              <a:lnSpc>
                <a:spcPts val="3840"/>
              </a:lnSpc>
              <a:spcBef>
                <a:spcPct val="0"/>
              </a:spcBef>
            </a:pPr>
            <a:r>
              <a:rPr lang="en-US" sz="3200" b="1" dirty="0">
                <a:solidFill>
                  <a:srgbClr val="E8EEF2"/>
                </a:solidFill>
                <a:latin typeface="Prompt Bold"/>
                <a:ea typeface="Prompt Bold"/>
                <a:cs typeface="Prompt Bold"/>
                <a:sym typeface="Prompt Bold"/>
              </a:rPr>
              <a:t>Query Understanding</a:t>
            </a:r>
          </a:p>
        </p:txBody>
      </p:sp>
      <p:sp>
        <p:nvSpPr>
          <p:cNvPr id="32" name="TextBox 32"/>
          <p:cNvSpPr txBox="1"/>
          <p:nvPr/>
        </p:nvSpPr>
        <p:spPr>
          <a:xfrm>
            <a:off x="4846660" y="8369104"/>
            <a:ext cx="3870752" cy="1727396"/>
          </a:xfrm>
          <a:prstGeom prst="rect">
            <a:avLst/>
          </a:prstGeom>
        </p:spPr>
        <p:txBody>
          <a:bodyPr lIns="0" tIns="0" rIns="0" bIns="0" rtlCol="0" anchor="t">
            <a:spAutoFit/>
          </a:bodyPr>
          <a:lstStyle/>
          <a:p>
            <a:pPr marL="0" lvl="0" indent="0" algn="ctr">
              <a:lnSpc>
                <a:spcPts val="3359"/>
              </a:lnSpc>
              <a:spcBef>
                <a:spcPct val="0"/>
              </a:spcBef>
            </a:pPr>
            <a:r>
              <a:rPr lang="en-US" sz="2400" dirty="0">
                <a:solidFill>
                  <a:srgbClr val="E8EEF2"/>
                </a:solidFill>
                <a:latin typeface="Prompt Light"/>
                <a:ea typeface="Prompt Light"/>
                <a:cs typeface="Prompt Light"/>
                <a:sym typeface="Prompt Light"/>
              </a:rPr>
              <a:t>Using AI and NLP to detect the user’s real intent and improve result relevance.</a:t>
            </a:r>
          </a:p>
        </p:txBody>
      </p:sp>
      <p:sp>
        <p:nvSpPr>
          <p:cNvPr id="33" name="TextBox 33"/>
          <p:cNvSpPr txBox="1"/>
          <p:nvPr/>
        </p:nvSpPr>
        <p:spPr>
          <a:xfrm>
            <a:off x="9444087" y="6750772"/>
            <a:ext cx="3870752" cy="975908"/>
          </a:xfrm>
          <a:prstGeom prst="rect">
            <a:avLst/>
          </a:prstGeom>
        </p:spPr>
        <p:txBody>
          <a:bodyPr lIns="0" tIns="0" rIns="0" bIns="0" rtlCol="0" anchor="t">
            <a:spAutoFit/>
          </a:bodyPr>
          <a:lstStyle/>
          <a:p>
            <a:pPr marL="0" lvl="0" indent="0" algn="ctr">
              <a:lnSpc>
                <a:spcPts val="3840"/>
              </a:lnSpc>
              <a:spcBef>
                <a:spcPct val="0"/>
              </a:spcBef>
            </a:pPr>
            <a:r>
              <a:rPr lang="en-US" sz="3200" b="1" dirty="0">
                <a:solidFill>
                  <a:srgbClr val="E8EEF2"/>
                </a:solidFill>
                <a:latin typeface="Prompt Bold"/>
                <a:ea typeface="Prompt Bold"/>
                <a:cs typeface="Prompt Bold"/>
                <a:sym typeface="Prompt Bold"/>
              </a:rPr>
              <a:t>Ranking Algorithms</a:t>
            </a:r>
          </a:p>
        </p:txBody>
      </p:sp>
      <p:sp>
        <p:nvSpPr>
          <p:cNvPr id="34" name="TextBox 34"/>
          <p:cNvSpPr txBox="1"/>
          <p:nvPr/>
        </p:nvSpPr>
        <p:spPr>
          <a:xfrm>
            <a:off x="9442791" y="8369104"/>
            <a:ext cx="3870752" cy="2163413"/>
          </a:xfrm>
          <a:prstGeom prst="rect">
            <a:avLst/>
          </a:prstGeom>
        </p:spPr>
        <p:txBody>
          <a:bodyPr lIns="0" tIns="0" rIns="0" bIns="0" rtlCol="0" anchor="t">
            <a:spAutoFit/>
          </a:bodyPr>
          <a:lstStyle/>
          <a:p>
            <a:pPr marL="0" lvl="0" indent="0" algn="ctr">
              <a:lnSpc>
                <a:spcPts val="3359"/>
              </a:lnSpc>
              <a:spcBef>
                <a:spcPct val="0"/>
              </a:spcBef>
            </a:pPr>
            <a:r>
              <a:rPr lang="en-US" sz="2400" dirty="0">
                <a:solidFill>
                  <a:srgbClr val="E8EEF2"/>
                </a:solidFill>
                <a:latin typeface="Prompt Light"/>
                <a:ea typeface="Prompt Light"/>
                <a:cs typeface="Prompt Light"/>
                <a:sym typeface="Prompt Light"/>
              </a:rPr>
              <a:t>Ranking pages by relevance, authority, and freshness using algorithms like TF-IDF and BERT.</a:t>
            </a:r>
          </a:p>
        </p:txBody>
      </p:sp>
      <p:sp>
        <p:nvSpPr>
          <p:cNvPr id="35" name="TextBox 35"/>
          <p:cNvSpPr txBox="1"/>
          <p:nvPr/>
        </p:nvSpPr>
        <p:spPr>
          <a:xfrm>
            <a:off x="14066624" y="6819900"/>
            <a:ext cx="3870752" cy="488595"/>
          </a:xfrm>
          <a:prstGeom prst="rect">
            <a:avLst/>
          </a:prstGeom>
        </p:spPr>
        <p:txBody>
          <a:bodyPr lIns="0" tIns="0" rIns="0" bIns="0" rtlCol="0" anchor="t">
            <a:spAutoFit/>
          </a:bodyPr>
          <a:lstStyle/>
          <a:p>
            <a:pPr marL="0" lvl="0" indent="0" algn="ctr">
              <a:lnSpc>
                <a:spcPts val="3840"/>
              </a:lnSpc>
              <a:spcBef>
                <a:spcPct val="0"/>
              </a:spcBef>
            </a:pPr>
            <a:r>
              <a:rPr lang="en-US" sz="3200" b="1" dirty="0">
                <a:solidFill>
                  <a:srgbClr val="E8EEF2"/>
                </a:solidFill>
                <a:latin typeface="Prompt Bold"/>
                <a:ea typeface="Prompt Bold"/>
                <a:cs typeface="Prompt Bold"/>
                <a:sym typeface="Prompt Bold"/>
              </a:rPr>
              <a:t>Personalization</a:t>
            </a:r>
          </a:p>
        </p:txBody>
      </p:sp>
      <p:sp>
        <p:nvSpPr>
          <p:cNvPr id="36" name="TextBox 36"/>
          <p:cNvSpPr txBox="1"/>
          <p:nvPr/>
        </p:nvSpPr>
        <p:spPr>
          <a:xfrm>
            <a:off x="14079502" y="8369104"/>
            <a:ext cx="3870752" cy="1727396"/>
          </a:xfrm>
          <a:prstGeom prst="rect">
            <a:avLst/>
          </a:prstGeom>
        </p:spPr>
        <p:txBody>
          <a:bodyPr lIns="0" tIns="0" rIns="0" bIns="0" rtlCol="0" anchor="t">
            <a:spAutoFit/>
          </a:bodyPr>
          <a:lstStyle/>
          <a:p>
            <a:pPr marL="0" lvl="0" indent="0" algn="ctr">
              <a:lnSpc>
                <a:spcPts val="3359"/>
              </a:lnSpc>
              <a:spcBef>
                <a:spcPct val="0"/>
              </a:spcBef>
            </a:pPr>
            <a:r>
              <a:rPr lang="en-US" sz="2400" dirty="0">
                <a:solidFill>
                  <a:srgbClr val="E8EEF2"/>
                </a:solidFill>
                <a:latin typeface="Prompt Light"/>
                <a:ea typeface="Prompt Light"/>
                <a:cs typeface="Prompt Light"/>
                <a:sym typeface="Prompt Light"/>
              </a:rPr>
              <a:t>Providing customized results based on user behavior, location, and previous activity.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EEF2"/>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sp>
        <p:nvSpPr>
          <p:cNvPr id="4" name="TextBox 4"/>
          <p:cNvSpPr txBox="1"/>
          <p:nvPr/>
        </p:nvSpPr>
        <p:spPr>
          <a:xfrm>
            <a:off x="1028700" y="3650779"/>
            <a:ext cx="7724023" cy="1219200"/>
          </a:xfrm>
          <a:prstGeom prst="rect">
            <a:avLst/>
          </a:prstGeom>
        </p:spPr>
        <p:txBody>
          <a:bodyPr lIns="0" tIns="0" rIns="0" bIns="0" rtlCol="0" anchor="t">
            <a:spAutoFit/>
          </a:bodyPr>
          <a:lstStyle/>
          <a:p>
            <a:pPr marL="0" lvl="0" indent="0" algn="l">
              <a:lnSpc>
                <a:spcPts val="9600"/>
              </a:lnSpc>
              <a:spcBef>
                <a:spcPct val="0"/>
              </a:spcBef>
            </a:pPr>
            <a:r>
              <a:rPr lang="en-US" sz="8000" b="1" dirty="0">
                <a:solidFill>
                  <a:srgbClr val="E8EEF2"/>
                </a:solidFill>
                <a:latin typeface="Prompt Bold"/>
                <a:ea typeface="Prompt Bold"/>
                <a:cs typeface="Prompt Bold"/>
                <a:sym typeface="Prompt Bold"/>
              </a:rPr>
              <a:t>Key Features</a:t>
            </a:r>
          </a:p>
        </p:txBody>
      </p:sp>
      <p:grpSp>
        <p:nvGrpSpPr>
          <p:cNvPr id="5" name="Group 5"/>
          <p:cNvGrpSpPr/>
          <p:nvPr/>
        </p:nvGrpSpPr>
        <p:grpSpPr>
          <a:xfrm>
            <a:off x="1028700" y="6172200"/>
            <a:ext cx="5360352" cy="3086100"/>
            <a:chOff x="0" y="0"/>
            <a:chExt cx="1411780" cy="812800"/>
          </a:xfrm>
        </p:grpSpPr>
        <p:sp>
          <p:nvSpPr>
            <p:cNvPr id="6" name="Freeform 6"/>
            <p:cNvSpPr/>
            <p:nvPr/>
          </p:nvSpPr>
          <p:spPr>
            <a:xfrm>
              <a:off x="0" y="0"/>
              <a:ext cx="1411780" cy="812800"/>
            </a:xfrm>
            <a:custGeom>
              <a:avLst/>
              <a:gdLst/>
              <a:ahLst/>
              <a:cxnLst/>
              <a:rect l="l" t="t" r="r" b="b"/>
              <a:pathLst>
                <a:path w="1411780" h="812800">
                  <a:moveTo>
                    <a:pt x="0" y="0"/>
                  </a:moveTo>
                  <a:lnTo>
                    <a:pt x="1411780" y="0"/>
                  </a:lnTo>
                  <a:lnTo>
                    <a:pt x="1411780" y="812800"/>
                  </a:lnTo>
                  <a:lnTo>
                    <a:pt x="0" y="812800"/>
                  </a:lnTo>
                  <a:close/>
                </a:path>
              </a:pathLst>
            </a:custGeom>
            <a:solidFill>
              <a:srgbClr val="24DBC5">
                <a:alpha val="29804"/>
              </a:srgbClr>
            </a:solidFill>
          </p:spPr>
        </p:sp>
        <p:sp>
          <p:nvSpPr>
            <p:cNvPr id="7" name="TextBox 7"/>
            <p:cNvSpPr txBox="1"/>
            <p:nvPr/>
          </p:nvSpPr>
          <p:spPr>
            <a:xfrm>
              <a:off x="0" y="-38100"/>
              <a:ext cx="1411780" cy="850900"/>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a:off x="6666062" y="6172200"/>
            <a:ext cx="5360352" cy="3086100"/>
            <a:chOff x="0" y="0"/>
            <a:chExt cx="1411780" cy="812800"/>
          </a:xfrm>
        </p:grpSpPr>
        <p:sp>
          <p:nvSpPr>
            <p:cNvPr id="9" name="Freeform 9"/>
            <p:cNvSpPr/>
            <p:nvPr/>
          </p:nvSpPr>
          <p:spPr>
            <a:xfrm>
              <a:off x="0" y="0"/>
              <a:ext cx="1411780" cy="812800"/>
            </a:xfrm>
            <a:custGeom>
              <a:avLst/>
              <a:gdLst/>
              <a:ahLst/>
              <a:cxnLst/>
              <a:rect l="l" t="t" r="r" b="b"/>
              <a:pathLst>
                <a:path w="1411780" h="812800">
                  <a:moveTo>
                    <a:pt x="0" y="0"/>
                  </a:moveTo>
                  <a:lnTo>
                    <a:pt x="1411780" y="0"/>
                  </a:lnTo>
                  <a:lnTo>
                    <a:pt x="1411780" y="812800"/>
                  </a:lnTo>
                  <a:lnTo>
                    <a:pt x="0" y="812800"/>
                  </a:lnTo>
                  <a:close/>
                </a:path>
              </a:pathLst>
            </a:custGeom>
            <a:solidFill>
              <a:srgbClr val="24DBC5">
                <a:alpha val="69804"/>
              </a:srgbClr>
            </a:solidFill>
          </p:spPr>
        </p:sp>
        <p:sp>
          <p:nvSpPr>
            <p:cNvPr id="10" name="TextBox 10"/>
            <p:cNvSpPr txBox="1"/>
            <p:nvPr/>
          </p:nvSpPr>
          <p:spPr>
            <a:xfrm>
              <a:off x="0" y="-38100"/>
              <a:ext cx="1411780" cy="850900"/>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12303424" y="6172200"/>
            <a:ext cx="5360352" cy="3086100"/>
            <a:chOff x="0" y="0"/>
            <a:chExt cx="1411780" cy="812800"/>
          </a:xfrm>
        </p:grpSpPr>
        <p:sp>
          <p:nvSpPr>
            <p:cNvPr id="12" name="Freeform 12"/>
            <p:cNvSpPr/>
            <p:nvPr/>
          </p:nvSpPr>
          <p:spPr>
            <a:xfrm>
              <a:off x="0" y="0"/>
              <a:ext cx="1411780" cy="812800"/>
            </a:xfrm>
            <a:custGeom>
              <a:avLst/>
              <a:gdLst/>
              <a:ahLst/>
              <a:cxnLst/>
              <a:rect l="l" t="t" r="r" b="b"/>
              <a:pathLst>
                <a:path w="1411780" h="812800">
                  <a:moveTo>
                    <a:pt x="0" y="0"/>
                  </a:moveTo>
                  <a:lnTo>
                    <a:pt x="1411780" y="0"/>
                  </a:lnTo>
                  <a:lnTo>
                    <a:pt x="1411780" y="812800"/>
                  </a:lnTo>
                  <a:lnTo>
                    <a:pt x="0" y="812800"/>
                  </a:lnTo>
                  <a:close/>
                </a:path>
              </a:pathLst>
            </a:custGeom>
            <a:solidFill>
              <a:srgbClr val="24DBC5">
                <a:alpha val="29804"/>
              </a:srgbClr>
            </a:solidFill>
          </p:spPr>
        </p:sp>
        <p:sp>
          <p:nvSpPr>
            <p:cNvPr id="13" name="TextBox 13"/>
            <p:cNvSpPr txBox="1"/>
            <p:nvPr/>
          </p:nvSpPr>
          <p:spPr>
            <a:xfrm>
              <a:off x="0" y="-38100"/>
              <a:ext cx="1411780" cy="850900"/>
            </a:xfrm>
            <a:prstGeom prst="rect">
              <a:avLst/>
            </a:prstGeom>
          </p:spPr>
          <p:txBody>
            <a:bodyPr lIns="50800" tIns="50800" rIns="50800" bIns="50800" rtlCol="0" anchor="ctr"/>
            <a:lstStyle/>
            <a:p>
              <a:pPr algn="ctr">
                <a:lnSpc>
                  <a:spcPts val="3359"/>
                </a:lnSpc>
              </a:pPr>
              <a:endParaRPr/>
            </a:p>
          </p:txBody>
        </p:sp>
      </p:grpSp>
      <p:sp>
        <p:nvSpPr>
          <p:cNvPr id="14" name="TextBox 14"/>
          <p:cNvSpPr txBox="1"/>
          <p:nvPr/>
        </p:nvSpPr>
        <p:spPr>
          <a:xfrm>
            <a:off x="1416814" y="6743700"/>
            <a:ext cx="4584125" cy="48577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Light"/>
                <a:ea typeface="Prompt Light"/>
                <a:cs typeface="Prompt Light"/>
                <a:sym typeface="Prompt Light"/>
              </a:rPr>
              <a:t>User-Friendly Interface:</a:t>
            </a:r>
          </a:p>
        </p:txBody>
      </p:sp>
      <p:sp>
        <p:nvSpPr>
          <p:cNvPr id="15" name="TextBox 15"/>
          <p:cNvSpPr txBox="1"/>
          <p:nvPr/>
        </p:nvSpPr>
        <p:spPr>
          <a:xfrm>
            <a:off x="7054176" y="6743700"/>
            <a:ext cx="4584125" cy="48859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Light"/>
                <a:ea typeface="Prompt Light"/>
                <a:cs typeface="Prompt Light"/>
                <a:sym typeface="Prompt Light"/>
              </a:rPr>
              <a:t>Scalability</a:t>
            </a:r>
          </a:p>
        </p:txBody>
      </p:sp>
      <p:sp>
        <p:nvSpPr>
          <p:cNvPr id="16" name="TextBox 16"/>
          <p:cNvSpPr txBox="1"/>
          <p:nvPr/>
        </p:nvSpPr>
        <p:spPr>
          <a:xfrm>
            <a:off x="12693164" y="6743700"/>
            <a:ext cx="4584125" cy="485775"/>
          </a:xfrm>
          <a:prstGeom prst="rect">
            <a:avLst/>
          </a:prstGeom>
        </p:spPr>
        <p:txBody>
          <a:bodyPr lIns="0" tIns="0" rIns="0" bIns="0" rtlCol="0" anchor="t">
            <a:spAutoFit/>
          </a:bodyPr>
          <a:lstStyle/>
          <a:p>
            <a:pPr marL="0" lvl="0" indent="0" algn="l">
              <a:lnSpc>
                <a:spcPts val="3840"/>
              </a:lnSpc>
              <a:spcBef>
                <a:spcPct val="0"/>
              </a:spcBef>
            </a:pPr>
            <a:r>
              <a:rPr lang="en-US" sz="3200" u="none" dirty="0">
                <a:solidFill>
                  <a:srgbClr val="E8EEF2"/>
                </a:solidFill>
                <a:latin typeface="Prompt Light"/>
                <a:ea typeface="Prompt Light"/>
                <a:cs typeface="Prompt Light"/>
                <a:sym typeface="Prompt Light"/>
              </a:rPr>
              <a:t>Real-Time Data</a:t>
            </a:r>
          </a:p>
        </p:txBody>
      </p:sp>
      <p:sp>
        <p:nvSpPr>
          <p:cNvPr id="17" name="TextBox 17"/>
          <p:cNvSpPr txBox="1"/>
          <p:nvPr/>
        </p:nvSpPr>
        <p:spPr>
          <a:xfrm>
            <a:off x="1416814" y="7502996"/>
            <a:ext cx="4584125" cy="806631"/>
          </a:xfrm>
          <a:prstGeom prst="rect">
            <a:avLst/>
          </a:prstGeom>
        </p:spPr>
        <p:txBody>
          <a:bodyPr lIns="0" tIns="0" rIns="0" bIns="0" rtlCol="0" anchor="t">
            <a:spAutoFit/>
          </a:bodyPr>
          <a:lstStyle/>
          <a:p>
            <a:pPr marL="0" lvl="0" indent="0" algn="l">
              <a:lnSpc>
                <a:spcPts val="3220"/>
              </a:lnSpc>
              <a:spcBef>
                <a:spcPct val="0"/>
              </a:spcBef>
            </a:pPr>
            <a:r>
              <a:rPr lang="en-US" sz="2300" u="none" dirty="0">
                <a:solidFill>
                  <a:srgbClr val="E8EEF2"/>
                </a:solidFill>
                <a:latin typeface="Prompt Light"/>
                <a:ea typeface="Prompt Light"/>
                <a:cs typeface="Prompt Light"/>
                <a:sym typeface="Prompt Light"/>
              </a:rPr>
              <a:t>Simple input/output interface makes searching fast and easy.</a:t>
            </a:r>
          </a:p>
        </p:txBody>
      </p:sp>
      <p:sp>
        <p:nvSpPr>
          <p:cNvPr id="18" name="TextBox 18"/>
          <p:cNvSpPr txBox="1"/>
          <p:nvPr/>
        </p:nvSpPr>
        <p:spPr>
          <a:xfrm>
            <a:off x="7054175" y="7418832"/>
            <a:ext cx="4584125" cy="1217000"/>
          </a:xfrm>
          <a:prstGeom prst="rect">
            <a:avLst/>
          </a:prstGeom>
        </p:spPr>
        <p:txBody>
          <a:bodyPr lIns="0" tIns="0" rIns="0" bIns="0" rtlCol="0" anchor="t">
            <a:spAutoFit/>
          </a:bodyPr>
          <a:lstStyle/>
          <a:p>
            <a:pPr marL="0" lvl="0" indent="0" algn="l">
              <a:lnSpc>
                <a:spcPts val="3220"/>
              </a:lnSpc>
              <a:spcBef>
                <a:spcPct val="0"/>
              </a:spcBef>
            </a:pPr>
            <a:r>
              <a:rPr lang="en-US" sz="2300" u="none" dirty="0">
                <a:solidFill>
                  <a:srgbClr val="E8EEF2"/>
                </a:solidFill>
                <a:latin typeface="Prompt Light"/>
                <a:ea typeface="Prompt Light"/>
                <a:cs typeface="Prompt Light"/>
                <a:sym typeface="Prompt Light"/>
              </a:rPr>
              <a:t>Can handle billions of queries and webpages across different regions</a:t>
            </a:r>
          </a:p>
        </p:txBody>
      </p:sp>
      <p:sp>
        <p:nvSpPr>
          <p:cNvPr id="19" name="TextBox 19"/>
          <p:cNvSpPr txBox="1"/>
          <p:nvPr/>
        </p:nvSpPr>
        <p:spPr>
          <a:xfrm>
            <a:off x="12693164" y="7514088"/>
            <a:ext cx="4584125" cy="1217000"/>
          </a:xfrm>
          <a:prstGeom prst="rect">
            <a:avLst/>
          </a:prstGeom>
        </p:spPr>
        <p:txBody>
          <a:bodyPr wrap="square" lIns="0" tIns="0" rIns="0" bIns="0" rtlCol="0" anchor="t">
            <a:spAutoFit/>
          </a:bodyPr>
          <a:lstStyle/>
          <a:p>
            <a:pPr marL="0" lvl="0" indent="0" algn="l">
              <a:lnSpc>
                <a:spcPts val="3220"/>
              </a:lnSpc>
              <a:spcBef>
                <a:spcPct val="0"/>
              </a:spcBef>
            </a:pPr>
            <a:r>
              <a:rPr lang="en-US" sz="2300" u="none" dirty="0">
                <a:solidFill>
                  <a:srgbClr val="E8EEF2"/>
                </a:solidFill>
                <a:latin typeface="Prompt Light"/>
                <a:ea typeface="Prompt Light"/>
                <a:cs typeface="Prompt Light"/>
                <a:sym typeface="Prompt Light"/>
              </a:rPr>
              <a:t>Indexing and ranking continuously adapt to new information online.</a:t>
            </a:r>
          </a:p>
        </p:txBody>
      </p:sp>
      <p:sp>
        <p:nvSpPr>
          <p:cNvPr id="20" name="Freeform 20"/>
          <p:cNvSpPr/>
          <p:nvPr/>
        </p:nvSpPr>
        <p:spPr>
          <a:xfrm>
            <a:off x="12289147" y="-273521"/>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alphaModFix amt="50000"/>
            </a:blip>
            <a:stretch>
              <a:fillRect/>
            </a:stretch>
          </a:blipFill>
        </p:spPr>
      </p:sp>
      <p:sp>
        <p:nvSpPr>
          <p:cNvPr id="21" name="Freeform 21"/>
          <p:cNvSpPr/>
          <p:nvPr/>
        </p:nvSpPr>
        <p:spPr>
          <a:xfrm>
            <a:off x="9144000" y="-273521"/>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alphaModFix amt="50000"/>
            </a:blip>
            <a:stretch>
              <a:fillRect/>
            </a:stretch>
          </a:blipFill>
        </p:spPr>
        <p:txBody>
          <a:bodyPr/>
          <a:lstStyle/>
          <a:p>
            <a:endParaRPr lang="fr-FR" dirty="0"/>
          </a:p>
        </p:txBody>
      </p:sp>
      <p:grpSp>
        <p:nvGrpSpPr>
          <p:cNvPr id="31" name="Group 8">
            <a:extLst>
              <a:ext uri="{FF2B5EF4-FFF2-40B4-BE49-F238E27FC236}">
                <a16:creationId xmlns:a16="http://schemas.microsoft.com/office/drawing/2014/main" id="{FE158D33-24A0-487A-982C-BA2891799A5C}"/>
              </a:ext>
            </a:extLst>
          </p:cNvPr>
          <p:cNvGrpSpPr/>
          <p:nvPr/>
        </p:nvGrpSpPr>
        <p:grpSpPr>
          <a:xfrm>
            <a:off x="12303424" y="2068492"/>
            <a:ext cx="5360352" cy="3086100"/>
            <a:chOff x="0" y="0"/>
            <a:chExt cx="1411780" cy="812800"/>
          </a:xfrm>
        </p:grpSpPr>
        <p:sp>
          <p:nvSpPr>
            <p:cNvPr id="32" name="Freeform 9">
              <a:extLst>
                <a:ext uri="{FF2B5EF4-FFF2-40B4-BE49-F238E27FC236}">
                  <a16:creationId xmlns:a16="http://schemas.microsoft.com/office/drawing/2014/main" id="{0D66E3DA-98CB-4DD9-A5A6-72CB734D9A42}"/>
                </a:ext>
              </a:extLst>
            </p:cNvPr>
            <p:cNvSpPr/>
            <p:nvPr/>
          </p:nvSpPr>
          <p:spPr>
            <a:xfrm>
              <a:off x="0" y="0"/>
              <a:ext cx="1411780" cy="812800"/>
            </a:xfrm>
            <a:custGeom>
              <a:avLst/>
              <a:gdLst/>
              <a:ahLst/>
              <a:cxnLst/>
              <a:rect l="l" t="t" r="r" b="b"/>
              <a:pathLst>
                <a:path w="1411780" h="812800">
                  <a:moveTo>
                    <a:pt x="0" y="0"/>
                  </a:moveTo>
                  <a:lnTo>
                    <a:pt x="1411780" y="0"/>
                  </a:lnTo>
                  <a:lnTo>
                    <a:pt x="1411780" y="812800"/>
                  </a:lnTo>
                  <a:lnTo>
                    <a:pt x="0" y="812800"/>
                  </a:lnTo>
                  <a:close/>
                </a:path>
              </a:pathLst>
            </a:custGeom>
            <a:solidFill>
              <a:srgbClr val="24DBC5">
                <a:alpha val="69804"/>
              </a:srgbClr>
            </a:solidFill>
          </p:spPr>
        </p:sp>
        <p:sp>
          <p:nvSpPr>
            <p:cNvPr id="33" name="TextBox 10">
              <a:extLst>
                <a:ext uri="{FF2B5EF4-FFF2-40B4-BE49-F238E27FC236}">
                  <a16:creationId xmlns:a16="http://schemas.microsoft.com/office/drawing/2014/main" id="{5BA5B141-378E-41BC-9BA8-2FEC58A9698C}"/>
                </a:ext>
              </a:extLst>
            </p:cNvPr>
            <p:cNvSpPr txBox="1"/>
            <p:nvPr/>
          </p:nvSpPr>
          <p:spPr>
            <a:xfrm>
              <a:off x="0" y="-38100"/>
              <a:ext cx="1411780" cy="850900"/>
            </a:xfrm>
            <a:prstGeom prst="rect">
              <a:avLst/>
            </a:prstGeom>
          </p:spPr>
          <p:txBody>
            <a:bodyPr lIns="50800" tIns="50800" rIns="50800" bIns="50800" rtlCol="0" anchor="ctr"/>
            <a:lstStyle/>
            <a:p>
              <a:pPr algn="ctr">
                <a:lnSpc>
                  <a:spcPts val="3359"/>
                </a:lnSpc>
              </a:pPr>
              <a:endParaRPr/>
            </a:p>
          </p:txBody>
        </p:sp>
      </p:grpSp>
      <p:sp>
        <p:nvSpPr>
          <p:cNvPr id="38" name="ZoneTexte 37">
            <a:extLst>
              <a:ext uri="{FF2B5EF4-FFF2-40B4-BE49-F238E27FC236}">
                <a16:creationId xmlns:a16="http://schemas.microsoft.com/office/drawing/2014/main" id="{6BD62CFD-E647-4AB0-A4DF-06A878D7E582}"/>
              </a:ext>
            </a:extLst>
          </p:cNvPr>
          <p:cNvSpPr txBox="1"/>
          <p:nvPr/>
        </p:nvSpPr>
        <p:spPr>
          <a:xfrm>
            <a:off x="12693164" y="2217879"/>
            <a:ext cx="9897762" cy="580928"/>
          </a:xfrm>
          <a:prstGeom prst="rect">
            <a:avLst/>
          </a:prstGeom>
          <a:noFill/>
        </p:spPr>
        <p:txBody>
          <a:bodyPr wrap="square">
            <a:spAutoFit/>
          </a:bodyPr>
          <a:lstStyle/>
          <a:p>
            <a:pPr marL="0" lvl="0" indent="0" algn="l">
              <a:lnSpc>
                <a:spcPts val="3840"/>
              </a:lnSpc>
              <a:spcBef>
                <a:spcPct val="0"/>
              </a:spcBef>
            </a:pPr>
            <a:r>
              <a:rPr lang="fr-FR" sz="3200" dirty="0">
                <a:solidFill>
                  <a:schemeClr val="bg1"/>
                </a:solidFill>
                <a:latin typeface="Prompt Light" panose="00000400000000000000" pitchFamily="2" charset="-34"/>
                <a:cs typeface="Prompt Light" panose="00000400000000000000" pitchFamily="2" charset="-34"/>
              </a:rPr>
              <a:t>Intelligent </a:t>
            </a:r>
            <a:r>
              <a:rPr lang="fr-FR" sz="3200" dirty="0" err="1">
                <a:solidFill>
                  <a:schemeClr val="bg1"/>
                </a:solidFill>
                <a:latin typeface="Prompt Light" panose="00000400000000000000" pitchFamily="2" charset="-34"/>
                <a:cs typeface="Prompt Light" panose="00000400000000000000" pitchFamily="2" charset="-34"/>
              </a:rPr>
              <a:t>Ranking</a:t>
            </a:r>
            <a:endParaRPr lang="en-US" sz="3200" u="none" dirty="0">
              <a:solidFill>
                <a:schemeClr val="bg1"/>
              </a:solidFill>
              <a:latin typeface="Prompt Light" panose="00000400000000000000" pitchFamily="2" charset="-34"/>
              <a:ea typeface="Prompt Light"/>
              <a:cs typeface="Prompt Light" panose="00000400000000000000" pitchFamily="2" charset="-34"/>
              <a:sym typeface="Prompt Light"/>
            </a:endParaRPr>
          </a:p>
        </p:txBody>
      </p:sp>
      <p:sp>
        <p:nvSpPr>
          <p:cNvPr id="40" name="ZoneTexte 39">
            <a:extLst>
              <a:ext uri="{FF2B5EF4-FFF2-40B4-BE49-F238E27FC236}">
                <a16:creationId xmlns:a16="http://schemas.microsoft.com/office/drawing/2014/main" id="{A4D8370E-5208-459D-B6F0-7A7FBA0D31C4}"/>
              </a:ext>
            </a:extLst>
          </p:cNvPr>
          <p:cNvSpPr txBox="1"/>
          <p:nvPr/>
        </p:nvSpPr>
        <p:spPr>
          <a:xfrm>
            <a:off x="12662167" y="3072328"/>
            <a:ext cx="5203559" cy="1309333"/>
          </a:xfrm>
          <a:prstGeom prst="rect">
            <a:avLst/>
          </a:prstGeom>
          <a:noFill/>
        </p:spPr>
        <p:txBody>
          <a:bodyPr wrap="square">
            <a:spAutoFit/>
          </a:bodyPr>
          <a:lstStyle/>
          <a:p>
            <a:pPr marL="0" lvl="0" indent="0" algn="l">
              <a:lnSpc>
                <a:spcPts val="3220"/>
              </a:lnSpc>
              <a:spcBef>
                <a:spcPct val="0"/>
              </a:spcBef>
            </a:pPr>
            <a:r>
              <a:rPr lang="en-US" sz="2300" dirty="0">
                <a:solidFill>
                  <a:schemeClr val="bg1"/>
                </a:solidFill>
                <a:latin typeface="Prompt Light" panose="00000400000000000000" pitchFamily="2" charset="-34"/>
                <a:cs typeface="Prompt Light" panose="00000400000000000000" pitchFamily="2" charset="-34"/>
              </a:rPr>
              <a:t>AI-based systems improve accuracy, relevance, and context in results.</a:t>
            </a:r>
            <a:endParaRPr lang="en-US" sz="2300" u="none" dirty="0">
              <a:solidFill>
                <a:schemeClr val="bg1"/>
              </a:solidFill>
              <a:latin typeface="Prompt Light" panose="00000400000000000000" pitchFamily="2" charset="-34"/>
              <a:ea typeface="Prompt Light"/>
              <a:cs typeface="Prompt Light" panose="00000400000000000000" pitchFamily="2" charset="-34"/>
              <a:sym typeface="Prompt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EEF2"/>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sp>
        <p:nvSpPr>
          <p:cNvPr id="20" name="Freeform 20"/>
          <p:cNvSpPr/>
          <p:nvPr/>
        </p:nvSpPr>
        <p:spPr>
          <a:xfrm>
            <a:off x="12289147" y="-273521"/>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alphaModFix amt="50000"/>
            </a:blip>
            <a:stretch>
              <a:fillRect/>
            </a:stretch>
          </a:blipFill>
        </p:spPr>
      </p:sp>
      <p:sp>
        <p:nvSpPr>
          <p:cNvPr id="21" name="Freeform 21"/>
          <p:cNvSpPr/>
          <p:nvPr/>
        </p:nvSpPr>
        <p:spPr>
          <a:xfrm>
            <a:off x="9144000" y="-273521"/>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alphaModFix amt="50000"/>
            </a:blip>
            <a:stretch>
              <a:fillRect/>
            </a:stretch>
          </a:blipFill>
        </p:spPr>
      </p:sp>
      <p:sp>
        <p:nvSpPr>
          <p:cNvPr id="22" name="TextBox 7">
            <a:extLst>
              <a:ext uri="{FF2B5EF4-FFF2-40B4-BE49-F238E27FC236}">
                <a16:creationId xmlns:a16="http://schemas.microsoft.com/office/drawing/2014/main" id="{182EAB66-D6C3-4A19-B69F-66ADCF301714}"/>
              </a:ext>
            </a:extLst>
          </p:cNvPr>
          <p:cNvSpPr txBox="1"/>
          <p:nvPr/>
        </p:nvSpPr>
        <p:spPr>
          <a:xfrm>
            <a:off x="1648918" y="647700"/>
            <a:ext cx="14734082" cy="2462213"/>
          </a:xfrm>
          <a:prstGeom prst="rect">
            <a:avLst/>
          </a:prstGeom>
        </p:spPr>
        <p:txBody>
          <a:bodyPr wrap="square" lIns="0" tIns="0" rIns="0" bIns="0" rtlCol="0" anchor="t">
            <a:spAutoFit/>
          </a:bodyPr>
          <a:lstStyle/>
          <a:p>
            <a:pPr algn="ctr">
              <a:lnSpc>
                <a:spcPts val="9600"/>
              </a:lnSpc>
            </a:pPr>
            <a:r>
              <a:rPr lang="en-US" sz="8000" b="1" dirty="0">
                <a:solidFill>
                  <a:srgbClr val="E8EEF2"/>
                </a:solidFill>
                <a:latin typeface="Prompt Bold"/>
                <a:ea typeface="Prompt Bold"/>
                <a:cs typeface="Prompt Bold"/>
                <a:sym typeface="Prompt Bold"/>
              </a:rPr>
              <a:t>BEST SEARCH ENGINE FEATURES:</a:t>
            </a:r>
          </a:p>
        </p:txBody>
      </p:sp>
      <p:grpSp>
        <p:nvGrpSpPr>
          <p:cNvPr id="23" name="Group 8">
            <a:extLst>
              <a:ext uri="{FF2B5EF4-FFF2-40B4-BE49-F238E27FC236}">
                <a16:creationId xmlns:a16="http://schemas.microsoft.com/office/drawing/2014/main" id="{99069E0F-846C-47E2-BF4B-A8ABA0D7AE29}"/>
              </a:ext>
            </a:extLst>
          </p:cNvPr>
          <p:cNvGrpSpPr/>
          <p:nvPr/>
        </p:nvGrpSpPr>
        <p:grpSpPr>
          <a:xfrm>
            <a:off x="1028700" y="4148946"/>
            <a:ext cx="7286778" cy="1989108"/>
            <a:chOff x="0" y="0"/>
            <a:chExt cx="1919151" cy="523880"/>
          </a:xfrm>
        </p:grpSpPr>
        <p:sp>
          <p:nvSpPr>
            <p:cNvPr id="24" name="Freeform 9">
              <a:extLst>
                <a:ext uri="{FF2B5EF4-FFF2-40B4-BE49-F238E27FC236}">
                  <a16:creationId xmlns:a16="http://schemas.microsoft.com/office/drawing/2014/main" id="{256B184F-6480-4EB3-8A51-29EC3A77A7C2}"/>
                </a:ext>
              </a:extLst>
            </p:cNvPr>
            <p:cNvSpPr/>
            <p:nvPr/>
          </p:nvSpPr>
          <p:spPr>
            <a:xfrm>
              <a:off x="0" y="0"/>
              <a:ext cx="1919151" cy="523880"/>
            </a:xfrm>
            <a:custGeom>
              <a:avLst/>
              <a:gdLst/>
              <a:ahLst/>
              <a:cxnLst/>
              <a:rect l="l" t="t" r="r" b="b"/>
              <a:pathLst>
                <a:path w="1919151" h="523880">
                  <a:moveTo>
                    <a:pt x="0" y="0"/>
                  </a:moveTo>
                  <a:lnTo>
                    <a:pt x="1919151" y="0"/>
                  </a:lnTo>
                  <a:lnTo>
                    <a:pt x="1919151" y="523880"/>
                  </a:lnTo>
                  <a:lnTo>
                    <a:pt x="0" y="523880"/>
                  </a:lnTo>
                  <a:close/>
                </a:path>
              </a:pathLst>
            </a:custGeom>
            <a:solidFill>
              <a:srgbClr val="0A0910">
                <a:alpha val="49804"/>
              </a:srgbClr>
            </a:solidFill>
          </p:spPr>
        </p:sp>
        <p:sp>
          <p:nvSpPr>
            <p:cNvPr id="25" name="TextBox 10">
              <a:extLst>
                <a:ext uri="{FF2B5EF4-FFF2-40B4-BE49-F238E27FC236}">
                  <a16:creationId xmlns:a16="http://schemas.microsoft.com/office/drawing/2014/main" id="{960A7500-0BDF-47EE-8D47-24D3E75D95EC}"/>
                </a:ext>
              </a:extLst>
            </p:cNvPr>
            <p:cNvSpPr txBox="1"/>
            <p:nvPr/>
          </p:nvSpPr>
          <p:spPr>
            <a:xfrm>
              <a:off x="0" y="-38100"/>
              <a:ext cx="1919151" cy="561980"/>
            </a:xfrm>
            <a:prstGeom prst="rect">
              <a:avLst/>
            </a:prstGeom>
          </p:spPr>
          <p:txBody>
            <a:bodyPr lIns="50800" tIns="50800" rIns="50800" bIns="50800" rtlCol="0" anchor="ctr"/>
            <a:lstStyle/>
            <a:p>
              <a:pPr algn="ctr">
                <a:lnSpc>
                  <a:spcPts val="3359"/>
                </a:lnSpc>
              </a:pPr>
              <a:endParaRPr/>
            </a:p>
          </p:txBody>
        </p:sp>
      </p:grpSp>
      <p:grpSp>
        <p:nvGrpSpPr>
          <p:cNvPr id="26" name="Group 4">
            <a:extLst>
              <a:ext uri="{FF2B5EF4-FFF2-40B4-BE49-F238E27FC236}">
                <a16:creationId xmlns:a16="http://schemas.microsoft.com/office/drawing/2014/main" id="{7A0C2622-D72D-401A-ACFB-C20CC3896ABC}"/>
              </a:ext>
            </a:extLst>
          </p:cNvPr>
          <p:cNvGrpSpPr/>
          <p:nvPr/>
        </p:nvGrpSpPr>
        <p:grpSpPr>
          <a:xfrm>
            <a:off x="1028700" y="7269192"/>
            <a:ext cx="7286778" cy="1989108"/>
            <a:chOff x="0" y="0"/>
            <a:chExt cx="1919151" cy="523880"/>
          </a:xfrm>
        </p:grpSpPr>
        <p:sp>
          <p:nvSpPr>
            <p:cNvPr id="27" name="Freeform 5">
              <a:extLst>
                <a:ext uri="{FF2B5EF4-FFF2-40B4-BE49-F238E27FC236}">
                  <a16:creationId xmlns:a16="http://schemas.microsoft.com/office/drawing/2014/main" id="{865E1A53-0E38-4D64-A03C-DFF8B18417CA}"/>
                </a:ext>
              </a:extLst>
            </p:cNvPr>
            <p:cNvSpPr/>
            <p:nvPr/>
          </p:nvSpPr>
          <p:spPr>
            <a:xfrm>
              <a:off x="0" y="0"/>
              <a:ext cx="1919151" cy="523880"/>
            </a:xfrm>
            <a:custGeom>
              <a:avLst/>
              <a:gdLst/>
              <a:ahLst/>
              <a:cxnLst/>
              <a:rect l="l" t="t" r="r" b="b"/>
              <a:pathLst>
                <a:path w="1919151" h="523880">
                  <a:moveTo>
                    <a:pt x="0" y="0"/>
                  </a:moveTo>
                  <a:lnTo>
                    <a:pt x="1919151" y="0"/>
                  </a:lnTo>
                  <a:lnTo>
                    <a:pt x="1919151" y="523880"/>
                  </a:lnTo>
                  <a:lnTo>
                    <a:pt x="0" y="523880"/>
                  </a:lnTo>
                  <a:close/>
                </a:path>
              </a:pathLst>
            </a:custGeom>
            <a:solidFill>
              <a:srgbClr val="0A0910">
                <a:alpha val="49804"/>
              </a:srgbClr>
            </a:solidFill>
          </p:spPr>
        </p:sp>
        <p:sp>
          <p:nvSpPr>
            <p:cNvPr id="28" name="TextBox 6">
              <a:extLst>
                <a:ext uri="{FF2B5EF4-FFF2-40B4-BE49-F238E27FC236}">
                  <a16:creationId xmlns:a16="http://schemas.microsoft.com/office/drawing/2014/main" id="{61CC7223-F905-4388-AF76-2FE0A9098E52}"/>
                </a:ext>
              </a:extLst>
            </p:cNvPr>
            <p:cNvSpPr txBox="1"/>
            <p:nvPr/>
          </p:nvSpPr>
          <p:spPr>
            <a:xfrm>
              <a:off x="0" y="-38100"/>
              <a:ext cx="1919151" cy="561980"/>
            </a:xfrm>
            <a:prstGeom prst="rect">
              <a:avLst/>
            </a:prstGeom>
          </p:spPr>
          <p:txBody>
            <a:bodyPr lIns="50800" tIns="50800" rIns="50800" bIns="50800" rtlCol="0" anchor="ctr"/>
            <a:lstStyle/>
            <a:p>
              <a:pPr algn="ctr">
                <a:lnSpc>
                  <a:spcPts val="3359"/>
                </a:lnSpc>
              </a:pPr>
              <a:endParaRPr/>
            </a:p>
          </p:txBody>
        </p:sp>
      </p:grpSp>
      <p:grpSp>
        <p:nvGrpSpPr>
          <p:cNvPr id="29" name="Group 11">
            <a:extLst>
              <a:ext uri="{FF2B5EF4-FFF2-40B4-BE49-F238E27FC236}">
                <a16:creationId xmlns:a16="http://schemas.microsoft.com/office/drawing/2014/main" id="{32D010F4-5F16-45A2-9E32-AB8C48E790BC}"/>
              </a:ext>
            </a:extLst>
          </p:cNvPr>
          <p:cNvGrpSpPr/>
          <p:nvPr/>
        </p:nvGrpSpPr>
        <p:grpSpPr>
          <a:xfrm>
            <a:off x="9972522" y="7269192"/>
            <a:ext cx="7286778" cy="1989108"/>
            <a:chOff x="0" y="0"/>
            <a:chExt cx="1919151" cy="523880"/>
          </a:xfrm>
        </p:grpSpPr>
        <p:sp>
          <p:nvSpPr>
            <p:cNvPr id="30" name="Freeform 12">
              <a:extLst>
                <a:ext uri="{FF2B5EF4-FFF2-40B4-BE49-F238E27FC236}">
                  <a16:creationId xmlns:a16="http://schemas.microsoft.com/office/drawing/2014/main" id="{1FF248CB-AD6F-4456-94BC-571F2F4B4384}"/>
                </a:ext>
              </a:extLst>
            </p:cNvPr>
            <p:cNvSpPr/>
            <p:nvPr/>
          </p:nvSpPr>
          <p:spPr>
            <a:xfrm>
              <a:off x="0" y="0"/>
              <a:ext cx="1919151" cy="523880"/>
            </a:xfrm>
            <a:custGeom>
              <a:avLst/>
              <a:gdLst/>
              <a:ahLst/>
              <a:cxnLst/>
              <a:rect l="l" t="t" r="r" b="b"/>
              <a:pathLst>
                <a:path w="1919151" h="523880">
                  <a:moveTo>
                    <a:pt x="0" y="0"/>
                  </a:moveTo>
                  <a:lnTo>
                    <a:pt x="1919151" y="0"/>
                  </a:lnTo>
                  <a:lnTo>
                    <a:pt x="1919151" y="523880"/>
                  </a:lnTo>
                  <a:lnTo>
                    <a:pt x="0" y="523880"/>
                  </a:lnTo>
                  <a:close/>
                </a:path>
              </a:pathLst>
            </a:custGeom>
            <a:solidFill>
              <a:srgbClr val="0A0910">
                <a:alpha val="49804"/>
              </a:srgbClr>
            </a:solidFill>
          </p:spPr>
        </p:sp>
        <p:sp>
          <p:nvSpPr>
            <p:cNvPr id="31" name="TextBox 13">
              <a:extLst>
                <a:ext uri="{FF2B5EF4-FFF2-40B4-BE49-F238E27FC236}">
                  <a16:creationId xmlns:a16="http://schemas.microsoft.com/office/drawing/2014/main" id="{1C881FB3-4FCA-4B31-BBE4-84A2BA555614}"/>
                </a:ext>
              </a:extLst>
            </p:cNvPr>
            <p:cNvSpPr txBox="1"/>
            <p:nvPr/>
          </p:nvSpPr>
          <p:spPr>
            <a:xfrm>
              <a:off x="0" y="-38100"/>
              <a:ext cx="1919151" cy="561980"/>
            </a:xfrm>
            <a:prstGeom prst="rect">
              <a:avLst/>
            </a:prstGeom>
          </p:spPr>
          <p:txBody>
            <a:bodyPr lIns="50800" tIns="50800" rIns="50800" bIns="50800" rtlCol="0" anchor="ctr"/>
            <a:lstStyle/>
            <a:p>
              <a:pPr algn="ctr">
                <a:lnSpc>
                  <a:spcPts val="3359"/>
                </a:lnSpc>
              </a:pPr>
              <a:endParaRPr/>
            </a:p>
          </p:txBody>
        </p:sp>
      </p:grpSp>
      <p:grpSp>
        <p:nvGrpSpPr>
          <p:cNvPr id="32" name="Group 14">
            <a:extLst>
              <a:ext uri="{FF2B5EF4-FFF2-40B4-BE49-F238E27FC236}">
                <a16:creationId xmlns:a16="http://schemas.microsoft.com/office/drawing/2014/main" id="{52EA103E-F276-428F-B83E-64DD9DF34785}"/>
              </a:ext>
            </a:extLst>
          </p:cNvPr>
          <p:cNvGrpSpPr/>
          <p:nvPr/>
        </p:nvGrpSpPr>
        <p:grpSpPr>
          <a:xfrm>
            <a:off x="9972522" y="4148946"/>
            <a:ext cx="7286778" cy="1989108"/>
            <a:chOff x="0" y="0"/>
            <a:chExt cx="1919151" cy="523880"/>
          </a:xfrm>
        </p:grpSpPr>
        <p:sp>
          <p:nvSpPr>
            <p:cNvPr id="33" name="Freeform 15">
              <a:extLst>
                <a:ext uri="{FF2B5EF4-FFF2-40B4-BE49-F238E27FC236}">
                  <a16:creationId xmlns:a16="http://schemas.microsoft.com/office/drawing/2014/main" id="{DF3F336A-8610-4384-ACDB-00086A2FE2DF}"/>
                </a:ext>
              </a:extLst>
            </p:cNvPr>
            <p:cNvSpPr/>
            <p:nvPr/>
          </p:nvSpPr>
          <p:spPr>
            <a:xfrm>
              <a:off x="0" y="0"/>
              <a:ext cx="1919151" cy="523880"/>
            </a:xfrm>
            <a:custGeom>
              <a:avLst/>
              <a:gdLst/>
              <a:ahLst/>
              <a:cxnLst/>
              <a:rect l="l" t="t" r="r" b="b"/>
              <a:pathLst>
                <a:path w="1919151" h="523880">
                  <a:moveTo>
                    <a:pt x="0" y="0"/>
                  </a:moveTo>
                  <a:lnTo>
                    <a:pt x="1919151" y="0"/>
                  </a:lnTo>
                  <a:lnTo>
                    <a:pt x="1919151" y="523880"/>
                  </a:lnTo>
                  <a:lnTo>
                    <a:pt x="0" y="523880"/>
                  </a:lnTo>
                  <a:close/>
                </a:path>
              </a:pathLst>
            </a:custGeom>
            <a:solidFill>
              <a:srgbClr val="0A0910">
                <a:alpha val="49804"/>
              </a:srgbClr>
            </a:solidFill>
          </p:spPr>
        </p:sp>
        <p:sp>
          <p:nvSpPr>
            <p:cNvPr id="34" name="TextBox 16">
              <a:extLst>
                <a:ext uri="{FF2B5EF4-FFF2-40B4-BE49-F238E27FC236}">
                  <a16:creationId xmlns:a16="http://schemas.microsoft.com/office/drawing/2014/main" id="{C9ACF71E-A384-419E-990A-5D2A4FFC4935}"/>
                </a:ext>
              </a:extLst>
            </p:cNvPr>
            <p:cNvSpPr txBox="1"/>
            <p:nvPr/>
          </p:nvSpPr>
          <p:spPr>
            <a:xfrm>
              <a:off x="0" y="-38100"/>
              <a:ext cx="1919151" cy="561980"/>
            </a:xfrm>
            <a:prstGeom prst="rect">
              <a:avLst/>
            </a:prstGeom>
          </p:spPr>
          <p:txBody>
            <a:bodyPr lIns="50800" tIns="50800" rIns="50800" bIns="50800" rtlCol="0" anchor="ctr"/>
            <a:lstStyle/>
            <a:p>
              <a:pPr algn="ctr">
                <a:lnSpc>
                  <a:spcPts val="3359"/>
                </a:lnSpc>
              </a:pPr>
              <a:endParaRPr/>
            </a:p>
          </p:txBody>
        </p:sp>
      </p:grpSp>
      <p:sp>
        <p:nvSpPr>
          <p:cNvPr id="35" name="TextBox 17">
            <a:extLst>
              <a:ext uri="{FF2B5EF4-FFF2-40B4-BE49-F238E27FC236}">
                <a16:creationId xmlns:a16="http://schemas.microsoft.com/office/drawing/2014/main" id="{5D765F2E-4716-44E7-AB1B-8D201240EFF8}"/>
              </a:ext>
            </a:extLst>
          </p:cNvPr>
          <p:cNvSpPr txBox="1"/>
          <p:nvPr/>
        </p:nvSpPr>
        <p:spPr>
          <a:xfrm>
            <a:off x="3634409" y="5108908"/>
            <a:ext cx="4126600" cy="1538883"/>
          </a:xfrm>
          <a:prstGeom prst="rect">
            <a:avLst/>
          </a:prstGeom>
        </p:spPr>
        <p:txBody>
          <a:bodyPr lIns="0" tIns="0" rIns="0" bIns="0" rtlCol="0" anchor="t">
            <a:spAutoFit/>
          </a:bodyPr>
          <a:lstStyle/>
          <a:p>
            <a:pPr algn="l">
              <a:lnSpc>
                <a:spcPts val="2990"/>
              </a:lnSpc>
            </a:pPr>
            <a:r>
              <a:rPr lang="en-US" sz="2300" dirty="0">
                <a:solidFill>
                  <a:srgbClr val="E8EEF2"/>
                </a:solidFill>
                <a:latin typeface="Prompt Light"/>
                <a:ea typeface="Prompt Light"/>
                <a:cs typeface="Prompt Light"/>
                <a:sym typeface="Prompt Light"/>
              </a:rPr>
              <a:t>Detects query types (informational, navigational, transactional) and adapts results.</a:t>
            </a:r>
          </a:p>
        </p:txBody>
      </p:sp>
      <p:sp>
        <p:nvSpPr>
          <p:cNvPr id="36" name="TextBox 18">
            <a:extLst>
              <a:ext uri="{FF2B5EF4-FFF2-40B4-BE49-F238E27FC236}">
                <a16:creationId xmlns:a16="http://schemas.microsoft.com/office/drawing/2014/main" id="{E768DAB7-32B2-483B-A249-5F1F96D925C1}"/>
              </a:ext>
            </a:extLst>
          </p:cNvPr>
          <p:cNvSpPr txBox="1"/>
          <p:nvPr/>
        </p:nvSpPr>
        <p:spPr>
          <a:xfrm>
            <a:off x="3631810" y="4404499"/>
            <a:ext cx="5932478" cy="538609"/>
          </a:xfrm>
          <a:prstGeom prst="rect">
            <a:avLst/>
          </a:prstGeom>
        </p:spPr>
        <p:txBody>
          <a:bodyPr wrap="square" lIns="0" tIns="0" rIns="0" bIns="0" rtlCol="0" anchor="t">
            <a:spAutoFit/>
          </a:bodyPr>
          <a:lstStyle/>
          <a:p>
            <a:pPr algn="l">
              <a:lnSpc>
                <a:spcPts val="4159"/>
              </a:lnSpc>
            </a:pPr>
            <a:r>
              <a:rPr lang="en-US" sz="3199" dirty="0">
                <a:solidFill>
                  <a:srgbClr val="E8EEF2"/>
                </a:solidFill>
                <a:latin typeface="Prompt Light"/>
                <a:ea typeface="Prompt Light"/>
                <a:cs typeface="Prompt Light"/>
                <a:sym typeface="Prompt Light"/>
              </a:rPr>
              <a:t>Custom Query Handling</a:t>
            </a:r>
          </a:p>
        </p:txBody>
      </p:sp>
      <p:sp>
        <p:nvSpPr>
          <p:cNvPr id="37" name="TextBox 19">
            <a:extLst>
              <a:ext uri="{FF2B5EF4-FFF2-40B4-BE49-F238E27FC236}">
                <a16:creationId xmlns:a16="http://schemas.microsoft.com/office/drawing/2014/main" id="{C19661A6-C0FE-4A40-97BD-5034EA58D580}"/>
              </a:ext>
            </a:extLst>
          </p:cNvPr>
          <p:cNvSpPr txBox="1"/>
          <p:nvPr/>
        </p:nvSpPr>
        <p:spPr>
          <a:xfrm>
            <a:off x="1367624" y="4533900"/>
            <a:ext cx="1159455" cy="1219200"/>
          </a:xfrm>
          <a:prstGeom prst="rect">
            <a:avLst/>
          </a:prstGeom>
        </p:spPr>
        <p:txBody>
          <a:bodyPr lIns="0" tIns="0" rIns="0" bIns="0" rtlCol="0" anchor="t">
            <a:spAutoFit/>
          </a:bodyPr>
          <a:lstStyle/>
          <a:p>
            <a:pPr marL="0" lvl="0" indent="0" algn="l">
              <a:lnSpc>
                <a:spcPts val="9600"/>
              </a:lnSpc>
              <a:spcBef>
                <a:spcPct val="0"/>
              </a:spcBef>
            </a:pPr>
            <a:r>
              <a:rPr lang="en-US" sz="8000" spc="-336">
                <a:solidFill>
                  <a:srgbClr val="24DBC5"/>
                </a:solidFill>
                <a:latin typeface="Prompt Light"/>
                <a:ea typeface="Prompt Light"/>
                <a:cs typeface="Prompt Light"/>
                <a:sym typeface="Prompt Light"/>
              </a:rPr>
              <a:t>01</a:t>
            </a:r>
          </a:p>
        </p:txBody>
      </p:sp>
      <p:sp>
        <p:nvSpPr>
          <p:cNvPr id="38" name="TextBox 20">
            <a:extLst>
              <a:ext uri="{FF2B5EF4-FFF2-40B4-BE49-F238E27FC236}">
                <a16:creationId xmlns:a16="http://schemas.microsoft.com/office/drawing/2014/main" id="{E40F4B5D-3124-4FF9-8622-E6B394100AD6}"/>
              </a:ext>
            </a:extLst>
          </p:cNvPr>
          <p:cNvSpPr txBox="1"/>
          <p:nvPr/>
        </p:nvSpPr>
        <p:spPr>
          <a:xfrm>
            <a:off x="1367624" y="7654146"/>
            <a:ext cx="1427014" cy="1219200"/>
          </a:xfrm>
          <a:prstGeom prst="rect">
            <a:avLst/>
          </a:prstGeom>
        </p:spPr>
        <p:txBody>
          <a:bodyPr lIns="0" tIns="0" rIns="0" bIns="0" rtlCol="0" anchor="t">
            <a:spAutoFit/>
          </a:bodyPr>
          <a:lstStyle/>
          <a:p>
            <a:pPr marL="0" lvl="0" indent="0" algn="l">
              <a:lnSpc>
                <a:spcPts val="9600"/>
              </a:lnSpc>
              <a:spcBef>
                <a:spcPct val="0"/>
              </a:spcBef>
            </a:pPr>
            <a:r>
              <a:rPr lang="en-US" sz="8000" spc="-336">
                <a:solidFill>
                  <a:srgbClr val="24DBC5"/>
                </a:solidFill>
                <a:latin typeface="Prompt Light"/>
                <a:ea typeface="Prompt Light"/>
                <a:cs typeface="Prompt Light"/>
                <a:sym typeface="Prompt Light"/>
              </a:rPr>
              <a:t>02</a:t>
            </a:r>
          </a:p>
        </p:txBody>
      </p:sp>
      <p:sp>
        <p:nvSpPr>
          <p:cNvPr id="39" name="TextBox 21">
            <a:extLst>
              <a:ext uri="{FF2B5EF4-FFF2-40B4-BE49-F238E27FC236}">
                <a16:creationId xmlns:a16="http://schemas.microsoft.com/office/drawing/2014/main" id="{3AE2129A-9BFC-479C-A498-A066FA6B3E07}"/>
              </a:ext>
            </a:extLst>
          </p:cNvPr>
          <p:cNvSpPr txBox="1"/>
          <p:nvPr/>
        </p:nvSpPr>
        <p:spPr>
          <a:xfrm>
            <a:off x="10429742" y="4533900"/>
            <a:ext cx="1453770" cy="1219200"/>
          </a:xfrm>
          <a:prstGeom prst="rect">
            <a:avLst/>
          </a:prstGeom>
        </p:spPr>
        <p:txBody>
          <a:bodyPr lIns="0" tIns="0" rIns="0" bIns="0" rtlCol="0" anchor="t">
            <a:spAutoFit/>
          </a:bodyPr>
          <a:lstStyle/>
          <a:p>
            <a:pPr marL="0" lvl="0" indent="0" algn="l">
              <a:lnSpc>
                <a:spcPts val="9600"/>
              </a:lnSpc>
              <a:spcBef>
                <a:spcPct val="0"/>
              </a:spcBef>
            </a:pPr>
            <a:r>
              <a:rPr lang="en-US" sz="8000" spc="-336" dirty="0">
                <a:solidFill>
                  <a:srgbClr val="24DBC5"/>
                </a:solidFill>
                <a:latin typeface="Prompt Light"/>
                <a:ea typeface="Prompt Light"/>
                <a:cs typeface="Prompt Light"/>
                <a:sym typeface="Prompt Light"/>
              </a:rPr>
              <a:t>03</a:t>
            </a:r>
          </a:p>
        </p:txBody>
      </p:sp>
      <p:sp>
        <p:nvSpPr>
          <p:cNvPr id="40" name="TextBox 22">
            <a:extLst>
              <a:ext uri="{FF2B5EF4-FFF2-40B4-BE49-F238E27FC236}">
                <a16:creationId xmlns:a16="http://schemas.microsoft.com/office/drawing/2014/main" id="{5B4B23BD-3270-4E5A-9A0C-4266CAF2E07A}"/>
              </a:ext>
            </a:extLst>
          </p:cNvPr>
          <p:cNvSpPr txBox="1"/>
          <p:nvPr/>
        </p:nvSpPr>
        <p:spPr>
          <a:xfrm>
            <a:off x="10429742" y="7654146"/>
            <a:ext cx="1453770" cy="1219200"/>
          </a:xfrm>
          <a:prstGeom prst="rect">
            <a:avLst/>
          </a:prstGeom>
        </p:spPr>
        <p:txBody>
          <a:bodyPr lIns="0" tIns="0" rIns="0" bIns="0" rtlCol="0" anchor="t">
            <a:spAutoFit/>
          </a:bodyPr>
          <a:lstStyle/>
          <a:p>
            <a:pPr marL="0" lvl="0" indent="0" algn="l">
              <a:lnSpc>
                <a:spcPts val="9600"/>
              </a:lnSpc>
              <a:spcBef>
                <a:spcPct val="0"/>
              </a:spcBef>
            </a:pPr>
            <a:r>
              <a:rPr lang="en-US" sz="8000" spc="-336" dirty="0">
                <a:solidFill>
                  <a:srgbClr val="24DBC5"/>
                </a:solidFill>
                <a:latin typeface="Prompt Light"/>
                <a:ea typeface="Prompt Light"/>
                <a:cs typeface="Prompt Light"/>
                <a:sym typeface="Prompt Light"/>
              </a:rPr>
              <a:t>04</a:t>
            </a:r>
          </a:p>
        </p:txBody>
      </p:sp>
      <p:sp>
        <p:nvSpPr>
          <p:cNvPr id="41" name="AutoShape 23">
            <a:extLst>
              <a:ext uri="{FF2B5EF4-FFF2-40B4-BE49-F238E27FC236}">
                <a16:creationId xmlns:a16="http://schemas.microsoft.com/office/drawing/2014/main" id="{F3B6AA96-5222-471D-939D-FE5AB962A807}"/>
              </a:ext>
            </a:extLst>
          </p:cNvPr>
          <p:cNvSpPr/>
          <p:nvPr/>
        </p:nvSpPr>
        <p:spPr>
          <a:xfrm flipV="1">
            <a:off x="3081247" y="4719622"/>
            <a:ext cx="0" cy="847755"/>
          </a:xfrm>
          <a:prstGeom prst="line">
            <a:avLst/>
          </a:prstGeom>
          <a:ln w="38100" cap="flat">
            <a:solidFill>
              <a:srgbClr val="E8EEF2"/>
            </a:solidFill>
            <a:prstDash val="solid"/>
            <a:headEnd type="none" w="sm" len="sm"/>
            <a:tailEnd type="none" w="sm" len="sm"/>
          </a:ln>
        </p:spPr>
      </p:sp>
      <p:sp>
        <p:nvSpPr>
          <p:cNvPr id="42" name="AutoShape 24">
            <a:extLst>
              <a:ext uri="{FF2B5EF4-FFF2-40B4-BE49-F238E27FC236}">
                <a16:creationId xmlns:a16="http://schemas.microsoft.com/office/drawing/2014/main" id="{86ADC275-1DC2-420E-8AB1-A37B93099211}"/>
              </a:ext>
            </a:extLst>
          </p:cNvPr>
          <p:cNvSpPr/>
          <p:nvPr/>
        </p:nvSpPr>
        <p:spPr>
          <a:xfrm flipV="1">
            <a:off x="3119347" y="7839869"/>
            <a:ext cx="0" cy="847755"/>
          </a:xfrm>
          <a:prstGeom prst="line">
            <a:avLst/>
          </a:prstGeom>
          <a:ln w="38100" cap="flat">
            <a:solidFill>
              <a:srgbClr val="E8EEF2"/>
            </a:solidFill>
            <a:prstDash val="solid"/>
            <a:headEnd type="none" w="sm" len="sm"/>
            <a:tailEnd type="none" w="sm" len="sm"/>
          </a:ln>
        </p:spPr>
      </p:sp>
      <p:sp>
        <p:nvSpPr>
          <p:cNvPr id="43" name="AutoShape 25">
            <a:extLst>
              <a:ext uri="{FF2B5EF4-FFF2-40B4-BE49-F238E27FC236}">
                <a16:creationId xmlns:a16="http://schemas.microsoft.com/office/drawing/2014/main" id="{F8A6BC20-2273-4D46-AEC4-D6BD119FA1F8}"/>
              </a:ext>
            </a:extLst>
          </p:cNvPr>
          <p:cNvSpPr/>
          <p:nvPr/>
        </p:nvSpPr>
        <p:spPr>
          <a:xfrm flipV="1">
            <a:off x="12207362" y="4719622"/>
            <a:ext cx="0" cy="847755"/>
          </a:xfrm>
          <a:prstGeom prst="line">
            <a:avLst/>
          </a:prstGeom>
          <a:ln w="38100" cap="flat">
            <a:solidFill>
              <a:srgbClr val="E8EEF2"/>
            </a:solidFill>
            <a:prstDash val="solid"/>
            <a:headEnd type="none" w="sm" len="sm"/>
            <a:tailEnd type="none" w="sm" len="sm"/>
          </a:ln>
        </p:spPr>
      </p:sp>
      <p:sp>
        <p:nvSpPr>
          <p:cNvPr id="44" name="AutoShape 26">
            <a:extLst>
              <a:ext uri="{FF2B5EF4-FFF2-40B4-BE49-F238E27FC236}">
                <a16:creationId xmlns:a16="http://schemas.microsoft.com/office/drawing/2014/main" id="{3947F7A5-2FF9-486A-B986-EE0E4FB63DBA}"/>
              </a:ext>
            </a:extLst>
          </p:cNvPr>
          <p:cNvSpPr/>
          <p:nvPr/>
        </p:nvSpPr>
        <p:spPr>
          <a:xfrm flipV="1">
            <a:off x="12245462" y="7839869"/>
            <a:ext cx="0" cy="847755"/>
          </a:xfrm>
          <a:prstGeom prst="line">
            <a:avLst/>
          </a:prstGeom>
          <a:ln w="38100" cap="flat">
            <a:solidFill>
              <a:srgbClr val="E8EEF2"/>
            </a:solidFill>
            <a:prstDash val="solid"/>
            <a:headEnd type="none" w="sm" len="sm"/>
            <a:tailEnd type="none" w="sm" len="sm"/>
          </a:ln>
        </p:spPr>
      </p:sp>
      <p:sp>
        <p:nvSpPr>
          <p:cNvPr id="45" name="TextBox 27">
            <a:extLst>
              <a:ext uri="{FF2B5EF4-FFF2-40B4-BE49-F238E27FC236}">
                <a16:creationId xmlns:a16="http://schemas.microsoft.com/office/drawing/2014/main" id="{5E22AE16-3772-401D-92B2-8DB855192F94}"/>
              </a:ext>
            </a:extLst>
          </p:cNvPr>
          <p:cNvSpPr txBox="1"/>
          <p:nvPr/>
        </p:nvSpPr>
        <p:spPr>
          <a:xfrm>
            <a:off x="3634418" y="8549658"/>
            <a:ext cx="4841875" cy="1154162"/>
          </a:xfrm>
          <a:prstGeom prst="rect">
            <a:avLst/>
          </a:prstGeom>
        </p:spPr>
        <p:txBody>
          <a:bodyPr wrap="square" lIns="0" tIns="0" rIns="0" bIns="0" rtlCol="0" anchor="t">
            <a:spAutoFit/>
          </a:bodyPr>
          <a:lstStyle/>
          <a:p>
            <a:pPr algn="l">
              <a:lnSpc>
                <a:spcPts val="2990"/>
              </a:lnSpc>
            </a:pPr>
            <a:r>
              <a:rPr lang="en-US" sz="2300" dirty="0">
                <a:solidFill>
                  <a:srgbClr val="E8EEF2"/>
                </a:solidFill>
                <a:latin typeface="Prompt Light"/>
                <a:ea typeface="Prompt Light"/>
                <a:cs typeface="Prompt Light"/>
                <a:sym typeface="Prompt Light"/>
              </a:rPr>
              <a:t>Search engines now index JavaScript-rich and multimedia content using advanced crawlers.</a:t>
            </a:r>
          </a:p>
        </p:txBody>
      </p:sp>
      <p:sp>
        <p:nvSpPr>
          <p:cNvPr id="46" name="TextBox 28">
            <a:extLst>
              <a:ext uri="{FF2B5EF4-FFF2-40B4-BE49-F238E27FC236}">
                <a16:creationId xmlns:a16="http://schemas.microsoft.com/office/drawing/2014/main" id="{156D1E58-3C39-4DE7-B654-7E8E0F2B90E4}"/>
              </a:ext>
            </a:extLst>
          </p:cNvPr>
          <p:cNvSpPr txBox="1"/>
          <p:nvPr/>
        </p:nvSpPr>
        <p:spPr>
          <a:xfrm>
            <a:off x="3634409" y="7384111"/>
            <a:ext cx="4126600" cy="1077218"/>
          </a:xfrm>
          <a:prstGeom prst="rect">
            <a:avLst/>
          </a:prstGeom>
        </p:spPr>
        <p:txBody>
          <a:bodyPr wrap="square" lIns="0" tIns="0" rIns="0" bIns="0" rtlCol="0" anchor="t">
            <a:spAutoFit/>
          </a:bodyPr>
          <a:lstStyle/>
          <a:p>
            <a:pPr algn="l">
              <a:lnSpc>
                <a:spcPts val="4159"/>
              </a:lnSpc>
            </a:pPr>
            <a:r>
              <a:rPr lang="en-US" sz="3199" dirty="0">
                <a:solidFill>
                  <a:srgbClr val="E8EEF2"/>
                </a:solidFill>
                <a:latin typeface="Prompt Light"/>
                <a:ea typeface="Prompt Light"/>
                <a:cs typeface="Prompt Light"/>
                <a:sym typeface="Prompt Light"/>
              </a:rPr>
              <a:t>Support for Dynamic Content</a:t>
            </a:r>
          </a:p>
        </p:txBody>
      </p:sp>
      <p:sp>
        <p:nvSpPr>
          <p:cNvPr id="47" name="TextBox 29">
            <a:extLst>
              <a:ext uri="{FF2B5EF4-FFF2-40B4-BE49-F238E27FC236}">
                <a16:creationId xmlns:a16="http://schemas.microsoft.com/office/drawing/2014/main" id="{B61A218D-626A-4F30-BD7A-D12C0834459C}"/>
              </a:ext>
            </a:extLst>
          </p:cNvPr>
          <p:cNvSpPr txBox="1"/>
          <p:nvPr/>
        </p:nvSpPr>
        <p:spPr>
          <a:xfrm>
            <a:off x="12759027" y="5460584"/>
            <a:ext cx="4957492" cy="1154162"/>
          </a:xfrm>
          <a:prstGeom prst="rect">
            <a:avLst/>
          </a:prstGeom>
        </p:spPr>
        <p:txBody>
          <a:bodyPr wrap="square" lIns="0" tIns="0" rIns="0" bIns="0" rtlCol="0" anchor="t">
            <a:spAutoFit/>
          </a:bodyPr>
          <a:lstStyle/>
          <a:p>
            <a:pPr algn="l">
              <a:lnSpc>
                <a:spcPts val="2990"/>
              </a:lnSpc>
            </a:pPr>
            <a:r>
              <a:rPr lang="en-US" sz="2300" dirty="0">
                <a:solidFill>
                  <a:srgbClr val="E8EEF2"/>
                </a:solidFill>
                <a:latin typeface="Prompt Light"/>
                <a:ea typeface="Prompt Light"/>
                <a:cs typeface="Prompt Light"/>
                <a:sym typeface="Prompt Light"/>
              </a:rPr>
              <a:t>AI models interpret user context and search history to improve result relevance.</a:t>
            </a:r>
          </a:p>
        </p:txBody>
      </p:sp>
      <p:sp>
        <p:nvSpPr>
          <p:cNvPr id="48" name="TextBox 30">
            <a:extLst>
              <a:ext uri="{FF2B5EF4-FFF2-40B4-BE49-F238E27FC236}">
                <a16:creationId xmlns:a16="http://schemas.microsoft.com/office/drawing/2014/main" id="{A001A32C-869A-4375-8196-4E1CFC2BE132}"/>
              </a:ext>
            </a:extLst>
          </p:cNvPr>
          <p:cNvSpPr txBox="1"/>
          <p:nvPr/>
        </p:nvSpPr>
        <p:spPr>
          <a:xfrm>
            <a:off x="12709435" y="4316640"/>
            <a:ext cx="4907008" cy="538609"/>
          </a:xfrm>
          <a:prstGeom prst="rect">
            <a:avLst/>
          </a:prstGeom>
        </p:spPr>
        <p:txBody>
          <a:bodyPr wrap="square" lIns="0" tIns="0" rIns="0" bIns="0" rtlCol="0" anchor="t">
            <a:spAutoFit/>
          </a:bodyPr>
          <a:lstStyle/>
          <a:p>
            <a:pPr algn="l">
              <a:lnSpc>
                <a:spcPts val="4159"/>
              </a:lnSpc>
            </a:pPr>
            <a:r>
              <a:rPr lang="en-US" sz="3199" dirty="0">
                <a:solidFill>
                  <a:srgbClr val="E8EEF2"/>
                </a:solidFill>
                <a:latin typeface="Prompt Light"/>
                <a:ea typeface="Prompt Light"/>
                <a:cs typeface="Prompt Light"/>
                <a:sym typeface="Prompt Light"/>
              </a:rPr>
              <a:t>Semantic Understanding</a:t>
            </a:r>
          </a:p>
        </p:txBody>
      </p:sp>
      <p:sp>
        <p:nvSpPr>
          <p:cNvPr id="49" name="TextBox 31">
            <a:extLst>
              <a:ext uri="{FF2B5EF4-FFF2-40B4-BE49-F238E27FC236}">
                <a16:creationId xmlns:a16="http://schemas.microsoft.com/office/drawing/2014/main" id="{6EBF938E-3105-437A-981A-8C70D2B954AA}"/>
              </a:ext>
            </a:extLst>
          </p:cNvPr>
          <p:cNvSpPr txBox="1"/>
          <p:nvPr/>
        </p:nvSpPr>
        <p:spPr>
          <a:xfrm>
            <a:off x="12757924" y="8169131"/>
            <a:ext cx="4958595" cy="1154162"/>
          </a:xfrm>
          <a:prstGeom prst="rect">
            <a:avLst/>
          </a:prstGeom>
        </p:spPr>
        <p:txBody>
          <a:bodyPr wrap="square" lIns="0" tIns="0" rIns="0" bIns="0" rtlCol="0" anchor="t">
            <a:spAutoFit/>
          </a:bodyPr>
          <a:lstStyle/>
          <a:p>
            <a:pPr algn="l">
              <a:lnSpc>
                <a:spcPts val="2990"/>
              </a:lnSpc>
            </a:pPr>
            <a:r>
              <a:rPr lang="en-US" sz="2300" dirty="0">
                <a:solidFill>
                  <a:srgbClr val="E8EEF2"/>
                </a:solidFill>
                <a:latin typeface="Prompt Light"/>
                <a:ea typeface="Prompt Light"/>
                <a:cs typeface="Prompt Light"/>
                <a:sym typeface="Prompt Light"/>
              </a:rPr>
              <a:t>Integrates structured data (e.g., from schema.org) for richer and more useful results.</a:t>
            </a:r>
          </a:p>
        </p:txBody>
      </p:sp>
      <p:sp>
        <p:nvSpPr>
          <p:cNvPr id="50" name="TextBox 32">
            <a:extLst>
              <a:ext uri="{FF2B5EF4-FFF2-40B4-BE49-F238E27FC236}">
                <a16:creationId xmlns:a16="http://schemas.microsoft.com/office/drawing/2014/main" id="{F9037054-5024-4D86-852B-4DD64E919CC8}"/>
              </a:ext>
            </a:extLst>
          </p:cNvPr>
          <p:cNvSpPr txBox="1"/>
          <p:nvPr/>
        </p:nvSpPr>
        <p:spPr>
          <a:xfrm>
            <a:off x="12757925" y="7540451"/>
            <a:ext cx="5301473" cy="538609"/>
          </a:xfrm>
          <a:prstGeom prst="rect">
            <a:avLst/>
          </a:prstGeom>
        </p:spPr>
        <p:txBody>
          <a:bodyPr wrap="square" lIns="0" tIns="0" rIns="0" bIns="0" rtlCol="0" anchor="t">
            <a:spAutoFit/>
          </a:bodyPr>
          <a:lstStyle/>
          <a:p>
            <a:pPr algn="l">
              <a:lnSpc>
                <a:spcPts val="4159"/>
              </a:lnSpc>
            </a:pPr>
            <a:r>
              <a:rPr lang="en-US" sz="3199" dirty="0">
                <a:solidFill>
                  <a:srgbClr val="E8EEF2"/>
                </a:solidFill>
                <a:latin typeface="Prompt Light"/>
                <a:ea typeface="Prompt Light"/>
                <a:cs typeface="Prompt Light"/>
                <a:sym typeface="Prompt Light"/>
              </a:rPr>
              <a:t>Data Integration</a:t>
            </a:r>
          </a:p>
        </p:txBody>
      </p:sp>
    </p:spTree>
    <p:extLst>
      <p:ext uri="{BB962C8B-B14F-4D97-AF65-F5344CB8AC3E}">
        <p14:creationId xmlns:p14="http://schemas.microsoft.com/office/powerpoint/2010/main" val="19093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EEF2"/>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sp>
        <p:nvSpPr>
          <p:cNvPr id="20" name="Freeform 20"/>
          <p:cNvSpPr/>
          <p:nvPr/>
        </p:nvSpPr>
        <p:spPr>
          <a:xfrm>
            <a:off x="12289147" y="-273521"/>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alphaModFix amt="50000"/>
            </a:blip>
            <a:stretch>
              <a:fillRect/>
            </a:stretch>
          </a:blipFill>
        </p:spPr>
      </p:sp>
      <p:sp>
        <p:nvSpPr>
          <p:cNvPr id="21" name="Freeform 21"/>
          <p:cNvSpPr/>
          <p:nvPr/>
        </p:nvSpPr>
        <p:spPr>
          <a:xfrm>
            <a:off x="9144000" y="-273521"/>
            <a:ext cx="7495082" cy="5143500"/>
          </a:xfrm>
          <a:custGeom>
            <a:avLst/>
            <a:gdLst/>
            <a:ahLst/>
            <a:cxnLst/>
            <a:rect l="l" t="t" r="r" b="b"/>
            <a:pathLst>
              <a:path w="7495082" h="5143500">
                <a:moveTo>
                  <a:pt x="0" y="0"/>
                </a:moveTo>
                <a:lnTo>
                  <a:pt x="7495082" y="0"/>
                </a:lnTo>
                <a:lnTo>
                  <a:pt x="7495082" y="5143500"/>
                </a:lnTo>
                <a:lnTo>
                  <a:pt x="0" y="5143500"/>
                </a:lnTo>
                <a:lnTo>
                  <a:pt x="0" y="0"/>
                </a:lnTo>
                <a:close/>
              </a:path>
            </a:pathLst>
          </a:custGeom>
          <a:blipFill>
            <a:blip r:embed="rId2">
              <a:alphaModFix amt="50000"/>
            </a:blip>
            <a:stretch>
              <a:fillRect/>
            </a:stretch>
          </a:blipFill>
        </p:spPr>
      </p:sp>
      <p:sp>
        <p:nvSpPr>
          <p:cNvPr id="22" name="TextBox 7">
            <a:extLst>
              <a:ext uri="{FF2B5EF4-FFF2-40B4-BE49-F238E27FC236}">
                <a16:creationId xmlns:a16="http://schemas.microsoft.com/office/drawing/2014/main" id="{182EAB66-D6C3-4A19-B69F-66ADCF301714}"/>
              </a:ext>
            </a:extLst>
          </p:cNvPr>
          <p:cNvSpPr txBox="1"/>
          <p:nvPr/>
        </p:nvSpPr>
        <p:spPr>
          <a:xfrm>
            <a:off x="3352800" y="1682676"/>
            <a:ext cx="11201400" cy="1231106"/>
          </a:xfrm>
          <a:prstGeom prst="rect">
            <a:avLst/>
          </a:prstGeom>
        </p:spPr>
        <p:txBody>
          <a:bodyPr wrap="square" lIns="0" tIns="0" rIns="0" bIns="0" rtlCol="0" anchor="t">
            <a:spAutoFit/>
          </a:bodyPr>
          <a:lstStyle/>
          <a:p>
            <a:pPr algn="ctr">
              <a:lnSpc>
                <a:spcPts val="9600"/>
              </a:lnSpc>
            </a:pPr>
            <a:r>
              <a:rPr lang="en-US" sz="8000" b="1" dirty="0">
                <a:solidFill>
                  <a:srgbClr val="24DBC5"/>
                </a:solidFill>
                <a:latin typeface="Prompt Bold"/>
                <a:ea typeface="Prompt Bold"/>
                <a:cs typeface="Prompt Bold"/>
                <a:sym typeface="Prompt Bold"/>
              </a:rPr>
              <a:t>CONCLUSION</a:t>
            </a:r>
          </a:p>
        </p:txBody>
      </p:sp>
      <p:grpSp>
        <p:nvGrpSpPr>
          <p:cNvPr id="26" name="Group 4">
            <a:extLst>
              <a:ext uri="{FF2B5EF4-FFF2-40B4-BE49-F238E27FC236}">
                <a16:creationId xmlns:a16="http://schemas.microsoft.com/office/drawing/2014/main" id="{7A0C2622-D72D-401A-ACFB-C20CC3896ABC}"/>
              </a:ext>
            </a:extLst>
          </p:cNvPr>
          <p:cNvGrpSpPr/>
          <p:nvPr/>
        </p:nvGrpSpPr>
        <p:grpSpPr>
          <a:xfrm>
            <a:off x="1028700" y="7269192"/>
            <a:ext cx="7286778" cy="1989108"/>
            <a:chOff x="0" y="0"/>
            <a:chExt cx="1919151" cy="523880"/>
          </a:xfrm>
        </p:grpSpPr>
        <p:sp>
          <p:nvSpPr>
            <p:cNvPr id="27" name="Freeform 5">
              <a:extLst>
                <a:ext uri="{FF2B5EF4-FFF2-40B4-BE49-F238E27FC236}">
                  <a16:creationId xmlns:a16="http://schemas.microsoft.com/office/drawing/2014/main" id="{865E1A53-0E38-4D64-A03C-DFF8B18417CA}"/>
                </a:ext>
              </a:extLst>
            </p:cNvPr>
            <p:cNvSpPr/>
            <p:nvPr/>
          </p:nvSpPr>
          <p:spPr>
            <a:xfrm>
              <a:off x="0" y="0"/>
              <a:ext cx="1919151" cy="523880"/>
            </a:xfrm>
            <a:custGeom>
              <a:avLst/>
              <a:gdLst/>
              <a:ahLst/>
              <a:cxnLst/>
              <a:rect l="l" t="t" r="r" b="b"/>
              <a:pathLst>
                <a:path w="1919151" h="523880">
                  <a:moveTo>
                    <a:pt x="0" y="0"/>
                  </a:moveTo>
                  <a:lnTo>
                    <a:pt x="1919151" y="0"/>
                  </a:lnTo>
                  <a:lnTo>
                    <a:pt x="1919151" y="523880"/>
                  </a:lnTo>
                  <a:lnTo>
                    <a:pt x="0" y="523880"/>
                  </a:lnTo>
                  <a:close/>
                </a:path>
              </a:pathLst>
            </a:custGeom>
            <a:solidFill>
              <a:srgbClr val="0A0910">
                <a:alpha val="49804"/>
              </a:srgbClr>
            </a:solidFill>
          </p:spPr>
        </p:sp>
        <p:sp>
          <p:nvSpPr>
            <p:cNvPr id="28" name="TextBox 6">
              <a:extLst>
                <a:ext uri="{FF2B5EF4-FFF2-40B4-BE49-F238E27FC236}">
                  <a16:creationId xmlns:a16="http://schemas.microsoft.com/office/drawing/2014/main" id="{61CC7223-F905-4388-AF76-2FE0A9098E52}"/>
                </a:ext>
              </a:extLst>
            </p:cNvPr>
            <p:cNvSpPr txBox="1"/>
            <p:nvPr/>
          </p:nvSpPr>
          <p:spPr>
            <a:xfrm>
              <a:off x="0" y="-38100"/>
              <a:ext cx="1919151" cy="561980"/>
            </a:xfrm>
            <a:prstGeom prst="rect">
              <a:avLst/>
            </a:prstGeom>
          </p:spPr>
          <p:txBody>
            <a:bodyPr lIns="50800" tIns="50800" rIns="50800" bIns="50800" rtlCol="0" anchor="ctr"/>
            <a:lstStyle/>
            <a:p>
              <a:pPr algn="ctr">
                <a:lnSpc>
                  <a:spcPts val="3359"/>
                </a:lnSpc>
              </a:pPr>
              <a:endParaRPr/>
            </a:p>
          </p:txBody>
        </p:sp>
      </p:grpSp>
      <p:grpSp>
        <p:nvGrpSpPr>
          <p:cNvPr id="29" name="Group 11">
            <a:extLst>
              <a:ext uri="{FF2B5EF4-FFF2-40B4-BE49-F238E27FC236}">
                <a16:creationId xmlns:a16="http://schemas.microsoft.com/office/drawing/2014/main" id="{32D010F4-5F16-45A2-9E32-AB8C48E790BC}"/>
              </a:ext>
            </a:extLst>
          </p:cNvPr>
          <p:cNvGrpSpPr/>
          <p:nvPr/>
        </p:nvGrpSpPr>
        <p:grpSpPr>
          <a:xfrm>
            <a:off x="9972522" y="7269192"/>
            <a:ext cx="7286778" cy="1989108"/>
            <a:chOff x="0" y="0"/>
            <a:chExt cx="1919151" cy="523880"/>
          </a:xfrm>
        </p:grpSpPr>
        <p:sp>
          <p:nvSpPr>
            <p:cNvPr id="30" name="Freeform 12">
              <a:extLst>
                <a:ext uri="{FF2B5EF4-FFF2-40B4-BE49-F238E27FC236}">
                  <a16:creationId xmlns:a16="http://schemas.microsoft.com/office/drawing/2014/main" id="{1FF248CB-AD6F-4456-94BC-571F2F4B4384}"/>
                </a:ext>
              </a:extLst>
            </p:cNvPr>
            <p:cNvSpPr/>
            <p:nvPr/>
          </p:nvSpPr>
          <p:spPr>
            <a:xfrm>
              <a:off x="0" y="0"/>
              <a:ext cx="1919151" cy="523880"/>
            </a:xfrm>
            <a:custGeom>
              <a:avLst/>
              <a:gdLst/>
              <a:ahLst/>
              <a:cxnLst/>
              <a:rect l="l" t="t" r="r" b="b"/>
              <a:pathLst>
                <a:path w="1919151" h="523880">
                  <a:moveTo>
                    <a:pt x="0" y="0"/>
                  </a:moveTo>
                  <a:lnTo>
                    <a:pt x="1919151" y="0"/>
                  </a:lnTo>
                  <a:lnTo>
                    <a:pt x="1919151" y="523880"/>
                  </a:lnTo>
                  <a:lnTo>
                    <a:pt x="0" y="523880"/>
                  </a:lnTo>
                  <a:close/>
                </a:path>
              </a:pathLst>
            </a:custGeom>
            <a:solidFill>
              <a:srgbClr val="0A0910">
                <a:alpha val="49804"/>
              </a:srgbClr>
            </a:solidFill>
          </p:spPr>
        </p:sp>
        <p:sp>
          <p:nvSpPr>
            <p:cNvPr id="31" name="TextBox 13">
              <a:extLst>
                <a:ext uri="{FF2B5EF4-FFF2-40B4-BE49-F238E27FC236}">
                  <a16:creationId xmlns:a16="http://schemas.microsoft.com/office/drawing/2014/main" id="{1C881FB3-4FCA-4B31-BBE4-84A2BA555614}"/>
                </a:ext>
              </a:extLst>
            </p:cNvPr>
            <p:cNvSpPr txBox="1"/>
            <p:nvPr/>
          </p:nvSpPr>
          <p:spPr>
            <a:xfrm>
              <a:off x="0" y="-38100"/>
              <a:ext cx="1919151" cy="561980"/>
            </a:xfrm>
            <a:prstGeom prst="rect">
              <a:avLst/>
            </a:prstGeom>
          </p:spPr>
          <p:txBody>
            <a:bodyPr lIns="50800" tIns="50800" rIns="50800" bIns="50800" rtlCol="0" anchor="ctr"/>
            <a:lstStyle/>
            <a:p>
              <a:pPr algn="ctr">
                <a:lnSpc>
                  <a:spcPts val="3359"/>
                </a:lnSpc>
              </a:pPr>
              <a:endParaRPr/>
            </a:p>
          </p:txBody>
        </p:sp>
      </p:grpSp>
      <p:grpSp>
        <p:nvGrpSpPr>
          <p:cNvPr id="32" name="Group 14">
            <a:extLst>
              <a:ext uri="{FF2B5EF4-FFF2-40B4-BE49-F238E27FC236}">
                <a16:creationId xmlns:a16="http://schemas.microsoft.com/office/drawing/2014/main" id="{52EA103E-F276-428F-B83E-64DD9DF34785}"/>
              </a:ext>
            </a:extLst>
          </p:cNvPr>
          <p:cNvGrpSpPr/>
          <p:nvPr/>
        </p:nvGrpSpPr>
        <p:grpSpPr>
          <a:xfrm>
            <a:off x="9972522" y="4148946"/>
            <a:ext cx="7286778" cy="1989108"/>
            <a:chOff x="0" y="0"/>
            <a:chExt cx="1919151" cy="523880"/>
          </a:xfrm>
        </p:grpSpPr>
        <p:sp>
          <p:nvSpPr>
            <p:cNvPr id="33" name="Freeform 15">
              <a:extLst>
                <a:ext uri="{FF2B5EF4-FFF2-40B4-BE49-F238E27FC236}">
                  <a16:creationId xmlns:a16="http://schemas.microsoft.com/office/drawing/2014/main" id="{DF3F336A-8610-4384-ACDB-00086A2FE2DF}"/>
                </a:ext>
              </a:extLst>
            </p:cNvPr>
            <p:cNvSpPr/>
            <p:nvPr/>
          </p:nvSpPr>
          <p:spPr>
            <a:xfrm>
              <a:off x="0" y="0"/>
              <a:ext cx="1919151" cy="523880"/>
            </a:xfrm>
            <a:custGeom>
              <a:avLst/>
              <a:gdLst/>
              <a:ahLst/>
              <a:cxnLst/>
              <a:rect l="l" t="t" r="r" b="b"/>
              <a:pathLst>
                <a:path w="1919151" h="523880">
                  <a:moveTo>
                    <a:pt x="0" y="0"/>
                  </a:moveTo>
                  <a:lnTo>
                    <a:pt x="1919151" y="0"/>
                  </a:lnTo>
                  <a:lnTo>
                    <a:pt x="1919151" y="523880"/>
                  </a:lnTo>
                  <a:lnTo>
                    <a:pt x="0" y="523880"/>
                  </a:lnTo>
                  <a:close/>
                </a:path>
              </a:pathLst>
            </a:custGeom>
            <a:solidFill>
              <a:srgbClr val="0A0910">
                <a:alpha val="49804"/>
              </a:srgbClr>
            </a:solidFill>
          </p:spPr>
        </p:sp>
        <p:sp>
          <p:nvSpPr>
            <p:cNvPr id="34" name="TextBox 16">
              <a:extLst>
                <a:ext uri="{FF2B5EF4-FFF2-40B4-BE49-F238E27FC236}">
                  <a16:creationId xmlns:a16="http://schemas.microsoft.com/office/drawing/2014/main" id="{C9ACF71E-A384-419E-990A-5D2A4FFC4935}"/>
                </a:ext>
              </a:extLst>
            </p:cNvPr>
            <p:cNvSpPr txBox="1"/>
            <p:nvPr/>
          </p:nvSpPr>
          <p:spPr>
            <a:xfrm>
              <a:off x="0" y="-38100"/>
              <a:ext cx="1919151" cy="561980"/>
            </a:xfrm>
            <a:prstGeom prst="rect">
              <a:avLst/>
            </a:prstGeom>
          </p:spPr>
          <p:txBody>
            <a:bodyPr lIns="50800" tIns="50800" rIns="50800" bIns="50800" rtlCol="0" anchor="ctr"/>
            <a:lstStyle/>
            <a:p>
              <a:pPr algn="ctr">
                <a:lnSpc>
                  <a:spcPts val="3359"/>
                </a:lnSpc>
              </a:pPr>
              <a:endParaRPr/>
            </a:p>
          </p:txBody>
        </p:sp>
      </p:grpSp>
      <p:sp>
        <p:nvSpPr>
          <p:cNvPr id="51" name="TextBox 7">
            <a:extLst>
              <a:ext uri="{FF2B5EF4-FFF2-40B4-BE49-F238E27FC236}">
                <a16:creationId xmlns:a16="http://schemas.microsoft.com/office/drawing/2014/main" id="{C9B89FB3-18B1-4EAF-9239-FA43B3F388EB}"/>
              </a:ext>
            </a:extLst>
          </p:cNvPr>
          <p:cNvSpPr txBox="1"/>
          <p:nvPr/>
        </p:nvSpPr>
        <p:spPr>
          <a:xfrm>
            <a:off x="1447800" y="3924300"/>
            <a:ext cx="15191282" cy="2154436"/>
          </a:xfrm>
          <a:prstGeom prst="rect">
            <a:avLst/>
          </a:prstGeom>
        </p:spPr>
        <p:txBody>
          <a:bodyPr wrap="square" lIns="0" tIns="0" rIns="0" bIns="0" rtlCol="0" anchor="t">
            <a:spAutoFit/>
          </a:bodyPr>
          <a:lstStyle/>
          <a:p>
            <a:pPr algn="ctr">
              <a:lnSpc>
                <a:spcPts val="4160"/>
              </a:lnSpc>
            </a:pPr>
            <a:r>
              <a:rPr lang="en-US" sz="3200" dirty="0">
                <a:solidFill>
                  <a:srgbClr val="E8EEF2"/>
                </a:solidFill>
                <a:latin typeface="Prompt Light"/>
                <a:ea typeface="Prompt Light"/>
                <a:cs typeface="Prompt Light"/>
                <a:sym typeface="Prompt Light"/>
              </a:rPr>
              <a:t>Search engines are essential tools for accessing information </a:t>
            </a:r>
            <a:r>
              <a:rPr lang="en-US" sz="3200" dirty="0" err="1">
                <a:solidFill>
                  <a:srgbClr val="E8EEF2"/>
                </a:solidFill>
                <a:latin typeface="Prompt Light"/>
                <a:ea typeface="Prompt Light"/>
                <a:cs typeface="Prompt Light"/>
                <a:sym typeface="Prompt Light"/>
              </a:rPr>
              <a:t>efficiently.By</a:t>
            </a:r>
            <a:r>
              <a:rPr lang="en-US" sz="3200" dirty="0">
                <a:solidFill>
                  <a:srgbClr val="E8EEF2"/>
                </a:solidFill>
                <a:latin typeface="Prompt Light"/>
                <a:ea typeface="Prompt Light"/>
                <a:cs typeface="Prompt Light"/>
                <a:sym typeface="Prompt Light"/>
              </a:rPr>
              <a:t> using crawling, indexing, and ranking algorithms, they turn queries into meaningful </a:t>
            </a:r>
            <a:r>
              <a:rPr lang="en-US" sz="3200" dirty="0" err="1">
                <a:solidFill>
                  <a:srgbClr val="E8EEF2"/>
                </a:solidFill>
                <a:latin typeface="Prompt Light"/>
                <a:ea typeface="Prompt Light"/>
                <a:cs typeface="Prompt Light"/>
                <a:sym typeface="Prompt Light"/>
              </a:rPr>
              <a:t>results.The</a:t>
            </a:r>
            <a:r>
              <a:rPr lang="en-US" sz="3200" dirty="0">
                <a:solidFill>
                  <a:srgbClr val="E8EEF2"/>
                </a:solidFill>
                <a:latin typeface="Prompt Light"/>
                <a:ea typeface="Prompt Light"/>
                <a:cs typeface="Prompt Light"/>
                <a:sym typeface="Prompt Light"/>
              </a:rPr>
              <a:t> integration of AI and user personalization makes them smarter and more powerful every day.</a:t>
            </a:r>
          </a:p>
        </p:txBody>
      </p:sp>
    </p:spTree>
    <p:extLst>
      <p:ext uri="{BB962C8B-B14F-4D97-AF65-F5344CB8AC3E}">
        <p14:creationId xmlns:p14="http://schemas.microsoft.com/office/powerpoint/2010/main" val="3623841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91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AutoShape 3"/>
            <p:cNvSpPr/>
            <p:nvPr/>
          </p:nvSpPr>
          <p:spPr>
            <a:xfrm>
              <a:off x="0" y="0"/>
              <a:ext cx="24384000" cy="13716000"/>
            </a:xfrm>
            <a:prstGeom prst="rect">
              <a:avLst/>
            </a:prstGeom>
            <a:solidFill>
              <a:srgbClr val="0A0910"/>
            </a:solidFill>
          </p:spPr>
        </p:sp>
      </p:grpSp>
      <p:sp>
        <p:nvSpPr>
          <p:cNvPr id="8" name="TextBox 4">
            <a:extLst>
              <a:ext uri="{FF2B5EF4-FFF2-40B4-BE49-F238E27FC236}">
                <a16:creationId xmlns:a16="http://schemas.microsoft.com/office/drawing/2014/main" id="{BBAB26AF-86DA-40BC-A3DC-DFF652AE8E00}"/>
              </a:ext>
            </a:extLst>
          </p:cNvPr>
          <p:cNvSpPr txBox="1"/>
          <p:nvPr/>
        </p:nvSpPr>
        <p:spPr>
          <a:xfrm>
            <a:off x="3729073" y="4191000"/>
            <a:ext cx="10829854" cy="1905000"/>
          </a:xfrm>
          <a:prstGeom prst="rect">
            <a:avLst/>
          </a:prstGeom>
        </p:spPr>
        <p:txBody>
          <a:bodyPr lIns="0" tIns="0" rIns="0" bIns="0" rtlCol="0" anchor="t">
            <a:spAutoFit/>
          </a:bodyPr>
          <a:lstStyle/>
          <a:p>
            <a:pPr algn="ctr">
              <a:lnSpc>
                <a:spcPts val="15000"/>
              </a:lnSpc>
            </a:pPr>
            <a:r>
              <a:rPr lang="en-US" sz="12500" b="1" dirty="0">
                <a:solidFill>
                  <a:srgbClr val="24DBC5"/>
                </a:solidFill>
                <a:latin typeface="Prompt Bold"/>
                <a:ea typeface="Prompt Bold"/>
                <a:cs typeface="Prompt Bold"/>
                <a:sym typeface="Prompt Bold"/>
              </a:rPr>
              <a:t>THANK</a:t>
            </a:r>
            <a:r>
              <a:rPr lang="en-US" sz="12500" b="1" dirty="0">
                <a:solidFill>
                  <a:srgbClr val="E8EEF2"/>
                </a:solidFill>
                <a:latin typeface="Prompt Bold"/>
                <a:ea typeface="Prompt Bold"/>
                <a:cs typeface="Prompt Bold"/>
                <a:sym typeface="Prompt Bold"/>
              </a:rPr>
              <a:t> YOU!</a:t>
            </a:r>
          </a:p>
        </p:txBody>
      </p:sp>
      <p:sp>
        <p:nvSpPr>
          <p:cNvPr id="9" name="TextBox 5">
            <a:extLst>
              <a:ext uri="{FF2B5EF4-FFF2-40B4-BE49-F238E27FC236}">
                <a16:creationId xmlns:a16="http://schemas.microsoft.com/office/drawing/2014/main" id="{D7D730EB-A506-4F31-BD40-1FF4C0AD7F57}"/>
              </a:ext>
            </a:extLst>
          </p:cNvPr>
          <p:cNvSpPr txBox="1"/>
          <p:nvPr/>
        </p:nvSpPr>
        <p:spPr>
          <a:xfrm>
            <a:off x="5703818" y="6302957"/>
            <a:ext cx="6880363" cy="1179810"/>
          </a:xfrm>
          <a:prstGeom prst="rect">
            <a:avLst/>
          </a:prstGeom>
        </p:spPr>
        <p:txBody>
          <a:bodyPr lIns="0" tIns="0" rIns="0" bIns="0" rtlCol="0" anchor="t">
            <a:spAutoFit/>
          </a:bodyPr>
          <a:lstStyle/>
          <a:p>
            <a:pPr algn="ctr">
              <a:lnSpc>
                <a:spcPts val="4550"/>
              </a:lnSpc>
            </a:pPr>
            <a:r>
              <a:rPr lang="en-US" sz="3500" dirty="0">
                <a:solidFill>
                  <a:srgbClr val="E8EEF2"/>
                </a:solidFill>
                <a:latin typeface="Prompt Light"/>
                <a:ea typeface="Prompt Light"/>
                <a:cs typeface="Prompt Light"/>
                <a:sym typeface="Prompt Light"/>
              </a:rPr>
              <a:t>If you have any questions you are free to ask.</a:t>
            </a:r>
          </a:p>
        </p:txBody>
      </p:sp>
    </p:spTree>
    <p:extLst>
      <p:ext uri="{BB962C8B-B14F-4D97-AF65-F5344CB8AC3E}">
        <p14:creationId xmlns:p14="http://schemas.microsoft.com/office/powerpoint/2010/main" val="1288316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3591</TotalTime>
  <Words>634</Words>
  <Application>Microsoft Office PowerPoint</Application>
  <PresentationFormat>Personnalisé</PresentationFormat>
  <Paragraphs>119</Paragraphs>
  <Slides>16</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Prompt</vt:lpstr>
      <vt:lpstr>Prompt Bold</vt:lpstr>
      <vt:lpstr>Arial</vt:lpstr>
      <vt:lpstr>Prompt Light</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Turquoise and Black Dark Neon Modern Tech Thesis Defense Presentation</dc:title>
  <cp:lastModifiedBy>akram</cp:lastModifiedBy>
  <cp:revision>42</cp:revision>
  <dcterms:created xsi:type="dcterms:W3CDTF">2006-08-16T00:00:00Z</dcterms:created>
  <dcterms:modified xsi:type="dcterms:W3CDTF">2025-04-16T16:03:47Z</dcterms:modified>
  <dc:identifier>DAGhRzhOYZw</dc:identifier>
</cp:coreProperties>
</file>