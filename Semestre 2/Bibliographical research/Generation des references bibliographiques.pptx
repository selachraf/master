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0000500000000000000" pitchFamily="2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54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355175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Génération des Références Bibliographiques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097060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Comparaison entre deux approches : traditionnelle vs IA.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476976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               Une présentation par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</a:t>
            </a: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Benamrane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Achraf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Ramoul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Chouaib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                       </a:t>
            </a: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Slougha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Achraf</a:t>
            </a:r>
            <a:endParaRPr lang="en-US" sz="1900" dirty="0">
              <a:solidFill>
                <a:srgbClr val="E0E4E6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                                          Avril 2025.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58365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639735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génération de références est essentielle. C'est la base des travaux scientifiques.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370748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Nous avons exploré deux approches principales.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4037" y="4380190"/>
            <a:ext cx="185142" cy="88606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9463" y="4380190"/>
            <a:ext cx="296453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 traditionnelle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419463" y="4871204"/>
            <a:ext cx="686050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Sans intelligence artificielle.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234321" y="5513070"/>
            <a:ext cx="185142" cy="88606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9748" y="551307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 moderne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789748" y="6004084"/>
            <a:ext cx="64902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Basée sur l’IA.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62687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Objectifs de l'Étude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268295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Comparer les performances des deux méthodes.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350437" y="3633311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52680" y="36333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 manuelle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152680" y="4124325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Basée sur des règles.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5043845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52680" y="5043845"/>
            <a:ext cx="28513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 automatique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152680" y="5534858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Utilisant l’IA.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350437" y="6207562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Évaluer le temps, la mémoire et la qualité finale.</a:t>
            </a:r>
            <a:endParaRPr lang="en-US" sz="19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D9C7D6B-2784-44CF-9147-0C43D01FF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8634" y="7470103"/>
            <a:ext cx="2241765" cy="6405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35077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État de l’Art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653671"/>
            <a:ext cx="277070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Méthodes Classiques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24338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BibTeX, EndNote, Zotero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724757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Scripts Python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365367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Méthodes IA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623929" y="424338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GPT, BERT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724757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Apprentissage automatique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4037" y="548378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 deux approches offrent des solutions variées.</a:t>
            </a:r>
            <a:endParaRPr lang="en-US" sz="19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7C72115-725A-4176-9CB7-4F97E824F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531" y="7440697"/>
            <a:ext cx="2102869" cy="64412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BAF3A6-DAE0-4C66-9A4F-2ACD6A7F4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531" y="7585479"/>
            <a:ext cx="2102871" cy="6441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24289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Méthodologie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229897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Données d’entrée : auteur, titre, année, éditeur.</a:t>
            </a:r>
            <a:endParaRPr lang="en-US" sz="1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971681"/>
            <a:ext cx="1234440" cy="14812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55161" y="321849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Objectif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7955161" y="3709511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Produire une référence formatée (APA, IEEE).</a:t>
            </a:r>
            <a:endParaRPr lang="en-US" sz="1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4452938"/>
            <a:ext cx="1234440" cy="18610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161" y="469975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Outils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7955161" y="519076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Script Python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955161" y="567213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ChatGPT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350437" y="659165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Ces outils permettent de formater les références.</a:t>
            </a:r>
            <a:endParaRPr lang="en-US" sz="19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7968B8A-802C-46A6-BF86-55E6090A7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4994" y="7490557"/>
            <a:ext cx="2335406" cy="7153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82316"/>
            <a:ext cx="752856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Mise en place de l’expérience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6186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Corpus de test : 50 références brutes.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71951" y="459783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Temps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64037" y="5088850"/>
            <a:ext cx="41511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Temps moyen de traitement.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03" y="3234571"/>
            <a:ext cx="3612594" cy="36125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67920" y="4732258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4969" y="4769287"/>
            <a:ext cx="277654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491782" y="35032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Poids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9491782" y="3994309"/>
            <a:ext cx="427458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Poids des solutions.</a:t>
            </a:r>
            <a:endParaRPr lang="en-US" sz="1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903" y="3234571"/>
            <a:ext cx="3612594" cy="361259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75865" y="3226594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5648" y="3361611"/>
            <a:ext cx="277654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9491782" y="529721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Précision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9491782" y="5788223"/>
            <a:ext cx="42745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Conformité au style bibliographique choisi.</a:t>
            </a:r>
            <a:endParaRPr lang="en-US" sz="1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903" y="3234571"/>
            <a:ext cx="3612594" cy="361259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22780" y="6269712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058327" y="6346270"/>
            <a:ext cx="277654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5B5D46-048E-4EFE-8A0D-FA9CBE85A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7763" y="6955638"/>
            <a:ext cx="3825315" cy="1171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12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479" y="3435429"/>
            <a:ext cx="5000149" cy="62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Résultats Observés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87479" y="4397931"/>
            <a:ext cx="13055441" cy="2595562"/>
          </a:xfrm>
          <a:prstGeom prst="roundRect">
            <a:avLst>
              <a:gd name="adj" fmla="val 1300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5099" y="4405551"/>
            <a:ext cx="13038892" cy="6450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1556" y="4548068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Critère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371148" y="4548068"/>
            <a:ext cx="388834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Méthode Classique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16929" y="4548068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Méthode IA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5099" y="5050631"/>
            <a:ext cx="13038892" cy="6450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21556" y="5193149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Temps moyen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371148" y="5193149"/>
            <a:ext cx="388834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0,2 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716929" y="5193149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1,5 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5099" y="5695712"/>
            <a:ext cx="13038892" cy="6450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21556" y="5838230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Taille de l'outil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371148" y="5838230"/>
            <a:ext cx="388834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&lt; 1 Mo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716929" y="5838230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~1,5 Go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95099" y="6340793"/>
            <a:ext cx="13038892" cy="6450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21556" y="6483310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Précision (%)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371148" y="6483310"/>
            <a:ext cx="388834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80 %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716929" y="6483310"/>
            <a:ext cx="3892153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96 %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787479" y="7246620"/>
            <a:ext cx="13055441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 chiffres sont indicatifs, basés sur nos tests.</a:t>
            </a:r>
            <a:endParaRPr lang="en-US" sz="175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442B466-E804-4186-89F8-946C88D72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3741" y="7388282"/>
            <a:ext cx="2746659" cy="8413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110026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Discussion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41292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 Classique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00264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Légère, rapide, simple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48401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Efficace pour des cas standards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96538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Limitée pour des données non structurées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341292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Méthode IA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23929" y="400264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Plus flexible et performante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48401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Gère bien les cas complexes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496538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Consomme plus de ressources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4037" y="572440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Chaque méthode a ses propres avantages et inconvénients.</a:t>
            </a:r>
            <a:endParaRPr lang="en-US" sz="19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C0A2B58-E52B-4B04-8853-B708274CE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257" y="7329011"/>
            <a:ext cx="2947821" cy="902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349931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406015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 deux approches ont leurs avantages. L’IA s'adapte mieux.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3078718"/>
            <a:ext cx="7415927" cy="1440656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1333" y="335601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IA adaptabilité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41333" y="3847028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Meilleure adaptabilité aux formats variés.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4037" y="4766191"/>
            <a:ext cx="7415927" cy="1440656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1333" y="50434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Hybride idéal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141333" y="5534501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Efficacité + flexibilité.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4037" y="648450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Une approche hybride serait donc idéale.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5102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Perspectives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607112"/>
            <a:ext cx="185142" cy="88606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5863" y="2607112"/>
            <a:ext cx="288917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Modèles IA plus légers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905863" y="3098125"/>
            <a:ext cx="686050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Explorer d’autres modèles IA.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720721" y="3739991"/>
            <a:ext cx="185142" cy="88606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76148" y="3739991"/>
            <a:ext cx="315182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Références multilingues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276148" y="4231005"/>
            <a:ext cx="64902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Étendre l’étude.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091005" y="4872871"/>
            <a:ext cx="185142" cy="886063"/>
          </a:xfrm>
          <a:prstGeom prst="roundRect">
            <a:avLst>
              <a:gd name="adj" fmla="val 200026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46432" y="487287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Système mixte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646432" y="5363885"/>
            <a:ext cx="611993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Intégration d’un système mixte (IA + règles).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50437" y="628340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Augmenter la taille de l’échantillon de test.</a:t>
            </a:r>
            <a:endParaRPr lang="en-US" sz="19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FF2A589-BFB1-4FC8-9EC2-AAF4F08E6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166" y="7218677"/>
            <a:ext cx="3174234" cy="9722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351</Words>
  <Application>Microsoft Office PowerPoint</Application>
  <PresentationFormat>Personnalisé</PresentationFormat>
  <Paragraphs>96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Barlow</vt:lpstr>
      <vt:lpstr>Calibri</vt:lpstr>
      <vt:lpstr>Spline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akram</cp:lastModifiedBy>
  <cp:revision>3</cp:revision>
  <dcterms:created xsi:type="dcterms:W3CDTF">2025-04-09T22:57:16Z</dcterms:created>
  <dcterms:modified xsi:type="dcterms:W3CDTF">2025-04-16T16:17:09Z</dcterms:modified>
</cp:coreProperties>
</file>