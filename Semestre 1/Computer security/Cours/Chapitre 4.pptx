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330" r:id="rId2"/>
    <p:sldId id="331" r:id="rId3"/>
    <p:sldId id="332" r:id="rId4"/>
    <p:sldId id="333" r:id="rId5"/>
    <p:sldId id="334" r:id="rId6"/>
    <p:sldId id="340" r:id="rId7"/>
    <p:sldId id="335" r:id="rId8"/>
    <p:sldId id="336" r:id="rId9"/>
    <p:sldId id="337" r:id="rId10"/>
    <p:sldId id="338" r:id="rId11"/>
    <p:sldId id="339" r:id="rId12"/>
    <p:sldId id="329" r:id="rId13"/>
    <p:sldId id="314" r:id="rId14"/>
    <p:sldId id="256" r:id="rId15"/>
    <p:sldId id="315" r:id="rId16"/>
    <p:sldId id="316" r:id="rId17"/>
    <p:sldId id="266" r:id="rId18"/>
    <p:sldId id="318" r:id="rId19"/>
    <p:sldId id="320" r:id="rId20"/>
    <p:sldId id="321" r:id="rId21"/>
    <p:sldId id="317" r:id="rId22"/>
    <p:sldId id="271" r:id="rId23"/>
    <p:sldId id="322" r:id="rId24"/>
    <p:sldId id="319" r:id="rId25"/>
    <p:sldId id="257" r:id="rId26"/>
    <p:sldId id="258" r:id="rId27"/>
    <p:sldId id="323" r:id="rId28"/>
    <p:sldId id="324" r:id="rId29"/>
    <p:sldId id="325" r:id="rId30"/>
    <p:sldId id="259" r:id="rId31"/>
    <p:sldId id="267" r:id="rId32"/>
    <p:sldId id="261" r:id="rId33"/>
    <p:sldId id="268" r:id="rId34"/>
    <p:sldId id="263" r:id="rId35"/>
    <p:sldId id="326" r:id="rId36"/>
    <p:sldId id="265" r:id="rId37"/>
    <p:sldId id="327" r:id="rId38"/>
    <p:sldId id="32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427" autoAdjust="0"/>
  </p:normalViewPr>
  <p:slideViewPr>
    <p:cSldViewPr snapToGrid="0" snapToObjects="1">
      <p:cViewPr varScale="1">
        <p:scale>
          <a:sx n="59" d="100"/>
          <a:sy n="59" d="100"/>
        </p:scale>
        <p:origin x="17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9419-D33D-4A82-BE2B-134C4B0FB51B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EC2A3-6961-471F-BDCD-B4E47BBE28E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079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Reliability</a:t>
            </a:r>
            <a:r>
              <a:rPr lang="fr-FR" dirty="0"/>
              <a:t>: correct </a:t>
            </a:r>
            <a:r>
              <a:rPr lang="fr-FR" dirty="0" err="1"/>
              <a:t>order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EC2A3-6961-471F-BDCD-B4E47BBE28EE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605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EC2A3-6961-471F-BDCD-B4E47BBE28EE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2217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EC2A3-6961-471F-BDCD-B4E47BBE28EE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508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code = 0</a:t>
            </a:r>
            <a:r>
              <a:rPr lang="fr-FR" dirty="0"/>
              <a:t> : Champ toujours à 0 pour un Echo </a:t>
            </a:r>
            <a:r>
              <a:rPr lang="fr-FR" dirty="0" err="1"/>
              <a:t>Request</a:t>
            </a:r>
            <a:r>
              <a:rPr lang="fr-FR" dirty="0"/>
              <a:t>.</a:t>
            </a:r>
            <a:endParaRPr lang="fr-FR" b="1" dirty="0"/>
          </a:p>
          <a:p>
            <a:r>
              <a:rPr lang="fr-FR" b="1" dirty="0"/>
              <a:t>id = 0x0</a:t>
            </a:r>
            <a:r>
              <a:rPr lang="fr-FR" dirty="0"/>
              <a:t> : Identifiant pour associer le ping à sa réponse.</a:t>
            </a:r>
          </a:p>
          <a:p>
            <a:r>
              <a:rPr lang="fr-FR" b="1" dirty="0" err="1"/>
              <a:t>seq</a:t>
            </a:r>
            <a:r>
              <a:rPr lang="fr-FR" b="1" dirty="0"/>
              <a:t> = 0x0</a:t>
            </a:r>
            <a:r>
              <a:rPr lang="fr-FR" dirty="0"/>
              <a:t> : Numéro de séquence pour suivre les paquets.</a:t>
            </a:r>
          </a:p>
          <a:p>
            <a:r>
              <a:rPr lang="fr-FR" b="1" dirty="0" err="1"/>
              <a:t>unused</a:t>
            </a:r>
            <a:r>
              <a:rPr lang="fr-FR" b="1" dirty="0"/>
              <a:t> = b''</a:t>
            </a:r>
            <a:r>
              <a:rPr lang="fr-FR" dirty="0"/>
              <a:t> : Champ inutilisé, vide par défaut.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E8836-2AB2-4AD1-BEE7-1B0691689C4F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200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71563" y="6488113"/>
            <a:ext cx="3500437" cy="369887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  <a:latin typeface="+mn-lt"/>
                <a:cs typeface="+mn-cs"/>
              </a:rPr>
              <a:t>Computer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059363"/>
          </a:xfrm>
        </p:spPr>
        <p:txBody>
          <a:bodyPr/>
          <a:lstStyle>
            <a:lvl1pPr>
              <a:buSzPct val="60000"/>
              <a:buFontTx/>
              <a:buBlip>
                <a:blip/>
              </a:buBlip>
              <a:defRPr/>
            </a:lvl1pPr>
            <a:lvl2pPr>
              <a:buSzPct val="60000"/>
              <a:buFontTx/>
              <a:buBlip>
                <a:blip/>
              </a:buBlip>
              <a:defRPr/>
            </a:lvl2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762000"/>
          </a:xfrm>
        </p:spPr>
        <p:txBody>
          <a:bodyPr/>
          <a:lstStyle>
            <a:lvl1pPr marL="182880" algn="l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071563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00185C5-B452-4085-9905-BE947635FA3C}" type="datetime1">
              <a:rPr lang="en-US" smtClean="0"/>
              <a:t>12/9/2024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0" y="6492875"/>
            <a:ext cx="3505200" cy="365125"/>
          </a:xfrm>
        </p:spPr>
        <p:txBody>
          <a:bodyPr/>
          <a:lstStyle>
            <a:lvl1pPr algn="l">
              <a:defRPr baseline="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fr-FR"/>
              <a:t>Chapitre 3: Vulnérabilités et attaques réseaux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BC7FEBF-A170-470C-A369-F0D066FB58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57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../Desktop/Securite_Informatique/Server/udpclient.txt" TargetMode="External"/><Relationship Id="rId2" Type="http://schemas.openxmlformats.org/officeDocument/2006/relationships/hyperlink" Target="../Desktop/Securite_Informatique/Server/udpserver.txt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Man-in-the-Middle Attack (MITM)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Cybersecurity Threat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E36062-1549-4792-B4DD-EA7A0A90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Chapitre 3: Vulnérabilités et attaques réseaux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D72D5-2AF3-4CE9-993F-9C2F487A7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03F50-6C8B-4DF5-9707-78408FB2F531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247900"/>
            <a:ext cx="8382000" cy="2362199"/>
          </a:xfrm>
        </p:spPr>
        <p:txBody>
          <a:bodyPr anchor="ctr"/>
          <a:lstStyle/>
          <a:p>
            <a:r>
              <a:rPr dirty="0"/>
              <a:t>A Man-in-the-Middle (MITM) attack occurs when an attacker intercepts and potentially alters the communication between two parties without their knowledge.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D1925-52A8-4305-BFFA-A5D45FE1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Chapitre 3: Vulnérabilités et attaques réseaux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0E7D4-3D13-45ED-B887-A5D09D417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dirty="0"/>
              <a:t>1. Interception: The attacker intercepts the communication.</a:t>
            </a:r>
          </a:p>
          <a:p>
            <a:r>
              <a:rPr dirty="0"/>
              <a:t>2. Manipulation: The data can be altered or observed.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Does MITM Work?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02E61-A12D-4D1A-B93B-E380D1AE3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Chapitre 3: Vulnérabilités et attaques réseaux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829A8-2106-41C3-9101-644E0A834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14350" indent="-514350">
              <a:buFont typeface="+mj-lt"/>
              <a:buAutoNum type="arabicPeriod"/>
            </a:pPr>
            <a:r>
              <a:rPr dirty="0"/>
              <a:t>- </a:t>
            </a:r>
            <a:r>
              <a:rPr dirty="0">
                <a:solidFill>
                  <a:srgbClr val="FF0000"/>
                </a:solidFill>
              </a:rPr>
              <a:t>ARP Spoofing: </a:t>
            </a:r>
            <a:r>
              <a:rPr dirty="0"/>
              <a:t>Impersonating a MAC address to intercept packets.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- DNS Spoofing: Altering DNS responses to redirect traffic.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- Rogue Wi-Fi: Setting up fraudulent Wi-Fi access points.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Techniques Used in MITM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7F3124-09A6-47EB-8DF7-69174B32A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Chapitre 3: Vulnérabilités et attaques réseaux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744FB-4FE4-4AAF-928C-4452C5B63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14350" indent="-514350">
              <a:buFont typeface="+mj-lt"/>
              <a:buAutoNum type="arabicPeriod"/>
            </a:pPr>
            <a:r>
              <a:rPr dirty="0"/>
              <a:t>- Data theft: Sensitive information such as passwords.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- Espionage: Monitoring user activity.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- Data manipulation: Modifying messages or transactions.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Impacts of MITM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427C75-862B-43D9-97DD-F022B2430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Chapitre 3: Vulnérabilités et attaques réseaux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E61BA8-5F8C-4816-A05D-367071BC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buFont typeface="Wingdings" panose="05000000000000000000" pitchFamily="2" charset="2"/>
              <a:buChar char="v"/>
            </a:pPr>
            <a:r>
              <a:rPr lang="fr-FR" dirty="0" err="1"/>
              <a:t>Ettercap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Implementation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427C75-862B-43D9-97DD-F022B2430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Chapitre 3: Vulnérabilités et attaques réseaux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E61BA8-5F8C-4816-A05D-367071BC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05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TCP Session Hijacking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Critical Network Security Vulnerability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TCP Session Hijacking is a type of cyber attack where the attacker takes over an active TCP session between two parties, often </a:t>
            </a:r>
            <a:r>
              <a:rPr lang="fr-FR" dirty="0" err="1"/>
              <a:t>pretending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dirty="0"/>
              <a:t> one of them.</a:t>
            </a:r>
          </a:p>
          <a:p>
            <a:endParaRPr dirty="0"/>
          </a:p>
          <a:p>
            <a:r>
              <a:rPr dirty="0"/>
              <a:t>The attacker gains unauthorized access to the session, potentially stealing data or injecting malicious commands.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Session Sniffing: The attacker monitors the network to capture the session ID.</a:t>
            </a:r>
          </a:p>
          <a:p>
            <a:r>
              <a:rPr dirty="0"/>
              <a:t>2. Sequence Prediction: Predicting TCP sequence numbers to inject packets.</a:t>
            </a:r>
          </a:p>
          <a:p>
            <a:r>
              <a:rPr dirty="0"/>
              <a:t>3. Session Takeover: Sending </a:t>
            </a:r>
            <a:r>
              <a:rPr dirty="0" err="1"/>
              <a:t>cr</a:t>
            </a:r>
            <a:r>
              <a:rPr lang="fr-FR" dirty="0" err="1"/>
              <a:t>eated</a:t>
            </a:r>
            <a:r>
              <a:rPr dirty="0"/>
              <a:t> packets to take control of the session.</a:t>
            </a:r>
          </a:p>
          <a:p>
            <a:endParaRPr dirty="0"/>
          </a:p>
          <a:p>
            <a:r>
              <a:rPr dirty="0"/>
              <a:t>Requires the attacker to be on the same network or have access to the traffic.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How Does TCP Session Hijacking Work?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dirty="0"/>
              <a:t>- IP Spoofing: Impersonating the IP address of a trusted client.</a:t>
            </a:r>
          </a:p>
          <a:p>
            <a:r>
              <a:rPr dirty="0"/>
              <a:t>- Sequence Number Prediction: Guessing TCP sequence numbers to inject packets.</a:t>
            </a:r>
          </a:p>
          <a:p>
            <a:r>
              <a:rPr dirty="0"/>
              <a:t>- Packet Injection: Sending malicious packets to disrupt or control the session.</a:t>
            </a:r>
          </a:p>
          <a:p>
            <a:r>
              <a:rPr dirty="0"/>
              <a:t>- Sniffing Tools: Using tools like Wireshark to capture network traffic.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Techniques Used in TCP Session Hijacking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dirty="0"/>
              <a:t>- Data Theft: Stealing sensitive information during the session.</a:t>
            </a:r>
          </a:p>
          <a:p>
            <a:r>
              <a:rPr dirty="0"/>
              <a:t>- Command Execution: Injecting malicious commands.</a:t>
            </a:r>
          </a:p>
          <a:p>
            <a:r>
              <a:rPr dirty="0"/>
              <a:t>- Service Disruption: Interrupting legitimate communication.</a:t>
            </a:r>
          </a:p>
          <a:p>
            <a:r>
              <a:rPr dirty="0"/>
              <a:t>- Financial Loss: Exploiting online banking sessions or other financial activities.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Impacts of TCP Session Hijacking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fr-FR" i="1" u="sng" dirty="0" err="1"/>
              <a:t>Reminder</a:t>
            </a:r>
            <a:r>
              <a:rPr lang="fr-FR" i="1" u="sng" dirty="0"/>
              <a:t>:</a:t>
            </a:r>
            <a:br>
              <a:rPr lang="fr-FR" i="1" u="sng" dirty="0"/>
            </a:br>
            <a:r>
              <a:rPr lang="fr-FR" dirty="0"/>
              <a:t>Man in the Middle (ARP </a:t>
            </a:r>
            <a:r>
              <a:rPr lang="fr-FR" dirty="0" err="1"/>
              <a:t>Poisoning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TCP Session </a:t>
            </a:r>
            <a:r>
              <a:rPr lang="fr-FR" dirty="0" err="1"/>
              <a:t>Hijacking</a:t>
            </a:r>
            <a:r>
              <a:rPr lang="fr-FR" dirty="0"/>
              <a:t> 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6449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DD1138-35FB-474E-A503-DCAC7A9DE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589240"/>
            <a:ext cx="8382000" cy="53692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fr-FR" dirty="0"/>
              <a:t>TCP/IP model (Layers/Protocols)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3B6B10-9115-4CFD-B6FB-2A719DDD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TCP/IP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8280B-E8A4-4271-82BE-BC4B66D0F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Chapitre 3: Vulnérabilités et attaques réseaux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4BC2B2-621C-444A-B7DC-08ADA6B50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12" y="908720"/>
            <a:ext cx="7651576" cy="47778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1249C-72D2-4BF2-80BA-959BB6714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C7FEBF-A170-470C-A369-F0D066FB58E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20271FA-B384-4CEC-B29C-C6662F8E6B52}"/>
              </a:ext>
            </a:extLst>
          </p:cNvPr>
          <p:cNvSpPr/>
          <p:nvPr/>
        </p:nvSpPr>
        <p:spPr>
          <a:xfrm>
            <a:off x="4814885" y="2628900"/>
            <a:ext cx="3871915" cy="536923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F84A8209-D23C-4073-B46B-7DA33C40CB78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20980" y="3263199"/>
            <a:ext cx="674513" cy="228600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04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Advanced Insights into UDP </a:t>
            </a:r>
            <a:r>
              <a:rPr lang="fr-FR" dirty="0"/>
              <a:t>Protocol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Understanding, Detecting, and Mitigating UDP-Based</a:t>
            </a:r>
            <a:r>
              <a:rPr lang="fr-FR" dirty="0"/>
              <a:t> </a:t>
            </a:r>
            <a:r>
              <a:rPr dirty="0"/>
              <a:t>Attacks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Introduction to UDP (User Datagram Protocol)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just"/>
            <a:r>
              <a:rPr lang="en-US" dirty="0"/>
              <a:t>The </a:t>
            </a:r>
            <a:r>
              <a:rPr lang="en-US" b="1" dirty="0"/>
              <a:t>User Datagram Protocol (UDP)</a:t>
            </a:r>
            <a:r>
              <a:rPr lang="en-US" dirty="0"/>
              <a:t> is a fundamental Internet protocol used to send messages (datagrams) to hosts on an IP network.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1550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lang="fr-FR" dirty="0"/>
              <a:t>TCP vs UDP 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1172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60E73-7801-4561-B630-C31266E9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3198"/>
            <a:ext cx="8229600" cy="554037"/>
          </a:xfrm>
        </p:spPr>
        <p:txBody>
          <a:bodyPr>
            <a:normAutofit fontScale="90000"/>
          </a:bodyPr>
          <a:lstStyle/>
          <a:p>
            <a:r>
              <a:rPr lang="fr-FR" dirty="0"/>
              <a:t>TCP Header vs UDP Header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5095B8-00F6-4E0C-B984-F537CD00A5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2025" y="971548"/>
            <a:ext cx="3271838" cy="574006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89FB1F-611F-4B01-947F-848F658FB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499" y="946153"/>
            <a:ext cx="2676664" cy="5790858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AA2D7E47-4352-4E45-81B5-E9D95B7C06DC}"/>
              </a:ext>
            </a:extLst>
          </p:cNvPr>
          <p:cNvSpPr/>
          <p:nvPr/>
        </p:nvSpPr>
        <p:spPr>
          <a:xfrm>
            <a:off x="671512" y="4914901"/>
            <a:ext cx="223699" cy="35718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B867C3CF-E602-48F8-B9AC-6AB00C12AEA1}"/>
              </a:ext>
            </a:extLst>
          </p:cNvPr>
          <p:cNvSpPr/>
          <p:nvPr/>
        </p:nvSpPr>
        <p:spPr>
          <a:xfrm>
            <a:off x="681032" y="5624510"/>
            <a:ext cx="223699" cy="35718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73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Checksum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just">
              <a:buNone/>
            </a:pPr>
            <a:r>
              <a:rPr lang="en-US" dirty="0"/>
              <a:t>The checksum in the UDP header serves the purpose of error detection. It </a:t>
            </a:r>
            <a:r>
              <a:rPr lang="en-US" i="1" u="sng" dirty="0"/>
              <a:t>ensures</a:t>
            </a:r>
            <a:r>
              <a:rPr lang="en-US" dirty="0"/>
              <a:t> that the data within the UDP packet </a:t>
            </a:r>
            <a:r>
              <a:rPr lang="en-US" i="1" u="sng" dirty="0"/>
              <a:t>has not been corrupted during transmission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4087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3198"/>
            <a:ext cx="8229600" cy="668337"/>
          </a:xfrm>
        </p:spPr>
        <p:txBody>
          <a:bodyPr>
            <a:normAutofit fontScale="90000"/>
          </a:bodyPr>
          <a:lstStyle/>
          <a:p>
            <a:r>
              <a:rPr lang="fr-FR" dirty="0"/>
              <a:t>Example of UDP Workflow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2" y="957259"/>
            <a:ext cx="8972550" cy="5900741"/>
          </a:xfrm>
        </p:spPr>
        <p:txBody>
          <a:bodyPr anchor="ctr">
            <a:normAutofit fontScale="925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Sender: </a:t>
            </a:r>
            <a:r>
              <a:rPr lang="en-US" dirty="0"/>
              <a:t>Builds a UDP packet with the destination </a:t>
            </a:r>
            <a:r>
              <a:rPr lang="en-US" u="sng" dirty="0"/>
              <a:t>address</a:t>
            </a:r>
            <a:r>
              <a:rPr lang="en-US" dirty="0"/>
              <a:t> and </a:t>
            </a:r>
            <a:r>
              <a:rPr lang="en-US" u="sng" dirty="0"/>
              <a:t>port</a:t>
            </a:r>
            <a:r>
              <a:rPr lang="en-US" dirty="0"/>
              <a:t>. Sends the packet to the receiver.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Network: </a:t>
            </a:r>
            <a:r>
              <a:rPr lang="en-US" dirty="0"/>
              <a:t>Routes the packet from sender to receiver using the IP layer. Does not provide feedback to the sender if the packet is lost or delayed.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Receiver: </a:t>
            </a:r>
            <a:r>
              <a:rPr lang="en-US" dirty="0"/>
              <a:t>Listens on the specified port. Processes the packet upon arrival without expecting a formal acknowledgment.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If no program is receiving packets on this port</a:t>
            </a:r>
            <a:r>
              <a:rPr lang="en-US" dirty="0"/>
              <a:t>, the </a:t>
            </a:r>
            <a:r>
              <a:rPr lang="en-US" b="1" dirty="0"/>
              <a:t>server responds with an ICMP (ping) </a:t>
            </a:r>
            <a:r>
              <a:rPr lang="en-US" dirty="0"/>
              <a:t>packet to inform the sender that the destination is unreachable.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203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3802"/>
            <a:ext cx="8229600" cy="668370"/>
          </a:xfrm>
        </p:spPr>
        <p:txBody>
          <a:bodyPr>
            <a:normAutofit fontScale="90000"/>
          </a:bodyPr>
          <a:lstStyle/>
          <a:p>
            <a:r>
              <a:rPr lang="fr-FR" dirty="0"/>
              <a:t>Example of UDP Workflow</a:t>
            </a:r>
            <a:endParaRPr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CC1524-67B1-475E-8C8C-8A223B7A4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3028950"/>
            <a:ext cx="3771900" cy="8001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3000" dirty="0">
                <a:hlinkClick r:id="rId2" action="ppaction://hlinkfile"/>
              </a:rPr>
              <a:t>UDP_Server_Code.py</a:t>
            </a:r>
            <a:endParaRPr lang="fr-FR" sz="300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4A8291F0-D632-41D9-84A1-0CD23016CE31}"/>
              </a:ext>
            </a:extLst>
          </p:cNvPr>
          <p:cNvSpPr txBox="1">
            <a:spLocks/>
          </p:cNvSpPr>
          <p:nvPr/>
        </p:nvSpPr>
        <p:spPr>
          <a:xfrm>
            <a:off x="5214937" y="3028950"/>
            <a:ext cx="3471863" cy="800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fr-FR" dirty="0">
                <a:hlinkClick r:id="rId3" action="ppaction://hlinkfile"/>
              </a:rPr>
              <a:t>UDP_Client_Code.py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5125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ECE1A-AC23-707A-B266-A76EA211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Protocols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3C94F63-CD26-7566-AE76-7E4947FC77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5974287"/>
              </p:ext>
            </p:extLst>
          </p:nvPr>
        </p:nvGraphicFramePr>
        <p:xfrm>
          <a:off x="457200" y="2335058"/>
          <a:ext cx="8024819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0878">
                  <a:extLst>
                    <a:ext uri="{9D8B030D-6E8A-4147-A177-3AD203B41FA5}">
                      <a16:colId xmlns:a16="http://schemas.microsoft.com/office/drawing/2014/main" val="556748227"/>
                    </a:ext>
                  </a:extLst>
                </a:gridCol>
                <a:gridCol w="2021285">
                  <a:extLst>
                    <a:ext uri="{9D8B030D-6E8A-4147-A177-3AD203B41FA5}">
                      <a16:colId xmlns:a16="http://schemas.microsoft.com/office/drawing/2014/main" val="2013975809"/>
                    </a:ext>
                  </a:extLst>
                </a:gridCol>
                <a:gridCol w="2152656">
                  <a:extLst>
                    <a:ext uri="{9D8B030D-6E8A-4147-A177-3AD203B41FA5}">
                      <a16:colId xmlns:a16="http://schemas.microsoft.com/office/drawing/2014/main" val="3244960863"/>
                    </a:ext>
                  </a:extLst>
                </a:gridCol>
              </a:tblGrid>
              <a:tr h="535917">
                <a:tc>
                  <a:txBody>
                    <a:bodyPr/>
                    <a:lstStyle/>
                    <a:p>
                      <a:r>
                        <a:rPr lang="en-US" sz="3200" dirty="0"/>
                        <a:t>Properties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TCP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UDP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51603118"/>
                  </a:ext>
                </a:extLst>
              </a:tr>
              <a:tr h="535917">
                <a:tc>
                  <a:txBody>
                    <a:bodyPr/>
                    <a:lstStyle/>
                    <a:p>
                      <a:r>
                        <a:rPr lang="en-US" sz="3200" dirty="0"/>
                        <a:t>Connections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320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37399492"/>
                  </a:ext>
                </a:extLst>
              </a:tr>
              <a:tr h="535917">
                <a:tc>
                  <a:txBody>
                    <a:bodyPr/>
                    <a:lstStyle/>
                    <a:p>
                      <a:r>
                        <a:rPr lang="en-US" sz="3200" dirty="0"/>
                        <a:t>Reliability &amp; Ordering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43064322"/>
                  </a:ext>
                </a:extLst>
              </a:tr>
              <a:tr h="535917">
                <a:tc>
                  <a:txBody>
                    <a:bodyPr/>
                    <a:lstStyle/>
                    <a:p>
                      <a:r>
                        <a:rPr lang="en-US" sz="3200" dirty="0"/>
                        <a:t>ACK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44239083"/>
                  </a:ext>
                </a:extLst>
              </a:tr>
              <a:tr h="535917">
                <a:tc>
                  <a:txBody>
                    <a:bodyPr/>
                    <a:lstStyle/>
                    <a:p>
                      <a:r>
                        <a:rPr lang="en-US" sz="3200" dirty="0"/>
                        <a:t>Speed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55004078"/>
                  </a:ext>
                </a:extLst>
              </a:tr>
              <a:tr h="535917">
                <a:tc>
                  <a:txBody>
                    <a:bodyPr/>
                    <a:lstStyle/>
                    <a:p>
                      <a:r>
                        <a:rPr lang="en-US" sz="3200" dirty="0"/>
                        <a:t>Broadcast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088539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B071002-9DB6-41FB-880E-84FFE8CBC6E7}"/>
              </a:ext>
            </a:extLst>
          </p:cNvPr>
          <p:cNvSpPr/>
          <p:nvPr/>
        </p:nvSpPr>
        <p:spPr>
          <a:xfrm>
            <a:off x="7124701" y="5156049"/>
            <a:ext cx="585788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5A430C-5E88-48D2-A9B7-33E72DFB938A}"/>
              </a:ext>
            </a:extLst>
          </p:cNvPr>
          <p:cNvSpPr/>
          <p:nvPr/>
        </p:nvSpPr>
        <p:spPr>
          <a:xfrm>
            <a:off x="7110413" y="4581534"/>
            <a:ext cx="585788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√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FD0249-B261-40D4-B43C-6F7E9D02EADF}"/>
              </a:ext>
            </a:extLst>
          </p:cNvPr>
          <p:cNvSpPr/>
          <p:nvPr/>
        </p:nvSpPr>
        <p:spPr>
          <a:xfrm>
            <a:off x="4836320" y="3460590"/>
            <a:ext cx="585788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√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9E513C-0FBF-4087-9DBC-B11592029F34}"/>
              </a:ext>
            </a:extLst>
          </p:cNvPr>
          <p:cNvSpPr/>
          <p:nvPr/>
        </p:nvSpPr>
        <p:spPr>
          <a:xfrm>
            <a:off x="4836320" y="2886079"/>
            <a:ext cx="585788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√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F70378-A071-406C-8FE7-DAE0492995E1}"/>
              </a:ext>
            </a:extLst>
          </p:cNvPr>
          <p:cNvSpPr/>
          <p:nvPr/>
        </p:nvSpPr>
        <p:spPr>
          <a:xfrm>
            <a:off x="4836320" y="4032414"/>
            <a:ext cx="585788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√</a:t>
            </a:r>
          </a:p>
        </p:txBody>
      </p:sp>
    </p:spTree>
    <p:extLst>
      <p:ext uri="{BB962C8B-B14F-4D97-AF65-F5344CB8AC3E}">
        <p14:creationId xmlns:p14="http://schemas.microsoft.com/office/powerpoint/2010/main" val="66750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ECE1A-AC23-707A-B266-A76EA211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Transport Layer Protocols Use Cases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3E344C37-390A-41B7-8E0A-CFAE256D49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672452"/>
              </p:ext>
            </p:extLst>
          </p:nvPr>
        </p:nvGraphicFramePr>
        <p:xfrm>
          <a:off x="228599" y="1600200"/>
          <a:ext cx="8715375" cy="461486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750851">
                  <a:extLst>
                    <a:ext uri="{9D8B030D-6E8A-4147-A177-3AD203B41FA5}">
                      <a16:colId xmlns:a16="http://schemas.microsoft.com/office/drawing/2014/main" val="2764512424"/>
                    </a:ext>
                  </a:extLst>
                </a:gridCol>
                <a:gridCol w="1482262">
                  <a:extLst>
                    <a:ext uri="{9D8B030D-6E8A-4147-A177-3AD203B41FA5}">
                      <a16:colId xmlns:a16="http://schemas.microsoft.com/office/drawing/2014/main" val="1970279232"/>
                    </a:ext>
                  </a:extLst>
                </a:gridCol>
                <a:gridCol w="1482262">
                  <a:extLst>
                    <a:ext uri="{9D8B030D-6E8A-4147-A177-3AD203B41FA5}">
                      <a16:colId xmlns:a16="http://schemas.microsoft.com/office/drawing/2014/main" val="101783852"/>
                    </a:ext>
                  </a:extLst>
                </a:gridCol>
              </a:tblGrid>
              <a:tr h="46358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effectLst/>
                        </a:rPr>
                        <a:t>Application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effectLst/>
                        </a:rPr>
                        <a:t>TCP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effectLst/>
                        </a:rPr>
                        <a:t>UDP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extLst>
                  <a:ext uri="{0D108BD9-81ED-4DB2-BD59-A6C34878D82A}">
                    <a16:rowId xmlns:a16="http://schemas.microsoft.com/office/drawing/2014/main" val="2317885492"/>
                  </a:ext>
                </a:extLst>
              </a:tr>
              <a:tr h="4612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1" u="none" strike="noStrike" dirty="0">
                          <a:effectLst/>
                        </a:rPr>
                        <a:t>  Web </a:t>
                      </a:r>
                      <a:r>
                        <a:rPr lang="fr-FR" sz="2000" b="1" u="none" strike="noStrike" dirty="0" err="1">
                          <a:effectLst/>
                        </a:rPr>
                        <a:t>browsing</a:t>
                      </a:r>
                      <a:r>
                        <a:rPr lang="fr-FR" sz="2000" b="1" u="none" strike="noStrike" dirty="0">
                          <a:effectLst/>
                        </a:rPr>
                        <a:t> (HTTP/HTTPS)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extLst>
                  <a:ext uri="{0D108BD9-81ED-4DB2-BD59-A6C34878D82A}">
                    <a16:rowId xmlns:a16="http://schemas.microsoft.com/office/drawing/2014/main" val="2267082549"/>
                  </a:ext>
                </a:extLst>
              </a:tr>
              <a:tr h="4612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1" u="none" strike="noStrike" dirty="0">
                          <a:effectLst/>
                        </a:rPr>
                        <a:t>  Email (SMTP/IMAP/POP3)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extLst>
                  <a:ext uri="{0D108BD9-81ED-4DB2-BD59-A6C34878D82A}">
                    <a16:rowId xmlns:a16="http://schemas.microsoft.com/office/drawing/2014/main" val="2979067105"/>
                  </a:ext>
                </a:extLst>
              </a:tr>
              <a:tr h="4612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1" u="none" strike="noStrike" dirty="0">
                          <a:effectLst/>
                        </a:rPr>
                        <a:t>  File Transfer (FTP)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extLst>
                  <a:ext uri="{0D108BD9-81ED-4DB2-BD59-A6C34878D82A}">
                    <a16:rowId xmlns:a16="http://schemas.microsoft.com/office/drawing/2014/main" val="2510290171"/>
                  </a:ext>
                </a:extLst>
              </a:tr>
              <a:tr h="4612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effectLst/>
                        </a:rPr>
                        <a:t>  On-demand Video Streaming (Netflix, YouTube)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extLst>
                  <a:ext uri="{0D108BD9-81ED-4DB2-BD59-A6C34878D82A}">
                    <a16:rowId xmlns:a16="http://schemas.microsoft.com/office/drawing/2014/main" val="1443771177"/>
                  </a:ext>
                </a:extLst>
              </a:tr>
              <a:tr h="4612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effectLst/>
                        </a:rPr>
                        <a:t>  Live Video Streaming (Twitch, Zoom Live)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extLst>
                  <a:ext uri="{0D108BD9-81ED-4DB2-BD59-A6C34878D82A}">
                    <a16:rowId xmlns:a16="http://schemas.microsoft.com/office/drawing/2014/main" val="376192543"/>
                  </a:ext>
                </a:extLst>
              </a:tr>
              <a:tr h="4612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1" u="none" strike="noStrike" dirty="0">
                          <a:effectLst/>
                        </a:rPr>
                        <a:t>  Voice over IP (</a:t>
                      </a:r>
                      <a:r>
                        <a:rPr lang="fr-FR" sz="2000" b="1" u="none" strike="noStrike" dirty="0" err="1">
                          <a:effectLst/>
                        </a:rPr>
                        <a:t>VoIP</a:t>
                      </a:r>
                      <a:r>
                        <a:rPr lang="fr-FR" sz="2000" b="1" u="none" strike="noStrike" dirty="0">
                          <a:effectLst/>
                        </a:rPr>
                        <a:t>)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extLst>
                  <a:ext uri="{0D108BD9-81ED-4DB2-BD59-A6C34878D82A}">
                    <a16:rowId xmlns:a16="http://schemas.microsoft.com/office/drawing/2014/main" val="3938093618"/>
                  </a:ext>
                </a:extLst>
              </a:tr>
              <a:tr h="4612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1" u="none" strike="noStrike" dirty="0">
                          <a:effectLst/>
                        </a:rPr>
                        <a:t>  Online Gaming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extLst>
                  <a:ext uri="{0D108BD9-81ED-4DB2-BD59-A6C34878D82A}">
                    <a16:rowId xmlns:a16="http://schemas.microsoft.com/office/drawing/2014/main" val="4067217506"/>
                  </a:ext>
                </a:extLst>
              </a:tr>
              <a:tr h="4612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1" u="none" strike="noStrike" dirty="0">
                          <a:effectLst/>
                        </a:rPr>
                        <a:t>  Instant Messaging (WhatsApp, </a:t>
                      </a:r>
                      <a:r>
                        <a:rPr lang="fr-FR" sz="2000" b="1" u="none" strike="noStrike" dirty="0" err="1">
                          <a:effectLst/>
                        </a:rPr>
                        <a:t>Telegram</a:t>
                      </a:r>
                      <a:r>
                        <a:rPr lang="fr-FR" sz="2000" b="1" u="none" strike="noStrike" dirty="0">
                          <a:effectLst/>
                        </a:rPr>
                        <a:t>)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b"/>
                </a:tc>
                <a:extLst>
                  <a:ext uri="{0D108BD9-81ED-4DB2-BD59-A6C34878D82A}">
                    <a16:rowId xmlns:a16="http://schemas.microsoft.com/office/drawing/2014/main" val="1100416363"/>
                  </a:ext>
                </a:extLst>
              </a:tr>
              <a:tr h="4612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1" u="none" strike="noStrike" dirty="0">
                          <a:effectLst/>
                        </a:rPr>
                        <a:t>  System Updates (Windows/Linux)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18" marR="2018" marT="2018" marB="0" anchor="b"/>
                </a:tc>
                <a:extLst>
                  <a:ext uri="{0D108BD9-81ED-4DB2-BD59-A6C34878D82A}">
                    <a16:rowId xmlns:a16="http://schemas.microsoft.com/office/drawing/2014/main" val="1461200157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6890198C-C4DF-42BE-80FD-F46F0374A197}"/>
              </a:ext>
            </a:extLst>
          </p:cNvPr>
          <p:cNvSpPr/>
          <p:nvPr/>
        </p:nvSpPr>
        <p:spPr>
          <a:xfrm>
            <a:off x="6422232" y="2028829"/>
            <a:ext cx="585788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√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BFD129-5998-49AF-AE46-C8798CBFFF40}"/>
              </a:ext>
            </a:extLst>
          </p:cNvPr>
          <p:cNvSpPr/>
          <p:nvPr/>
        </p:nvSpPr>
        <p:spPr>
          <a:xfrm>
            <a:off x="6417466" y="2481276"/>
            <a:ext cx="585788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√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FE60AA-6CB0-4E31-A804-7018BCAADE17}"/>
              </a:ext>
            </a:extLst>
          </p:cNvPr>
          <p:cNvSpPr/>
          <p:nvPr/>
        </p:nvSpPr>
        <p:spPr>
          <a:xfrm>
            <a:off x="6417466" y="2952765"/>
            <a:ext cx="585788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√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B4171D-B1D7-4BCF-A147-F9EC675FABFB}"/>
              </a:ext>
            </a:extLst>
          </p:cNvPr>
          <p:cNvSpPr/>
          <p:nvPr/>
        </p:nvSpPr>
        <p:spPr>
          <a:xfrm>
            <a:off x="6417466" y="3409955"/>
            <a:ext cx="585788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√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C277F5-928D-42A3-9C37-A7125948C0D8}"/>
              </a:ext>
            </a:extLst>
          </p:cNvPr>
          <p:cNvSpPr/>
          <p:nvPr/>
        </p:nvSpPr>
        <p:spPr>
          <a:xfrm>
            <a:off x="7931952" y="3867167"/>
            <a:ext cx="585788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√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DD6775-D85F-44D8-A565-2F10B88545DA}"/>
              </a:ext>
            </a:extLst>
          </p:cNvPr>
          <p:cNvSpPr/>
          <p:nvPr/>
        </p:nvSpPr>
        <p:spPr>
          <a:xfrm>
            <a:off x="7931947" y="4338646"/>
            <a:ext cx="585788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√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599C50-556D-4BF3-943A-D2EFD9E2779B}"/>
              </a:ext>
            </a:extLst>
          </p:cNvPr>
          <p:cNvSpPr/>
          <p:nvPr/>
        </p:nvSpPr>
        <p:spPr>
          <a:xfrm>
            <a:off x="7931947" y="4795847"/>
            <a:ext cx="585788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√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04D29C-72EC-4838-ABD1-AA1D613E3B92}"/>
              </a:ext>
            </a:extLst>
          </p:cNvPr>
          <p:cNvSpPr/>
          <p:nvPr/>
        </p:nvSpPr>
        <p:spPr>
          <a:xfrm>
            <a:off x="6403179" y="5267337"/>
            <a:ext cx="585788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√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90F21B-0E59-4200-BA9C-2299BCC2A6CD}"/>
              </a:ext>
            </a:extLst>
          </p:cNvPr>
          <p:cNvSpPr/>
          <p:nvPr/>
        </p:nvSpPr>
        <p:spPr>
          <a:xfrm>
            <a:off x="6388892" y="5710250"/>
            <a:ext cx="585788" cy="485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√</a:t>
            </a:r>
          </a:p>
        </p:txBody>
      </p:sp>
    </p:spTree>
    <p:extLst>
      <p:ext uri="{BB962C8B-B14F-4D97-AF65-F5344CB8AC3E}">
        <p14:creationId xmlns:p14="http://schemas.microsoft.com/office/powerpoint/2010/main" val="118935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UDP flood?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just">
              <a:buNone/>
            </a:pPr>
            <a:r>
              <a:rPr lang="en-US" dirty="0"/>
              <a:t>A UDP flood is a type of denial-of-service attack in which a </a:t>
            </a:r>
            <a:r>
              <a:rPr lang="en-US" dirty="0">
                <a:solidFill>
                  <a:srgbClr val="FF0000"/>
                </a:solidFill>
              </a:rPr>
              <a:t>large number of UDP </a:t>
            </a:r>
            <a:r>
              <a:rPr lang="en-US" dirty="0"/>
              <a:t>(User Datagram Protocol) packets </a:t>
            </a:r>
            <a:r>
              <a:rPr lang="en-US" dirty="0">
                <a:solidFill>
                  <a:srgbClr val="FF0000"/>
                </a:solidFill>
              </a:rPr>
              <a:t>are sent</a:t>
            </a:r>
            <a:r>
              <a:rPr lang="en-US" dirty="0"/>
              <a:t> to a target </a:t>
            </a:r>
            <a:r>
              <a:rPr lang="en-US" dirty="0">
                <a:solidFill>
                  <a:srgbClr val="FF0000"/>
                </a:solidFill>
              </a:rPr>
              <a:t>server</a:t>
            </a:r>
            <a:r>
              <a:rPr lang="en-US" dirty="0"/>
              <a:t> with the aim of </a:t>
            </a:r>
            <a:r>
              <a:rPr lang="en-US" dirty="0">
                <a:solidFill>
                  <a:srgbClr val="FF0000"/>
                </a:solidFill>
              </a:rPr>
              <a:t>overwhelming its processing and response capacity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4239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does a UDP flood attack work?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7BB9F5-9D7E-48FD-8521-29ADE8D8E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104737"/>
            <a:ext cx="8058150" cy="5373972"/>
          </a:xfrm>
        </p:spPr>
      </p:pic>
    </p:spTree>
    <p:extLst>
      <p:ext uri="{BB962C8B-B14F-4D97-AF65-F5344CB8AC3E}">
        <p14:creationId xmlns:p14="http://schemas.microsoft.com/office/powerpoint/2010/main" val="1704175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Makes UDP Floods Effective?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 anchor="ctr"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i="1" u="sng" dirty="0"/>
              <a:t>Stateless Protocol: </a:t>
            </a:r>
          </a:p>
          <a:p>
            <a:pPr marL="0" indent="0" algn="just">
              <a:buNone/>
            </a:pPr>
            <a:r>
              <a:rPr lang="en-US" dirty="0"/>
              <a:t>There is no built-in mechanism to limit or authenticate UDP packets, so the server processes each packet without verification.</a:t>
            </a:r>
          </a:p>
          <a:p>
            <a:pPr marL="514350" indent="-514350" algn="just">
              <a:buFont typeface="+mj-lt"/>
              <a:buAutoNum type="arabicPeriod" startAt="2"/>
            </a:pPr>
            <a:r>
              <a:rPr lang="en-US" i="1" u="sng" dirty="0"/>
              <a:t>Volume-Based: </a:t>
            </a:r>
            <a:r>
              <a:rPr lang="en-US" dirty="0"/>
              <a:t>The attack relies on sheer volume to overwhelm the target.</a:t>
            </a:r>
          </a:p>
          <a:p>
            <a:pPr marL="514350" indent="-514350" algn="just">
              <a:buFont typeface="+mj-lt"/>
              <a:buAutoNum type="arabicPeriod" startAt="2"/>
            </a:pPr>
            <a:r>
              <a:rPr lang="en-US" i="1" u="sng" dirty="0"/>
              <a:t>Amplification: </a:t>
            </a:r>
            <a:r>
              <a:rPr lang="en-US" dirty="0"/>
              <a:t>When combined with reflection and amplification (e.g., DNS or NTP amplification), the attack's impact can be magnified significantly.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Components Targeted in a UDP Flood 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63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i="1" u="sng" dirty="0"/>
              <a:t>1. CPU Usage: </a:t>
            </a:r>
          </a:p>
          <a:p>
            <a:pPr marL="400050" lvl="1" indent="0">
              <a:buNone/>
            </a:pPr>
            <a:r>
              <a:rPr lang="en-US" dirty="0"/>
              <a:t>The target system's CPU is consumed by the need to inspect and possibly respond to each packet.</a:t>
            </a:r>
          </a:p>
          <a:p>
            <a:pPr marL="0" indent="0">
              <a:buNone/>
            </a:pPr>
            <a:r>
              <a:rPr lang="en-US" i="1" u="sng" dirty="0"/>
              <a:t>2. Network Congestion: </a:t>
            </a:r>
          </a:p>
          <a:p>
            <a:pPr marL="400050" lvl="1" indent="0">
              <a:buNone/>
            </a:pPr>
            <a:r>
              <a:rPr lang="en-US" dirty="0"/>
              <a:t>The network becomes saturated, preventing legitimate traffic.</a:t>
            </a:r>
          </a:p>
          <a:p>
            <a:pPr marL="0" indent="0">
              <a:buNone/>
            </a:pPr>
            <a:r>
              <a:rPr lang="en-US" i="1" u="sng" dirty="0"/>
              <a:t>3. ICMP Response Overload: </a:t>
            </a:r>
          </a:p>
          <a:p>
            <a:pPr marL="400050" lvl="1" indent="0">
              <a:buNone/>
            </a:pPr>
            <a:r>
              <a:rPr lang="en-US" dirty="0"/>
              <a:t>If the server generates ICMP responses for packets sent to closed ports, it can further strain the system.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ICMP Flood Attacks: Deep Technical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Comprehensive Study of ICMP-based DoS Attacks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24"/>
          </a:xfrm>
        </p:spPr>
        <p:txBody>
          <a:bodyPr/>
          <a:lstStyle/>
          <a:p>
            <a:r>
              <a:rPr dirty="0"/>
              <a:t>What is ICMP?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62"/>
            <a:ext cx="8229600" cy="56149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i="1" u="sng" dirty="0"/>
              <a:t>Definition:</a:t>
            </a:r>
          </a:p>
          <a:p>
            <a:r>
              <a:rPr sz="2400" dirty="0"/>
              <a:t>- ICMP (Internet Control Message Protocol) is a network layer protocol used for error reporting and diagnostic purposes (e.g., ping).</a:t>
            </a:r>
          </a:p>
          <a:p>
            <a:endParaRPr sz="2400" dirty="0"/>
          </a:p>
          <a:p>
            <a:pPr marL="0" indent="0">
              <a:buNone/>
            </a:pPr>
            <a:r>
              <a:rPr sz="2400" i="1" u="sng" dirty="0"/>
              <a:t>Characteristics:</a:t>
            </a:r>
          </a:p>
          <a:p>
            <a:r>
              <a:rPr sz="2400" dirty="0"/>
              <a:t>- Part of the IP protocol suite.</a:t>
            </a:r>
          </a:p>
          <a:p>
            <a:r>
              <a:rPr sz="2400" dirty="0"/>
              <a:t>- Stateless: Does not maintain connection states like TCP.</a:t>
            </a:r>
          </a:p>
          <a:p>
            <a:endParaRPr sz="2400" dirty="0"/>
          </a:p>
          <a:p>
            <a:pPr marL="0" indent="0">
              <a:buNone/>
            </a:pPr>
            <a:r>
              <a:rPr sz="2400" i="1" u="sng" dirty="0"/>
              <a:t>Common Types:</a:t>
            </a:r>
          </a:p>
          <a:p>
            <a:r>
              <a:rPr sz="2400" dirty="0"/>
              <a:t>- Echo Request (Type 8) and Echo Reply (Type 0) for diagnostics.</a:t>
            </a:r>
          </a:p>
          <a:p>
            <a:r>
              <a:rPr sz="2400" dirty="0"/>
              <a:t>- Destination Unreachable, Time Exceeded for error reporting.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ICMP Packet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AFAB3F-C9D2-4A33-B918-AEE63F0F6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5687"/>
            <a:ext cx="8338957" cy="38149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839787"/>
          </a:xfrm>
        </p:spPr>
        <p:txBody>
          <a:bodyPr/>
          <a:lstStyle/>
          <a:p>
            <a:r>
              <a:rPr dirty="0"/>
              <a:t>Comparison with TCP and UDP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sz="2800" i="1" u="sng" dirty="0"/>
              <a:t>ICMP:</a:t>
            </a:r>
          </a:p>
          <a:p>
            <a:pPr lvl="1"/>
            <a:r>
              <a:rPr sz="2400" dirty="0"/>
              <a:t>Stateless, no session establishment.</a:t>
            </a:r>
          </a:p>
          <a:p>
            <a:pPr lvl="1"/>
            <a:r>
              <a:rPr sz="2400" dirty="0"/>
              <a:t>Used for control and diagnostics.</a:t>
            </a:r>
          </a:p>
          <a:p>
            <a:pPr marL="0" indent="0">
              <a:buNone/>
            </a:pPr>
            <a:r>
              <a:rPr sz="2800" i="1" u="sng" dirty="0"/>
              <a:t>UDP:</a:t>
            </a:r>
          </a:p>
          <a:p>
            <a:pPr lvl="1"/>
            <a:r>
              <a:rPr sz="2400" dirty="0"/>
              <a:t>Stateless, used for fast, connectionless communication.</a:t>
            </a:r>
          </a:p>
          <a:p>
            <a:pPr lvl="1"/>
            <a:r>
              <a:rPr sz="2400" dirty="0"/>
              <a:t>May trigger ICMP responses (e.g., Destination Unreachable).</a:t>
            </a:r>
          </a:p>
          <a:p>
            <a:pPr marL="0" indent="0">
              <a:buNone/>
            </a:pPr>
            <a:r>
              <a:rPr sz="2800" i="1" u="sng" dirty="0"/>
              <a:t>TCP:</a:t>
            </a:r>
          </a:p>
          <a:p>
            <a:pPr lvl="1"/>
            <a:r>
              <a:rPr sz="2400" dirty="0"/>
              <a:t>Stateful, connection-oriented.</a:t>
            </a:r>
          </a:p>
          <a:p>
            <a:pPr lvl="1"/>
            <a:r>
              <a:rPr sz="2400" dirty="0"/>
              <a:t>Vulnerable to SYN Floods due to reliance on connection buffers.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1931"/>
            <a:ext cx="8229600" cy="496888"/>
          </a:xfrm>
        </p:spPr>
        <p:txBody>
          <a:bodyPr>
            <a:normAutofit fontScale="90000"/>
          </a:bodyPr>
          <a:lstStyle/>
          <a:p>
            <a:r>
              <a:rPr dirty="0"/>
              <a:t>What is ICMP Flood</a:t>
            </a:r>
            <a:r>
              <a:rPr lang="fr-FR" dirty="0"/>
              <a:t> (Ping flood)</a:t>
            </a:r>
            <a:r>
              <a:rPr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CA491A-B5E7-4DBC-8CEA-423602417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65982"/>
            <a:ext cx="9144000" cy="6098125"/>
          </a:xfrm>
        </p:spPr>
      </p:pic>
    </p:spTree>
    <p:extLst>
      <p:ext uri="{BB962C8B-B14F-4D97-AF65-F5344CB8AC3E}">
        <p14:creationId xmlns:p14="http://schemas.microsoft.com/office/powerpoint/2010/main" val="18261770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375"/>
            <a:ext cx="8229600" cy="825500"/>
          </a:xfrm>
        </p:spPr>
        <p:txBody>
          <a:bodyPr/>
          <a:lstStyle/>
          <a:p>
            <a:r>
              <a:rPr dirty="0"/>
              <a:t>What is ICMP Flood</a:t>
            </a:r>
            <a:r>
              <a:rPr lang="fr-FR" dirty="0"/>
              <a:t> (Ping flood)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 fontScale="85000" lnSpcReduction="20000"/>
          </a:bodyPr>
          <a:lstStyle/>
          <a:p>
            <a:pPr marL="0" indent="0">
              <a:buNone/>
            </a:pPr>
            <a:r>
              <a:rPr i="1" u="sng" dirty="0"/>
              <a:t>Definition:</a:t>
            </a:r>
          </a:p>
          <a:p>
            <a:pPr algn="just"/>
            <a:r>
              <a:rPr dirty="0"/>
              <a:t>A Denial-of-Service (DoS) attack where the attacker sends a large number of ICMP Echo Requests to overwhelm the target.</a:t>
            </a:r>
          </a:p>
          <a:p>
            <a:pPr marL="0" indent="0">
              <a:buNone/>
            </a:pPr>
            <a:r>
              <a:rPr i="1" u="sng" dirty="0"/>
              <a:t>Attack Mechanism:</a:t>
            </a:r>
          </a:p>
          <a:p>
            <a:pPr algn="just"/>
            <a:r>
              <a:rPr dirty="0"/>
              <a:t>Overloads the target with requests.</a:t>
            </a:r>
          </a:p>
          <a:p>
            <a:pPr algn="just"/>
            <a:r>
              <a:rPr dirty="0"/>
              <a:t>Target responds with Echo Replies (if configured), consuming more resources.</a:t>
            </a:r>
          </a:p>
          <a:p>
            <a:pPr marL="0" indent="0">
              <a:buNone/>
            </a:pPr>
            <a:r>
              <a:rPr i="1" u="sng" dirty="0"/>
              <a:t>Objective:</a:t>
            </a:r>
          </a:p>
          <a:p>
            <a:pPr algn="just"/>
            <a:r>
              <a:rPr dirty="0"/>
              <a:t>Exhaust CPU resources (processing requests).</a:t>
            </a:r>
          </a:p>
          <a:p>
            <a:pPr algn="just"/>
            <a:r>
              <a:rPr dirty="0"/>
              <a:t>Saturate network bandwidth.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lang="fr-FR" dirty="0" err="1"/>
              <a:t>Implementation</a:t>
            </a:r>
            <a:r>
              <a:rPr lang="fr-FR" dirty="0"/>
              <a:t> </a:t>
            </a:r>
            <a:br>
              <a:rPr lang="fr-FR" dirty="0"/>
            </a:br>
            <a:r>
              <a:rPr lang="fr-FR" sz="3600" i="1" dirty="0"/>
              <a:t>(Python and </a:t>
            </a:r>
            <a:r>
              <a:rPr lang="fr-FR" sz="3600" i="1" dirty="0" err="1"/>
              <a:t>Scapy</a:t>
            </a:r>
            <a:r>
              <a:rPr lang="fr-FR" sz="3600" i="1" dirty="0"/>
              <a:t>)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82631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Flood Attacks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F8656-93C5-4300-880D-BE75487BC4D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7174" y="1672431"/>
          <a:ext cx="8729663" cy="413204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43064">
                  <a:extLst>
                    <a:ext uri="{9D8B030D-6E8A-4147-A177-3AD203B41FA5}">
                      <a16:colId xmlns:a16="http://schemas.microsoft.com/office/drawing/2014/main" val="2050689598"/>
                    </a:ext>
                  </a:extLst>
                </a:gridCol>
                <a:gridCol w="2319957">
                  <a:extLst>
                    <a:ext uri="{9D8B030D-6E8A-4147-A177-3AD203B41FA5}">
                      <a16:colId xmlns:a16="http://schemas.microsoft.com/office/drawing/2014/main" val="318772573"/>
                    </a:ext>
                  </a:extLst>
                </a:gridCol>
                <a:gridCol w="4766642">
                  <a:extLst>
                    <a:ext uri="{9D8B030D-6E8A-4147-A177-3AD203B41FA5}">
                      <a16:colId xmlns:a16="http://schemas.microsoft.com/office/drawing/2014/main" val="4229231730"/>
                    </a:ext>
                  </a:extLst>
                </a:gridCol>
              </a:tblGrid>
              <a:tr h="32295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i="1" u="none" strike="noStrike">
                          <a:effectLst/>
                        </a:rPr>
                        <a:t>Type</a:t>
                      </a:r>
                      <a:endParaRPr lang="fr-FR" sz="2400" b="1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i="1" u="none" strike="noStrike">
                          <a:effectLst/>
                        </a:rPr>
                        <a:t>Targeted Resource</a:t>
                      </a:r>
                      <a:endParaRPr lang="fr-FR" sz="2400" b="1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i="1" u="none" strike="noStrike" dirty="0" err="1">
                          <a:effectLst/>
                        </a:rPr>
                        <a:t>Mechanism</a:t>
                      </a:r>
                      <a:endParaRPr lang="fr-FR" sz="24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5412691"/>
                  </a:ext>
                </a:extLst>
              </a:tr>
              <a:tr h="968858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1" i="1" u="none" strike="noStrike" dirty="0">
                          <a:effectLst/>
                        </a:rPr>
                        <a:t>  SYN Flood</a:t>
                      </a:r>
                      <a:endParaRPr lang="fr-FR" sz="24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u="none" strike="noStrike" dirty="0">
                          <a:effectLst/>
                        </a:rPr>
                        <a:t>  TCP Buffer</a:t>
                      </a:r>
                      <a:endParaRPr lang="fr-F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  Half-open connections fill TCP backlog.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8549643"/>
                  </a:ext>
                </a:extLst>
              </a:tr>
              <a:tr h="1291811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1" i="1" u="none" strike="noStrike" dirty="0">
                          <a:effectLst/>
                        </a:rPr>
                        <a:t>  UDP Flood</a:t>
                      </a:r>
                      <a:endParaRPr lang="fr-FR" sz="24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u="none" strike="noStrike" dirty="0">
                          <a:effectLst/>
                        </a:rPr>
                        <a:t>  CPU, </a:t>
                      </a:r>
                      <a:r>
                        <a:rPr lang="fr-FR" sz="2400" u="none" strike="noStrike" dirty="0" err="1">
                          <a:effectLst/>
                        </a:rPr>
                        <a:t>Bandwidth</a:t>
                      </a:r>
                      <a:endParaRPr lang="fr-F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u="none" strike="noStrike" dirty="0">
                          <a:effectLst/>
                        </a:rPr>
                        <a:t>  </a:t>
                      </a:r>
                      <a:r>
                        <a:rPr lang="fr-FR" sz="2400" u="none" strike="noStrike" dirty="0" err="1">
                          <a:effectLst/>
                        </a:rPr>
                        <a:t>Sends</a:t>
                      </a:r>
                      <a:r>
                        <a:rPr lang="fr-FR" sz="2400" u="none" strike="noStrike" dirty="0">
                          <a:effectLst/>
                        </a:rPr>
                        <a:t> massive UDP </a:t>
                      </a:r>
                      <a:r>
                        <a:rPr lang="fr-FR" sz="2400" u="none" strike="noStrike" dirty="0" err="1">
                          <a:effectLst/>
                        </a:rPr>
                        <a:t>packets</a:t>
                      </a:r>
                      <a:r>
                        <a:rPr lang="fr-FR" sz="2400" u="none" strike="noStrike" dirty="0">
                          <a:effectLst/>
                        </a:rPr>
                        <a:t> to </a:t>
                      </a:r>
                      <a:r>
                        <a:rPr lang="fr-FR" sz="2400" u="none" strike="noStrike" dirty="0" err="1">
                          <a:effectLst/>
                        </a:rPr>
                        <a:t>overwhelm</a:t>
                      </a:r>
                      <a:r>
                        <a:rPr lang="fr-FR" sz="2400" u="none" strike="noStrike" dirty="0">
                          <a:effectLst/>
                        </a:rPr>
                        <a:t> system.</a:t>
                      </a:r>
                      <a:endParaRPr lang="fr-F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0064814"/>
                  </a:ext>
                </a:extLst>
              </a:tr>
              <a:tr h="1130335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1" i="1" u="none" strike="noStrike" dirty="0">
                          <a:effectLst/>
                        </a:rPr>
                        <a:t>  ICMP Flood</a:t>
                      </a:r>
                      <a:endParaRPr lang="fr-FR" sz="24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u="none" strike="noStrike" dirty="0">
                          <a:effectLst/>
                        </a:rPr>
                        <a:t>  CPU, </a:t>
                      </a:r>
                      <a:r>
                        <a:rPr lang="fr-FR" sz="2400" u="none" strike="noStrike" dirty="0" err="1">
                          <a:effectLst/>
                        </a:rPr>
                        <a:t>Bandwidth</a:t>
                      </a:r>
                      <a:endParaRPr lang="fr-F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  Overloads target with ICMP Echo Requests.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49450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Question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just">
              <a:buNone/>
            </a:pPr>
            <a:r>
              <a:rPr lang="en-US" dirty="0"/>
              <a:t>During an ICMP Flood attack, even if the server is overwhelmed by ICMP packets, what is the impact on other services? For example, if I try to connect to the server using HTTP over TCP, will it still work?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Countermeasures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 fontScale="85000" lnSpcReduction="20000"/>
          </a:bodyPr>
          <a:lstStyle/>
          <a:p>
            <a:pPr marL="0" indent="0">
              <a:buNone/>
            </a:pPr>
            <a:r>
              <a:rPr i="1" u="sng" dirty="0"/>
              <a:t>Immediate Actions:</a:t>
            </a:r>
          </a:p>
          <a:p>
            <a:r>
              <a:rPr dirty="0"/>
              <a:t>Rate-limit ICMP traffic.</a:t>
            </a:r>
          </a:p>
          <a:p>
            <a:r>
              <a:rPr dirty="0"/>
              <a:t>Block unnecessary ICMP packets using firewalls.</a:t>
            </a:r>
          </a:p>
          <a:p>
            <a:pPr marL="0" indent="0">
              <a:buNone/>
            </a:pPr>
            <a:r>
              <a:rPr i="1" u="sng" dirty="0"/>
              <a:t>Preventive Strategies:</a:t>
            </a:r>
          </a:p>
          <a:p>
            <a:r>
              <a:rPr dirty="0"/>
              <a:t>Configure network devices to ignore Echo Requests from suspicious sources.</a:t>
            </a:r>
          </a:p>
          <a:p>
            <a:r>
              <a:rPr dirty="0"/>
              <a:t>Implement anti-DDoS solutions.</a:t>
            </a:r>
          </a:p>
          <a:p>
            <a:pPr marL="0" indent="0">
              <a:buNone/>
            </a:pPr>
            <a:r>
              <a:rPr i="1" u="sng" dirty="0"/>
              <a:t>Advanced Techniques:</a:t>
            </a:r>
          </a:p>
          <a:p>
            <a:r>
              <a:rPr dirty="0"/>
              <a:t>Monitor traffic patterns for anomalies.</a:t>
            </a:r>
          </a:p>
          <a:p>
            <a:r>
              <a:rPr dirty="0"/>
              <a:t>Use Access Control Lists (ACLs) with strict filtering rules.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lang="en-US" dirty="0"/>
              <a:t>the concept of </a:t>
            </a:r>
            <a:br>
              <a:rPr lang="en-US" dirty="0"/>
            </a:br>
            <a:r>
              <a:rPr lang="en-US" dirty="0"/>
              <a:t>"Synonymous IP Attack“ ?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36045762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Synonymous</a:t>
            </a:r>
            <a:r>
              <a:rPr lang="fr-FR" dirty="0"/>
              <a:t> IP Attack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just">
              <a:buNone/>
            </a:pPr>
            <a:r>
              <a:rPr lang="en-US" dirty="0"/>
              <a:t>The Synonymous IP Attack involves sending a large number of spoofed packets (SYN, UDP, ICMP, etc.) to a victim server using the victim’s own IP address or the same source/destination address for all packets.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2154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1449</Words>
  <Application>Microsoft Office PowerPoint</Application>
  <PresentationFormat>On-screen Show (4:3)</PresentationFormat>
  <Paragraphs>195</Paragraphs>
  <Slides>38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Wingdings</vt:lpstr>
      <vt:lpstr>Office Theme</vt:lpstr>
      <vt:lpstr>Man-in-the-Middle Attack (MITM)</vt:lpstr>
      <vt:lpstr>Introduction</vt:lpstr>
      <vt:lpstr>How Does MITM Work?</vt:lpstr>
      <vt:lpstr>Techniques Used in MITM</vt:lpstr>
      <vt:lpstr>Impacts of MITM</vt:lpstr>
      <vt:lpstr>Implementation</vt:lpstr>
      <vt:lpstr>TCP Session Hijacking</vt:lpstr>
      <vt:lpstr>Introduction</vt:lpstr>
      <vt:lpstr>How Does TCP Session Hijacking Work?</vt:lpstr>
      <vt:lpstr>Techniques Used in TCP Session Hijacking</vt:lpstr>
      <vt:lpstr>Impacts of TCP Session Hijacking</vt:lpstr>
      <vt:lpstr>Reminder: Man in the Middle (ARP Poisoning) TCP Session Hijacking !</vt:lpstr>
      <vt:lpstr>TCP/IP Model</vt:lpstr>
      <vt:lpstr>Advanced Insights into UDP Protocol</vt:lpstr>
      <vt:lpstr>Introduction to UDP (User Datagram Protocol)</vt:lpstr>
      <vt:lpstr>TCP vs UDP ?</vt:lpstr>
      <vt:lpstr>TCP Header vs UDP Header</vt:lpstr>
      <vt:lpstr>Checksum</vt:lpstr>
      <vt:lpstr>Example of UDP Workflow</vt:lpstr>
      <vt:lpstr>Example of UDP Workflow</vt:lpstr>
      <vt:lpstr>Transport Layer Protocols</vt:lpstr>
      <vt:lpstr>Transport Layer Protocols Use Cases</vt:lpstr>
      <vt:lpstr>UDP flood?</vt:lpstr>
      <vt:lpstr>How does a UDP flood attack work?</vt:lpstr>
      <vt:lpstr>What Makes UDP Floods Effective?</vt:lpstr>
      <vt:lpstr>Key Components Targeted in a UDP Flood ?</vt:lpstr>
      <vt:lpstr>ICMP Flood Attacks: Deep Technical Analysis</vt:lpstr>
      <vt:lpstr>What is ICMP?</vt:lpstr>
      <vt:lpstr>ICMP Packet Structure</vt:lpstr>
      <vt:lpstr>Comparison with TCP and UDP</vt:lpstr>
      <vt:lpstr>What is ICMP Flood (Ping flood)?</vt:lpstr>
      <vt:lpstr>What is ICMP Flood (Ping flood)?</vt:lpstr>
      <vt:lpstr>Implementation  (Python and Scapy)</vt:lpstr>
      <vt:lpstr>Comparison of Flood Attacks</vt:lpstr>
      <vt:lpstr>Question</vt:lpstr>
      <vt:lpstr>Countermeasures</vt:lpstr>
      <vt:lpstr>the concept of  "Synonymous IP Attack“ ?</vt:lpstr>
      <vt:lpstr>Synonymous IP Attack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Insights into UDP Flood Attacks</dc:title>
  <dc:subject/>
  <dc:creator/>
  <cp:keywords/>
  <dc:description>generated using python-pptx</dc:description>
  <cp:lastModifiedBy>Rabah Rahal</cp:lastModifiedBy>
  <cp:revision>36</cp:revision>
  <dcterms:created xsi:type="dcterms:W3CDTF">2013-01-27T09:14:16Z</dcterms:created>
  <dcterms:modified xsi:type="dcterms:W3CDTF">2024-12-09T17:09:23Z</dcterms:modified>
  <cp:category/>
</cp:coreProperties>
</file>