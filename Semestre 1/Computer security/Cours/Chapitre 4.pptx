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4"/>
  </p:notesMasterIdLst>
  <p:sldIdLst>
    <p:sldId id="330" r:id="rId3"/>
    <p:sldId id="331" r:id="rId4"/>
    <p:sldId id="332" r:id="rId5"/>
    <p:sldId id="333" r:id="rId6"/>
    <p:sldId id="334" r:id="rId7"/>
    <p:sldId id="340" r:id="rId8"/>
    <p:sldId id="335" r:id="rId9"/>
    <p:sldId id="336" r:id="rId10"/>
    <p:sldId id="337" r:id="rId11"/>
    <p:sldId id="338" r:id="rId12"/>
    <p:sldId id="339" r:id="rId13"/>
    <p:sldId id="329" r:id="rId14"/>
    <p:sldId id="314" r:id="rId15"/>
    <p:sldId id="256" r:id="rId16"/>
    <p:sldId id="315" r:id="rId17"/>
    <p:sldId id="316" r:id="rId18"/>
    <p:sldId id="266" r:id="rId19"/>
    <p:sldId id="318" r:id="rId20"/>
    <p:sldId id="320" r:id="rId21"/>
    <p:sldId id="321" r:id="rId22"/>
    <p:sldId id="317" r:id="rId23"/>
    <p:sldId id="271" r:id="rId25"/>
    <p:sldId id="322" r:id="rId26"/>
    <p:sldId id="319" r:id="rId27"/>
    <p:sldId id="257" r:id="rId28"/>
    <p:sldId id="258" r:id="rId29"/>
    <p:sldId id="323" r:id="rId30"/>
    <p:sldId id="324" r:id="rId31"/>
    <p:sldId id="325" r:id="rId32"/>
    <p:sldId id="259" r:id="rId33"/>
    <p:sldId id="267" r:id="rId34"/>
    <p:sldId id="261" r:id="rId35"/>
    <p:sldId id="268" r:id="rId36"/>
    <p:sldId id="263" r:id="rId37"/>
    <p:sldId id="326" r:id="rId38"/>
    <p:sldId id="265" r:id="rId39"/>
    <p:sldId id="327" r:id="rId40"/>
    <p:sldId id="328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427" autoAdjust="0"/>
  </p:normalViewPr>
  <p:slideViewPr>
    <p:cSldViewPr snapToGrid="0" snapToObjects="1">
      <p:cViewPr varScale="1">
        <p:scale>
          <a:sx n="59" d="100"/>
          <a:sy n="59" d="100"/>
        </p:scale>
        <p:origin x="1716" y="72"/>
      </p:cViewPr>
      <p:guideLst>
        <p:guide orient="horz" pos="2124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4" Type="http://schemas.openxmlformats.org/officeDocument/2006/relationships/tableStyles" Target="tableStyles.xml"/><Relationship Id="rId43" Type="http://schemas.openxmlformats.org/officeDocument/2006/relationships/viewProps" Target="viewProps.xml"/><Relationship Id="rId42" Type="http://schemas.openxmlformats.org/officeDocument/2006/relationships/presProps" Target="presProps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099419-D33D-4A82-BE2B-134C4B0FB51B}" type="datetimeFigureOut">
              <a:rPr lang="fr-FR" smtClean="0"/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7EC2A3-6961-471F-BDCD-B4E47BBE28EE}" type="slidenum">
              <a:rPr lang="fr-FR" smtClean="0"/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Reliability</a:t>
            </a:r>
            <a:r>
              <a:rPr lang="fr-FR" dirty="0"/>
              <a:t>: correct </a:t>
            </a:r>
            <a:r>
              <a:rPr lang="fr-FR" dirty="0" err="1"/>
              <a:t>order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7EC2A3-6961-471F-BDCD-B4E47BBE28EE}" type="slidenum">
              <a:rPr lang="fr-FR" smtClean="0"/>
            </a:fld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7EC2A3-6961-471F-BDCD-B4E47BBE28EE}" type="slidenum">
              <a:rPr lang="fr-FR" smtClean="0"/>
            </a:fld>
            <a:endParaRPr lang="fr-F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7EC2A3-6961-471F-BDCD-B4E47BBE28EE}" type="slidenum">
              <a:rPr lang="fr-FR" smtClean="0"/>
            </a:fld>
            <a:endParaRPr lang="fr-F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code = 0</a:t>
            </a:r>
            <a:r>
              <a:rPr lang="fr-FR" dirty="0"/>
              <a:t> : Champ toujours à 0 pour un Echo </a:t>
            </a:r>
            <a:r>
              <a:rPr lang="fr-FR" dirty="0" err="1"/>
              <a:t>Request</a:t>
            </a:r>
            <a:r>
              <a:rPr lang="fr-FR" dirty="0"/>
              <a:t>.</a:t>
            </a:r>
            <a:endParaRPr lang="fr-FR" b="1" dirty="0"/>
          </a:p>
          <a:p>
            <a:r>
              <a:rPr lang="fr-FR" b="1" dirty="0"/>
              <a:t>id = 0x0</a:t>
            </a:r>
            <a:r>
              <a:rPr lang="fr-FR" dirty="0"/>
              <a:t> : Identifiant pour associer le ping à sa réponse.</a:t>
            </a:r>
            <a:endParaRPr lang="fr-FR" dirty="0"/>
          </a:p>
          <a:p>
            <a:r>
              <a:rPr lang="fr-FR" b="1" dirty="0" err="1"/>
              <a:t>seq</a:t>
            </a:r>
            <a:r>
              <a:rPr lang="fr-FR" b="1" dirty="0"/>
              <a:t> = 0x0</a:t>
            </a:r>
            <a:r>
              <a:rPr lang="fr-FR" dirty="0"/>
              <a:t> : Numéro de séquence pour suivre les paquets.</a:t>
            </a:r>
            <a:endParaRPr lang="fr-FR" dirty="0"/>
          </a:p>
          <a:p>
            <a:r>
              <a:rPr lang="fr-FR" b="1" dirty="0" err="1"/>
              <a:t>unused</a:t>
            </a:r>
            <a:r>
              <a:rPr lang="fr-FR" b="1" dirty="0"/>
              <a:t> = b''</a:t>
            </a:r>
            <a:r>
              <a:rPr lang="fr-FR" dirty="0"/>
              <a:t> : Champ inutilisé, vide par défaut.</a:t>
            </a:r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9E8836-2AB2-4AD1-BEE7-1B0691689C4F}" type="slidenum">
              <a:rPr lang="fr-FR" smtClean="0"/>
            </a:fld>
            <a:endParaRPr lang="fr-F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572000" y="6477000"/>
            <a:ext cx="4572000" cy="381000"/>
          </a:xfrm>
          <a:prstGeom prst="rect">
            <a:avLst/>
          </a:prstGeom>
          <a:solidFill>
            <a:srgbClr val="3333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bg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77000"/>
            <a:ext cx="4572000" cy="381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bg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62000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3333B2"/>
              </a:gs>
            </a:gsLst>
            <a:lin ang="10800000" scaled="1"/>
            <a:tileRect/>
          </a:gradFill>
          <a:ln>
            <a:noFill/>
          </a:ln>
          <a:effectLst>
            <a:outerShdw blurRad="50800" dist="88900" dir="54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071563" y="6488113"/>
            <a:ext cx="3500437" cy="369887"/>
          </a:xfrm>
          <a:prstGeom prst="rect">
            <a:avLst/>
          </a:prstGeom>
          <a:noFill/>
        </p:spPr>
        <p:txBody>
          <a:bodyPr anchor="ctr"/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dirty="0">
                <a:solidFill>
                  <a:schemeClr val="bg1"/>
                </a:solidFill>
                <a:latin typeface="+mn-lt"/>
                <a:cs typeface="+mn-cs"/>
              </a:rPr>
              <a:t>Computer Security</a:t>
            </a:r>
            <a:endParaRPr lang="en-US" sz="1200" dirty="0">
              <a:solidFill>
                <a:schemeClr val="bg1"/>
              </a:solidFill>
              <a:latin typeface="+mn-lt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04800" y="1066800"/>
            <a:ext cx="8382000" cy="5059363"/>
          </a:xfrm>
        </p:spPr>
        <p:txBody>
          <a:bodyPr/>
          <a:lstStyle>
            <a:lvl1pPr>
              <a:buSzPct val="60000"/>
              <a:buFontTx/>
              <a:defRPr/>
            </a:lvl1pPr>
            <a:lvl2pPr>
              <a:buSzPct val="60000"/>
              <a:buFontTx/>
              <a:defRPr/>
            </a:lvl2pPr>
          </a:lstStyle>
          <a:p>
            <a:pPr lvl="0"/>
            <a:r>
              <a:rPr lang="fr-FR"/>
              <a:t>Modifiez les styles du texte du masque</a:t>
            </a:r>
            <a:endParaRPr lang="fr-FR"/>
          </a:p>
          <a:p>
            <a:pPr lvl="1"/>
            <a:r>
              <a:rPr lang="fr-FR"/>
              <a:t>Deuxième niveau</a:t>
            </a:r>
            <a:endParaRPr lang="fr-FR"/>
          </a:p>
          <a:p>
            <a:pPr lvl="2"/>
            <a:r>
              <a:rPr lang="fr-FR"/>
              <a:t>Troisième niveau</a:t>
            </a:r>
            <a:endParaRPr lang="fr-FR"/>
          </a:p>
          <a:p>
            <a:pPr lvl="3"/>
            <a:r>
              <a:rPr lang="fr-FR"/>
              <a:t>Quatrième niveau</a:t>
            </a:r>
            <a:endParaRPr lang="fr-FR"/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915400" cy="762000"/>
          </a:xfrm>
        </p:spPr>
        <p:txBody>
          <a:bodyPr/>
          <a:lstStyle>
            <a:lvl1pPr marL="182880" algn="l"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492875"/>
            <a:ext cx="1071563" cy="365125"/>
          </a:xfrm>
        </p:spPr>
        <p:txBody>
          <a:bodyPr/>
          <a:lstStyle>
            <a:lvl1pPr>
              <a:defRPr baseline="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F00185C5-B452-4085-9905-BE947635FA3C}" type="datetime1">
              <a:rPr lang="en-US" smtClean="0"/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72000" y="6492875"/>
            <a:ext cx="3505200" cy="365125"/>
          </a:xfrm>
        </p:spPr>
        <p:txBody>
          <a:bodyPr/>
          <a:lstStyle>
            <a:lvl1pPr algn="l">
              <a:defRPr baseline="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fr-FR"/>
              <a:t>Chapitre 3: Vulnérabilités et attaques réseaux</a:t>
            </a:r>
            <a:endParaRPr lang="en-US" dirty="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6492875"/>
            <a:ext cx="1066800" cy="365125"/>
          </a:xfrm>
        </p:spPr>
        <p:txBody>
          <a:bodyPr/>
          <a:lstStyle>
            <a:lvl1pPr>
              <a:defRPr baseline="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5BC7FEBF-A170-470C-A369-F0D066FB58E5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hyperlink" Target="../Desktop/Securite_Informatique/Server/udpclient.txt" TargetMode="External"/><Relationship Id="rId1" Type="http://schemas.openxmlformats.org/officeDocument/2006/relationships/hyperlink" Target="../Desktop/Securite_Informatique/Server/udpserver.txt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Man-in-the-Middle Attack (MITM)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Cybersecurity Threat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Chapitre 3: Vulnérabilités et attaques réseaux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03F50-6C8B-4DF5-9707-78408FB2F531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2247900"/>
            <a:ext cx="8382000" cy="2362199"/>
          </a:xfrm>
        </p:spPr>
        <p:txBody>
          <a:bodyPr anchor="ctr"/>
          <a:lstStyle/>
          <a:p>
            <a:r>
              <a:rPr dirty="0"/>
              <a:t>A Man-in-the-Middle (MITM) attack occurs when an attacker intercepts and potentially alters the communication between two parties without their knowledge.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Chapitre 3: Vulnérabilités et attaques réseaux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C7FEBF-A170-470C-A369-F0D066FB58E5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dirty="0"/>
              <a:t>1. Interception: The attacker intercepts the communication.</a:t>
            </a:r>
            <a:endParaRPr dirty="0"/>
          </a:p>
          <a:p>
            <a:r>
              <a:rPr dirty="0"/>
              <a:t>2. Manipulation: The data can be altered or observed.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Does MITM Work?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Chapitre 3: Vulnérabilités et attaques réseaux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C7FEBF-A170-470C-A369-F0D066FB58E5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514350" indent="-514350">
              <a:buFont typeface="+mj-lt"/>
              <a:buAutoNum type="arabicPeriod"/>
            </a:pPr>
            <a:r>
              <a:rPr dirty="0"/>
              <a:t>- </a:t>
            </a:r>
            <a:r>
              <a:rPr dirty="0">
                <a:solidFill>
                  <a:srgbClr val="FF0000"/>
                </a:solidFill>
              </a:rPr>
              <a:t>ARP Spoofing: </a:t>
            </a:r>
            <a:r>
              <a:rPr dirty="0"/>
              <a:t>Impersonating a MAC address to intercept packets.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/>
              <a:t>- DNS Spoofing: Altering DNS responses to redirect traffic.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/>
              <a:t>- Rogue Wi-Fi: Setting up fraudulent Wi-Fi access points.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Techniques Used in MITM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Chapitre 3: Vulnérabilités et attaques réseaux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C7FEBF-A170-470C-A369-F0D066FB58E5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514350" indent="-514350">
              <a:buFont typeface="+mj-lt"/>
              <a:buAutoNum type="arabicPeriod"/>
            </a:pPr>
            <a:r>
              <a:rPr dirty="0"/>
              <a:t>- Data theft: Sensitive information such as passwords.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/>
              <a:t>- Espionage: Monitoring user activity.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/>
              <a:t>- Data manipulation: Modifying messages or transactions.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Impacts of MITM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Chapitre 3: Vulnérabilités et attaques réseaux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C7FEBF-A170-470C-A369-F0D066FB58E5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>
              <a:buFont typeface="Wingdings" panose="05000000000000000000" pitchFamily="2" charset="2"/>
              <a:buChar char="v"/>
            </a:pPr>
            <a:r>
              <a:rPr lang="fr-FR" dirty="0" err="1"/>
              <a:t>Ettercap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Implementation</a:t>
            </a:r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Chapitre 3: Vulnérabilités et attaques réseaux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C7FEBF-A170-470C-A369-F0D066FB58E5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TCP Session Hijacking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Critical Network Security Vulnerability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TCP Session Hijacking is a type of cyber attack where the attacker takes over an active TCP session between two parties, often </a:t>
            </a:r>
            <a:r>
              <a:rPr lang="fr-FR" dirty="0" err="1"/>
              <a:t>pretending</a:t>
            </a:r>
            <a:r>
              <a:rPr lang="fr-FR" dirty="0"/>
              <a:t> to </a:t>
            </a:r>
            <a:r>
              <a:rPr lang="fr-FR" dirty="0" err="1"/>
              <a:t>be</a:t>
            </a:r>
            <a:r>
              <a:rPr dirty="0"/>
              <a:t> one of them.</a:t>
            </a:r>
            <a:endParaRPr dirty="0"/>
          </a:p>
          <a:p>
            <a:endParaRPr dirty="0"/>
          </a:p>
          <a:p>
            <a:r>
              <a:rPr dirty="0"/>
              <a:t>The attacker gains unauthorized access to the session, potentially stealing data or injecting malicious commands.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1. Session Sniffing: The attacker monitors the network to capture the session ID.</a:t>
            </a:r>
            <a:endParaRPr dirty="0"/>
          </a:p>
          <a:p>
            <a:r>
              <a:rPr dirty="0"/>
              <a:t>2. Sequence Prediction: Predicting TCP sequence numbers to inject packets.</a:t>
            </a:r>
            <a:endParaRPr dirty="0"/>
          </a:p>
          <a:p>
            <a:r>
              <a:rPr dirty="0"/>
              <a:t>3. Session Takeover: Sending </a:t>
            </a:r>
            <a:r>
              <a:rPr dirty="0" err="1"/>
              <a:t>cr</a:t>
            </a:r>
            <a:r>
              <a:rPr lang="fr-FR" dirty="0" err="1"/>
              <a:t>eated</a:t>
            </a:r>
            <a:r>
              <a:rPr dirty="0"/>
              <a:t> packets to take control of the session.</a:t>
            </a:r>
            <a:endParaRPr dirty="0"/>
          </a:p>
          <a:p>
            <a:endParaRPr dirty="0"/>
          </a:p>
          <a:p>
            <a:r>
              <a:rPr dirty="0"/>
              <a:t>Requires the attacker to be on the same network or have access to the traffic.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/>
              <a:t>How Does TCP Session Hijacking Work?</a:t>
            </a:r>
            <a:endParaRPr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dirty="0"/>
              <a:t>- IP Spoofing: Impersonating the IP address of a trusted client.</a:t>
            </a:r>
            <a:endParaRPr dirty="0"/>
          </a:p>
          <a:p>
            <a:r>
              <a:rPr dirty="0"/>
              <a:t>- Sequence Number Prediction: Guessing TCP sequence numbers to inject packets.</a:t>
            </a:r>
            <a:endParaRPr dirty="0"/>
          </a:p>
          <a:p>
            <a:r>
              <a:rPr dirty="0"/>
              <a:t>- Packet Injection: Sending malicious packets to disrupt or control the session.</a:t>
            </a:r>
            <a:endParaRPr dirty="0"/>
          </a:p>
          <a:p>
            <a:r>
              <a:rPr dirty="0"/>
              <a:t>- Sniffing Tools: Using tools like Wireshark to capture network traffic.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/>
              <a:t>Techniques Used in TCP Session Hijacking</a:t>
            </a:r>
            <a:endParaRPr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dirty="0"/>
              <a:t>- Data Theft: Stealing sensitive information during the session.</a:t>
            </a:r>
            <a:endParaRPr dirty="0"/>
          </a:p>
          <a:p>
            <a:r>
              <a:rPr dirty="0"/>
              <a:t>- Command Execution: Injecting malicious commands.</a:t>
            </a:r>
            <a:endParaRPr dirty="0"/>
          </a:p>
          <a:p>
            <a:r>
              <a:rPr dirty="0"/>
              <a:t>- Service Disruption: Interrupting legitimate communication.</a:t>
            </a:r>
            <a:endParaRPr dirty="0"/>
          </a:p>
          <a:p>
            <a:r>
              <a:rPr dirty="0"/>
              <a:t>- Financial Loss: Exploiting online banking sessions or other financial activities.</a:t>
            </a: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Impacts of TCP Session Hijacking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93987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fr-FR" i="1" u="sng" dirty="0" err="1"/>
              <a:t>Reminder</a:t>
            </a:r>
            <a:r>
              <a:rPr lang="fr-FR" i="1" u="sng" dirty="0"/>
              <a:t>:</a:t>
            </a:r>
            <a:br>
              <a:rPr lang="fr-FR" i="1" u="sng" dirty="0"/>
            </a:br>
            <a:r>
              <a:rPr lang="fr-FR" dirty="0"/>
              <a:t>Man in the Middle (ARP </a:t>
            </a:r>
            <a:r>
              <a:rPr lang="fr-FR" dirty="0" err="1"/>
              <a:t>Poisoning</a:t>
            </a:r>
            <a:r>
              <a:rPr lang="fr-FR" dirty="0"/>
              <a:t>)</a:t>
            </a:r>
            <a:br>
              <a:rPr lang="fr-FR" dirty="0"/>
            </a:br>
            <a:r>
              <a:rPr lang="fr-FR" dirty="0"/>
              <a:t>TCP Session </a:t>
            </a:r>
            <a:r>
              <a:rPr lang="fr-FR" dirty="0" err="1"/>
              <a:t>Hijacking</a:t>
            </a:r>
            <a:r>
              <a:rPr lang="fr-FR" dirty="0"/>
              <a:t> !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04800" y="5589240"/>
            <a:ext cx="8382000" cy="53692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fr-FR" dirty="0"/>
              <a:t>TCP/IP model (Layers/Protocols)</a:t>
            </a:r>
            <a:endParaRPr lang="fr-FR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TCP/IP Model</a:t>
            </a:r>
            <a:endParaRPr lang="fr-FR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Chapitre 3: Vulnérabilités et attaques réseaux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912" y="908720"/>
            <a:ext cx="7651576" cy="47778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C7FEBF-A170-470C-A369-F0D066FB58E5}" type="slidenum">
              <a:rPr lang="en-US" smtClean="0"/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4814885" y="2628900"/>
            <a:ext cx="3871915" cy="536923"/>
          </a:xfrm>
          <a:prstGeom prst="ellipse">
            <a:avLst/>
          </a:prstGeom>
          <a:noFill/>
          <a:ln w="571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Connector: Curved 8"/>
          <p:cNvCxnSpPr/>
          <p:nvPr/>
        </p:nvCxnSpPr>
        <p:spPr>
          <a:xfrm rot="16200000" flipV="1">
            <a:off x="8420980" y="3263199"/>
            <a:ext cx="674513" cy="228600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Advanced Insights into UDP </a:t>
            </a:r>
            <a:r>
              <a:rPr lang="fr-FR" dirty="0"/>
              <a:t>Protocol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Understanding, Detecting, and Mitigating UDP-Based</a:t>
            </a:r>
            <a:r>
              <a:rPr lang="fr-FR" dirty="0"/>
              <a:t> </a:t>
            </a:r>
            <a:r>
              <a:rPr dirty="0"/>
              <a:t>Attacks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Introduction to UDP (User Datagram Protocol)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algn="just"/>
            <a:r>
              <a:rPr lang="en-US" dirty="0"/>
              <a:t>The </a:t>
            </a:r>
            <a:r>
              <a:rPr lang="en-US" b="1" dirty="0"/>
              <a:t>User Datagram Protocol (UDP)</a:t>
            </a:r>
            <a:r>
              <a:rPr lang="en-US" dirty="0"/>
              <a:t> is a fundamental Internet protocol used to send messages (datagrams) to hosts on an IP network. 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93987"/>
            <a:ext cx="7772400" cy="1470025"/>
          </a:xfrm>
        </p:spPr>
        <p:txBody>
          <a:bodyPr/>
          <a:lstStyle/>
          <a:p>
            <a:r>
              <a:rPr lang="fr-FR" dirty="0"/>
              <a:t>TCP vs UDP ?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3198"/>
            <a:ext cx="8229600" cy="554037"/>
          </a:xfrm>
        </p:spPr>
        <p:txBody>
          <a:bodyPr>
            <a:normAutofit fontScale="90000"/>
          </a:bodyPr>
          <a:lstStyle/>
          <a:p>
            <a:r>
              <a:rPr lang="fr-FR" dirty="0"/>
              <a:t>TCP Header vs UDP Header</a:t>
            </a:r>
            <a:endParaRPr lang="fr-FR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772025" y="971548"/>
            <a:ext cx="3271838" cy="5740069"/>
          </a:xfr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499" y="946153"/>
            <a:ext cx="2676664" cy="5790858"/>
          </a:xfrm>
          <a:prstGeom prst="rect">
            <a:avLst/>
          </a:prstGeom>
        </p:spPr>
      </p:pic>
      <p:sp>
        <p:nvSpPr>
          <p:cNvPr id="8" name="Left Brace 7"/>
          <p:cNvSpPr/>
          <p:nvPr/>
        </p:nvSpPr>
        <p:spPr>
          <a:xfrm>
            <a:off x="671512" y="4914901"/>
            <a:ext cx="223699" cy="35718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Left Brace 8"/>
          <p:cNvSpPr/>
          <p:nvPr/>
        </p:nvSpPr>
        <p:spPr>
          <a:xfrm>
            <a:off x="681032" y="5624510"/>
            <a:ext cx="223699" cy="35718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Checksum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just">
              <a:buNone/>
            </a:pPr>
            <a:r>
              <a:rPr lang="en-US" dirty="0"/>
              <a:t>The checksum in the UDP header serves the purpose of error detection. It </a:t>
            </a:r>
            <a:r>
              <a:rPr lang="en-US" i="1" u="sng" dirty="0"/>
              <a:t>ensures</a:t>
            </a:r>
            <a:r>
              <a:rPr lang="en-US" dirty="0"/>
              <a:t> that the data within the UDP packet </a:t>
            </a:r>
            <a:r>
              <a:rPr lang="en-US" i="1" u="sng" dirty="0"/>
              <a:t>has not been corrupted during transmission</a:t>
            </a:r>
            <a:r>
              <a:rPr lang="en-US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3198"/>
            <a:ext cx="8229600" cy="668337"/>
          </a:xfrm>
        </p:spPr>
        <p:txBody>
          <a:bodyPr>
            <a:normAutofit fontScale="90000"/>
          </a:bodyPr>
          <a:lstStyle/>
          <a:p>
            <a:r>
              <a:rPr lang="fr-FR" dirty="0"/>
              <a:t>Example of UDP Workflow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2" y="957259"/>
            <a:ext cx="8972550" cy="5900741"/>
          </a:xfrm>
        </p:spPr>
        <p:txBody>
          <a:bodyPr anchor="ctr">
            <a:normAutofit fontScale="92500"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b="1" dirty="0">
                <a:solidFill>
                  <a:srgbClr val="FF0000"/>
                </a:solidFill>
              </a:rPr>
              <a:t>Sender: </a:t>
            </a:r>
            <a:r>
              <a:rPr lang="en-US" dirty="0"/>
              <a:t>Builds a UDP packet with the destination </a:t>
            </a:r>
            <a:r>
              <a:rPr lang="en-US" u="sng" dirty="0"/>
              <a:t>address</a:t>
            </a:r>
            <a:r>
              <a:rPr lang="en-US" dirty="0"/>
              <a:t> and </a:t>
            </a:r>
            <a:r>
              <a:rPr lang="en-US" u="sng" dirty="0"/>
              <a:t>port</a:t>
            </a:r>
            <a:r>
              <a:rPr lang="en-US" dirty="0"/>
              <a:t>. Sends the packet to the receiver.</a:t>
            </a:r>
            <a:endParaRPr lang="en-US" dirty="0"/>
          </a:p>
          <a:p>
            <a:pPr marL="514350" indent="-514350" algn="just">
              <a:buFont typeface="+mj-lt"/>
              <a:buAutoNum type="arabicPeriod"/>
            </a:pPr>
            <a:r>
              <a:rPr lang="en-US" b="1" dirty="0">
                <a:solidFill>
                  <a:srgbClr val="FF0000"/>
                </a:solidFill>
              </a:rPr>
              <a:t>Network: </a:t>
            </a:r>
            <a:r>
              <a:rPr lang="en-US" dirty="0"/>
              <a:t>Routes the packet from sender to receiver using the IP layer. Does not provide feedback to the sender if the packet is lost or delayed.</a:t>
            </a:r>
            <a:endParaRPr lang="en-US" dirty="0"/>
          </a:p>
          <a:p>
            <a:pPr marL="514350" indent="-514350" algn="just">
              <a:buFont typeface="+mj-lt"/>
              <a:buAutoNum type="arabicPeriod"/>
            </a:pPr>
            <a:r>
              <a:rPr lang="en-US" b="1" dirty="0">
                <a:solidFill>
                  <a:srgbClr val="FF0000"/>
                </a:solidFill>
              </a:rPr>
              <a:t>Receiver: </a:t>
            </a:r>
            <a:r>
              <a:rPr lang="en-US" dirty="0"/>
              <a:t>Listens on the specified port. Processes the packet upon arrival without expecting a formal acknowledgment.</a:t>
            </a:r>
            <a:endParaRPr lang="en-US" dirty="0"/>
          </a:p>
          <a:p>
            <a:pPr marL="514350" indent="-514350" algn="just">
              <a:buFont typeface="+mj-lt"/>
              <a:buAutoNum type="arabicPeriod"/>
            </a:pPr>
            <a:r>
              <a:rPr lang="en-US" dirty="0">
                <a:solidFill>
                  <a:srgbClr val="FF0000"/>
                </a:solidFill>
              </a:rPr>
              <a:t>If no program is receiving packets on this port</a:t>
            </a:r>
            <a:r>
              <a:rPr lang="en-US" dirty="0"/>
              <a:t>, the </a:t>
            </a:r>
            <a:r>
              <a:rPr lang="en-US" b="1" dirty="0"/>
              <a:t>server responds with an ICMP (ping) </a:t>
            </a:r>
            <a:r>
              <a:rPr lang="en-US" dirty="0"/>
              <a:t>packet to inform the sender that the destination is unreachable.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93802"/>
            <a:ext cx="8229600" cy="668370"/>
          </a:xfrm>
        </p:spPr>
        <p:txBody>
          <a:bodyPr>
            <a:normAutofit fontScale="90000"/>
          </a:bodyPr>
          <a:lstStyle/>
          <a:p>
            <a:r>
              <a:rPr lang="fr-FR" dirty="0"/>
              <a:t>Example of UDP Workflow</a:t>
            </a:r>
            <a:endParaRPr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314325" y="3028950"/>
            <a:ext cx="3771900" cy="80010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FR" sz="3000" dirty="0">
                <a:hlinkClick r:id="rId1" action="ppaction://hlinkfile"/>
              </a:rPr>
              <a:t>UDP_Server_Code.py</a:t>
            </a:r>
            <a:endParaRPr lang="fr-FR" sz="3000" dirty="0"/>
          </a:p>
        </p:txBody>
      </p:sp>
      <p:sp>
        <p:nvSpPr>
          <p:cNvPr id="10" name="Content Placeholder 8"/>
          <p:cNvSpPr txBox="1"/>
          <p:nvPr/>
        </p:nvSpPr>
        <p:spPr>
          <a:xfrm>
            <a:off x="5214937" y="3028950"/>
            <a:ext cx="3471863" cy="8001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/>
              <a:buNone/>
            </a:pPr>
            <a:r>
              <a:rPr lang="fr-FR" dirty="0">
                <a:hlinkClick r:id="rId2" action="ppaction://hlinkfile"/>
              </a:rPr>
              <a:t>UDP_Client_Code.py</a:t>
            </a:r>
            <a:endParaRPr lang="fr-FR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 Protocols</a:t>
            </a:r>
            <a:endParaRPr lang="en-US" dirty="0"/>
          </a:p>
        </p:txBody>
      </p:sp>
      <p:graphicFrame>
        <p:nvGraphicFramePr>
          <p:cNvPr id="4" name="Table 4"/>
          <p:cNvGraphicFramePr>
            <a:graphicFrameLocks noGrp="1"/>
          </p:cNvGraphicFramePr>
          <p:nvPr>
            <p:ph idx="1"/>
          </p:nvPr>
        </p:nvGraphicFramePr>
        <p:xfrm>
          <a:off x="457200" y="2335058"/>
          <a:ext cx="8024819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50878"/>
                <a:gridCol w="2021285"/>
                <a:gridCol w="2152656"/>
              </a:tblGrid>
              <a:tr h="535917">
                <a:tc>
                  <a:txBody>
                    <a:bodyPr/>
                    <a:lstStyle/>
                    <a:p>
                      <a:r>
                        <a:rPr lang="en-US" sz="3200" dirty="0"/>
                        <a:t>Properties</a:t>
                      </a:r>
                      <a:endParaRPr lang="en-US" sz="32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TCP</a:t>
                      </a:r>
                      <a:endParaRPr lang="en-US" sz="32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dirty="0"/>
                        <a:t>UDP</a:t>
                      </a:r>
                      <a:endParaRPr lang="en-US" sz="3200" dirty="0"/>
                    </a:p>
                  </a:txBody>
                  <a:tcPr marL="68580" marR="68580" marT="34290" marB="34290"/>
                </a:tc>
              </a:tr>
              <a:tr h="535917">
                <a:tc>
                  <a:txBody>
                    <a:bodyPr/>
                    <a:lstStyle/>
                    <a:p>
                      <a:r>
                        <a:rPr lang="en-US" sz="3200" dirty="0"/>
                        <a:t>Connections</a:t>
                      </a:r>
                      <a:endParaRPr lang="en-US" sz="32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endParaRPr lang="en-US" sz="3200" b="1" dirty="0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endParaRPr lang="en-US" sz="3200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34290" marB="34290"/>
                </a:tc>
              </a:tr>
              <a:tr h="535917">
                <a:tc>
                  <a:txBody>
                    <a:bodyPr/>
                    <a:lstStyle/>
                    <a:p>
                      <a:r>
                        <a:rPr lang="en-US" sz="3200" dirty="0"/>
                        <a:t>Reliability &amp; Ordering</a:t>
                      </a:r>
                      <a:endParaRPr lang="en-US" sz="32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3200" b="1" dirty="0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endParaRPr lang="en-US" sz="3200" dirty="0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34290" marB="34290"/>
                </a:tc>
              </a:tr>
              <a:tr h="535917">
                <a:tc>
                  <a:txBody>
                    <a:bodyPr/>
                    <a:lstStyle/>
                    <a:p>
                      <a:r>
                        <a:rPr lang="en-US" sz="3200" dirty="0"/>
                        <a:t>ACK </a:t>
                      </a:r>
                      <a:endParaRPr lang="en-US" sz="32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3200" b="1" dirty="0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endParaRPr lang="en-US" sz="3200" dirty="0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34290" marB="34290"/>
                </a:tc>
              </a:tr>
              <a:tr h="535917">
                <a:tc>
                  <a:txBody>
                    <a:bodyPr/>
                    <a:lstStyle/>
                    <a:p>
                      <a:r>
                        <a:rPr lang="en-US" sz="3200" dirty="0"/>
                        <a:t>Speed</a:t>
                      </a:r>
                      <a:endParaRPr lang="en-US" sz="32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endParaRPr lang="en-US" sz="3200" dirty="0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3200" b="1" dirty="0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34290" marB="34290"/>
                </a:tc>
              </a:tr>
              <a:tr h="535917">
                <a:tc>
                  <a:txBody>
                    <a:bodyPr/>
                    <a:lstStyle/>
                    <a:p>
                      <a:r>
                        <a:rPr lang="en-US" sz="3200" dirty="0"/>
                        <a:t>Broadcast</a:t>
                      </a:r>
                      <a:endParaRPr lang="en-US" sz="3200" dirty="0"/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endParaRPr lang="en-US" sz="3200" dirty="0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3200" b="1" dirty="0">
                        <a:solidFill>
                          <a:srgbClr val="7030A0"/>
                        </a:solidFill>
                      </a:endParaRPr>
                    </a:p>
                  </a:txBody>
                  <a:tcPr marL="68580" marR="68580" marT="34290" marB="34290"/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7124701" y="5156049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110413" y="4581534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836320" y="3460590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36320" y="2886079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836320" y="4032414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Transport Layer Protocols Use Cases</a:t>
            </a:r>
            <a:endParaRPr lang="en-US" dirty="0"/>
          </a:p>
        </p:txBody>
      </p:sp>
      <p:graphicFrame>
        <p:nvGraphicFramePr>
          <p:cNvPr id="19" name="Content Placeholder 18"/>
          <p:cNvGraphicFramePr>
            <a:graphicFrameLocks noGrp="1"/>
          </p:cNvGraphicFramePr>
          <p:nvPr>
            <p:ph idx="1"/>
          </p:nvPr>
        </p:nvGraphicFramePr>
        <p:xfrm>
          <a:off x="228599" y="1600200"/>
          <a:ext cx="8715375" cy="4614862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5750851"/>
                <a:gridCol w="1482262"/>
                <a:gridCol w="1482262"/>
              </a:tblGrid>
              <a:tr h="463585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2000" b="1" u="none" strike="noStrike" dirty="0">
                          <a:effectLst/>
                        </a:rPr>
                        <a:t>Application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2000" b="1" u="none" strike="noStrike" dirty="0">
                          <a:effectLst/>
                        </a:rPr>
                        <a:t>TCP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2000" b="1" u="none" strike="noStrike" dirty="0">
                          <a:effectLst/>
                        </a:rPr>
                        <a:t>UDP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</a:tr>
              <a:tr h="461253">
                <a:tc>
                  <a:txBody>
                    <a:bodyPr/>
                    <a:lstStyle/>
                    <a:p>
                      <a:pPr algn="l" fontAlgn="ctr"/>
                      <a:r>
                        <a:rPr lang="fr-FR" sz="2000" b="1" u="none" strike="noStrike" dirty="0">
                          <a:effectLst/>
                        </a:rPr>
                        <a:t>  Web </a:t>
                      </a:r>
                      <a:r>
                        <a:rPr lang="fr-FR" sz="2000" b="1" u="none" strike="noStrike" dirty="0" err="1">
                          <a:effectLst/>
                        </a:rPr>
                        <a:t>browsing</a:t>
                      </a:r>
                      <a:r>
                        <a:rPr lang="fr-FR" sz="2000" b="1" u="none" strike="noStrike" dirty="0">
                          <a:effectLst/>
                        </a:rPr>
                        <a:t> (HTTP/HTTPS)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</a:tr>
              <a:tr h="461253">
                <a:tc>
                  <a:txBody>
                    <a:bodyPr/>
                    <a:lstStyle/>
                    <a:p>
                      <a:pPr algn="l" fontAlgn="ctr"/>
                      <a:r>
                        <a:rPr lang="fr-FR" sz="2000" b="1" u="none" strike="noStrike" dirty="0">
                          <a:effectLst/>
                        </a:rPr>
                        <a:t>  Email (SMTP/IMAP/POP3)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</a:tr>
              <a:tr h="461253">
                <a:tc>
                  <a:txBody>
                    <a:bodyPr/>
                    <a:lstStyle/>
                    <a:p>
                      <a:pPr algn="l" fontAlgn="ctr"/>
                      <a:r>
                        <a:rPr lang="fr-FR" sz="2000" b="1" u="none" strike="noStrike" dirty="0">
                          <a:effectLst/>
                        </a:rPr>
                        <a:t>  File Transfer (FTP)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</a:tr>
              <a:tr h="4612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2000" b="1" u="none" strike="noStrike" dirty="0">
                          <a:effectLst/>
                        </a:rPr>
                        <a:t>  On-demand Video Streaming (Netflix, YouTube)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</a:tr>
              <a:tr h="461253">
                <a:tc>
                  <a:txBody>
                    <a:bodyPr/>
                    <a:lstStyle/>
                    <a:p>
                      <a:pPr algn="l" fontAlgn="ctr"/>
                      <a:r>
                        <a:rPr lang="en-US" sz="2000" b="1" u="none" strike="noStrike" dirty="0">
                          <a:effectLst/>
                        </a:rPr>
                        <a:t>  Live Video Streaming (Twitch, Zoom Live)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</a:tr>
              <a:tr h="461253">
                <a:tc>
                  <a:txBody>
                    <a:bodyPr/>
                    <a:lstStyle/>
                    <a:p>
                      <a:pPr algn="l" fontAlgn="ctr"/>
                      <a:r>
                        <a:rPr lang="fr-FR" sz="2000" b="1" u="none" strike="noStrike" dirty="0">
                          <a:effectLst/>
                        </a:rPr>
                        <a:t>  Voice over IP (</a:t>
                      </a:r>
                      <a:r>
                        <a:rPr lang="fr-FR" sz="2000" b="1" u="none" strike="noStrike" dirty="0" err="1">
                          <a:effectLst/>
                        </a:rPr>
                        <a:t>VoIP</a:t>
                      </a:r>
                      <a:r>
                        <a:rPr lang="fr-FR" sz="2000" b="1" u="none" strike="noStrike" dirty="0">
                          <a:effectLst/>
                        </a:rPr>
                        <a:t>)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</a:tr>
              <a:tr h="461253">
                <a:tc>
                  <a:txBody>
                    <a:bodyPr/>
                    <a:lstStyle/>
                    <a:p>
                      <a:pPr algn="l" fontAlgn="ctr"/>
                      <a:r>
                        <a:rPr lang="fr-FR" sz="2000" b="1" u="none" strike="noStrike" dirty="0">
                          <a:effectLst/>
                        </a:rPr>
                        <a:t>  Online Gaming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</a:tr>
              <a:tr h="461253">
                <a:tc>
                  <a:txBody>
                    <a:bodyPr/>
                    <a:lstStyle/>
                    <a:p>
                      <a:pPr algn="l" fontAlgn="ctr"/>
                      <a:r>
                        <a:rPr lang="fr-FR" sz="2000" b="1" u="none" strike="noStrike" dirty="0">
                          <a:effectLst/>
                        </a:rPr>
                        <a:t>  Instant Messaging (WhatsApp, </a:t>
                      </a:r>
                      <a:r>
                        <a:rPr lang="fr-FR" sz="2000" b="1" u="none" strike="noStrike" dirty="0" err="1">
                          <a:effectLst/>
                        </a:rPr>
                        <a:t>Telegram</a:t>
                      </a:r>
                      <a:r>
                        <a:rPr lang="fr-FR" sz="2000" b="1" u="none" strike="noStrike" dirty="0">
                          <a:effectLst/>
                        </a:rPr>
                        <a:t>)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fr-FR" sz="2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b"/>
                </a:tc>
              </a:tr>
              <a:tr h="461253">
                <a:tc>
                  <a:txBody>
                    <a:bodyPr/>
                    <a:lstStyle/>
                    <a:p>
                      <a:pPr algn="l" fontAlgn="ctr"/>
                      <a:r>
                        <a:rPr lang="fr-FR" sz="2000" b="1" u="none" strike="noStrike" dirty="0">
                          <a:effectLst/>
                        </a:rPr>
                        <a:t>  System Updates (Windows/Linux)</a:t>
                      </a:r>
                      <a:endParaRPr lang="fr-FR" sz="2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fr-FR" sz="2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2018" marR="2018" marT="2018" marB="0" anchor="b"/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6422232" y="2028829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417466" y="2481276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417466" y="2952765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417466" y="3409955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931952" y="3867167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931947" y="4338646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931947" y="4795847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3179" y="5267337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388892" y="5710250"/>
            <a:ext cx="585788" cy="4857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rgbClr val="7030A0"/>
                </a:solidFill>
              </a:rPr>
              <a:t>√</a:t>
            </a:r>
            <a:endParaRPr lang="en-US" sz="3600" b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UDP flood?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just">
              <a:buNone/>
            </a:pPr>
            <a:r>
              <a:rPr lang="en-US" dirty="0"/>
              <a:t>A UDP flood is a type of denial-of-service attack in which a </a:t>
            </a:r>
            <a:r>
              <a:rPr lang="en-US" dirty="0">
                <a:solidFill>
                  <a:srgbClr val="FF0000"/>
                </a:solidFill>
              </a:rPr>
              <a:t>large number of UDP </a:t>
            </a:r>
            <a:r>
              <a:rPr lang="en-US" dirty="0"/>
              <a:t>(User Datagram Protocol) packets </a:t>
            </a:r>
            <a:r>
              <a:rPr lang="en-US" dirty="0">
                <a:solidFill>
                  <a:srgbClr val="FF0000"/>
                </a:solidFill>
              </a:rPr>
              <a:t>are sent</a:t>
            </a:r>
            <a:r>
              <a:rPr lang="en-US" dirty="0"/>
              <a:t> to a target </a:t>
            </a:r>
            <a:r>
              <a:rPr lang="en-US" dirty="0">
                <a:solidFill>
                  <a:srgbClr val="FF0000"/>
                </a:solidFill>
              </a:rPr>
              <a:t>server</a:t>
            </a:r>
            <a:r>
              <a:rPr lang="en-US" dirty="0"/>
              <a:t> with the aim of </a:t>
            </a:r>
            <a:r>
              <a:rPr lang="en-US" dirty="0">
                <a:solidFill>
                  <a:srgbClr val="FF0000"/>
                </a:solidFill>
              </a:rPr>
              <a:t>overwhelming its processing and response capacity</a:t>
            </a:r>
            <a:r>
              <a:rPr lang="en-US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68337"/>
          </a:xfrm>
        </p:spPr>
        <p:txBody>
          <a:bodyPr>
            <a:normAutofit fontScale="90000"/>
          </a:bodyPr>
          <a:lstStyle/>
          <a:p>
            <a:r>
              <a:rPr lang="en-US" dirty="0"/>
              <a:t>How does a UDP flood attack work?</a:t>
            </a:r>
            <a:endParaRPr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457200" y="1104737"/>
            <a:ext cx="8058150" cy="5373972"/>
          </a:xfr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Makes UDP Floods Effective?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 anchor="ctr">
            <a:normAutofit lnSpcReduction="10000"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i="1" u="sng" dirty="0"/>
              <a:t>Stateless Protocol: </a:t>
            </a:r>
            <a:endParaRPr lang="en-US" i="1" u="sng" dirty="0"/>
          </a:p>
          <a:p>
            <a:pPr marL="0" indent="0" algn="just">
              <a:buNone/>
            </a:pPr>
            <a:r>
              <a:rPr lang="en-US" dirty="0"/>
              <a:t>There is no built-in mechanism to limit or authenticate UDP packets, so the server processes each packet without verification.</a:t>
            </a:r>
            <a:endParaRPr lang="en-US" dirty="0"/>
          </a:p>
          <a:p>
            <a:pPr marL="514350" indent="-514350" algn="just">
              <a:buFont typeface="+mj-lt"/>
              <a:buAutoNum type="arabicPeriod" startAt="2"/>
            </a:pPr>
            <a:r>
              <a:rPr lang="en-US" i="1" u="sng" dirty="0"/>
              <a:t>Volume-Based: </a:t>
            </a:r>
            <a:r>
              <a:rPr lang="en-US" dirty="0"/>
              <a:t>The attack relies on sheer volume to overwhelm the target.</a:t>
            </a:r>
            <a:endParaRPr lang="en-US" dirty="0"/>
          </a:p>
          <a:p>
            <a:pPr marL="514350" indent="-514350" algn="just">
              <a:buFont typeface="+mj-lt"/>
              <a:buAutoNum type="arabicPeriod" startAt="2"/>
            </a:pPr>
            <a:r>
              <a:rPr lang="en-US" i="1" u="sng" dirty="0"/>
              <a:t>Amplification: </a:t>
            </a:r>
            <a:r>
              <a:rPr lang="en-US" dirty="0"/>
              <a:t>When combined with reflection and amplification (e.g., DNS or NTP amplification), the attack's impact can be magnified significantly.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Key Components Targeted in a UDP Flood 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6350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i="1" u="sng" dirty="0"/>
              <a:t>1. CPU Usage: </a:t>
            </a:r>
            <a:endParaRPr lang="en-US" i="1" u="sng" dirty="0"/>
          </a:p>
          <a:p>
            <a:pPr marL="400050" lvl="1" indent="0">
              <a:buNone/>
            </a:pPr>
            <a:r>
              <a:rPr lang="en-US" dirty="0"/>
              <a:t>The target system's CPU is consumed by the need to inspect and possibly respond to each packet.</a:t>
            </a:r>
            <a:endParaRPr lang="en-US" dirty="0"/>
          </a:p>
          <a:p>
            <a:pPr marL="0" indent="0">
              <a:buNone/>
            </a:pPr>
            <a:r>
              <a:rPr lang="en-US" i="1" u="sng" dirty="0"/>
              <a:t>2. Network Congestion: </a:t>
            </a:r>
            <a:endParaRPr lang="en-US" i="1" u="sng" dirty="0"/>
          </a:p>
          <a:p>
            <a:pPr marL="400050" lvl="1" indent="0">
              <a:buNone/>
            </a:pPr>
            <a:r>
              <a:rPr lang="en-US" dirty="0"/>
              <a:t>The network becomes saturated, preventing legitimate traffic.</a:t>
            </a:r>
            <a:endParaRPr lang="en-US" dirty="0"/>
          </a:p>
          <a:p>
            <a:pPr marL="0" indent="0">
              <a:buNone/>
            </a:pPr>
            <a:r>
              <a:rPr lang="en-US" i="1" u="sng" dirty="0"/>
              <a:t>3. ICMP Response Overload: </a:t>
            </a:r>
            <a:endParaRPr lang="en-US" i="1" u="sng" dirty="0"/>
          </a:p>
          <a:p>
            <a:pPr marL="400050" lvl="1" indent="0">
              <a:buNone/>
            </a:pPr>
            <a:r>
              <a:rPr lang="en-US" dirty="0"/>
              <a:t>If the server generates ICMP responses for packets sent to closed ports, it can further strain the system.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ICMP Flood Attacks: Deep Technical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A Comprehensive Study of ICMP-based DoS Attacks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96924"/>
          </a:xfrm>
        </p:spPr>
        <p:txBody>
          <a:bodyPr/>
          <a:lstStyle/>
          <a:p>
            <a:r>
              <a:rPr dirty="0"/>
              <a:t>What is ICMP?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1562"/>
            <a:ext cx="8229600" cy="56149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sz="2400" i="1" u="sng" dirty="0"/>
              <a:t>Definition:</a:t>
            </a:r>
            <a:endParaRPr sz="2400" i="1" u="sng" dirty="0"/>
          </a:p>
          <a:p>
            <a:r>
              <a:rPr sz="2400" dirty="0"/>
              <a:t>- ICMP (Internet Control Message Protocol) is a network layer protocol used for error reporting and diagnostic purposes (e.g., ping).</a:t>
            </a:r>
            <a:endParaRPr sz="2400" dirty="0"/>
          </a:p>
          <a:p>
            <a:endParaRPr sz="2400" dirty="0"/>
          </a:p>
          <a:p>
            <a:pPr marL="0" indent="0">
              <a:buNone/>
            </a:pPr>
            <a:r>
              <a:rPr sz="2400" i="1" u="sng" dirty="0"/>
              <a:t>Characteristics:</a:t>
            </a:r>
            <a:endParaRPr sz="2400" i="1" u="sng" dirty="0"/>
          </a:p>
          <a:p>
            <a:r>
              <a:rPr sz="2400" dirty="0"/>
              <a:t>- Part of the IP protocol suite.</a:t>
            </a:r>
            <a:endParaRPr sz="2400" dirty="0"/>
          </a:p>
          <a:p>
            <a:r>
              <a:rPr sz="2400" dirty="0"/>
              <a:t>- Stateless: Does not maintain connection states like TCP.</a:t>
            </a:r>
            <a:endParaRPr sz="2400" dirty="0"/>
          </a:p>
          <a:p>
            <a:endParaRPr sz="2400" dirty="0"/>
          </a:p>
          <a:p>
            <a:pPr marL="0" indent="0">
              <a:buNone/>
            </a:pPr>
            <a:r>
              <a:rPr sz="2400" i="1" u="sng" dirty="0"/>
              <a:t>Common Types:</a:t>
            </a:r>
            <a:endParaRPr sz="2400" i="1" u="sng" dirty="0"/>
          </a:p>
          <a:p>
            <a:r>
              <a:rPr sz="2400" dirty="0"/>
              <a:t>- Echo Request (Type 8) and Echo Reply (Type 0) for diagnostics.</a:t>
            </a:r>
            <a:endParaRPr sz="2400" dirty="0"/>
          </a:p>
          <a:p>
            <a:r>
              <a:rPr sz="2400" dirty="0"/>
              <a:t>- Destination Unreachable, Time Exceeded for error reporting.</a:t>
            </a:r>
            <a:endParaRPr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ICMP Packet Structure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55687"/>
            <a:ext cx="8338957" cy="381498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3238"/>
            <a:ext cx="8229600" cy="839787"/>
          </a:xfrm>
        </p:spPr>
        <p:txBody>
          <a:bodyPr/>
          <a:lstStyle/>
          <a:p>
            <a:r>
              <a:rPr dirty="0"/>
              <a:t>Comparison with TCP and UDP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 marL="0" indent="0">
              <a:buNone/>
            </a:pPr>
            <a:r>
              <a:rPr sz="2800" i="1" u="sng" dirty="0"/>
              <a:t>ICMP:</a:t>
            </a:r>
            <a:endParaRPr sz="2800" i="1" u="sng" dirty="0"/>
          </a:p>
          <a:p>
            <a:pPr lvl="1"/>
            <a:r>
              <a:rPr sz="2400" dirty="0"/>
              <a:t>Stateless, no session establishment.</a:t>
            </a:r>
            <a:endParaRPr sz="2400" dirty="0"/>
          </a:p>
          <a:p>
            <a:pPr lvl="1"/>
            <a:r>
              <a:rPr sz="2400" dirty="0"/>
              <a:t>Used for control and diagnostics.</a:t>
            </a:r>
            <a:endParaRPr sz="2400" dirty="0"/>
          </a:p>
          <a:p>
            <a:pPr marL="0" indent="0">
              <a:buNone/>
            </a:pPr>
            <a:r>
              <a:rPr sz="2800" i="1" u="sng" dirty="0"/>
              <a:t>UDP:</a:t>
            </a:r>
            <a:endParaRPr sz="2800" i="1" u="sng" dirty="0"/>
          </a:p>
          <a:p>
            <a:pPr lvl="1"/>
            <a:r>
              <a:rPr sz="2400" dirty="0"/>
              <a:t>Stateless, used for fast, connectionless communication.</a:t>
            </a:r>
            <a:endParaRPr sz="2400" dirty="0"/>
          </a:p>
          <a:p>
            <a:pPr lvl="1"/>
            <a:r>
              <a:rPr sz="2400" dirty="0"/>
              <a:t>May trigger ICMP responses (e.g., Destination Unreachable).</a:t>
            </a:r>
            <a:endParaRPr sz="2400" dirty="0"/>
          </a:p>
          <a:p>
            <a:pPr marL="0" indent="0">
              <a:buNone/>
            </a:pPr>
            <a:r>
              <a:rPr sz="2800" i="1" u="sng" dirty="0"/>
              <a:t>TCP:</a:t>
            </a:r>
            <a:endParaRPr sz="2800" i="1" u="sng" dirty="0"/>
          </a:p>
          <a:p>
            <a:pPr lvl="1"/>
            <a:r>
              <a:rPr sz="2400" dirty="0"/>
              <a:t>Stateful, connection-oriented.</a:t>
            </a:r>
            <a:endParaRPr sz="2400" dirty="0"/>
          </a:p>
          <a:p>
            <a:pPr lvl="1"/>
            <a:r>
              <a:rPr sz="2400" dirty="0"/>
              <a:t>Vulnerable to SYN Floods due to reliance on connection buffers.</a:t>
            </a:r>
            <a:endParaRPr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1931"/>
            <a:ext cx="8229600" cy="496888"/>
          </a:xfrm>
        </p:spPr>
        <p:txBody>
          <a:bodyPr>
            <a:normAutofit fontScale="90000"/>
          </a:bodyPr>
          <a:lstStyle/>
          <a:p>
            <a:r>
              <a:rPr dirty="0"/>
              <a:t>What is ICMP Flood</a:t>
            </a:r>
            <a:r>
              <a:rPr lang="fr-FR" dirty="0"/>
              <a:t> (Ping flood)</a:t>
            </a:r>
            <a:r>
              <a:rPr dirty="0"/>
              <a:t>?</a:t>
            </a:r>
            <a:endParaRPr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0" y="865982"/>
            <a:ext cx="9144000" cy="6098125"/>
          </a:xfr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60375"/>
            <a:ext cx="8229600" cy="825500"/>
          </a:xfrm>
        </p:spPr>
        <p:txBody>
          <a:bodyPr/>
          <a:lstStyle/>
          <a:p>
            <a:r>
              <a:rPr dirty="0"/>
              <a:t>What is ICMP Flood</a:t>
            </a:r>
            <a:r>
              <a:rPr lang="fr-FR" dirty="0"/>
              <a:t> (Ping flood)</a:t>
            </a:r>
            <a:r>
              <a:rPr dirty="0"/>
              <a:t>?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 fontScale="85000" lnSpcReduction="20000"/>
          </a:bodyPr>
          <a:lstStyle/>
          <a:p>
            <a:pPr marL="0" indent="0">
              <a:buNone/>
            </a:pPr>
            <a:r>
              <a:rPr i="1" u="sng" dirty="0"/>
              <a:t>Definition:</a:t>
            </a:r>
            <a:endParaRPr i="1" u="sng" dirty="0"/>
          </a:p>
          <a:p>
            <a:pPr algn="just"/>
            <a:r>
              <a:rPr dirty="0"/>
              <a:t>A Denial-of-Service (DoS) attack where the attacker sends a large number of ICMP Echo Requests to overwhelm the target.</a:t>
            </a:r>
            <a:endParaRPr dirty="0"/>
          </a:p>
          <a:p>
            <a:pPr marL="0" indent="0">
              <a:buNone/>
            </a:pPr>
            <a:r>
              <a:rPr i="1" u="sng" dirty="0"/>
              <a:t>Attack Mechanism:</a:t>
            </a:r>
            <a:endParaRPr i="1" u="sng" dirty="0"/>
          </a:p>
          <a:p>
            <a:pPr algn="just"/>
            <a:r>
              <a:rPr dirty="0"/>
              <a:t>Overloads the target with requests.</a:t>
            </a:r>
            <a:endParaRPr dirty="0"/>
          </a:p>
          <a:p>
            <a:pPr algn="just"/>
            <a:r>
              <a:rPr dirty="0"/>
              <a:t>Target responds with Echo Replies (if configured), consuming more resources.</a:t>
            </a:r>
            <a:endParaRPr dirty="0"/>
          </a:p>
          <a:p>
            <a:pPr marL="0" indent="0">
              <a:buNone/>
            </a:pPr>
            <a:r>
              <a:rPr i="1" u="sng" dirty="0"/>
              <a:t>Objective:</a:t>
            </a:r>
            <a:endParaRPr i="1" u="sng" dirty="0"/>
          </a:p>
          <a:p>
            <a:pPr algn="just"/>
            <a:r>
              <a:rPr dirty="0"/>
              <a:t>Exhaust CPU resources (processing requests).</a:t>
            </a:r>
            <a:endParaRPr dirty="0"/>
          </a:p>
          <a:p>
            <a:pPr algn="just"/>
            <a:r>
              <a:rPr dirty="0"/>
              <a:t>Saturate network bandwidth.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93987"/>
            <a:ext cx="7772400" cy="1470025"/>
          </a:xfrm>
        </p:spPr>
        <p:txBody>
          <a:bodyPr/>
          <a:lstStyle/>
          <a:p>
            <a:r>
              <a:rPr lang="fr-FR" dirty="0" err="1"/>
              <a:t>Implementation</a:t>
            </a:r>
            <a:r>
              <a:rPr lang="fr-FR" dirty="0"/>
              <a:t> </a:t>
            </a:r>
            <a:br>
              <a:rPr lang="fr-FR" dirty="0"/>
            </a:br>
            <a:r>
              <a:rPr lang="fr-FR" sz="3600" i="1" dirty="0"/>
              <a:t>(Python and </a:t>
            </a:r>
            <a:r>
              <a:rPr lang="fr-FR" sz="3600" i="1" dirty="0" err="1"/>
              <a:t>Scapy</a:t>
            </a:r>
            <a:r>
              <a:rPr lang="fr-FR" sz="3600" i="1" dirty="0"/>
              <a:t>)</a:t>
            </a:r>
            <a:endParaRPr i="1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of Flood Attacks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257174" y="1672431"/>
          <a:ext cx="8729663" cy="4132049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643064"/>
                <a:gridCol w="2319957"/>
                <a:gridCol w="4766642"/>
              </a:tblGrid>
              <a:tr h="322953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2400" b="1" i="1" u="none" strike="noStrike">
                          <a:effectLst/>
                        </a:rPr>
                        <a:t>Type</a:t>
                      </a:r>
                      <a:endParaRPr lang="fr-FR" sz="2400" b="1" i="1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2400" b="1" i="1" u="none" strike="noStrike">
                          <a:effectLst/>
                        </a:rPr>
                        <a:t>Targeted Resource</a:t>
                      </a:r>
                      <a:endParaRPr lang="fr-FR" sz="2400" b="1" i="1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2400" b="1" i="1" u="none" strike="noStrike" dirty="0" err="1">
                          <a:effectLst/>
                        </a:rPr>
                        <a:t>Mechanism</a:t>
                      </a:r>
                      <a:endParaRPr lang="fr-FR" sz="2400" b="1" i="1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</a:tr>
              <a:tr h="968858">
                <a:tc>
                  <a:txBody>
                    <a:bodyPr/>
                    <a:lstStyle/>
                    <a:p>
                      <a:pPr algn="l" fontAlgn="ctr"/>
                      <a:r>
                        <a:rPr lang="fr-FR" sz="2400" b="1" i="1" u="none" strike="noStrike" dirty="0">
                          <a:effectLst/>
                        </a:rPr>
                        <a:t>  SYN Flood</a:t>
                      </a:r>
                      <a:endParaRPr lang="fr-FR" sz="2400" b="1" i="1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2400" u="none" strike="noStrike" dirty="0">
                          <a:effectLst/>
                        </a:rPr>
                        <a:t>  TCP Buffer</a:t>
                      </a:r>
                      <a:endParaRPr lang="fr-FR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2400" u="none" strike="noStrike" dirty="0">
                          <a:effectLst/>
                        </a:rPr>
                        <a:t>  Half-open connections fill TCP backlog.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</a:tr>
              <a:tr h="1291811">
                <a:tc>
                  <a:txBody>
                    <a:bodyPr/>
                    <a:lstStyle/>
                    <a:p>
                      <a:pPr algn="l" fontAlgn="ctr"/>
                      <a:r>
                        <a:rPr lang="fr-FR" sz="2400" b="1" i="1" u="none" strike="noStrike" dirty="0">
                          <a:effectLst/>
                        </a:rPr>
                        <a:t>  UDP Flood</a:t>
                      </a:r>
                      <a:endParaRPr lang="fr-FR" sz="2400" b="1" i="1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2400" u="none" strike="noStrike" dirty="0">
                          <a:effectLst/>
                        </a:rPr>
                        <a:t>  CPU, </a:t>
                      </a:r>
                      <a:r>
                        <a:rPr lang="fr-FR" sz="2400" u="none" strike="noStrike" dirty="0" err="1">
                          <a:effectLst/>
                        </a:rPr>
                        <a:t>Bandwidth</a:t>
                      </a:r>
                      <a:endParaRPr lang="fr-FR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2400" u="none" strike="noStrike" dirty="0">
                          <a:effectLst/>
                        </a:rPr>
                        <a:t>  </a:t>
                      </a:r>
                      <a:r>
                        <a:rPr lang="fr-FR" sz="2400" u="none" strike="noStrike" dirty="0" err="1">
                          <a:effectLst/>
                        </a:rPr>
                        <a:t>Sends</a:t>
                      </a:r>
                      <a:r>
                        <a:rPr lang="fr-FR" sz="2400" u="none" strike="noStrike" dirty="0">
                          <a:effectLst/>
                        </a:rPr>
                        <a:t> massive UDP </a:t>
                      </a:r>
                      <a:r>
                        <a:rPr lang="fr-FR" sz="2400" u="none" strike="noStrike" dirty="0" err="1">
                          <a:effectLst/>
                        </a:rPr>
                        <a:t>packets</a:t>
                      </a:r>
                      <a:r>
                        <a:rPr lang="fr-FR" sz="2400" u="none" strike="noStrike" dirty="0">
                          <a:effectLst/>
                        </a:rPr>
                        <a:t> to </a:t>
                      </a:r>
                      <a:r>
                        <a:rPr lang="fr-FR" sz="2400" u="none" strike="noStrike" dirty="0" err="1">
                          <a:effectLst/>
                        </a:rPr>
                        <a:t>overwhelm</a:t>
                      </a:r>
                      <a:r>
                        <a:rPr lang="fr-FR" sz="2400" u="none" strike="noStrike" dirty="0">
                          <a:effectLst/>
                        </a:rPr>
                        <a:t> system.</a:t>
                      </a:r>
                      <a:endParaRPr lang="fr-FR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</a:tr>
              <a:tr h="1130335">
                <a:tc>
                  <a:txBody>
                    <a:bodyPr/>
                    <a:lstStyle/>
                    <a:p>
                      <a:pPr algn="l" fontAlgn="ctr"/>
                      <a:r>
                        <a:rPr lang="fr-FR" sz="2400" b="1" i="1" u="none" strike="noStrike" dirty="0">
                          <a:effectLst/>
                        </a:rPr>
                        <a:t>  ICMP Flood</a:t>
                      </a:r>
                      <a:endParaRPr lang="fr-FR" sz="2400" b="1" i="1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fr-FR" sz="2400" u="none" strike="noStrike" dirty="0">
                          <a:effectLst/>
                        </a:rPr>
                        <a:t>  CPU, </a:t>
                      </a:r>
                      <a:r>
                        <a:rPr lang="fr-FR" sz="2400" u="none" strike="noStrike" dirty="0" err="1">
                          <a:effectLst/>
                        </a:rPr>
                        <a:t>Bandwidth</a:t>
                      </a:r>
                      <a:endParaRPr lang="fr-FR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2400" u="none" strike="noStrike" dirty="0">
                          <a:effectLst/>
                        </a:rPr>
                        <a:t>  Overloads target with ICMP Echo Requests.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Question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just">
              <a:buNone/>
            </a:pPr>
            <a:r>
              <a:rPr lang="en-US" dirty="0"/>
              <a:t>During an ICMP Flood attack, even if the server is overwhelmed by ICMP packets, what is the impact on other services? For example, if I try to connect to the server using HTTP over TCP, will it still work?</a:t>
            </a:r>
            <a:endParaRPr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Countermeasures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>
            <a:normAutofit fontScale="85000" lnSpcReduction="20000"/>
          </a:bodyPr>
          <a:lstStyle/>
          <a:p>
            <a:pPr marL="0" indent="0">
              <a:buNone/>
            </a:pPr>
            <a:r>
              <a:rPr i="1" u="sng" dirty="0"/>
              <a:t>Immediate Actions:</a:t>
            </a:r>
            <a:endParaRPr i="1" u="sng" dirty="0"/>
          </a:p>
          <a:p>
            <a:r>
              <a:rPr dirty="0"/>
              <a:t>Rate-limit ICMP traffic.</a:t>
            </a:r>
            <a:endParaRPr dirty="0"/>
          </a:p>
          <a:p>
            <a:r>
              <a:rPr dirty="0"/>
              <a:t>Block unnecessary ICMP packets using firewalls.</a:t>
            </a:r>
            <a:endParaRPr dirty="0"/>
          </a:p>
          <a:p>
            <a:pPr marL="0" indent="0">
              <a:buNone/>
            </a:pPr>
            <a:r>
              <a:rPr i="1" u="sng" dirty="0"/>
              <a:t>Preventive Strategies:</a:t>
            </a:r>
            <a:endParaRPr i="1" u="sng" dirty="0"/>
          </a:p>
          <a:p>
            <a:r>
              <a:rPr dirty="0"/>
              <a:t>Configure network devices to ignore Echo Requests from suspicious sources.</a:t>
            </a:r>
            <a:endParaRPr dirty="0"/>
          </a:p>
          <a:p>
            <a:r>
              <a:rPr dirty="0"/>
              <a:t>Implement anti-DDoS solutions.</a:t>
            </a:r>
            <a:endParaRPr dirty="0"/>
          </a:p>
          <a:p>
            <a:pPr marL="0" indent="0">
              <a:buNone/>
            </a:pPr>
            <a:r>
              <a:rPr i="1" u="sng" dirty="0"/>
              <a:t>Advanced Techniques:</a:t>
            </a:r>
            <a:endParaRPr i="1" u="sng" dirty="0"/>
          </a:p>
          <a:p>
            <a:r>
              <a:rPr dirty="0"/>
              <a:t>Monitor traffic patterns for anomalies.</a:t>
            </a:r>
            <a:endParaRPr dirty="0"/>
          </a:p>
          <a:p>
            <a:r>
              <a:rPr dirty="0"/>
              <a:t>Use Access Control Lists (ACLs) with strict filtering rules.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93987"/>
            <a:ext cx="7772400" cy="1470025"/>
          </a:xfrm>
        </p:spPr>
        <p:txBody>
          <a:bodyPr/>
          <a:lstStyle/>
          <a:p>
            <a:r>
              <a:rPr lang="en-US" dirty="0"/>
              <a:t>the concept of </a:t>
            </a:r>
            <a:br>
              <a:rPr lang="en-US" dirty="0"/>
            </a:br>
            <a:r>
              <a:rPr lang="en-US" dirty="0"/>
              <a:t>"Synonymous IP Attack“ ?</a:t>
            </a:r>
            <a:endParaRPr i="1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 err="1"/>
              <a:t>Synonymous</a:t>
            </a:r>
            <a:r>
              <a:rPr lang="fr-FR" dirty="0"/>
              <a:t> IP Attack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just">
              <a:buNone/>
            </a:pPr>
            <a:r>
              <a:rPr lang="en-US" dirty="0"/>
              <a:t>The Synonymous IP Attack involves sending a large number of spoofed packets (SYN, UDP, ICMP, etc.) to a victim server using the victim’s own IP address or the same source/destination address for all packets.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7358</Words>
  <Application>WPS Presentation</Application>
  <PresentationFormat>On-screen Show (4:3)</PresentationFormat>
  <Paragraphs>312</Paragraphs>
  <Slides>38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9" baseType="lpstr">
      <vt:lpstr>Arial</vt:lpstr>
      <vt:lpstr>SimSun</vt:lpstr>
      <vt:lpstr>Wingdings</vt:lpstr>
      <vt:lpstr>Arial</vt:lpstr>
      <vt:lpstr>OpenSymbol</vt:lpstr>
      <vt:lpstr>Calibri</vt:lpstr>
      <vt:lpstr>Trebuchet MS</vt:lpstr>
      <vt:lpstr>Microsoft YaHei</vt:lpstr>
      <vt:lpstr>Droid Sans Fallback</vt:lpstr>
      <vt:lpstr>Arial Unicode MS</vt:lpstr>
      <vt:lpstr>Office Theme</vt:lpstr>
      <vt:lpstr>Man-in-the-Middle Attack (MITM)</vt:lpstr>
      <vt:lpstr>Introduction</vt:lpstr>
      <vt:lpstr>How Does MITM Work?</vt:lpstr>
      <vt:lpstr>Techniques Used in MITM</vt:lpstr>
      <vt:lpstr>Impacts of MITM</vt:lpstr>
      <vt:lpstr>Implementation</vt:lpstr>
      <vt:lpstr>TCP Session Hijacking</vt:lpstr>
      <vt:lpstr>Introduction</vt:lpstr>
      <vt:lpstr>How Does TCP Session Hijacking Work?</vt:lpstr>
      <vt:lpstr>Techniques Used in TCP Session Hijacking</vt:lpstr>
      <vt:lpstr>Impacts of TCP Session Hijacking</vt:lpstr>
      <vt:lpstr>Reminder: Man in the Middle (ARP Poisoning) TCP Session Hijacking !</vt:lpstr>
      <vt:lpstr>TCP/IP Model</vt:lpstr>
      <vt:lpstr>Advanced Insights into UDP Protocol</vt:lpstr>
      <vt:lpstr>Introduction to UDP (User Datagram Protocol)</vt:lpstr>
      <vt:lpstr>TCP vs UDP ?</vt:lpstr>
      <vt:lpstr>TCP Header vs UDP Header</vt:lpstr>
      <vt:lpstr>Checksum</vt:lpstr>
      <vt:lpstr>Example of UDP Workflow</vt:lpstr>
      <vt:lpstr>Example of UDP Workflow</vt:lpstr>
      <vt:lpstr>Transport Layer Protocols</vt:lpstr>
      <vt:lpstr>Transport Layer Protocols Use Cases</vt:lpstr>
      <vt:lpstr>UDP flood?</vt:lpstr>
      <vt:lpstr>How does a UDP flood attack work?</vt:lpstr>
      <vt:lpstr>What Makes UDP Floods Effective?</vt:lpstr>
      <vt:lpstr>Key Components Targeted in a UDP Flood ?</vt:lpstr>
      <vt:lpstr>ICMP Flood Attacks: Deep Technical Analysis</vt:lpstr>
      <vt:lpstr>What is ICMP?</vt:lpstr>
      <vt:lpstr>ICMP Packet Structure</vt:lpstr>
      <vt:lpstr>Comparison with TCP and UDP</vt:lpstr>
      <vt:lpstr>What is ICMP Flood (Ping flood)?</vt:lpstr>
      <vt:lpstr>What is ICMP Flood (Ping flood)?</vt:lpstr>
      <vt:lpstr>Implementation  (Python and Scapy)</vt:lpstr>
      <vt:lpstr>Comparison of Flood Attacks</vt:lpstr>
      <vt:lpstr>Question</vt:lpstr>
      <vt:lpstr>Countermeasures</vt:lpstr>
      <vt:lpstr>the concept of  "Synonymous IP Attack“ ?</vt:lpstr>
      <vt:lpstr>Synonymous IP Attack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Insights into UDP Flood Attacks</dc:title>
  <dc:creator/>
  <dc:description>generated using python-pptx</dc:description>
  <cp:lastModifiedBy>shito</cp:lastModifiedBy>
  <cp:revision>37</cp:revision>
  <dcterms:created xsi:type="dcterms:W3CDTF">2025-01-13T11:05:59Z</dcterms:created>
  <dcterms:modified xsi:type="dcterms:W3CDTF">2025-01-13T11:05:59Z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