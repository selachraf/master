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7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68.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Layouts/slideLayout7.xml" ContentType="application/vnd.openxmlformats-officedocument.presentationml.slideLayout+xml"/>
  <Default Extension="bin" ContentType="application/vnd.openxmlformats-officedocument.oleObject"/>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Default Extension="jpeg" ContentType="image/jpeg"/>
  <Override PartName="/ppt/slideLayouts/slideLayout3.xml" ContentType="application/vnd.openxmlformats-officedocument.presentationml.slideLayout+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Default Extension="vml" ContentType="application/vnd.openxmlformats-officedocument.vmlDrawing"/>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Layouts/slideLayout8.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6">
  <p:sldMasterIdLst>
    <p:sldMasterId id="2147483660" r:id="rId1"/>
  </p:sldMasterIdLst>
  <p:notesMasterIdLst>
    <p:notesMasterId r:id="rId74"/>
  </p:notesMasterIdLst>
  <p:sldIdLst>
    <p:sldId id="256" r:id="rId2"/>
    <p:sldId id="257" r:id="rId3"/>
    <p:sldId id="258" r:id="rId4"/>
    <p:sldId id="259" r:id="rId5"/>
    <p:sldId id="260" r:id="rId6"/>
    <p:sldId id="261" r:id="rId7"/>
    <p:sldId id="268" r:id="rId8"/>
    <p:sldId id="262" r:id="rId9"/>
    <p:sldId id="263" r:id="rId10"/>
    <p:sldId id="264" r:id="rId11"/>
    <p:sldId id="265" r:id="rId12"/>
    <p:sldId id="266" r:id="rId13"/>
    <p:sldId id="267" r:id="rId14"/>
    <p:sldId id="269" r:id="rId15"/>
    <p:sldId id="270" r:id="rId16"/>
    <p:sldId id="271" r:id="rId17"/>
    <p:sldId id="272" r:id="rId18"/>
    <p:sldId id="273" r:id="rId19"/>
    <p:sldId id="274" r:id="rId20"/>
    <p:sldId id="275"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329" r:id="rId36"/>
    <p:sldId id="292" r:id="rId37"/>
    <p:sldId id="294" r:id="rId38"/>
    <p:sldId id="293" r:id="rId39"/>
    <p:sldId id="295" r:id="rId40"/>
    <p:sldId id="296" r:id="rId41"/>
    <p:sldId id="297" r:id="rId42"/>
    <p:sldId id="298" r:id="rId43"/>
    <p:sldId id="299" r:id="rId44"/>
    <p:sldId id="300" r:id="rId45"/>
    <p:sldId id="301" r:id="rId46"/>
    <p:sldId id="302" r:id="rId47"/>
    <p:sldId id="303" r:id="rId48"/>
    <p:sldId id="304" r:id="rId49"/>
    <p:sldId id="305" r:id="rId50"/>
    <p:sldId id="315" r:id="rId51"/>
    <p:sldId id="316" r:id="rId52"/>
    <p:sldId id="317" r:id="rId53"/>
    <p:sldId id="306" r:id="rId54"/>
    <p:sldId id="307" r:id="rId55"/>
    <p:sldId id="308" r:id="rId56"/>
    <p:sldId id="309" r:id="rId57"/>
    <p:sldId id="310" r:id="rId58"/>
    <p:sldId id="311" r:id="rId59"/>
    <p:sldId id="312" r:id="rId60"/>
    <p:sldId id="318" r:id="rId61"/>
    <p:sldId id="319" r:id="rId62"/>
    <p:sldId id="320" r:id="rId63"/>
    <p:sldId id="314" r:id="rId64"/>
    <p:sldId id="321" r:id="rId65"/>
    <p:sldId id="322" r:id="rId66"/>
    <p:sldId id="323" r:id="rId67"/>
    <p:sldId id="324" r:id="rId68"/>
    <p:sldId id="325" r:id="rId69"/>
    <p:sldId id="328" r:id="rId70"/>
    <p:sldId id="327" r:id="rId71"/>
    <p:sldId id="326" r:id="rId72"/>
    <p:sldId id="313" r:id="rId73"/>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p:scale>
          <a:sx n="92" d="100"/>
          <a:sy n="92" d="100"/>
        </p:scale>
        <p:origin x="-1186" y="101"/>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6379CAC-9E9B-47AE-B06C-3BF2DE0952A6}" type="datetimeFigureOut">
              <a:rPr lang="fr-FR" smtClean="0"/>
              <a:pPr/>
              <a:t>30/11/2024</a:t>
            </a:fld>
            <a:endParaRPr lang="fr-FR"/>
          </a:p>
        </p:txBody>
      </p:sp>
      <p:sp>
        <p:nvSpPr>
          <p:cNvPr id="4" name="Espace réservé de l'image des diapositives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F882A0-04B7-43BA-81C1-DCA9AB81A39E}" type="slidenum">
              <a:rPr lang="fr-FR" smtClean="0"/>
              <a:pPr/>
              <a:t>‹N°›</a:t>
            </a:fld>
            <a:endParaRPr lang="fr-F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bg>
      <p:bgRef idx="1001">
        <a:schemeClr val="bg1"/>
      </p:bgRef>
    </p:bg>
    <p:spTree>
      <p:nvGrpSpPr>
        <p:cNvPr id="1" name=""/>
        <p:cNvGrpSpPr/>
        <p:nvPr/>
      </p:nvGrpSpPr>
      <p:grpSpPr>
        <a:xfrm>
          <a:off x="0" y="0"/>
          <a:ext cx="0" cy="0"/>
          <a:chOff x="0" y="0"/>
          <a:chExt cx="0" cy="0"/>
        </a:xfrm>
      </p:grpSpPr>
      <p:sp>
        <p:nvSpPr>
          <p:cNvPr id="8" name="Titre 7"/>
          <p:cNvSpPr>
            <a:spLocks noGrp="1"/>
          </p:cNvSpPr>
          <p:nvPr>
            <p:ph type="ctrTitle"/>
          </p:nvPr>
        </p:nvSpPr>
        <p:spPr>
          <a:xfrm>
            <a:off x="2286000" y="3124200"/>
            <a:ext cx="6172200" cy="1894362"/>
          </a:xfrm>
        </p:spPr>
        <p:txBody>
          <a:bodyPr/>
          <a:lstStyle>
            <a:lvl1pPr>
              <a:defRPr b="1"/>
            </a:lvl1pPr>
          </a:lstStyle>
          <a:p>
            <a:r>
              <a:rPr kumimoji="0" lang="fr-FR" smtClean="0"/>
              <a:t>Cliquez pour modifier le style du titre</a:t>
            </a:r>
            <a:endParaRPr kumimoji="0" lang="en-US"/>
          </a:p>
        </p:txBody>
      </p:sp>
      <p:sp>
        <p:nvSpPr>
          <p:cNvPr id="9" name="Sous-titr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fr-FR" smtClean="0"/>
              <a:t>Cliquez pour modifier le style des sous-titres du masque</a:t>
            </a:r>
            <a:endParaRPr kumimoji="0" lang="en-US"/>
          </a:p>
        </p:txBody>
      </p:sp>
      <p:sp>
        <p:nvSpPr>
          <p:cNvPr id="28" name="Espace réservé de la date 27"/>
          <p:cNvSpPr>
            <a:spLocks noGrp="1"/>
          </p:cNvSpPr>
          <p:nvPr>
            <p:ph type="dt" sz="half" idx="10"/>
          </p:nvPr>
        </p:nvSpPr>
        <p:spPr bwMode="auto">
          <a:xfrm rot="5400000">
            <a:off x="7764621" y="1174097"/>
            <a:ext cx="2286000" cy="381000"/>
          </a:xfrm>
        </p:spPr>
        <p:txBody>
          <a:bodyPr/>
          <a:lstStyle/>
          <a:p>
            <a:fld id="{0F7A056F-9690-4EC8-B4D7-F2F938691EAB}" type="datetime1">
              <a:rPr lang="fr-FR" smtClean="0"/>
              <a:pPr/>
              <a:t>30/11/2024</a:t>
            </a:fld>
            <a:endParaRPr lang="fr-FR"/>
          </a:p>
        </p:txBody>
      </p:sp>
      <p:sp>
        <p:nvSpPr>
          <p:cNvPr id="17" name="Espace réservé du pied de page 16"/>
          <p:cNvSpPr>
            <a:spLocks noGrp="1"/>
          </p:cNvSpPr>
          <p:nvPr>
            <p:ph type="ftr" sz="quarter" idx="11"/>
          </p:nvPr>
        </p:nvSpPr>
        <p:spPr bwMode="auto">
          <a:xfrm rot="5400000">
            <a:off x="7077269" y="4181669"/>
            <a:ext cx="3657600" cy="384048"/>
          </a:xfrm>
        </p:spPr>
        <p:txBody>
          <a:bodyPr/>
          <a:lstStyle/>
          <a:p>
            <a:r>
              <a:rPr lang="fr-FR" smtClean="0"/>
              <a:t>Rédaction Scientifique                                       Pr.H.F.Merouani</a:t>
            </a:r>
            <a:endParaRPr lang="fr-FR"/>
          </a:p>
        </p:txBody>
      </p:sp>
      <p:sp>
        <p:nvSpPr>
          <p:cNvPr id="10" name="Rectangle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Rectangle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Connecteur droit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Connecteur droit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Connecteur droit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Connecteur droit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Connecteur droit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Connecteur droit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Rectangle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Ellipse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Ellipse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Ellipse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Ellipse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Ellipse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Espace réservé du numéro de diapositive 28"/>
          <p:cNvSpPr>
            <a:spLocks noGrp="1"/>
          </p:cNvSpPr>
          <p:nvPr>
            <p:ph type="sldNum" sz="quarter" idx="12"/>
          </p:nvPr>
        </p:nvSpPr>
        <p:spPr bwMode="auto">
          <a:xfrm>
            <a:off x="1325544" y="4928702"/>
            <a:ext cx="609600" cy="517524"/>
          </a:xfrm>
        </p:spPr>
        <p:txBody>
          <a:bodyPr/>
          <a:lstStyle/>
          <a:p>
            <a:fld id="{1D258001-9BDA-447A-ADAB-646DC4D258D2}" type="slidenum">
              <a:rPr lang="fr-FR" smtClean="0"/>
              <a:pPr/>
              <a:t>‹N°›</a:t>
            </a:fld>
            <a:endParaRPr lang="fr-F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8" name="Espace réservé du contenu 7"/>
          <p:cNvSpPr>
            <a:spLocks noGrp="1"/>
          </p:cNvSpPr>
          <p:nvPr>
            <p:ph sz="quarter" idx="1"/>
          </p:nvPr>
        </p:nvSpPr>
        <p:spPr>
          <a:xfrm>
            <a:off x="457200" y="1600200"/>
            <a:ext cx="7467600" cy="4873752"/>
          </a:xfrm>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7" name="Espace réservé de la date 6"/>
          <p:cNvSpPr>
            <a:spLocks noGrp="1"/>
          </p:cNvSpPr>
          <p:nvPr>
            <p:ph type="dt" sz="half" idx="14"/>
          </p:nvPr>
        </p:nvSpPr>
        <p:spPr/>
        <p:txBody>
          <a:bodyPr rtlCol="0"/>
          <a:lstStyle/>
          <a:p>
            <a:fld id="{A9914A1E-9303-4EE9-A993-9E5E36234B76}" type="datetime1">
              <a:rPr lang="fr-FR" smtClean="0"/>
              <a:pPr/>
              <a:t>30/11/2024</a:t>
            </a:fld>
            <a:endParaRPr lang="fr-FR"/>
          </a:p>
        </p:txBody>
      </p:sp>
      <p:sp>
        <p:nvSpPr>
          <p:cNvPr id="9" name="Espace réservé du numéro de diapositive 8"/>
          <p:cNvSpPr>
            <a:spLocks noGrp="1"/>
          </p:cNvSpPr>
          <p:nvPr>
            <p:ph type="sldNum" sz="quarter" idx="15"/>
          </p:nvPr>
        </p:nvSpPr>
        <p:spPr/>
        <p:txBody>
          <a:bodyPr rtlCol="0"/>
          <a:lstStyle/>
          <a:p>
            <a:fld id="{1D258001-9BDA-447A-ADAB-646DC4D258D2}" type="slidenum">
              <a:rPr lang="fr-FR" smtClean="0"/>
              <a:pPr/>
              <a:t>‹N°›</a:t>
            </a:fld>
            <a:endParaRPr lang="fr-FR"/>
          </a:p>
        </p:txBody>
      </p:sp>
      <p:sp>
        <p:nvSpPr>
          <p:cNvPr id="10" name="Espace réservé du pied de page 9"/>
          <p:cNvSpPr>
            <a:spLocks noGrp="1"/>
          </p:cNvSpPr>
          <p:nvPr>
            <p:ph type="ftr" sz="quarter" idx="16"/>
          </p:nvPr>
        </p:nvSpPr>
        <p:spPr/>
        <p:txBody>
          <a:bodyPr rtlCol="0"/>
          <a:lstStyle/>
          <a:p>
            <a:r>
              <a:rPr lang="fr-FR" smtClean="0"/>
              <a:t>Rédaction Scientifique                                       Pr.H.F.Merouani</a:t>
            </a:r>
            <a:endParaRPr 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bg>
      <p:bgRef idx="1001">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a:xfrm>
            <a:off x="2286000" y="2895600"/>
            <a:ext cx="6172200" cy="2053590"/>
          </a:xfrm>
        </p:spPr>
        <p:txBody>
          <a:bodyPr/>
          <a:lstStyle>
            <a:lvl1pPr algn="l">
              <a:buNone/>
              <a:defRPr sz="3000" b="1" cap="small" baseline="0"/>
            </a:lvl1pPr>
          </a:lstStyle>
          <a:p>
            <a:r>
              <a:rPr kumimoji="0" lang="fr-FR" smtClean="0"/>
              <a:t>Cliquez pour modifier le style du titre</a:t>
            </a:r>
            <a:endParaRPr kumimoji="0" lang="en-US"/>
          </a:p>
        </p:txBody>
      </p:sp>
      <p:sp>
        <p:nvSpPr>
          <p:cNvPr id="3" name="Espace réservé du texte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fr-FR" smtClean="0"/>
              <a:t>Cliquez pour modifier les styles du texte du masque</a:t>
            </a:r>
          </a:p>
        </p:txBody>
      </p:sp>
      <p:sp>
        <p:nvSpPr>
          <p:cNvPr id="4" name="Espace réservé de la date 3"/>
          <p:cNvSpPr>
            <a:spLocks noGrp="1"/>
          </p:cNvSpPr>
          <p:nvPr>
            <p:ph type="dt" sz="half" idx="10"/>
          </p:nvPr>
        </p:nvSpPr>
        <p:spPr bwMode="auto">
          <a:xfrm rot="5400000">
            <a:off x="7763256" y="1170432"/>
            <a:ext cx="2286000" cy="381000"/>
          </a:xfrm>
        </p:spPr>
        <p:txBody>
          <a:bodyPr/>
          <a:lstStyle/>
          <a:p>
            <a:fld id="{71979DA2-902B-43AB-89B2-30DB576DF4B2}" type="datetime1">
              <a:rPr lang="fr-FR" smtClean="0"/>
              <a:pPr/>
              <a:t>30/11/2024</a:t>
            </a:fld>
            <a:endParaRPr lang="fr-FR"/>
          </a:p>
        </p:txBody>
      </p:sp>
      <p:sp>
        <p:nvSpPr>
          <p:cNvPr id="5" name="Espace réservé du pied de page 4"/>
          <p:cNvSpPr>
            <a:spLocks noGrp="1"/>
          </p:cNvSpPr>
          <p:nvPr>
            <p:ph type="ftr" sz="quarter" idx="11"/>
          </p:nvPr>
        </p:nvSpPr>
        <p:spPr bwMode="auto">
          <a:xfrm rot="5400000">
            <a:off x="7077456" y="4178808"/>
            <a:ext cx="3657600" cy="384048"/>
          </a:xfrm>
        </p:spPr>
        <p:txBody>
          <a:bodyPr/>
          <a:lstStyle/>
          <a:p>
            <a:r>
              <a:rPr lang="fr-FR" smtClean="0"/>
              <a:t>Rédaction Scientifique                                       Pr.H.F.Merouani</a:t>
            </a:r>
            <a:endParaRPr lang="fr-FR"/>
          </a:p>
        </p:txBody>
      </p:sp>
      <p:sp>
        <p:nvSpPr>
          <p:cNvPr id="9" name="Rectangle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Connecteur droit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Connecteur droit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Connecteur droit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Connecteur droit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Connecteur droit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Rectangle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Ellipse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Ellipse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Ellipse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Ellipse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Ellipse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Connecteur droit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Espace réservé du numéro de diapositive 5"/>
          <p:cNvSpPr>
            <a:spLocks noGrp="1"/>
          </p:cNvSpPr>
          <p:nvPr>
            <p:ph type="sldNum" sz="quarter" idx="12"/>
          </p:nvPr>
        </p:nvSpPr>
        <p:spPr bwMode="auto">
          <a:xfrm>
            <a:off x="1340616" y="4928702"/>
            <a:ext cx="609600" cy="517524"/>
          </a:xfrm>
        </p:spPr>
        <p:txBody>
          <a:bodyPr/>
          <a:lstStyle/>
          <a:p>
            <a:fld id="{1D258001-9BDA-447A-ADAB-646DC4D258D2}" type="slidenum">
              <a:rPr lang="fr-FR" smtClean="0"/>
              <a:pPr/>
              <a:t>‹N°›</a:t>
            </a:fld>
            <a:endParaRPr lang="fr-FR"/>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5" name="Espace réservé de la date 4"/>
          <p:cNvSpPr>
            <a:spLocks noGrp="1"/>
          </p:cNvSpPr>
          <p:nvPr>
            <p:ph type="dt" sz="half" idx="10"/>
          </p:nvPr>
        </p:nvSpPr>
        <p:spPr/>
        <p:txBody>
          <a:bodyPr/>
          <a:lstStyle/>
          <a:p>
            <a:fld id="{1C1B79D5-0445-4446-9D8A-ADFACD963704}" type="datetime1">
              <a:rPr lang="fr-FR" smtClean="0"/>
              <a:pPr/>
              <a:t>30/11/2024</a:t>
            </a:fld>
            <a:endParaRPr lang="fr-FR"/>
          </a:p>
        </p:txBody>
      </p:sp>
      <p:sp>
        <p:nvSpPr>
          <p:cNvPr id="6" name="Espace réservé du pied de page 5"/>
          <p:cNvSpPr>
            <a:spLocks noGrp="1"/>
          </p:cNvSpPr>
          <p:nvPr>
            <p:ph type="ftr" sz="quarter" idx="11"/>
          </p:nvPr>
        </p:nvSpPr>
        <p:spPr/>
        <p:txBody>
          <a:bodyPr/>
          <a:lstStyle/>
          <a:p>
            <a:r>
              <a:rPr lang="fr-FR" smtClean="0"/>
              <a:t>Rédaction Scientifique                                       Pr.H.F.Merouani</a:t>
            </a:r>
            <a:endParaRPr lang="fr-FR"/>
          </a:p>
        </p:txBody>
      </p:sp>
      <p:sp>
        <p:nvSpPr>
          <p:cNvPr id="7" name="Espace réservé du numéro de diapositive 6"/>
          <p:cNvSpPr>
            <a:spLocks noGrp="1"/>
          </p:cNvSpPr>
          <p:nvPr>
            <p:ph type="sldNum" sz="quarter" idx="12"/>
          </p:nvPr>
        </p:nvSpPr>
        <p:spPr/>
        <p:txBody>
          <a:bodyPr/>
          <a:lstStyle/>
          <a:p>
            <a:fld id="{1D258001-9BDA-447A-ADAB-646DC4D258D2}" type="slidenum">
              <a:rPr lang="fr-FR" smtClean="0"/>
              <a:pPr/>
              <a:t>‹N°›</a:t>
            </a:fld>
            <a:endParaRPr lang="fr-FR"/>
          </a:p>
        </p:txBody>
      </p:sp>
      <p:sp>
        <p:nvSpPr>
          <p:cNvPr id="9" name="Espace réservé du contenu 8"/>
          <p:cNvSpPr>
            <a:spLocks noGrp="1"/>
          </p:cNvSpPr>
          <p:nvPr>
            <p:ph sz="quarter" idx="1"/>
          </p:nvPr>
        </p:nvSpPr>
        <p:spPr>
          <a:xfrm>
            <a:off x="457200" y="1600200"/>
            <a:ext cx="3657600" cy="4572000"/>
          </a:xfrm>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11" name="Espace réservé du contenu 10"/>
          <p:cNvSpPr>
            <a:spLocks noGrp="1"/>
          </p:cNvSpPr>
          <p:nvPr>
            <p:ph sz="quarter" idx="2"/>
          </p:nvPr>
        </p:nvSpPr>
        <p:spPr>
          <a:xfrm>
            <a:off x="4270248" y="1600200"/>
            <a:ext cx="3657600" cy="4572000"/>
          </a:xfrm>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7543800" cy="1143000"/>
          </a:xfrm>
        </p:spPr>
        <p:txBody>
          <a:bodyPr anchor="b"/>
          <a:lstStyle>
            <a:lvl1pPr>
              <a:defRPr/>
            </a:lvl1pPr>
          </a:lstStyle>
          <a:p>
            <a:r>
              <a:rPr kumimoji="0" lang="fr-FR" smtClean="0"/>
              <a:t>Cliquez pour modifier le style du titre</a:t>
            </a:r>
            <a:endParaRPr kumimoji="0" lang="en-US"/>
          </a:p>
        </p:txBody>
      </p:sp>
      <p:sp>
        <p:nvSpPr>
          <p:cNvPr id="7" name="Espace réservé de la date 6"/>
          <p:cNvSpPr>
            <a:spLocks noGrp="1"/>
          </p:cNvSpPr>
          <p:nvPr>
            <p:ph type="dt" sz="half" idx="10"/>
          </p:nvPr>
        </p:nvSpPr>
        <p:spPr/>
        <p:txBody>
          <a:bodyPr/>
          <a:lstStyle/>
          <a:p>
            <a:fld id="{DA15D854-84BE-41E3-AA32-ED5761193A70}" type="datetime1">
              <a:rPr lang="fr-FR" smtClean="0"/>
              <a:pPr/>
              <a:t>30/11/2024</a:t>
            </a:fld>
            <a:endParaRPr lang="fr-FR"/>
          </a:p>
        </p:txBody>
      </p:sp>
      <p:sp>
        <p:nvSpPr>
          <p:cNvPr id="8" name="Espace réservé du pied de page 7"/>
          <p:cNvSpPr>
            <a:spLocks noGrp="1"/>
          </p:cNvSpPr>
          <p:nvPr>
            <p:ph type="ftr" sz="quarter" idx="11"/>
          </p:nvPr>
        </p:nvSpPr>
        <p:spPr/>
        <p:txBody>
          <a:bodyPr/>
          <a:lstStyle/>
          <a:p>
            <a:r>
              <a:rPr lang="fr-FR" smtClean="0"/>
              <a:t>Rédaction Scientifique                                       Pr.H.F.Merouani</a:t>
            </a:r>
            <a:endParaRPr lang="fr-FR"/>
          </a:p>
        </p:txBody>
      </p:sp>
      <p:sp>
        <p:nvSpPr>
          <p:cNvPr id="9" name="Espace réservé du numéro de diapositive 8"/>
          <p:cNvSpPr>
            <a:spLocks noGrp="1"/>
          </p:cNvSpPr>
          <p:nvPr>
            <p:ph type="sldNum" sz="quarter" idx="12"/>
          </p:nvPr>
        </p:nvSpPr>
        <p:spPr/>
        <p:txBody>
          <a:bodyPr/>
          <a:lstStyle/>
          <a:p>
            <a:fld id="{1D258001-9BDA-447A-ADAB-646DC4D258D2}" type="slidenum">
              <a:rPr lang="fr-FR" smtClean="0"/>
              <a:pPr/>
              <a:t>‹N°›</a:t>
            </a:fld>
            <a:endParaRPr lang="fr-FR"/>
          </a:p>
        </p:txBody>
      </p:sp>
      <p:sp>
        <p:nvSpPr>
          <p:cNvPr id="11" name="Espace réservé du contenu 10"/>
          <p:cNvSpPr>
            <a:spLocks noGrp="1"/>
          </p:cNvSpPr>
          <p:nvPr>
            <p:ph sz="quarter" idx="2"/>
          </p:nvPr>
        </p:nvSpPr>
        <p:spPr>
          <a:xfrm>
            <a:off x="457200" y="2362200"/>
            <a:ext cx="3657600" cy="3886200"/>
          </a:xfrm>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13" name="Espace réservé du contenu 12"/>
          <p:cNvSpPr>
            <a:spLocks noGrp="1"/>
          </p:cNvSpPr>
          <p:nvPr>
            <p:ph sz="quarter" idx="4"/>
          </p:nvPr>
        </p:nvSpPr>
        <p:spPr>
          <a:xfrm>
            <a:off x="4371975" y="2362200"/>
            <a:ext cx="3657600" cy="3886200"/>
          </a:xfrm>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12" name="Espace réservé du texte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fr-FR" smtClean="0"/>
              <a:t>Cliquez pour modifier les styles du texte du masque</a:t>
            </a:r>
          </a:p>
        </p:txBody>
      </p:sp>
      <p:sp>
        <p:nvSpPr>
          <p:cNvPr id="14" name="Espace réservé du texte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fr-FR" smtClean="0"/>
              <a:t>Cliquez pour modifier les styles du texte du masque</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6" name="Espace réservé de la date 5"/>
          <p:cNvSpPr>
            <a:spLocks noGrp="1"/>
          </p:cNvSpPr>
          <p:nvPr>
            <p:ph type="dt" sz="half" idx="10"/>
          </p:nvPr>
        </p:nvSpPr>
        <p:spPr/>
        <p:txBody>
          <a:bodyPr rtlCol="0"/>
          <a:lstStyle/>
          <a:p>
            <a:fld id="{A415698B-C00D-417C-AA6E-1D00F98503FF}" type="datetime1">
              <a:rPr lang="fr-FR" smtClean="0"/>
              <a:pPr/>
              <a:t>30/11/2024</a:t>
            </a:fld>
            <a:endParaRPr lang="fr-FR"/>
          </a:p>
        </p:txBody>
      </p:sp>
      <p:sp>
        <p:nvSpPr>
          <p:cNvPr id="7" name="Espace réservé du numéro de diapositive 6"/>
          <p:cNvSpPr>
            <a:spLocks noGrp="1"/>
          </p:cNvSpPr>
          <p:nvPr>
            <p:ph type="sldNum" sz="quarter" idx="11"/>
          </p:nvPr>
        </p:nvSpPr>
        <p:spPr/>
        <p:txBody>
          <a:bodyPr rtlCol="0"/>
          <a:lstStyle/>
          <a:p>
            <a:fld id="{1D258001-9BDA-447A-ADAB-646DC4D258D2}" type="slidenum">
              <a:rPr lang="fr-FR" smtClean="0"/>
              <a:pPr/>
              <a:t>‹N°›</a:t>
            </a:fld>
            <a:endParaRPr lang="fr-FR"/>
          </a:p>
        </p:txBody>
      </p:sp>
      <p:sp>
        <p:nvSpPr>
          <p:cNvPr id="8" name="Espace réservé du pied de page 7"/>
          <p:cNvSpPr>
            <a:spLocks noGrp="1"/>
          </p:cNvSpPr>
          <p:nvPr>
            <p:ph type="ftr" sz="quarter" idx="12"/>
          </p:nvPr>
        </p:nvSpPr>
        <p:spPr/>
        <p:txBody>
          <a:bodyPr rtlCol="0"/>
          <a:lstStyle/>
          <a:p>
            <a:r>
              <a:rPr lang="fr-FR" smtClean="0"/>
              <a:t>Rédaction Scientifique                                       Pr.H.F.Merouani</a:t>
            </a:r>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36813168-9638-4EA9-9C17-38418B0713B6}" type="datetime1">
              <a:rPr lang="fr-FR" smtClean="0"/>
              <a:pPr/>
              <a:t>30/11/2024</a:t>
            </a:fld>
            <a:endParaRPr lang="fr-FR"/>
          </a:p>
        </p:txBody>
      </p:sp>
      <p:sp>
        <p:nvSpPr>
          <p:cNvPr id="3" name="Espace réservé du pied de page 2"/>
          <p:cNvSpPr>
            <a:spLocks noGrp="1"/>
          </p:cNvSpPr>
          <p:nvPr>
            <p:ph type="ftr" sz="quarter" idx="11"/>
          </p:nvPr>
        </p:nvSpPr>
        <p:spPr/>
        <p:txBody>
          <a:bodyPr/>
          <a:lstStyle/>
          <a:p>
            <a:r>
              <a:rPr lang="fr-FR" smtClean="0"/>
              <a:t>Rédaction Scientifique                                       Pr.H.F.Merouani</a:t>
            </a:r>
            <a:endParaRPr lang="fr-FR"/>
          </a:p>
        </p:txBody>
      </p:sp>
      <p:sp>
        <p:nvSpPr>
          <p:cNvPr id="4" name="Espace réservé du numéro de diapositive 3"/>
          <p:cNvSpPr>
            <a:spLocks noGrp="1"/>
          </p:cNvSpPr>
          <p:nvPr>
            <p:ph type="sldNum" sz="quarter" idx="12"/>
          </p:nvPr>
        </p:nvSpPr>
        <p:spPr/>
        <p:txBody>
          <a:bodyPr/>
          <a:lstStyle/>
          <a:p>
            <a:fld id="{1D258001-9BDA-447A-ADAB-646DC4D258D2}" type="slidenum">
              <a:rPr lang="fr-FR" smtClean="0"/>
              <a:pPr/>
              <a:t>‹N°›</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bg>
      <p:bgRef idx="1001">
        <a:schemeClr val="bg1"/>
      </p:bgRef>
    </p:bg>
    <p:spTree>
      <p:nvGrpSpPr>
        <p:cNvPr id="1" name=""/>
        <p:cNvGrpSpPr/>
        <p:nvPr/>
      </p:nvGrpSpPr>
      <p:grpSpPr>
        <a:xfrm>
          <a:off x="0" y="0"/>
          <a:ext cx="0" cy="0"/>
          <a:chOff x="0" y="0"/>
          <a:chExt cx="0" cy="0"/>
        </a:xfrm>
      </p:grpSpPr>
      <p:sp>
        <p:nvSpPr>
          <p:cNvPr id="10" name="Connecteur droit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Titre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fr-FR" smtClean="0"/>
              <a:t>Cliquez pour modifier le style du titre</a:t>
            </a:r>
            <a:endParaRPr kumimoji="0" lang="en-US"/>
          </a:p>
        </p:txBody>
      </p:sp>
      <p:sp>
        <p:nvSpPr>
          <p:cNvPr id="3" name="Espace réservé du texte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fr-FR" smtClean="0"/>
              <a:t>Cliquez pour modifier les styles du texte du masque</a:t>
            </a:r>
          </a:p>
        </p:txBody>
      </p:sp>
      <p:sp>
        <p:nvSpPr>
          <p:cNvPr id="8" name="Connecteur droit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Connecteur droit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Connecteur droit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Rectangle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Connecteur droit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Ellipse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Espace réservé du contenu 17"/>
          <p:cNvSpPr>
            <a:spLocks noGrp="1"/>
          </p:cNvSpPr>
          <p:nvPr>
            <p:ph sz="quarter" idx="1"/>
          </p:nvPr>
        </p:nvSpPr>
        <p:spPr>
          <a:xfrm>
            <a:off x="304800" y="274320"/>
            <a:ext cx="5638800" cy="6327648"/>
          </a:xfrm>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21" name="Espace réservé de la date 20"/>
          <p:cNvSpPr>
            <a:spLocks noGrp="1"/>
          </p:cNvSpPr>
          <p:nvPr>
            <p:ph type="dt" sz="half" idx="14"/>
          </p:nvPr>
        </p:nvSpPr>
        <p:spPr/>
        <p:txBody>
          <a:bodyPr rtlCol="0"/>
          <a:lstStyle/>
          <a:p>
            <a:fld id="{2D0AB136-8072-4444-A3F2-C40C80426336}" type="datetime1">
              <a:rPr lang="fr-FR" smtClean="0"/>
              <a:pPr/>
              <a:t>30/11/2024</a:t>
            </a:fld>
            <a:endParaRPr lang="fr-FR"/>
          </a:p>
        </p:txBody>
      </p:sp>
      <p:sp>
        <p:nvSpPr>
          <p:cNvPr id="22" name="Espace réservé du numéro de diapositive 21"/>
          <p:cNvSpPr>
            <a:spLocks noGrp="1"/>
          </p:cNvSpPr>
          <p:nvPr>
            <p:ph type="sldNum" sz="quarter" idx="15"/>
          </p:nvPr>
        </p:nvSpPr>
        <p:spPr/>
        <p:txBody>
          <a:bodyPr rtlCol="0"/>
          <a:lstStyle/>
          <a:p>
            <a:fld id="{1D258001-9BDA-447A-ADAB-646DC4D258D2}" type="slidenum">
              <a:rPr lang="fr-FR" smtClean="0"/>
              <a:pPr/>
              <a:t>‹N°›</a:t>
            </a:fld>
            <a:endParaRPr lang="fr-FR"/>
          </a:p>
        </p:txBody>
      </p:sp>
      <p:sp>
        <p:nvSpPr>
          <p:cNvPr id="23" name="Espace réservé du pied de page 22"/>
          <p:cNvSpPr>
            <a:spLocks noGrp="1"/>
          </p:cNvSpPr>
          <p:nvPr>
            <p:ph type="ftr" sz="quarter" idx="16"/>
          </p:nvPr>
        </p:nvSpPr>
        <p:spPr/>
        <p:txBody>
          <a:bodyPr rtlCol="0"/>
          <a:lstStyle/>
          <a:p>
            <a:r>
              <a:rPr lang="fr-FR" smtClean="0"/>
              <a:t>Rédaction Scientifique                                       Pr.H.F.Merouani</a:t>
            </a:r>
            <a:endParaRPr lang="fr-FR"/>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9" name="Connecteur droit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Ellipse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re 1"/>
          <p:cNvSpPr>
            <a:spLocks noGrp="1"/>
          </p:cNvSpPr>
          <p:nvPr>
            <p:ph type="title"/>
          </p:nvPr>
        </p:nvSpPr>
        <p:spPr>
          <a:xfrm rot="5400000">
            <a:off x="3350133" y="3200400"/>
            <a:ext cx="6309360" cy="457200"/>
          </a:xfrm>
        </p:spPr>
        <p:txBody>
          <a:bodyPr anchor="b"/>
          <a:lstStyle>
            <a:lvl1pPr algn="l">
              <a:buNone/>
              <a:defRPr sz="2000" b="1"/>
            </a:lvl1pPr>
          </a:lstStyle>
          <a:p>
            <a:r>
              <a:rPr kumimoji="0" lang="fr-FR" smtClean="0"/>
              <a:t>Cliquez pour modifier le style du titre</a:t>
            </a:r>
            <a:endParaRPr kumimoji="0" lang="en-US"/>
          </a:p>
        </p:txBody>
      </p:sp>
      <p:sp>
        <p:nvSpPr>
          <p:cNvPr id="3" name="Espace réservé pour une image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fr-FR" smtClean="0"/>
              <a:t>Cliquez sur l'icône pour ajouter une image</a:t>
            </a:r>
            <a:endParaRPr kumimoji="0" lang="en-US" dirty="0"/>
          </a:p>
        </p:txBody>
      </p:sp>
      <p:sp>
        <p:nvSpPr>
          <p:cNvPr id="4" name="Espace réservé du texte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fr-FR" smtClean="0"/>
              <a:t>Cliquez pour modifier les styles du texte du masque</a:t>
            </a:r>
          </a:p>
        </p:txBody>
      </p:sp>
      <p:sp>
        <p:nvSpPr>
          <p:cNvPr id="10" name="Connecteur droit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Rectangle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Connecteur droit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Connecteur droit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Connecteur droit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Espace réservé de la date 16"/>
          <p:cNvSpPr>
            <a:spLocks noGrp="1"/>
          </p:cNvSpPr>
          <p:nvPr>
            <p:ph type="dt" sz="half" idx="10"/>
          </p:nvPr>
        </p:nvSpPr>
        <p:spPr/>
        <p:txBody>
          <a:bodyPr rtlCol="0"/>
          <a:lstStyle/>
          <a:p>
            <a:fld id="{7885606C-CA9C-4B23-A9D7-A59CFAB078A8}" type="datetime1">
              <a:rPr lang="fr-FR" smtClean="0"/>
              <a:pPr/>
              <a:t>30/11/2024</a:t>
            </a:fld>
            <a:endParaRPr lang="fr-FR"/>
          </a:p>
        </p:txBody>
      </p:sp>
      <p:sp>
        <p:nvSpPr>
          <p:cNvPr id="18" name="Espace réservé du numéro de diapositive 17"/>
          <p:cNvSpPr>
            <a:spLocks noGrp="1"/>
          </p:cNvSpPr>
          <p:nvPr>
            <p:ph type="sldNum" sz="quarter" idx="11"/>
          </p:nvPr>
        </p:nvSpPr>
        <p:spPr/>
        <p:txBody>
          <a:bodyPr rtlCol="0"/>
          <a:lstStyle/>
          <a:p>
            <a:fld id="{1D258001-9BDA-447A-ADAB-646DC4D258D2}" type="slidenum">
              <a:rPr lang="fr-FR" smtClean="0"/>
              <a:pPr/>
              <a:t>‹N°›</a:t>
            </a:fld>
            <a:endParaRPr lang="fr-FR"/>
          </a:p>
        </p:txBody>
      </p:sp>
      <p:sp>
        <p:nvSpPr>
          <p:cNvPr id="21" name="Espace réservé du pied de page 20"/>
          <p:cNvSpPr>
            <a:spLocks noGrp="1"/>
          </p:cNvSpPr>
          <p:nvPr>
            <p:ph type="ftr" sz="quarter" idx="12"/>
          </p:nvPr>
        </p:nvSpPr>
        <p:spPr/>
        <p:txBody>
          <a:bodyPr rtlCol="0"/>
          <a:lstStyle/>
          <a:p>
            <a:r>
              <a:rPr lang="fr-FR" smtClean="0"/>
              <a:t>Rédaction Scientifique                                       Pr.H.F.Merouani</a:t>
            </a:r>
            <a:endParaRPr lang="fr-F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3" name="Espace réservé du texte vertical 2"/>
          <p:cNvSpPr>
            <a:spLocks noGrp="1"/>
          </p:cNvSpPr>
          <p:nvPr>
            <p:ph type="body" orient="vert" idx="1"/>
          </p:nvPr>
        </p:nvSpPr>
        <p:spPr/>
        <p:txBody>
          <a:bodyPr vert="eaVer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p>
            <a:fld id="{E36C1A99-AE1E-4B44-ADAC-DDDA04A95CFB}" type="datetime1">
              <a:rPr lang="fr-FR" smtClean="0"/>
              <a:pPr/>
              <a:t>30/11/2024</a:t>
            </a:fld>
            <a:endParaRPr lang="fr-FR"/>
          </a:p>
        </p:txBody>
      </p:sp>
      <p:sp>
        <p:nvSpPr>
          <p:cNvPr id="5" name="Espace réservé du pied de page 4"/>
          <p:cNvSpPr>
            <a:spLocks noGrp="1"/>
          </p:cNvSpPr>
          <p:nvPr>
            <p:ph type="ftr" sz="quarter" idx="11"/>
          </p:nvPr>
        </p:nvSpPr>
        <p:spPr/>
        <p:txBody>
          <a:bodyPr/>
          <a:lstStyle/>
          <a:p>
            <a:r>
              <a:rPr lang="fr-FR" smtClean="0"/>
              <a:t>Rédaction Scientifique                                       Pr.H.F.Merouani</a:t>
            </a:r>
            <a:endParaRPr lang="fr-FR"/>
          </a:p>
        </p:txBody>
      </p:sp>
      <p:sp>
        <p:nvSpPr>
          <p:cNvPr id="6" name="Espace réservé du numéro de diapositive 5"/>
          <p:cNvSpPr>
            <a:spLocks noGrp="1"/>
          </p:cNvSpPr>
          <p:nvPr>
            <p:ph type="sldNum" sz="quarter" idx="12"/>
          </p:nvPr>
        </p:nvSpPr>
        <p:spPr/>
        <p:txBody>
          <a:bodyPr/>
          <a:lstStyle/>
          <a:p>
            <a:fld id="{1D258001-9BDA-447A-ADAB-646DC4D258D2}" type="slidenum">
              <a:rPr lang="fr-FR" smtClean="0"/>
              <a:pPr/>
              <a:t>‹N°›</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9"/>
            <a:ext cx="1676400" cy="5851525"/>
          </a:xfrm>
        </p:spPr>
        <p:txBody>
          <a:bodyPr vert="eaVert"/>
          <a:lstStyle/>
          <a:p>
            <a:r>
              <a:rPr kumimoji="0" lang="fr-FR" smtClean="0"/>
              <a:t>Cliquez pour modifier le style du titre</a:t>
            </a:r>
            <a:endParaRPr kumimoji="0" lang="en-US"/>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p>
            <a:fld id="{E4ED2F1B-92AA-4F08-83B1-B9DFBE0326C0}" type="datetime1">
              <a:rPr lang="fr-FR" smtClean="0"/>
              <a:pPr/>
              <a:t>30/11/2024</a:t>
            </a:fld>
            <a:endParaRPr lang="fr-FR"/>
          </a:p>
        </p:txBody>
      </p:sp>
      <p:sp>
        <p:nvSpPr>
          <p:cNvPr id="5" name="Espace réservé du pied de page 4"/>
          <p:cNvSpPr>
            <a:spLocks noGrp="1"/>
          </p:cNvSpPr>
          <p:nvPr>
            <p:ph type="ftr" sz="quarter" idx="11"/>
          </p:nvPr>
        </p:nvSpPr>
        <p:spPr/>
        <p:txBody>
          <a:bodyPr/>
          <a:lstStyle/>
          <a:p>
            <a:r>
              <a:rPr lang="fr-FR" smtClean="0"/>
              <a:t>Rédaction Scientifique                                       Pr.H.F.Merouani</a:t>
            </a:r>
            <a:endParaRPr lang="fr-FR"/>
          </a:p>
        </p:txBody>
      </p:sp>
      <p:sp>
        <p:nvSpPr>
          <p:cNvPr id="6" name="Espace réservé du numéro de diapositive 5"/>
          <p:cNvSpPr>
            <a:spLocks noGrp="1"/>
          </p:cNvSpPr>
          <p:nvPr>
            <p:ph type="sldNum" sz="quarter" idx="12"/>
          </p:nvPr>
        </p:nvSpPr>
        <p:spPr/>
        <p:txBody>
          <a:bodyPr/>
          <a:lstStyle/>
          <a:p>
            <a:fld id="{1D258001-9BDA-447A-ADAB-646DC4D258D2}" type="slidenum">
              <a:rPr lang="fr-FR" smtClean="0"/>
              <a:pPr/>
              <a:t>‹N°›</a:t>
            </a:fld>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Connecteur droit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Espace réservé du titre 21"/>
          <p:cNvSpPr>
            <a:spLocks noGrp="1"/>
          </p:cNvSpPr>
          <p:nvPr>
            <p:ph type="title"/>
          </p:nvPr>
        </p:nvSpPr>
        <p:spPr>
          <a:xfrm>
            <a:off x="457200" y="274638"/>
            <a:ext cx="7467600" cy="1143000"/>
          </a:xfrm>
          <a:prstGeom prst="rect">
            <a:avLst/>
          </a:prstGeom>
        </p:spPr>
        <p:txBody>
          <a:bodyPr vert="horz" anchor="b">
            <a:normAutofit/>
          </a:bodyPr>
          <a:lstStyle/>
          <a:p>
            <a:r>
              <a:rPr kumimoji="0" lang="fr-FR" smtClean="0"/>
              <a:t>Cliquez pour modifier le style du titre</a:t>
            </a:r>
            <a:endParaRPr kumimoji="0" lang="en-US"/>
          </a:p>
        </p:txBody>
      </p:sp>
      <p:sp>
        <p:nvSpPr>
          <p:cNvPr id="13" name="Espace réservé du texte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fr-FR" smtClean="0"/>
              <a:t>Cliquez pour modifier les styles du texte du masque</a:t>
            </a:r>
          </a:p>
          <a:p>
            <a:pPr lvl="1" eaLnBrk="1" latinLnBrk="0" hangingPunct="1"/>
            <a:r>
              <a:rPr kumimoji="0" lang="fr-FR" smtClean="0"/>
              <a:t>Deuxième niveau</a:t>
            </a:r>
          </a:p>
          <a:p>
            <a:pPr lvl="2" eaLnBrk="1" latinLnBrk="0" hangingPunct="1"/>
            <a:r>
              <a:rPr kumimoji="0" lang="fr-FR" smtClean="0"/>
              <a:t>Troisième niveau</a:t>
            </a:r>
          </a:p>
          <a:p>
            <a:pPr lvl="3" eaLnBrk="1" latinLnBrk="0" hangingPunct="1"/>
            <a:r>
              <a:rPr kumimoji="0" lang="fr-FR" smtClean="0"/>
              <a:t>Quatrième niveau</a:t>
            </a:r>
          </a:p>
          <a:p>
            <a:pPr lvl="4" eaLnBrk="1" latinLnBrk="0" hangingPunct="1"/>
            <a:r>
              <a:rPr kumimoji="0" lang="fr-FR" smtClean="0"/>
              <a:t>Cinquième niveau</a:t>
            </a:r>
            <a:endParaRPr kumimoji="0" lang="en-US"/>
          </a:p>
        </p:txBody>
      </p:sp>
      <p:sp>
        <p:nvSpPr>
          <p:cNvPr id="14" name="Espace réservé de la date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2A9DC062-F4E2-4B86-A91B-9E6BD6ED9EC8}" type="datetime1">
              <a:rPr lang="fr-FR" smtClean="0"/>
              <a:pPr/>
              <a:t>30/11/2024</a:t>
            </a:fld>
            <a:endParaRPr lang="fr-FR"/>
          </a:p>
        </p:txBody>
      </p:sp>
      <p:sp>
        <p:nvSpPr>
          <p:cNvPr id="3" name="Espace réservé du pied de page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r>
              <a:rPr lang="fr-FR" smtClean="0"/>
              <a:t>Rédaction Scientifique                                       Pr.H.F.Merouani</a:t>
            </a:r>
            <a:endParaRPr lang="fr-FR"/>
          </a:p>
        </p:txBody>
      </p:sp>
      <p:sp>
        <p:nvSpPr>
          <p:cNvPr id="7" name="Connecteur droit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Connecteur droit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Connecteur droit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Ellipse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Espace réservé du numéro de diapositive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1D258001-9BDA-447A-ADAB-646DC4D258D2}" type="slidenum">
              <a:rPr lang="fr-FR" smtClean="0"/>
              <a:pPr/>
              <a:t>‹N°›</a:t>
            </a:fld>
            <a:endParaRPr lang="fr-F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7.xml"/><Relationship Id="rId1" Type="http://schemas.openxmlformats.org/officeDocument/2006/relationships/vmlDrawing" Target="../drawings/vmlDrawing2.v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hyperlink" Target="https://www.scribbr.fr/category/plan-memoire/"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hyperlink" Target="https://www.scribbr.fr/memoire/remerciements-dans-un-memoire/" TargetMode="Externa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hyperlink" Target="https://www.scribbr.fr/memoire/sommaire/" TargetMode="Externa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hyperlink" Target="https://www.scribbr.fr/memoire/le-resume-de-votre-memoire/" TargetMode="Externa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hyperlink" Target="https://www.scribbr.fr/relecture-correction/memoire-francais/" TargetMode="Externa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7.xml"/><Relationship Id="rId1" Type="http://schemas.openxmlformats.org/officeDocument/2006/relationships/vmlDrawing" Target="../drawings/vmlDrawing3.v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7.xml"/><Relationship Id="rId1" Type="http://schemas.openxmlformats.org/officeDocument/2006/relationships/vmlDrawing" Target="../drawings/vmlDrawing4.v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r>
              <a:rPr lang="fr-FR" dirty="0" smtClean="0"/>
              <a:t>Rédaction d’un Article Scientifique</a:t>
            </a:r>
            <a:endParaRPr lang="fr-FR" dirty="0"/>
          </a:p>
        </p:txBody>
      </p:sp>
      <p:sp>
        <p:nvSpPr>
          <p:cNvPr id="3" name="Sous-titre 2"/>
          <p:cNvSpPr>
            <a:spLocks noGrp="1"/>
          </p:cNvSpPr>
          <p:nvPr>
            <p:ph type="subTitle" idx="1"/>
          </p:nvPr>
        </p:nvSpPr>
        <p:spPr/>
        <p:txBody>
          <a:bodyPr/>
          <a:lstStyle/>
          <a:p>
            <a:r>
              <a:rPr lang="fr-FR" dirty="0" smtClean="0"/>
              <a:t>Master1 RSI </a:t>
            </a:r>
          </a:p>
          <a:p>
            <a:r>
              <a:rPr lang="fr-FR" dirty="0" smtClean="0"/>
              <a:t>2024-2025</a:t>
            </a:r>
          </a:p>
          <a:p>
            <a:r>
              <a:rPr lang="fr-FR" dirty="0" smtClean="0"/>
              <a:t>Par </a:t>
            </a:r>
            <a:r>
              <a:rPr lang="fr-FR" dirty="0" err="1" smtClean="0"/>
              <a:t>Pr.Hayet</a:t>
            </a:r>
            <a:r>
              <a:rPr lang="fr-FR" dirty="0" smtClean="0"/>
              <a:t> Farida </a:t>
            </a:r>
            <a:r>
              <a:rPr lang="fr-FR" dirty="0" err="1" smtClean="0"/>
              <a:t>Merouani</a:t>
            </a:r>
            <a:endParaRPr lang="fr-FR" dirty="0"/>
          </a:p>
        </p:txBody>
      </p:sp>
      <p:sp>
        <p:nvSpPr>
          <p:cNvPr id="4" name="Espace réservé du numéro de diapositive 3"/>
          <p:cNvSpPr>
            <a:spLocks noGrp="1"/>
          </p:cNvSpPr>
          <p:nvPr>
            <p:ph type="sldNum" sz="quarter" idx="12"/>
          </p:nvPr>
        </p:nvSpPr>
        <p:spPr/>
        <p:txBody>
          <a:bodyPr/>
          <a:lstStyle/>
          <a:p>
            <a:fld id="{1D258001-9BDA-447A-ADAB-646DC4D258D2}" type="slidenum">
              <a:rPr lang="fr-FR" smtClean="0"/>
              <a:pPr/>
              <a:t>1</a:t>
            </a:fld>
            <a:endParaRPr lang="fr-FR"/>
          </a:p>
        </p:txBody>
      </p:sp>
      <p:sp>
        <p:nvSpPr>
          <p:cNvPr id="5" name="Espace réservé du pied de page 4"/>
          <p:cNvSpPr>
            <a:spLocks noGrp="1"/>
          </p:cNvSpPr>
          <p:nvPr>
            <p:ph type="ftr" sz="quarter" idx="11"/>
          </p:nvPr>
        </p:nvSpPr>
        <p:spPr/>
        <p:txBody>
          <a:bodyPr/>
          <a:lstStyle/>
          <a:p>
            <a:r>
              <a:rPr lang="fr-FR" smtClean="0"/>
              <a:t>Rédaction Scientifique                                       Pr.H.F.Merouani</a:t>
            </a:r>
            <a:endParaRPr lang="fr-F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solidFill>
                  <a:srgbClr val="FF0000"/>
                </a:solidFill>
              </a:rPr>
              <a:t>Comment aborder un travail  Scientifique?</a:t>
            </a:r>
            <a:endParaRPr lang="fr-FR" dirty="0">
              <a:solidFill>
                <a:srgbClr val="FF0000"/>
              </a:solidFill>
            </a:endParaRPr>
          </a:p>
        </p:txBody>
      </p:sp>
      <p:sp>
        <p:nvSpPr>
          <p:cNvPr id="3" name="Espace réservé du contenu 2"/>
          <p:cNvSpPr>
            <a:spLocks noGrp="1"/>
          </p:cNvSpPr>
          <p:nvPr>
            <p:ph sz="quarter" idx="1"/>
          </p:nvPr>
        </p:nvSpPr>
        <p:spPr/>
        <p:txBody>
          <a:bodyPr/>
          <a:lstStyle/>
          <a:p>
            <a:r>
              <a:rPr lang="fr-FR" b="1" i="1" dirty="0" smtClean="0"/>
              <a:t>Nature du travail scientifique</a:t>
            </a:r>
          </a:p>
          <a:p>
            <a:pPr>
              <a:buFont typeface="Wingdings" pitchFamily="2" charset="2"/>
              <a:buChar char="Ø"/>
            </a:pPr>
            <a:r>
              <a:rPr lang="fr-FR" dirty="0" smtClean="0"/>
              <a:t> Tâche difficile</a:t>
            </a:r>
          </a:p>
          <a:p>
            <a:pPr>
              <a:buFont typeface="Wingdings" pitchFamily="2" charset="2"/>
              <a:buChar char="Ø"/>
            </a:pPr>
            <a:r>
              <a:rPr lang="fr-FR" dirty="0" smtClean="0"/>
              <a:t> Difficile à entamer (hésitation, indécision)</a:t>
            </a:r>
          </a:p>
          <a:p>
            <a:pPr>
              <a:buFont typeface="Wingdings" pitchFamily="2" charset="2"/>
              <a:buChar char="Ø"/>
            </a:pPr>
            <a:r>
              <a:rPr lang="fr-FR" dirty="0" smtClean="0"/>
              <a:t> Dépend du domaine considéré</a:t>
            </a:r>
          </a:p>
          <a:p>
            <a:pPr>
              <a:buFont typeface="Wingdings" pitchFamily="2" charset="2"/>
              <a:buChar char="Ø"/>
            </a:pPr>
            <a:r>
              <a:rPr lang="fr-FR" dirty="0" smtClean="0"/>
              <a:t> Il n’existe pas de plan rigoureux</a:t>
            </a:r>
          </a:p>
          <a:p>
            <a:pPr>
              <a:buFont typeface="Wingdings" pitchFamily="2" charset="2"/>
              <a:buChar char="Ø"/>
            </a:pPr>
            <a:r>
              <a:rPr lang="fr-FR" dirty="0" smtClean="0"/>
              <a:t> Un bon travail est le fruit d’une bonne</a:t>
            </a:r>
          </a:p>
          <a:p>
            <a:pPr>
              <a:buNone/>
            </a:pPr>
            <a:r>
              <a:rPr lang="fr-FR" dirty="0" smtClean="0"/>
              <a:t>organisation, d’expérience et d’efforts soutenus.</a:t>
            </a:r>
          </a:p>
          <a:p>
            <a:pPr>
              <a:buFont typeface="Wingdings" pitchFamily="2" charset="2"/>
              <a:buChar char="Ø"/>
            </a:pPr>
            <a:endParaRPr lang="fr-FR" dirty="0" smtClean="0"/>
          </a:p>
          <a:p>
            <a:r>
              <a:rPr lang="fr-FR" b="1" dirty="0" smtClean="0"/>
              <a:t>Ainsi; on ne peut que proposer une démarche générale.</a:t>
            </a:r>
          </a:p>
          <a:p>
            <a:pPr>
              <a:buNone/>
            </a:pPr>
            <a:endParaRPr lang="fr-FR" dirty="0"/>
          </a:p>
        </p:txBody>
      </p:sp>
      <p:sp>
        <p:nvSpPr>
          <p:cNvPr id="4" name="Espace réservé du numéro de diapositive 3"/>
          <p:cNvSpPr>
            <a:spLocks noGrp="1"/>
          </p:cNvSpPr>
          <p:nvPr>
            <p:ph type="sldNum" sz="quarter" idx="15"/>
          </p:nvPr>
        </p:nvSpPr>
        <p:spPr/>
        <p:txBody>
          <a:bodyPr/>
          <a:lstStyle/>
          <a:p>
            <a:fld id="{1D258001-9BDA-447A-ADAB-646DC4D258D2}" type="slidenum">
              <a:rPr lang="fr-FR" smtClean="0"/>
              <a:pPr/>
              <a:t>2</a:t>
            </a:fld>
            <a:endParaRPr lang="fr-FR"/>
          </a:p>
        </p:txBody>
      </p:sp>
      <p:sp>
        <p:nvSpPr>
          <p:cNvPr id="5" name="Espace réservé du pied de page 4"/>
          <p:cNvSpPr>
            <a:spLocks noGrp="1"/>
          </p:cNvSpPr>
          <p:nvPr>
            <p:ph type="ftr" sz="quarter" idx="16"/>
          </p:nvPr>
        </p:nvSpPr>
        <p:spPr/>
        <p:txBody>
          <a:bodyPr/>
          <a:lstStyle/>
          <a:p>
            <a:r>
              <a:rPr lang="fr-FR" smtClean="0"/>
              <a:t>Rédaction Scientifique                                       Pr.H.F.Merouani</a:t>
            </a:r>
            <a:endParaRPr lang="fr-F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solidFill>
                  <a:srgbClr val="FF0000"/>
                </a:solidFill>
              </a:rPr>
              <a:t>Les Composantes d’une recherche scientifique/1</a:t>
            </a:r>
            <a:endParaRPr lang="fr-FR" dirty="0">
              <a:solidFill>
                <a:srgbClr val="FF0000"/>
              </a:solidFill>
            </a:endParaRPr>
          </a:p>
        </p:txBody>
      </p:sp>
      <p:sp>
        <p:nvSpPr>
          <p:cNvPr id="3" name="Espace réservé du contenu 2"/>
          <p:cNvSpPr>
            <a:spLocks noGrp="1"/>
          </p:cNvSpPr>
          <p:nvPr>
            <p:ph sz="quarter" idx="1"/>
          </p:nvPr>
        </p:nvSpPr>
        <p:spPr/>
        <p:txBody>
          <a:bodyPr/>
          <a:lstStyle/>
          <a:p>
            <a:pPr algn="just">
              <a:buNone/>
            </a:pPr>
            <a:r>
              <a:rPr lang="fr-FR" sz="2800" b="1" dirty="0" smtClean="0"/>
              <a:t>Objet et Problématique</a:t>
            </a:r>
            <a:r>
              <a:rPr lang="fr-FR" sz="2800" dirty="0" smtClean="0"/>
              <a:t>:</a:t>
            </a:r>
          </a:p>
          <a:p>
            <a:pPr algn="just">
              <a:buFont typeface="Wingdings" pitchFamily="2" charset="2"/>
              <a:buChar char="Ø"/>
            </a:pPr>
            <a:r>
              <a:rPr lang="fr-FR" sz="2800" dirty="0" smtClean="0"/>
              <a:t>Sur Quoi vais-je travailler?</a:t>
            </a:r>
          </a:p>
          <a:p>
            <a:pPr algn="just">
              <a:buFont typeface="Wingdings" pitchFamily="2" charset="2"/>
              <a:buChar char="Ø"/>
            </a:pPr>
            <a:r>
              <a:rPr lang="fr-FR" sz="2800" dirty="0" smtClean="0"/>
              <a:t>Dans quel plan disciplinaire je me situe?</a:t>
            </a:r>
          </a:p>
          <a:p>
            <a:pPr algn="just">
              <a:buFont typeface="Wingdings" pitchFamily="2" charset="2"/>
              <a:buChar char="Ø"/>
            </a:pPr>
            <a:r>
              <a:rPr lang="fr-FR" sz="2800" dirty="0" smtClean="0"/>
              <a:t>A quel problème est-ce que je veux répondre?</a:t>
            </a:r>
          </a:p>
          <a:p>
            <a:pPr algn="just">
              <a:buFont typeface="Wingdings" pitchFamily="2" charset="2"/>
              <a:buChar char="Ø"/>
            </a:pPr>
            <a:r>
              <a:rPr lang="fr-FR" sz="2800" dirty="0" smtClean="0"/>
              <a:t>Quelles sont mes visées?</a:t>
            </a:r>
          </a:p>
          <a:p>
            <a:pPr algn="just">
              <a:buFont typeface="Wingdings" pitchFamily="2" charset="2"/>
              <a:buChar char="Ø"/>
            </a:pPr>
            <a:r>
              <a:rPr lang="fr-FR" sz="2800" dirty="0" smtClean="0"/>
              <a:t>Qu’est ce que je veux démonter?</a:t>
            </a:r>
          </a:p>
          <a:p>
            <a:pPr>
              <a:buFont typeface="Wingdings" pitchFamily="2" charset="2"/>
              <a:buChar char="Ø"/>
            </a:pPr>
            <a:endParaRPr lang="fr-FR" dirty="0" smtClean="0"/>
          </a:p>
          <a:p>
            <a:pPr>
              <a:buNone/>
            </a:pPr>
            <a:r>
              <a:rPr lang="fr-FR" dirty="0" smtClean="0"/>
              <a:t>    </a:t>
            </a:r>
            <a:endParaRPr lang="fr-FR" dirty="0"/>
          </a:p>
        </p:txBody>
      </p:sp>
      <p:sp>
        <p:nvSpPr>
          <p:cNvPr id="4" name="Espace réservé du numéro de diapositive 3"/>
          <p:cNvSpPr>
            <a:spLocks noGrp="1"/>
          </p:cNvSpPr>
          <p:nvPr>
            <p:ph type="sldNum" sz="quarter" idx="15"/>
          </p:nvPr>
        </p:nvSpPr>
        <p:spPr/>
        <p:txBody>
          <a:bodyPr/>
          <a:lstStyle/>
          <a:p>
            <a:fld id="{1D258001-9BDA-447A-ADAB-646DC4D258D2}" type="slidenum">
              <a:rPr lang="fr-FR" smtClean="0"/>
              <a:pPr/>
              <a:t>3</a:t>
            </a:fld>
            <a:endParaRPr lang="fr-FR"/>
          </a:p>
        </p:txBody>
      </p:sp>
      <p:sp>
        <p:nvSpPr>
          <p:cNvPr id="5" name="Espace réservé du pied de page 4"/>
          <p:cNvSpPr>
            <a:spLocks noGrp="1"/>
          </p:cNvSpPr>
          <p:nvPr>
            <p:ph type="ftr" sz="quarter" idx="16"/>
          </p:nvPr>
        </p:nvSpPr>
        <p:spPr/>
        <p:txBody>
          <a:bodyPr/>
          <a:lstStyle/>
          <a:p>
            <a:r>
              <a:rPr lang="fr-FR" smtClean="0"/>
              <a:t>Rédaction Scientifique                                       Pr.H.F.Merouani</a:t>
            </a:r>
            <a:endParaRPr lang="fr-F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solidFill>
                  <a:srgbClr val="FF0000"/>
                </a:solidFill>
              </a:rPr>
              <a:t>Les Composantes d’une recherche scientifique /2</a:t>
            </a:r>
            <a:endParaRPr lang="fr-FR" dirty="0"/>
          </a:p>
        </p:txBody>
      </p:sp>
      <p:sp>
        <p:nvSpPr>
          <p:cNvPr id="3" name="Espace réservé du contenu 2"/>
          <p:cNvSpPr>
            <a:spLocks noGrp="1"/>
          </p:cNvSpPr>
          <p:nvPr>
            <p:ph sz="quarter" idx="1"/>
          </p:nvPr>
        </p:nvSpPr>
        <p:spPr>
          <a:xfrm>
            <a:off x="457200" y="1357298"/>
            <a:ext cx="7901014" cy="5116654"/>
          </a:xfrm>
        </p:spPr>
        <p:txBody>
          <a:bodyPr>
            <a:normAutofit fontScale="92500" lnSpcReduction="10000"/>
          </a:bodyPr>
          <a:lstStyle/>
          <a:p>
            <a:pPr>
              <a:buNone/>
            </a:pPr>
            <a:r>
              <a:rPr lang="fr-FR" sz="2800" b="1" dirty="0" smtClean="0"/>
              <a:t>Corps théorique:</a:t>
            </a:r>
          </a:p>
          <a:p>
            <a:pPr algn="just">
              <a:buFont typeface="Wingdings" pitchFamily="2" charset="2"/>
              <a:buChar char="Ø"/>
            </a:pPr>
            <a:r>
              <a:rPr lang="fr-FR" sz="2800" dirty="0" smtClean="0"/>
              <a:t>Sur quelles théories de références vais-je m’appuyer?</a:t>
            </a:r>
          </a:p>
          <a:p>
            <a:pPr algn="just">
              <a:buNone/>
            </a:pPr>
            <a:r>
              <a:rPr lang="fr-FR" sz="2800" b="1" dirty="0" smtClean="0"/>
              <a:t>Corps méthodologique:</a:t>
            </a:r>
          </a:p>
          <a:p>
            <a:pPr algn="just">
              <a:buFont typeface="Wingdings" pitchFamily="2" charset="2"/>
              <a:buChar char="Ø"/>
            </a:pPr>
            <a:r>
              <a:rPr lang="fr-FR" sz="2800" dirty="0" smtClean="0"/>
              <a:t>Quelles données dois-je analyser?</a:t>
            </a:r>
          </a:p>
          <a:p>
            <a:pPr algn="just">
              <a:buFont typeface="Wingdings" pitchFamily="2" charset="2"/>
              <a:buChar char="Ø"/>
            </a:pPr>
            <a:r>
              <a:rPr lang="fr-FR" sz="2800" dirty="0" smtClean="0"/>
              <a:t>Comment dois-je faire pour rassembler  ces données?</a:t>
            </a:r>
          </a:p>
          <a:p>
            <a:pPr algn="just">
              <a:buFont typeface="Wingdings" pitchFamily="2" charset="2"/>
              <a:buChar char="Ø"/>
            </a:pPr>
            <a:r>
              <a:rPr lang="fr-FR" sz="2800" dirty="0" smtClean="0"/>
              <a:t>Comment vais-je procéder pour analyser ces données ? Quel outil dois je utiliser?</a:t>
            </a:r>
          </a:p>
          <a:p>
            <a:pPr algn="just">
              <a:buNone/>
            </a:pPr>
            <a:r>
              <a:rPr lang="fr-FR" sz="2800" b="1" dirty="0" smtClean="0"/>
              <a:t>Résultats:</a:t>
            </a:r>
          </a:p>
          <a:p>
            <a:pPr algn="just">
              <a:buNone/>
            </a:pPr>
            <a:r>
              <a:rPr lang="fr-FR" sz="2800" dirty="0" smtClean="0"/>
              <a:t>Par rapport a mes objectifs,  quels résultats vais-je obtenir? </a:t>
            </a:r>
          </a:p>
          <a:p>
            <a:pPr algn="just">
              <a:buNone/>
            </a:pPr>
            <a:endParaRPr lang="fr-FR" sz="2800" b="1" dirty="0"/>
          </a:p>
        </p:txBody>
      </p:sp>
      <p:sp>
        <p:nvSpPr>
          <p:cNvPr id="4" name="Espace réservé du numéro de diapositive 3"/>
          <p:cNvSpPr>
            <a:spLocks noGrp="1"/>
          </p:cNvSpPr>
          <p:nvPr>
            <p:ph type="sldNum" sz="quarter" idx="15"/>
          </p:nvPr>
        </p:nvSpPr>
        <p:spPr/>
        <p:txBody>
          <a:bodyPr/>
          <a:lstStyle/>
          <a:p>
            <a:fld id="{1D258001-9BDA-447A-ADAB-646DC4D258D2}" type="slidenum">
              <a:rPr lang="fr-FR" smtClean="0"/>
              <a:pPr/>
              <a:t>4</a:t>
            </a:fld>
            <a:endParaRPr lang="fr-FR"/>
          </a:p>
        </p:txBody>
      </p:sp>
      <p:sp>
        <p:nvSpPr>
          <p:cNvPr id="5" name="Espace réservé du pied de page 4"/>
          <p:cNvSpPr>
            <a:spLocks noGrp="1"/>
          </p:cNvSpPr>
          <p:nvPr>
            <p:ph type="ftr" sz="quarter" idx="16"/>
          </p:nvPr>
        </p:nvSpPr>
        <p:spPr/>
        <p:txBody>
          <a:bodyPr/>
          <a:lstStyle/>
          <a:p>
            <a:r>
              <a:rPr lang="fr-FR" smtClean="0"/>
              <a:t>Rédaction Scientifique                                       Pr.H.F.Merouani</a:t>
            </a:r>
            <a:endParaRPr lang="fr-F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solidFill>
                  <a:srgbClr val="FF0000"/>
                </a:solidFill>
              </a:rPr>
              <a:t>La recherche scientifique</a:t>
            </a:r>
            <a:endParaRPr lang="fr-FR" dirty="0">
              <a:solidFill>
                <a:srgbClr val="FF0000"/>
              </a:solidFill>
            </a:endParaRPr>
          </a:p>
        </p:txBody>
      </p:sp>
      <p:sp>
        <p:nvSpPr>
          <p:cNvPr id="3" name="Espace réservé du contenu 2"/>
          <p:cNvSpPr>
            <a:spLocks noGrp="1"/>
          </p:cNvSpPr>
          <p:nvPr>
            <p:ph sz="quarter" idx="1"/>
          </p:nvPr>
        </p:nvSpPr>
        <p:spPr>
          <a:xfrm>
            <a:off x="457200" y="1600200"/>
            <a:ext cx="7758138" cy="4873752"/>
          </a:xfrm>
        </p:spPr>
        <p:txBody>
          <a:bodyPr>
            <a:normAutofit fontScale="92500" lnSpcReduction="10000"/>
          </a:bodyPr>
          <a:lstStyle/>
          <a:p>
            <a:pPr algn="ctr">
              <a:buNone/>
            </a:pPr>
            <a:r>
              <a:rPr lang="fr-FR" dirty="0" smtClean="0"/>
              <a:t> </a:t>
            </a:r>
            <a:r>
              <a:rPr lang="fr-FR" b="1" dirty="0" smtClean="0"/>
              <a:t>Domaine</a:t>
            </a:r>
          </a:p>
          <a:p>
            <a:pPr>
              <a:buNone/>
            </a:pPr>
            <a:endParaRPr lang="fr-FR" dirty="0" smtClean="0"/>
          </a:p>
          <a:p>
            <a:pPr>
              <a:buNone/>
            </a:pPr>
            <a:r>
              <a:rPr lang="fr-FR" dirty="0" smtClean="0"/>
              <a:t>L’exposé Théorique                  On réfléchit dans le </a:t>
            </a:r>
          </a:p>
          <a:p>
            <a:pPr>
              <a:buNone/>
            </a:pPr>
            <a:r>
              <a:rPr lang="fr-FR" dirty="0" smtClean="0"/>
              <a:t>                                                  domaine </a:t>
            </a:r>
          </a:p>
          <a:p>
            <a:pPr algn="ctr">
              <a:buNone/>
            </a:pPr>
            <a:endParaRPr lang="fr-FR" dirty="0" smtClean="0"/>
          </a:p>
          <a:p>
            <a:pPr algn="ctr">
              <a:buNone/>
            </a:pPr>
            <a:endParaRPr lang="fr-FR" b="1" dirty="0" smtClean="0">
              <a:solidFill>
                <a:srgbClr val="0070C0"/>
              </a:solidFill>
            </a:endParaRPr>
          </a:p>
          <a:p>
            <a:pPr algn="ctr">
              <a:buNone/>
            </a:pPr>
            <a:r>
              <a:rPr lang="fr-FR" b="1" dirty="0" smtClean="0">
                <a:solidFill>
                  <a:srgbClr val="0070C0"/>
                </a:solidFill>
              </a:rPr>
              <a:t>Sciences</a:t>
            </a:r>
          </a:p>
          <a:p>
            <a:pPr algn="ctr">
              <a:buNone/>
            </a:pPr>
            <a:endParaRPr lang="fr-FR" b="1" dirty="0" smtClean="0">
              <a:solidFill>
                <a:srgbClr val="0070C0"/>
              </a:solidFill>
            </a:endParaRPr>
          </a:p>
          <a:p>
            <a:pPr algn="ctr">
              <a:buNone/>
            </a:pPr>
            <a:endParaRPr lang="fr-FR" b="1" dirty="0" smtClean="0">
              <a:solidFill>
                <a:srgbClr val="0070C0"/>
              </a:solidFill>
            </a:endParaRPr>
          </a:p>
          <a:p>
            <a:pPr>
              <a:buNone/>
            </a:pPr>
            <a:endParaRPr lang="fr-FR" b="1" dirty="0" smtClean="0">
              <a:solidFill>
                <a:srgbClr val="0070C0"/>
              </a:solidFill>
            </a:endParaRPr>
          </a:p>
          <a:p>
            <a:pPr>
              <a:buNone/>
            </a:pPr>
            <a:r>
              <a:rPr lang="fr-FR" b="1" dirty="0" smtClean="0">
                <a:solidFill>
                  <a:srgbClr val="0070C0"/>
                </a:solidFill>
              </a:rPr>
              <a:t>Objet            Concept       Procédure        Analyse</a:t>
            </a:r>
          </a:p>
          <a:p>
            <a:pPr>
              <a:buNone/>
            </a:pPr>
            <a:r>
              <a:rPr lang="fr-FR" sz="1600" b="1" dirty="0" smtClean="0">
                <a:solidFill>
                  <a:srgbClr val="0070C0"/>
                </a:solidFill>
              </a:rPr>
              <a:t>                                                                                                </a:t>
            </a:r>
          </a:p>
          <a:p>
            <a:pPr>
              <a:buNone/>
            </a:pPr>
            <a:r>
              <a:rPr lang="fr-FR" sz="1600" b="1" dirty="0" smtClean="0">
                <a:solidFill>
                  <a:srgbClr val="0070C0"/>
                </a:solidFill>
              </a:rPr>
              <a:t>                                                                                        Selon[</a:t>
            </a:r>
            <a:r>
              <a:rPr lang="fr-FR" sz="1600" b="1" dirty="0" err="1" smtClean="0">
                <a:solidFill>
                  <a:srgbClr val="0070C0"/>
                </a:solidFill>
              </a:rPr>
              <a:t>Zellal</a:t>
            </a:r>
            <a:r>
              <a:rPr lang="fr-FR" sz="1600" b="1" dirty="0" smtClean="0">
                <a:solidFill>
                  <a:srgbClr val="0070C0"/>
                </a:solidFill>
              </a:rPr>
              <a:t>, 2009, P.16</a:t>
            </a:r>
            <a:r>
              <a:rPr lang="fr-FR" sz="2200" dirty="0" smtClean="0">
                <a:solidFill>
                  <a:srgbClr val="0070C0"/>
                </a:solidFill>
              </a:rPr>
              <a:t>]</a:t>
            </a:r>
            <a:endParaRPr lang="fr-FR" sz="2200" dirty="0">
              <a:solidFill>
                <a:srgbClr val="0070C0"/>
              </a:solidFill>
            </a:endParaRPr>
          </a:p>
        </p:txBody>
      </p:sp>
      <p:sp>
        <p:nvSpPr>
          <p:cNvPr id="4" name="Espace réservé du numéro de diapositive 3"/>
          <p:cNvSpPr>
            <a:spLocks noGrp="1"/>
          </p:cNvSpPr>
          <p:nvPr>
            <p:ph type="sldNum" sz="quarter" idx="15"/>
          </p:nvPr>
        </p:nvSpPr>
        <p:spPr/>
        <p:txBody>
          <a:bodyPr/>
          <a:lstStyle/>
          <a:p>
            <a:fld id="{1D258001-9BDA-447A-ADAB-646DC4D258D2}" type="slidenum">
              <a:rPr lang="fr-FR" smtClean="0"/>
              <a:pPr/>
              <a:t>5</a:t>
            </a:fld>
            <a:endParaRPr lang="fr-FR"/>
          </a:p>
        </p:txBody>
      </p:sp>
      <p:sp>
        <p:nvSpPr>
          <p:cNvPr id="5" name="Espace réservé du pied de page 4"/>
          <p:cNvSpPr>
            <a:spLocks noGrp="1"/>
          </p:cNvSpPr>
          <p:nvPr>
            <p:ph type="ftr" sz="quarter" idx="16"/>
          </p:nvPr>
        </p:nvSpPr>
        <p:spPr/>
        <p:txBody>
          <a:bodyPr/>
          <a:lstStyle/>
          <a:p>
            <a:r>
              <a:rPr lang="fr-FR" smtClean="0"/>
              <a:t>Rédaction Scientifique                                       Pr.H.F.Merouani</a:t>
            </a:r>
            <a:endParaRPr lang="fr-FR"/>
          </a:p>
        </p:txBody>
      </p:sp>
      <p:sp>
        <p:nvSpPr>
          <p:cNvPr id="6" name="Flèche vers le bas 5"/>
          <p:cNvSpPr/>
          <p:nvPr/>
        </p:nvSpPr>
        <p:spPr>
          <a:xfrm>
            <a:off x="4071934" y="2071678"/>
            <a:ext cx="214314" cy="185738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8" name="Connecteur droit 7"/>
          <p:cNvCxnSpPr/>
          <p:nvPr/>
        </p:nvCxnSpPr>
        <p:spPr>
          <a:xfrm>
            <a:off x="857224" y="4429132"/>
            <a:ext cx="7286676" cy="1588"/>
          </a:xfrm>
          <a:prstGeom prst="line">
            <a:avLst/>
          </a:prstGeom>
        </p:spPr>
        <p:style>
          <a:lnRef idx="1">
            <a:schemeClr val="accent1"/>
          </a:lnRef>
          <a:fillRef idx="0">
            <a:schemeClr val="accent1"/>
          </a:fillRef>
          <a:effectRef idx="0">
            <a:schemeClr val="accent1"/>
          </a:effectRef>
          <a:fontRef idx="minor">
            <a:schemeClr val="tx1"/>
          </a:fontRef>
        </p:style>
      </p:cxnSp>
      <p:sp>
        <p:nvSpPr>
          <p:cNvPr id="10" name="Flèche vers le bas 9"/>
          <p:cNvSpPr/>
          <p:nvPr/>
        </p:nvSpPr>
        <p:spPr>
          <a:xfrm flipH="1">
            <a:off x="857224" y="4429132"/>
            <a:ext cx="45719" cy="71438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Flèche vers le bas 10"/>
          <p:cNvSpPr/>
          <p:nvPr/>
        </p:nvSpPr>
        <p:spPr>
          <a:xfrm flipH="1">
            <a:off x="2857487" y="4429132"/>
            <a:ext cx="45719" cy="71438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Flèche vers le bas 11"/>
          <p:cNvSpPr/>
          <p:nvPr/>
        </p:nvSpPr>
        <p:spPr>
          <a:xfrm>
            <a:off x="4643438" y="4429132"/>
            <a:ext cx="45719" cy="78581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Flèche vers le bas 12"/>
          <p:cNvSpPr/>
          <p:nvPr/>
        </p:nvSpPr>
        <p:spPr>
          <a:xfrm>
            <a:off x="8143900" y="4429132"/>
            <a:ext cx="45719" cy="71438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Les 4 COMPOSANTES  D’un travail scientifique </a:t>
            </a:r>
            <a:endParaRPr lang="fr-FR" dirty="0"/>
          </a:p>
        </p:txBody>
      </p:sp>
      <p:graphicFrame>
        <p:nvGraphicFramePr>
          <p:cNvPr id="6" name="Espace réservé du contenu 5"/>
          <p:cNvGraphicFramePr>
            <a:graphicFrameLocks noGrp="1"/>
          </p:cNvGraphicFramePr>
          <p:nvPr>
            <p:ph sz="quarter" idx="1"/>
          </p:nvPr>
        </p:nvGraphicFramePr>
        <p:xfrm>
          <a:off x="500034" y="1600200"/>
          <a:ext cx="7424766" cy="3779520"/>
        </p:xfrm>
        <a:graphic>
          <a:graphicData uri="http://schemas.openxmlformats.org/drawingml/2006/table">
            <a:tbl>
              <a:tblPr firstRow="1" bandRow="1">
                <a:tableStyleId>{5C22544A-7EE6-4342-B048-85BDC9FD1C3A}</a:tableStyleId>
              </a:tblPr>
              <a:tblGrid>
                <a:gridCol w="3712383"/>
                <a:gridCol w="3712383"/>
              </a:tblGrid>
              <a:tr h="582217">
                <a:tc>
                  <a:txBody>
                    <a:bodyPr/>
                    <a:lstStyle/>
                    <a:p>
                      <a:r>
                        <a:rPr lang="fr-FR" sz="2800" dirty="0" smtClean="0"/>
                        <a:t>QUOI? SUJET/ OBJET</a:t>
                      </a:r>
                      <a:endParaRPr lang="fr-FR" sz="2800" dirty="0"/>
                    </a:p>
                  </a:txBody>
                  <a:tcPr/>
                </a:tc>
                <a:tc rowSpan="4">
                  <a:txBody>
                    <a:bodyPr/>
                    <a:lstStyle/>
                    <a:p>
                      <a:r>
                        <a:rPr lang="fr-FR" sz="2800" dirty="0" smtClean="0"/>
                        <a:t>A Penser  et à travailler en groupes</a:t>
                      </a:r>
                      <a:endParaRPr lang="fr-FR" sz="2800" dirty="0"/>
                    </a:p>
                  </a:txBody>
                  <a:tcPr/>
                </a:tc>
              </a:tr>
              <a:tr h="582217">
                <a:tc>
                  <a:txBody>
                    <a:bodyPr/>
                    <a:lstStyle/>
                    <a:p>
                      <a:r>
                        <a:rPr lang="fr-FR" sz="2800" dirty="0" smtClean="0"/>
                        <a:t>POURQUOI? Problématique</a:t>
                      </a:r>
                      <a:endParaRPr lang="fr-FR" sz="2800" dirty="0"/>
                    </a:p>
                  </a:txBody>
                  <a:tcPr/>
                </a:tc>
                <a:tc vMerge="1">
                  <a:txBody>
                    <a:bodyPr/>
                    <a:lstStyle/>
                    <a:p>
                      <a:endParaRPr lang="fr-FR" dirty="0"/>
                    </a:p>
                  </a:txBody>
                  <a:tcPr/>
                </a:tc>
              </a:tr>
              <a:tr h="582217">
                <a:tc>
                  <a:txBody>
                    <a:bodyPr/>
                    <a:lstStyle/>
                    <a:p>
                      <a:r>
                        <a:rPr lang="fr-FR" sz="2800" dirty="0" smtClean="0"/>
                        <a:t>COMMENT?  La méthodologie</a:t>
                      </a:r>
                      <a:endParaRPr lang="fr-FR" sz="2800" dirty="0"/>
                    </a:p>
                  </a:txBody>
                  <a:tcPr/>
                </a:tc>
                <a:tc vMerge="1">
                  <a:txBody>
                    <a:bodyPr/>
                    <a:lstStyle/>
                    <a:p>
                      <a:endParaRPr lang="fr-FR" dirty="0"/>
                    </a:p>
                  </a:txBody>
                  <a:tcPr/>
                </a:tc>
              </a:tr>
              <a:tr h="582217">
                <a:tc>
                  <a:txBody>
                    <a:bodyPr/>
                    <a:lstStyle/>
                    <a:p>
                      <a:r>
                        <a:rPr lang="fr-FR" sz="2800" dirty="0" smtClean="0"/>
                        <a:t>Analyse des Résultats</a:t>
                      </a:r>
                      <a:endParaRPr lang="fr-FR" sz="2800" dirty="0"/>
                    </a:p>
                  </a:txBody>
                  <a:tcPr/>
                </a:tc>
                <a:tc vMerge="1">
                  <a:txBody>
                    <a:bodyPr/>
                    <a:lstStyle/>
                    <a:p>
                      <a:endParaRPr lang="fr-FR" dirty="0"/>
                    </a:p>
                  </a:txBody>
                  <a:tcPr/>
                </a:tc>
              </a:tr>
            </a:tbl>
          </a:graphicData>
        </a:graphic>
      </p:graphicFrame>
      <p:sp>
        <p:nvSpPr>
          <p:cNvPr id="4" name="Espace réservé du numéro de diapositive 3"/>
          <p:cNvSpPr>
            <a:spLocks noGrp="1"/>
          </p:cNvSpPr>
          <p:nvPr>
            <p:ph type="sldNum" sz="quarter" idx="15"/>
          </p:nvPr>
        </p:nvSpPr>
        <p:spPr/>
        <p:txBody>
          <a:bodyPr/>
          <a:lstStyle/>
          <a:p>
            <a:fld id="{1D258001-9BDA-447A-ADAB-646DC4D258D2}" type="slidenum">
              <a:rPr lang="fr-FR" smtClean="0"/>
              <a:pPr/>
              <a:t>6</a:t>
            </a:fld>
            <a:endParaRPr lang="fr-FR"/>
          </a:p>
        </p:txBody>
      </p:sp>
      <p:sp>
        <p:nvSpPr>
          <p:cNvPr id="5" name="Espace réservé du pied de page 4"/>
          <p:cNvSpPr>
            <a:spLocks noGrp="1"/>
          </p:cNvSpPr>
          <p:nvPr>
            <p:ph type="ftr" sz="quarter" idx="16"/>
          </p:nvPr>
        </p:nvSpPr>
        <p:spPr/>
        <p:txBody>
          <a:bodyPr/>
          <a:lstStyle/>
          <a:p>
            <a:r>
              <a:rPr lang="fr-FR" smtClean="0"/>
              <a:t>Rédaction Scientifique                                       Pr.H.F.Merouani</a:t>
            </a:r>
            <a:endParaRPr lang="fr-F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p:cNvSpPr/>
          <p:nvPr/>
        </p:nvSpPr>
        <p:spPr>
          <a:xfrm>
            <a:off x="928662" y="6500834"/>
            <a:ext cx="5072098" cy="3571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Rectangle 18"/>
          <p:cNvSpPr/>
          <p:nvPr/>
        </p:nvSpPr>
        <p:spPr>
          <a:xfrm>
            <a:off x="1285852" y="6072206"/>
            <a:ext cx="4643470"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Rectangle 16"/>
          <p:cNvSpPr/>
          <p:nvPr/>
        </p:nvSpPr>
        <p:spPr>
          <a:xfrm>
            <a:off x="1214414" y="5286388"/>
            <a:ext cx="5429288" cy="42862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Rectangle 14"/>
          <p:cNvSpPr/>
          <p:nvPr/>
        </p:nvSpPr>
        <p:spPr>
          <a:xfrm>
            <a:off x="571472" y="4500570"/>
            <a:ext cx="6715172" cy="35719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11"/>
          <p:cNvSpPr/>
          <p:nvPr/>
        </p:nvSpPr>
        <p:spPr>
          <a:xfrm>
            <a:off x="571472" y="3571876"/>
            <a:ext cx="7215238" cy="6429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p:cNvSpPr>
            <a:spLocks noGrp="1"/>
          </p:cNvSpPr>
          <p:nvPr>
            <p:ph type="title"/>
          </p:nvPr>
        </p:nvSpPr>
        <p:spPr/>
        <p:txBody>
          <a:bodyPr>
            <a:normAutofit fontScale="90000"/>
          </a:bodyPr>
          <a:lstStyle/>
          <a:p>
            <a:r>
              <a:rPr lang="fr-FR" dirty="0" smtClean="0">
                <a:solidFill>
                  <a:srgbClr val="FF0000"/>
                </a:solidFill>
              </a:rPr>
              <a:t>La recherche scientifique comprend huit étapes </a:t>
            </a:r>
            <a:br>
              <a:rPr lang="fr-FR" dirty="0" smtClean="0">
                <a:solidFill>
                  <a:srgbClr val="FF0000"/>
                </a:solidFill>
              </a:rPr>
            </a:br>
            <a:endParaRPr lang="fr-FR" dirty="0">
              <a:solidFill>
                <a:srgbClr val="FF0000"/>
              </a:solidFill>
            </a:endParaRPr>
          </a:p>
        </p:txBody>
      </p:sp>
      <p:sp>
        <p:nvSpPr>
          <p:cNvPr id="9" name="Rectangle 8"/>
          <p:cNvSpPr/>
          <p:nvPr/>
        </p:nvSpPr>
        <p:spPr>
          <a:xfrm>
            <a:off x="857224" y="2643182"/>
            <a:ext cx="7000924" cy="42862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p:cNvSpPr/>
          <p:nvPr/>
        </p:nvSpPr>
        <p:spPr>
          <a:xfrm>
            <a:off x="1785918" y="1571612"/>
            <a:ext cx="5643602" cy="42862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Espace réservé du contenu 2"/>
          <p:cNvSpPr>
            <a:spLocks noGrp="1"/>
          </p:cNvSpPr>
          <p:nvPr>
            <p:ph sz="quarter" idx="1"/>
          </p:nvPr>
        </p:nvSpPr>
        <p:spPr>
          <a:xfrm>
            <a:off x="214282" y="1142984"/>
            <a:ext cx="7786742" cy="5715016"/>
          </a:xfrm>
        </p:spPr>
        <p:txBody>
          <a:bodyPr>
            <a:normAutofit fontScale="92500" lnSpcReduction="10000"/>
          </a:bodyPr>
          <a:lstStyle/>
          <a:p>
            <a:endParaRPr lang="fr-FR" dirty="0" smtClean="0"/>
          </a:p>
          <a:p>
            <a:pPr algn="just">
              <a:buNone/>
            </a:pPr>
            <a:r>
              <a:rPr lang="fr-FR" dirty="0" smtClean="0"/>
              <a:t>                     Étape de sélection du sujet</a:t>
            </a:r>
          </a:p>
          <a:p>
            <a:pPr algn="just">
              <a:buNone/>
            </a:pPr>
            <a:r>
              <a:rPr lang="fr-FR" dirty="0" smtClean="0"/>
              <a:t>        </a:t>
            </a:r>
          </a:p>
          <a:p>
            <a:pPr algn="just">
              <a:buNone/>
            </a:pPr>
            <a:r>
              <a:rPr lang="fr-FR" dirty="0" smtClean="0"/>
              <a:t>   </a:t>
            </a:r>
          </a:p>
          <a:p>
            <a:pPr algn="just">
              <a:buNone/>
            </a:pPr>
            <a:r>
              <a:rPr lang="fr-FR" dirty="0" smtClean="0"/>
              <a:t>        </a:t>
            </a:r>
            <a:r>
              <a:rPr lang="fr-FR" sz="2200" dirty="0" smtClean="0"/>
              <a:t>Étape de définition de la question et des hypothèses</a:t>
            </a:r>
          </a:p>
          <a:p>
            <a:pPr algn="just">
              <a:buNone/>
            </a:pPr>
            <a:endParaRPr lang="fr-FR" sz="2200" dirty="0" smtClean="0"/>
          </a:p>
          <a:p>
            <a:pPr algn="just">
              <a:buNone/>
            </a:pPr>
            <a:endParaRPr lang="fr-FR" dirty="0" smtClean="0"/>
          </a:p>
          <a:p>
            <a:pPr algn="just">
              <a:buNone/>
            </a:pPr>
            <a:r>
              <a:rPr lang="fr-FR" dirty="0" smtClean="0"/>
              <a:t>     Étape de sélection de la méthode de recherche</a:t>
            </a:r>
          </a:p>
          <a:p>
            <a:pPr algn="just">
              <a:buNone/>
            </a:pPr>
            <a:endParaRPr lang="fr-FR" dirty="0" smtClean="0"/>
          </a:p>
          <a:p>
            <a:pPr algn="just">
              <a:buNone/>
            </a:pPr>
            <a:r>
              <a:rPr lang="fr-FR" dirty="0" smtClean="0"/>
              <a:t>    Étape de préparation à la recherche sur le terrain</a:t>
            </a:r>
          </a:p>
          <a:p>
            <a:pPr algn="just">
              <a:buNone/>
            </a:pPr>
            <a:r>
              <a:rPr lang="fr-FR" dirty="0" smtClean="0"/>
              <a:t>                                       </a:t>
            </a:r>
          </a:p>
          <a:p>
            <a:pPr algn="just">
              <a:buNone/>
            </a:pPr>
            <a:r>
              <a:rPr lang="fr-FR" dirty="0" smtClean="0"/>
              <a:t>             Étape de collecte des informations</a:t>
            </a:r>
          </a:p>
          <a:p>
            <a:pPr algn="just">
              <a:buNone/>
            </a:pPr>
            <a:r>
              <a:rPr lang="fr-FR" dirty="0" smtClean="0"/>
              <a:t>                                                </a:t>
            </a:r>
          </a:p>
          <a:p>
            <a:pPr algn="just">
              <a:buNone/>
            </a:pPr>
            <a:r>
              <a:rPr lang="fr-FR" dirty="0" smtClean="0"/>
              <a:t>              Étape d’analyse des informations</a:t>
            </a:r>
          </a:p>
          <a:p>
            <a:pPr algn="just">
              <a:buNone/>
            </a:pPr>
            <a:r>
              <a:rPr lang="fr-FR" dirty="0" smtClean="0"/>
              <a:t>        Étape de rédaction et de publication</a:t>
            </a:r>
            <a:endParaRPr lang="fr-FR" dirty="0"/>
          </a:p>
        </p:txBody>
      </p:sp>
      <p:sp>
        <p:nvSpPr>
          <p:cNvPr id="4" name="Espace réservé du numéro de diapositive 3"/>
          <p:cNvSpPr>
            <a:spLocks noGrp="1"/>
          </p:cNvSpPr>
          <p:nvPr>
            <p:ph type="sldNum" sz="quarter" idx="15"/>
          </p:nvPr>
        </p:nvSpPr>
        <p:spPr/>
        <p:txBody>
          <a:bodyPr/>
          <a:lstStyle/>
          <a:p>
            <a:fld id="{1D258001-9BDA-447A-ADAB-646DC4D258D2}" type="slidenum">
              <a:rPr lang="fr-FR" smtClean="0"/>
              <a:pPr/>
              <a:t>7</a:t>
            </a:fld>
            <a:endParaRPr lang="fr-FR"/>
          </a:p>
        </p:txBody>
      </p:sp>
      <p:sp>
        <p:nvSpPr>
          <p:cNvPr id="5" name="Espace réservé du pied de page 4"/>
          <p:cNvSpPr>
            <a:spLocks noGrp="1"/>
          </p:cNvSpPr>
          <p:nvPr>
            <p:ph type="ftr" sz="quarter" idx="16"/>
          </p:nvPr>
        </p:nvSpPr>
        <p:spPr/>
        <p:txBody>
          <a:bodyPr/>
          <a:lstStyle/>
          <a:p>
            <a:r>
              <a:rPr lang="fr-FR" smtClean="0"/>
              <a:t>Rédaction Scientifique                                       Pr.H.F.Merouani</a:t>
            </a:r>
            <a:endParaRPr lang="fr-FR"/>
          </a:p>
        </p:txBody>
      </p:sp>
      <p:grpSp>
        <p:nvGrpSpPr>
          <p:cNvPr id="22" name="Groupe 21"/>
          <p:cNvGrpSpPr/>
          <p:nvPr/>
        </p:nvGrpSpPr>
        <p:grpSpPr>
          <a:xfrm>
            <a:off x="4071934" y="2000240"/>
            <a:ext cx="214314" cy="4071966"/>
            <a:chOff x="4071934" y="2000240"/>
            <a:chExt cx="214314" cy="4071966"/>
          </a:xfrm>
        </p:grpSpPr>
        <p:sp>
          <p:nvSpPr>
            <p:cNvPr id="8" name="Flèche vers le bas 7"/>
            <p:cNvSpPr/>
            <p:nvPr/>
          </p:nvSpPr>
          <p:spPr>
            <a:xfrm>
              <a:off x="4143372" y="2000240"/>
              <a:ext cx="142876" cy="64294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Flèche vers le bas 10"/>
            <p:cNvSpPr/>
            <p:nvPr/>
          </p:nvSpPr>
          <p:spPr>
            <a:xfrm>
              <a:off x="4143372" y="3071810"/>
              <a:ext cx="142876" cy="50006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Flèche vers le bas 15"/>
            <p:cNvSpPr/>
            <p:nvPr/>
          </p:nvSpPr>
          <p:spPr>
            <a:xfrm flipH="1">
              <a:off x="4071934" y="4214818"/>
              <a:ext cx="142876" cy="28575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Flèche vers le bas 17"/>
            <p:cNvSpPr/>
            <p:nvPr/>
          </p:nvSpPr>
          <p:spPr>
            <a:xfrm>
              <a:off x="4143372" y="4857760"/>
              <a:ext cx="71438" cy="42862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Flèche vers le bas 19"/>
            <p:cNvSpPr/>
            <p:nvPr/>
          </p:nvSpPr>
          <p:spPr>
            <a:xfrm>
              <a:off x="4143372" y="5715016"/>
              <a:ext cx="71438" cy="35719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solidFill>
                  <a:srgbClr val="FF0000"/>
                </a:solidFill>
              </a:rPr>
              <a:t>INTRODUCTION ?</a:t>
            </a:r>
            <a:endParaRPr lang="fr-FR" dirty="0">
              <a:solidFill>
                <a:srgbClr val="FF0000"/>
              </a:solidFill>
            </a:endParaRPr>
          </a:p>
        </p:txBody>
      </p:sp>
      <p:sp>
        <p:nvSpPr>
          <p:cNvPr id="3" name="Espace réservé du contenu 2"/>
          <p:cNvSpPr>
            <a:spLocks noGrp="1"/>
          </p:cNvSpPr>
          <p:nvPr>
            <p:ph sz="quarter" idx="1"/>
          </p:nvPr>
        </p:nvSpPr>
        <p:spPr>
          <a:xfrm>
            <a:off x="357158" y="1428736"/>
            <a:ext cx="7929618" cy="5429264"/>
          </a:xfrm>
        </p:spPr>
        <p:txBody>
          <a:bodyPr>
            <a:normAutofit fontScale="92500" lnSpcReduction="10000"/>
          </a:bodyPr>
          <a:lstStyle/>
          <a:p>
            <a:pPr>
              <a:buNone/>
            </a:pPr>
            <a:r>
              <a:rPr lang="fr-FR" b="1" dirty="0" smtClean="0"/>
              <a:t>Après le résumé</a:t>
            </a:r>
            <a:r>
              <a:rPr lang="fr-FR" dirty="0" smtClean="0"/>
              <a:t> </a:t>
            </a:r>
          </a:p>
          <a:p>
            <a:pPr>
              <a:buNone/>
            </a:pPr>
            <a:r>
              <a:rPr lang="fr-FR" b="1" dirty="0" smtClean="0"/>
              <a:t>Composer essentiellement de 5 parties</a:t>
            </a:r>
            <a:r>
              <a:rPr lang="fr-FR" dirty="0" smtClean="0"/>
              <a:t>:  </a:t>
            </a:r>
          </a:p>
          <a:p>
            <a:pPr>
              <a:buFont typeface="Wingdings" pitchFamily="2" charset="2"/>
              <a:buChar char="Ø"/>
            </a:pPr>
            <a:r>
              <a:rPr lang="fr-FR" dirty="0" smtClean="0"/>
              <a:t>Définir le cadre théorique faire une présentation brève?  Les concepts, idées ???? En relation avec la thématique abordée</a:t>
            </a:r>
          </a:p>
          <a:p>
            <a:pPr>
              <a:buFont typeface="Wingdings" pitchFamily="2" charset="2"/>
              <a:buChar char="Ø"/>
            </a:pPr>
            <a:r>
              <a:rPr lang="fr-FR" dirty="0" smtClean="0"/>
              <a:t>Objectifs de l’étude? Problématique? Hypothèse de travail(sous forme de questions)  </a:t>
            </a:r>
          </a:p>
          <a:p>
            <a:pPr>
              <a:buFont typeface="Wingdings" pitchFamily="2" charset="2"/>
              <a:buChar char="Ø"/>
            </a:pPr>
            <a:r>
              <a:rPr lang="fr-FR" dirty="0" smtClean="0"/>
              <a:t>Méthodologie utilisée?  quelle sont les analyses de données pour résoudre la problématique;  </a:t>
            </a:r>
          </a:p>
          <a:p>
            <a:pPr>
              <a:buFont typeface="Wingdings" pitchFamily="2" charset="2"/>
              <a:buChar char="Ø"/>
            </a:pPr>
            <a:r>
              <a:rPr lang="fr-FR" dirty="0" smtClean="0"/>
              <a:t>Plan de recherche (de l’article , du mémoire, rapport technique, thèse, ….</a:t>
            </a:r>
          </a:p>
          <a:p>
            <a:pPr>
              <a:buFont typeface="Wingdings" pitchFamily="2" charset="2"/>
              <a:buChar char="Ø"/>
            </a:pPr>
            <a:r>
              <a:rPr lang="fr-FR" i="1" dirty="0" smtClean="0"/>
              <a:t>Intérêt de cette recherche, pas obligatoire mais recommander</a:t>
            </a:r>
          </a:p>
          <a:p>
            <a:pPr>
              <a:buNone/>
            </a:pPr>
            <a:r>
              <a:rPr lang="fr-FR" i="1" dirty="0" smtClean="0"/>
              <a:t>              </a:t>
            </a:r>
            <a:r>
              <a:rPr lang="fr-FR" b="1" i="1" dirty="0" smtClean="0">
                <a:solidFill>
                  <a:srgbClr val="0070C0"/>
                </a:solidFill>
              </a:rPr>
              <a:t>Attendre la fin du travail pour concevoir l’introduction…</a:t>
            </a:r>
            <a:endParaRPr lang="fr-FR" b="1" i="1" dirty="0">
              <a:solidFill>
                <a:srgbClr val="0070C0"/>
              </a:solidFill>
            </a:endParaRPr>
          </a:p>
        </p:txBody>
      </p:sp>
      <p:sp>
        <p:nvSpPr>
          <p:cNvPr id="4" name="Espace réservé du numéro de diapositive 3"/>
          <p:cNvSpPr>
            <a:spLocks noGrp="1"/>
          </p:cNvSpPr>
          <p:nvPr>
            <p:ph type="sldNum" sz="quarter" idx="15"/>
          </p:nvPr>
        </p:nvSpPr>
        <p:spPr/>
        <p:txBody>
          <a:bodyPr/>
          <a:lstStyle/>
          <a:p>
            <a:fld id="{1D258001-9BDA-447A-ADAB-646DC4D258D2}" type="slidenum">
              <a:rPr lang="fr-FR" smtClean="0"/>
              <a:pPr/>
              <a:t>8</a:t>
            </a:fld>
            <a:endParaRPr lang="fr-FR"/>
          </a:p>
        </p:txBody>
      </p:sp>
      <p:sp>
        <p:nvSpPr>
          <p:cNvPr id="5" name="Espace réservé du pied de page 4"/>
          <p:cNvSpPr>
            <a:spLocks noGrp="1"/>
          </p:cNvSpPr>
          <p:nvPr>
            <p:ph type="ftr" sz="quarter" idx="16"/>
          </p:nvPr>
        </p:nvSpPr>
        <p:spPr/>
        <p:txBody>
          <a:bodyPr/>
          <a:lstStyle/>
          <a:p>
            <a:r>
              <a:rPr lang="fr-FR" smtClean="0"/>
              <a:t>Rédaction Scientifique                                       Pr.H.F.Merouani</a:t>
            </a:r>
            <a:endParaRPr lang="fr-FR"/>
          </a:p>
        </p:txBody>
      </p:sp>
      <p:sp>
        <p:nvSpPr>
          <p:cNvPr id="6" name="Explosion 1 5"/>
          <p:cNvSpPr/>
          <p:nvPr/>
        </p:nvSpPr>
        <p:spPr>
          <a:xfrm>
            <a:off x="714348" y="5786454"/>
            <a:ext cx="571504" cy="500042"/>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solidFill>
                  <a:srgbClr val="FF0000"/>
                </a:solidFill>
              </a:rPr>
              <a:t>Problématique???/1</a:t>
            </a:r>
            <a:endParaRPr lang="fr-FR" dirty="0">
              <a:solidFill>
                <a:srgbClr val="FF0000"/>
              </a:solidFill>
            </a:endParaRPr>
          </a:p>
        </p:txBody>
      </p:sp>
      <p:sp>
        <p:nvSpPr>
          <p:cNvPr id="3" name="Espace réservé du contenu 2"/>
          <p:cNvSpPr>
            <a:spLocks noGrp="1"/>
          </p:cNvSpPr>
          <p:nvPr>
            <p:ph sz="quarter" idx="1"/>
          </p:nvPr>
        </p:nvSpPr>
        <p:spPr/>
        <p:txBody>
          <a:bodyPr/>
          <a:lstStyle/>
          <a:p>
            <a:pPr>
              <a:buNone/>
            </a:pPr>
            <a:r>
              <a:rPr lang="fr-FR" dirty="0" smtClean="0"/>
              <a:t>[</a:t>
            </a:r>
            <a:r>
              <a:rPr lang="fr-FR" dirty="0" err="1" smtClean="0"/>
              <a:t>Zellal</a:t>
            </a:r>
            <a:r>
              <a:rPr lang="fr-FR" dirty="0" smtClean="0"/>
              <a:t>, 2009, pp.20-21]</a:t>
            </a:r>
          </a:p>
          <a:p>
            <a:pPr>
              <a:buNone/>
            </a:pPr>
            <a:r>
              <a:rPr lang="fr-FR" dirty="0" smtClean="0"/>
              <a:t>« Problématique est donc une question ou des questions que je me pose après avoir passé en revue les idées de mes prédécesseurs dans mon domaine…</a:t>
            </a:r>
          </a:p>
          <a:p>
            <a:pPr>
              <a:buNone/>
            </a:pPr>
            <a:r>
              <a:rPr lang="fr-FR" dirty="0" smtClean="0"/>
              <a:t>La </a:t>
            </a:r>
            <a:r>
              <a:rPr lang="fr-FR" b="1" dirty="0" smtClean="0"/>
              <a:t>problématique </a:t>
            </a:r>
            <a:r>
              <a:rPr lang="fr-FR" dirty="0" smtClean="0"/>
              <a:t>s’assortit de l’</a:t>
            </a:r>
            <a:r>
              <a:rPr lang="fr-FR" b="1" dirty="0" smtClean="0"/>
              <a:t>hypothèse </a:t>
            </a:r>
          </a:p>
          <a:p>
            <a:pPr>
              <a:buNone/>
            </a:pPr>
            <a:r>
              <a:rPr lang="fr-FR" dirty="0" smtClean="0"/>
              <a:t>Si je m’interroge sur un sujet, je dois, pour y répondre et ainsi résoudre ma problématique , je dois vérifier mon hypothèse. »   </a:t>
            </a:r>
          </a:p>
          <a:p>
            <a:endParaRPr lang="fr-FR" dirty="0"/>
          </a:p>
        </p:txBody>
      </p:sp>
      <p:sp>
        <p:nvSpPr>
          <p:cNvPr id="4" name="Espace réservé du numéro de diapositive 3"/>
          <p:cNvSpPr>
            <a:spLocks noGrp="1"/>
          </p:cNvSpPr>
          <p:nvPr>
            <p:ph type="sldNum" sz="quarter" idx="15"/>
          </p:nvPr>
        </p:nvSpPr>
        <p:spPr/>
        <p:txBody>
          <a:bodyPr/>
          <a:lstStyle/>
          <a:p>
            <a:fld id="{1D258001-9BDA-447A-ADAB-646DC4D258D2}" type="slidenum">
              <a:rPr lang="fr-FR" smtClean="0"/>
              <a:pPr/>
              <a:t>9</a:t>
            </a:fld>
            <a:endParaRPr lang="fr-FR"/>
          </a:p>
        </p:txBody>
      </p:sp>
      <p:sp>
        <p:nvSpPr>
          <p:cNvPr id="5" name="Espace réservé du pied de page 4"/>
          <p:cNvSpPr>
            <a:spLocks noGrp="1"/>
          </p:cNvSpPr>
          <p:nvPr>
            <p:ph type="ftr" sz="quarter" idx="16"/>
          </p:nvPr>
        </p:nvSpPr>
        <p:spPr/>
        <p:txBody>
          <a:bodyPr/>
          <a:lstStyle/>
          <a:p>
            <a:r>
              <a:rPr lang="fr-FR" smtClean="0"/>
              <a:t>Rédaction Scientifique                                       Pr.H.F.Merouani</a:t>
            </a:r>
            <a:endParaRPr lang="fr-F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solidFill>
                  <a:srgbClr val="FF0000"/>
                </a:solidFill>
              </a:rPr>
              <a:t>Problématique???/2</a:t>
            </a:r>
            <a:endParaRPr lang="fr-FR" dirty="0"/>
          </a:p>
        </p:txBody>
      </p:sp>
      <p:sp>
        <p:nvSpPr>
          <p:cNvPr id="3" name="Espace réservé du contenu 2"/>
          <p:cNvSpPr>
            <a:spLocks noGrp="1"/>
          </p:cNvSpPr>
          <p:nvPr>
            <p:ph sz="quarter" idx="1"/>
          </p:nvPr>
        </p:nvSpPr>
        <p:spPr/>
        <p:txBody>
          <a:bodyPr/>
          <a:lstStyle/>
          <a:p>
            <a:pPr>
              <a:buFont typeface="Wingdings" pitchFamily="2" charset="2"/>
              <a:buChar char="Ø"/>
            </a:pPr>
            <a:r>
              <a:rPr lang="fr-FR" sz="2800" dirty="0" smtClean="0"/>
              <a:t>Quel est le problème?</a:t>
            </a:r>
          </a:p>
          <a:p>
            <a:pPr>
              <a:buFont typeface="Wingdings" pitchFamily="2" charset="2"/>
              <a:buChar char="Ø"/>
            </a:pPr>
            <a:r>
              <a:rPr lang="fr-FR" sz="2800" dirty="0" smtClean="0"/>
              <a:t>Est-il intéressant de l’étudier?</a:t>
            </a:r>
          </a:p>
          <a:p>
            <a:pPr>
              <a:buFont typeface="Wingdings" pitchFamily="2" charset="2"/>
              <a:buChar char="Ø"/>
            </a:pPr>
            <a:r>
              <a:rPr lang="fr-FR" sz="2800" dirty="0" smtClean="0"/>
              <a:t>A t-il était aborder auparavant? </a:t>
            </a:r>
          </a:p>
          <a:p>
            <a:pPr>
              <a:buNone/>
            </a:pPr>
            <a:endParaRPr lang="fr-FR" dirty="0" smtClean="0"/>
          </a:p>
          <a:p>
            <a:pPr>
              <a:buNone/>
            </a:pPr>
            <a:endParaRPr lang="fr-FR" dirty="0" smtClean="0"/>
          </a:p>
          <a:p>
            <a:pPr>
              <a:buNone/>
            </a:pPr>
            <a:r>
              <a:rPr lang="fr-FR" dirty="0" smtClean="0"/>
              <a:t>               </a:t>
            </a:r>
            <a:r>
              <a:rPr lang="fr-FR" sz="2800" dirty="0" smtClean="0"/>
              <a:t>Situer l’objet de recherche dans un contact plus large</a:t>
            </a:r>
            <a:endParaRPr lang="fr-FR" sz="2800" dirty="0"/>
          </a:p>
        </p:txBody>
      </p:sp>
      <p:sp>
        <p:nvSpPr>
          <p:cNvPr id="4" name="Espace réservé du numéro de diapositive 3"/>
          <p:cNvSpPr>
            <a:spLocks noGrp="1"/>
          </p:cNvSpPr>
          <p:nvPr>
            <p:ph type="sldNum" sz="quarter" idx="15"/>
          </p:nvPr>
        </p:nvSpPr>
        <p:spPr/>
        <p:txBody>
          <a:bodyPr/>
          <a:lstStyle/>
          <a:p>
            <a:fld id="{1D258001-9BDA-447A-ADAB-646DC4D258D2}" type="slidenum">
              <a:rPr lang="fr-FR" smtClean="0"/>
              <a:pPr/>
              <a:t>10</a:t>
            </a:fld>
            <a:endParaRPr lang="fr-FR"/>
          </a:p>
        </p:txBody>
      </p:sp>
      <p:sp>
        <p:nvSpPr>
          <p:cNvPr id="5" name="Espace réservé du pied de page 4"/>
          <p:cNvSpPr>
            <a:spLocks noGrp="1"/>
          </p:cNvSpPr>
          <p:nvPr>
            <p:ph type="ftr" sz="quarter" idx="16"/>
          </p:nvPr>
        </p:nvSpPr>
        <p:spPr/>
        <p:txBody>
          <a:bodyPr/>
          <a:lstStyle/>
          <a:p>
            <a:r>
              <a:rPr lang="fr-FR" smtClean="0"/>
              <a:t>Rédaction Scientifique                                       Pr.H.F.Merouani</a:t>
            </a:r>
            <a:endParaRPr lang="fr-FR"/>
          </a:p>
        </p:txBody>
      </p:sp>
      <p:sp>
        <p:nvSpPr>
          <p:cNvPr id="6" name="Flèche droite à entaille 5"/>
          <p:cNvSpPr/>
          <p:nvPr/>
        </p:nvSpPr>
        <p:spPr>
          <a:xfrm>
            <a:off x="642910" y="3786190"/>
            <a:ext cx="978408" cy="714380"/>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solidFill>
                  <a:srgbClr val="FF0000"/>
                </a:solidFill>
              </a:rPr>
              <a:t>Problématique???/3</a:t>
            </a:r>
            <a:endParaRPr lang="fr-FR" dirty="0"/>
          </a:p>
        </p:txBody>
      </p:sp>
      <p:sp>
        <p:nvSpPr>
          <p:cNvPr id="3" name="Espace réservé du contenu 2"/>
          <p:cNvSpPr>
            <a:spLocks noGrp="1"/>
          </p:cNvSpPr>
          <p:nvPr>
            <p:ph sz="quarter" idx="1"/>
          </p:nvPr>
        </p:nvSpPr>
        <p:spPr/>
        <p:txBody>
          <a:bodyPr/>
          <a:lstStyle/>
          <a:p>
            <a:endParaRPr lang="fr-FR" dirty="0" smtClean="0"/>
          </a:p>
          <a:p>
            <a:pPr>
              <a:buNone/>
            </a:pPr>
            <a:r>
              <a:rPr lang="fr-FR" dirty="0" smtClean="0"/>
              <a:t>« </a:t>
            </a:r>
            <a:r>
              <a:rPr lang="fr-FR" sz="2800" dirty="0" smtClean="0"/>
              <a:t>Pour être digne de ce nom, une </a:t>
            </a:r>
            <a:r>
              <a:rPr lang="fr-FR" sz="2800" b="1" i="1" dirty="0" smtClean="0"/>
              <a:t>question de recherche </a:t>
            </a:r>
            <a:r>
              <a:rPr lang="fr-FR" sz="2800" i="1" dirty="0" smtClean="0"/>
              <a:t>doit ouvrir sur l’inconnu: personne ne gagne à se poser une question dont on connait d’avance la réponse » </a:t>
            </a:r>
          </a:p>
          <a:p>
            <a:pPr>
              <a:buNone/>
            </a:pPr>
            <a:endParaRPr lang="fr-FR" sz="2800" b="1" i="1" dirty="0" smtClean="0"/>
          </a:p>
          <a:p>
            <a:pPr>
              <a:buNone/>
            </a:pPr>
            <a:r>
              <a:rPr lang="fr-FR" sz="2800" b="1" i="1" dirty="0" smtClean="0"/>
              <a:t>                            [</a:t>
            </a:r>
            <a:r>
              <a:rPr lang="fr-FR" sz="2800" b="1" i="1" dirty="0" err="1" smtClean="0"/>
              <a:t>Deslauriers</a:t>
            </a:r>
            <a:r>
              <a:rPr lang="fr-FR" sz="2800" b="1" i="1" dirty="0" smtClean="0"/>
              <a:t>, 1991] </a:t>
            </a:r>
            <a:endParaRPr lang="fr-FR" sz="2800" b="1" i="1" dirty="0"/>
          </a:p>
        </p:txBody>
      </p:sp>
      <p:sp>
        <p:nvSpPr>
          <p:cNvPr id="4" name="Espace réservé du numéro de diapositive 3"/>
          <p:cNvSpPr>
            <a:spLocks noGrp="1"/>
          </p:cNvSpPr>
          <p:nvPr>
            <p:ph type="sldNum" sz="quarter" idx="15"/>
          </p:nvPr>
        </p:nvSpPr>
        <p:spPr/>
        <p:txBody>
          <a:bodyPr/>
          <a:lstStyle/>
          <a:p>
            <a:fld id="{1D258001-9BDA-447A-ADAB-646DC4D258D2}" type="slidenum">
              <a:rPr lang="fr-FR" smtClean="0"/>
              <a:pPr/>
              <a:t>11</a:t>
            </a:fld>
            <a:endParaRPr lang="fr-FR"/>
          </a:p>
        </p:txBody>
      </p:sp>
      <p:sp>
        <p:nvSpPr>
          <p:cNvPr id="5" name="Espace réservé du pied de page 4"/>
          <p:cNvSpPr>
            <a:spLocks noGrp="1"/>
          </p:cNvSpPr>
          <p:nvPr>
            <p:ph type="ftr" sz="quarter" idx="16"/>
          </p:nvPr>
        </p:nvSpPr>
        <p:spPr/>
        <p:txBody>
          <a:bodyPr/>
          <a:lstStyle/>
          <a:p>
            <a:r>
              <a:rPr lang="fr-FR" smtClean="0"/>
              <a:t>Rédaction Scientifique                                       Pr.H.F.Merouani</a:t>
            </a:r>
            <a:endParaRPr lang="fr-F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solidFill>
                  <a:srgbClr val="FF0000"/>
                </a:solidFill>
              </a:rPr>
              <a:t>Problématique???/4</a:t>
            </a:r>
            <a:endParaRPr lang="fr-FR" dirty="0"/>
          </a:p>
        </p:txBody>
      </p:sp>
      <p:sp>
        <p:nvSpPr>
          <p:cNvPr id="3" name="Espace réservé du contenu 2"/>
          <p:cNvSpPr>
            <a:spLocks noGrp="1"/>
          </p:cNvSpPr>
          <p:nvPr>
            <p:ph sz="quarter" idx="1"/>
          </p:nvPr>
        </p:nvSpPr>
        <p:spPr/>
        <p:txBody>
          <a:bodyPr/>
          <a:lstStyle/>
          <a:p>
            <a:pPr>
              <a:buNone/>
            </a:pPr>
            <a:endParaRPr lang="fr-FR" dirty="0" smtClean="0"/>
          </a:p>
          <a:p>
            <a:pPr>
              <a:buNone/>
            </a:pPr>
            <a:r>
              <a:rPr lang="fr-FR" sz="3200" b="1" dirty="0" smtClean="0"/>
              <a:t>Hypothèse de Recherche:</a:t>
            </a:r>
            <a:r>
              <a:rPr lang="fr-FR" sz="3200" dirty="0" smtClean="0"/>
              <a:t> </a:t>
            </a:r>
          </a:p>
          <a:p>
            <a:pPr>
              <a:buNone/>
            </a:pPr>
            <a:endParaRPr lang="fr-FR" sz="3200" dirty="0" smtClean="0"/>
          </a:p>
          <a:p>
            <a:pPr algn="just">
              <a:buNone/>
            </a:pPr>
            <a:r>
              <a:rPr lang="fr-FR" sz="3200" dirty="0" smtClean="0"/>
              <a:t>Une proposition de réponse à la question posée; à confirmer ou à infirmer. </a:t>
            </a:r>
            <a:endParaRPr lang="fr-FR" sz="3200" dirty="0"/>
          </a:p>
        </p:txBody>
      </p:sp>
      <p:sp>
        <p:nvSpPr>
          <p:cNvPr id="4" name="Espace réservé du numéro de diapositive 3"/>
          <p:cNvSpPr>
            <a:spLocks noGrp="1"/>
          </p:cNvSpPr>
          <p:nvPr>
            <p:ph type="sldNum" sz="quarter" idx="15"/>
          </p:nvPr>
        </p:nvSpPr>
        <p:spPr/>
        <p:txBody>
          <a:bodyPr/>
          <a:lstStyle/>
          <a:p>
            <a:fld id="{1D258001-9BDA-447A-ADAB-646DC4D258D2}" type="slidenum">
              <a:rPr lang="fr-FR" smtClean="0"/>
              <a:pPr/>
              <a:t>12</a:t>
            </a:fld>
            <a:endParaRPr lang="fr-FR"/>
          </a:p>
        </p:txBody>
      </p:sp>
      <p:sp>
        <p:nvSpPr>
          <p:cNvPr id="5" name="Espace réservé du pied de page 4"/>
          <p:cNvSpPr>
            <a:spLocks noGrp="1"/>
          </p:cNvSpPr>
          <p:nvPr>
            <p:ph type="ftr" sz="quarter" idx="16"/>
          </p:nvPr>
        </p:nvSpPr>
        <p:spPr/>
        <p:txBody>
          <a:bodyPr/>
          <a:lstStyle/>
          <a:p>
            <a:r>
              <a:rPr lang="fr-FR" smtClean="0"/>
              <a:t>Rédaction Scientifique                                       Pr.H.F.Merouani</a:t>
            </a:r>
            <a:endParaRPr lang="fr-F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solidFill>
                  <a:srgbClr val="FF0000"/>
                </a:solidFill>
              </a:rPr>
              <a:t>Exposé théorique </a:t>
            </a:r>
            <a:endParaRPr lang="fr-FR" dirty="0">
              <a:solidFill>
                <a:srgbClr val="FF0000"/>
              </a:solidFill>
            </a:endParaRPr>
          </a:p>
        </p:txBody>
      </p:sp>
      <p:sp>
        <p:nvSpPr>
          <p:cNvPr id="3" name="Espace réservé du contenu 2"/>
          <p:cNvSpPr>
            <a:spLocks noGrp="1"/>
          </p:cNvSpPr>
          <p:nvPr>
            <p:ph sz="quarter" idx="1"/>
          </p:nvPr>
        </p:nvSpPr>
        <p:spPr>
          <a:xfrm>
            <a:off x="0" y="1428736"/>
            <a:ext cx="8143900" cy="5429264"/>
          </a:xfrm>
        </p:spPr>
        <p:txBody>
          <a:bodyPr>
            <a:normAutofit lnSpcReduction="10000"/>
          </a:bodyPr>
          <a:lstStyle/>
          <a:p>
            <a:pPr algn="just">
              <a:buNone/>
            </a:pPr>
            <a:r>
              <a:rPr lang="fr-FR" dirty="0" smtClean="0"/>
              <a:t>     </a:t>
            </a:r>
            <a:r>
              <a:rPr lang="fr-FR" sz="2800" dirty="0" smtClean="0"/>
              <a:t> </a:t>
            </a:r>
            <a:r>
              <a:rPr lang="fr-FR" sz="2800" dirty="0" smtClean="0">
                <a:solidFill>
                  <a:schemeClr val="accent3">
                    <a:lumMod val="75000"/>
                  </a:schemeClr>
                </a:solidFill>
              </a:rPr>
              <a:t>(Etat de l’art, corps conceptuel,…)</a:t>
            </a:r>
          </a:p>
          <a:p>
            <a:pPr algn="just">
              <a:buNone/>
            </a:pPr>
            <a:r>
              <a:rPr lang="fr-FR" sz="2800" dirty="0" smtClean="0"/>
              <a:t>L’exposé théorique est alimenté par la </a:t>
            </a:r>
            <a:r>
              <a:rPr lang="fr-FR" sz="2800" b="1" i="1" dirty="0" smtClean="0">
                <a:solidFill>
                  <a:srgbClr val="0070C0"/>
                </a:solidFill>
              </a:rPr>
              <a:t>Recherche Bibliographique </a:t>
            </a:r>
          </a:p>
          <a:p>
            <a:pPr algn="just">
              <a:buNone/>
            </a:pPr>
            <a:r>
              <a:rPr lang="fr-FR" sz="2800" i="1" dirty="0" smtClean="0"/>
              <a:t>L’exposé théorique renferme les données liées à la problématique. Il est constituer de l’ensemble des définitions des concepts  qui seront utiliser dans l’exposé méthodologique et dans l’analyse de données. </a:t>
            </a:r>
            <a:r>
              <a:rPr lang="fr-FR" i="1" dirty="0" smtClean="0"/>
              <a:t>  </a:t>
            </a:r>
          </a:p>
          <a:p>
            <a:pPr>
              <a:buFont typeface="Arabic Typesetting" pitchFamily="66" charset="-78"/>
              <a:buChar char="⚝"/>
            </a:pPr>
            <a:r>
              <a:rPr lang="fr-FR" b="1" i="1" dirty="0" smtClean="0">
                <a:solidFill>
                  <a:srgbClr val="0070C0"/>
                </a:solidFill>
              </a:rPr>
              <a:t>    Pour rédiger son exposé théorique il faut avoir a l’</a:t>
            </a:r>
            <a:r>
              <a:rPr lang="fr-FR" b="1" i="1" dirty="0" err="1" smtClean="0">
                <a:solidFill>
                  <a:srgbClr val="0070C0"/>
                </a:solidFill>
              </a:rPr>
              <a:t>èsprit</a:t>
            </a:r>
            <a:r>
              <a:rPr lang="fr-FR" b="1" i="1" dirty="0" smtClean="0">
                <a:solidFill>
                  <a:srgbClr val="0070C0"/>
                </a:solidFill>
              </a:rPr>
              <a:t>: son sujet, sa problématique, son hypothèse de travail et sa procédure.  </a:t>
            </a:r>
          </a:p>
          <a:p>
            <a:pPr>
              <a:buFont typeface="Arabic Typesetting" pitchFamily="66" charset="-78"/>
              <a:buChar char="⚝"/>
            </a:pPr>
            <a:r>
              <a:rPr lang="fr-FR" b="1" i="1" dirty="0" smtClean="0">
                <a:solidFill>
                  <a:srgbClr val="0070C0"/>
                </a:solidFill>
              </a:rPr>
              <a:t>      L’exposé théorique se rédige après avoir pris du recul</a:t>
            </a:r>
            <a:endParaRPr lang="fr-FR" b="1" i="1" dirty="0">
              <a:solidFill>
                <a:srgbClr val="0070C0"/>
              </a:solidFill>
            </a:endParaRPr>
          </a:p>
        </p:txBody>
      </p:sp>
      <p:sp>
        <p:nvSpPr>
          <p:cNvPr id="4" name="Espace réservé du numéro de diapositive 3"/>
          <p:cNvSpPr>
            <a:spLocks noGrp="1"/>
          </p:cNvSpPr>
          <p:nvPr>
            <p:ph type="sldNum" sz="quarter" idx="15"/>
          </p:nvPr>
        </p:nvSpPr>
        <p:spPr/>
        <p:txBody>
          <a:bodyPr/>
          <a:lstStyle/>
          <a:p>
            <a:fld id="{1D258001-9BDA-447A-ADAB-646DC4D258D2}" type="slidenum">
              <a:rPr lang="fr-FR" smtClean="0"/>
              <a:pPr/>
              <a:t>13</a:t>
            </a:fld>
            <a:endParaRPr lang="fr-FR"/>
          </a:p>
        </p:txBody>
      </p:sp>
      <p:sp>
        <p:nvSpPr>
          <p:cNvPr id="5" name="Espace réservé du pied de page 4"/>
          <p:cNvSpPr>
            <a:spLocks noGrp="1"/>
          </p:cNvSpPr>
          <p:nvPr>
            <p:ph type="ftr" sz="quarter" idx="16"/>
          </p:nvPr>
        </p:nvSpPr>
        <p:spPr/>
        <p:txBody>
          <a:bodyPr/>
          <a:lstStyle/>
          <a:p>
            <a:r>
              <a:rPr lang="fr-FR" smtClean="0"/>
              <a:t>Rédaction Scientifique                                       Pr.H.F.Merouani</a:t>
            </a:r>
            <a:endParaRPr lang="fr-FR"/>
          </a:p>
        </p:txBody>
      </p:sp>
      <p:sp>
        <p:nvSpPr>
          <p:cNvPr id="7" name="Explosion 1 6"/>
          <p:cNvSpPr/>
          <p:nvPr/>
        </p:nvSpPr>
        <p:spPr>
          <a:xfrm>
            <a:off x="214282" y="4786322"/>
            <a:ext cx="500066" cy="357190"/>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Explosion 1 7"/>
          <p:cNvSpPr/>
          <p:nvPr/>
        </p:nvSpPr>
        <p:spPr>
          <a:xfrm>
            <a:off x="214282" y="5857892"/>
            <a:ext cx="500066" cy="357190"/>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solidFill>
                  <a:srgbClr val="FF0000"/>
                </a:solidFill>
              </a:rPr>
              <a:t>Exposé théorique </a:t>
            </a:r>
            <a:endParaRPr lang="fr-FR" dirty="0">
              <a:solidFill>
                <a:srgbClr val="FF0000"/>
              </a:solidFill>
            </a:endParaRPr>
          </a:p>
        </p:txBody>
      </p:sp>
      <p:sp>
        <p:nvSpPr>
          <p:cNvPr id="3" name="Espace réservé du contenu 2"/>
          <p:cNvSpPr>
            <a:spLocks noGrp="1"/>
          </p:cNvSpPr>
          <p:nvPr>
            <p:ph sz="quarter" idx="1"/>
          </p:nvPr>
        </p:nvSpPr>
        <p:spPr>
          <a:xfrm>
            <a:off x="285720" y="1600200"/>
            <a:ext cx="7858180" cy="4873752"/>
          </a:xfrm>
        </p:spPr>
        <p:txBody>
          <a:bodyPr/>
          <a:lstStyle/>
          <a:p>
            <a:pPr algn="just">
              <a:buNone/>
            </a:pPr>
            <a:r>
              <a:rPr lang="fr-FR" sz="2800" dirty="0" smtClean="0"/>
              <a:t>Ainsi:</a:t>
            </a:r>
          </a:p>
          <a:p>
            <a:pPr algn="just">
              <a:buFont typeface="Wingdings" pitchFamily="2" charset="2"/>
              <a:buChar char="Ø"/>
            </a:pPr>
            <a:r>
              <a:rPr lang="fr-FR" sz="2800" dirty="0" smtClean="0"/>
              <a:t>Aide à fonder la démarche</a:t>
            </a:r>
          </a:p>
          <a:p>
            <a:pPr algn="just">
              <a:buFont typeface="Wingdings" pitchFamily="2" charset="2"/>
              <a:buChar char="Ø"/>
            </a:pPr>
            <a:r>
              <a:rPr lang="fr-FR" sz="2800" dirty="0" smtClean="0"/>
              <a:t>Contient des notions importantes, essentiel, pour la méthodologie et l’analyse.</a:t>
            </a:r>
          </a:p>
          <a:p>
            <a:pPr algn="just">
              <a:buFont typeface="Wingdings" pitchFamily="2" charset="2"/>
              <a:buChar char="Ø"/>
            </a:pPr>
            <a:r>
              <a:rPr lang="fr-FR" sz="2800" dirty="0" smtClean="0"/>
              <a:t>Est en cohérence avec le sujet et la problématique </a:t>
            </a:r>
          </a:p>
          <a:p>
            <a:pPr algn="just">
              <a:buFont typeface="Wingdings" pitchFamily="2" charset="2"/>
              <a:buChar char="Ø"/>
            </a:pPr>
            <a:r>
              <a:rPr lang="fr-FR" sz="2800" dirty="0" smtClean="0"/>
              <a:t>Alimenté par les travaux antérieurs( Recherche bibliographique) </a:t>
            </a:r>
          </a:p>
          <a:p>
            <a:pPr>
              <a:buNone/>
            </a:pPr>
            <a:endParaRPr lang="fr-FR" dirty="0" smtClean="0"/>
          </a:p>
          <a:p>
            <a:endParaRPr lang="fr-FR" dirty="0"/>
          </a:p>
        </p:txBody>
      </p:sp>
      <p:sp>
        <p:nvSpPr>
          <p:cNvPr id="4" name="Espace réservé du numéro de diapositive 3"/>
          <p:cNvSpPr>
            <a:spLocks noGrp="1"/>
          </p:cNvSpPr>
          <p:nvPr>
            <p:ph type="sldNum" sz="quarter" idx="15"/>
          </p:nvPr>
        </p:nvSpPr>
        <p:spPr/>
        <p:txBody>
          <a:bodyPr/>
          <a:lstStyle/>
          <a:p>
            <a:fld id="{1D258001-9BDA-447A-ADAB-646DC4D258D2}" type="slidenum">
              <a:rPr lang="fr-FR" smtClean="0"/>
              <a:pPr/>
              <a:t>14</a:t>
            </a:fld>
            <a:endParaRPr lang="fr-FR"/>
          </a:p>
        </p:txBody>
      </p:sp>
      <p:sp>
        <p:nvSpPr>
          <p:cNvPr id="5" name="Espace réservé du pied de page 4"/>
          <p:cNvSpPr>
            <a:spLocks noGrp="1"/>
          </p:cNvSpPr>
          <p:nvPr>
            <p:ph type="ftr" sz="quarter" idx="16"/>
          </p:nvPr>
        </p:nvSpPr>
        <p:spPr/>
        <p:txBody>
          <a:bodyPr/>
          <a:lstStyle/>
          <a:p>
            <a:r>
              <a:rPr lang="fr-FR" smtClean="0"/>
              <a:t>Rédaction Scientifique                                       Pr.H.F.Merouani</a:t>
            </a:r>
            <a:endParaRPr lang="fr-F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b="1" i="1" dirty="0" smtClean="0">
                <a:solidFill>
                  <a:srgbClr val="FF0000"/>
                </a:solidFill>
              </a:rPr>
              <a:t>Quelles sont les sources de l’information ?</a:t>
            </a:r>
            <a:endParaRPr lang="fr-FR" dirty="0">
              <a:solidFill>
                <a:srgbClr val="FF0000"/>
              </a:solidFill>
            </a:endParaRPr>
          </a:p>
        </p:txBody>
      </p:sp>
      <p:sp>
        <p:nvSpPr>
          <p:cNvPr id="3" name="Espace réservé du contenu 2"/>
          <p:cNvSpPr>
            <a:spLocks noGrp="1"/>
          </p:cNvSpPr>
          <p:nvPr>
            <p:ph sz="quarter" idx="1"/>
          </p:nvPr>
        </p:nvSpPr>
        <p:spPr>
          <a:xfrm>
            <a:off x="714348" y="1600200"/>
            <a:ext cx="7210452" cy="4829196"/>
          </a:xfrm>
        </p:spPr>
        <p:txBody>
          <a:bodyPr>
            <a:normAutofit/>
          </a:bodyPr>
          <a:lstStyle/>
          <a:p>
            <a:pPr lvl="0">
              <a:buFont typeface="Wingdings" pitchFamily="2" charset="2"/>
              <a:buChar char="Ø"/>
            </a:pPr>
            <a:r>
              <a:rPr lang="fr-FR" sz="3200" dirty="0" smtClean="0"/>
              <a:t>Documents écrits</a:t>
            </a:r>
          </a:p>
          <a:p>
            <a:pPr lvl="0">
              <a:buFont typeface="Wingdings" pitchFamily="2" charset="2"/>
              <a:buChar char="Ø"/>
            </a:pPr>
            <a:r>
              <a:rPr lang="fr-FR" sz="3200" dirty="0" smtClean="0"/>
              <a:t>Documents électroniques</a:t>
            </a:r>
          </a:p>
          <a:p>
            <a:pPr lvl="0">
              <a:buFont typeface="Wingdings" pitchFamily="2" charset="2"/>
              <a:buChar char="Ø"/>
            </a:pPr>
            <a:r>
              <a:rPr lang="fr-FR" sz="3200" dirty="0" smtClean="0"/>
              <a:t>Personnes physiques (Interview, Questionnaire, …)</a:t>
            </a:r>
          </a:p>
          <a:p>
            <a:pPr lvl="0">
              <a:buFont typeface="Wingdings" pitchFamily="2" charset="2"/>
              <a:buChar char="Ø"/>
            </a:pPr>
            <a:endParaRPr lang="fr-FR" sz="3200" dirty="0"/>
          </a:p>
        </p:txBody>
      </p:sp>
      <p:sp>
        <p:nvSpPr>
          <p:cNvPr id="4" name="Espace réservé du numéro de diapositive 3"/>
          <p:cNvSpPr>
            <a:spLocks noGrp="1"/>
          </p:cNvSpPr>
          <p:nvPr>
            <p:ph type="sldNum" sz="quarter" idx="15"/>
          </p:nvPr>
        </p:nvSpPr>
        <p:spPr/>
        <p:txBody>
          <a:bodyPr/>
          <a:lstStyle/>
          <a:p>
            <a:fld id="{1D258001-9BDA-447A-ADAB-646DC4D258D2}" type="slidenum">
              <a:rPr lang="fr-FR" smtClean="0"/>
              <a:pPr/>
              <a:t>15</a:t>
            </a:fld>
            <a:endParaRPr lang="fr-FR"/>
          </a:p>
        </p:txBody>
      </p:sp>
      <p:sp>
        <p:nvSpPr>
          <p:cNvPr id="5" name="Espace réservé du pied de page 4"/>
          <p:cNvSpPr>
            <a:spLocks noGrp="1"/>
          </p:cNvSpPr>
          <p:nvPr>
            <p:ph type="ftr" sz="quarter" idx="16"/>
          </p:nvPr>
        </p:nvSpPr>
        <p:spPr/>
        <p:txBody>
          <a:bodyPr/>
          <a:lstStyle/>
          <a:p>
            <a:r>
              <a:rPr lang="fr-FR" smtClean="0"/>
              <a:t>Rédaction Scientifique                                       Pr.H.F.Merouani</a:t>
            </a:r>
            <a:endParaRPr lang="fr-FR"/>
          </a:p>
        </p:txBody>
      </p:sp>
      <p:pic>
        <p:nvPicPr>
          <p:cNvPr id="6" name="Image 5"/>
          <p:cNvPicPr/>
          <p:nvPr/>
        </p:nvPicPr>
        <p:blipFill>
          <a:blip r:embed="rId2"/>
          <a:srcRect/>
          <a:stretch>
            <a:fillRect/>
          </a:stretch>
        </p:blipFill>
        <p:spPr bwMode="auto">
          <a:xfrm>
            <a:off x="5572132" y="3929066"/>
            <a:ext cx="1955800" cy="1836420"/>
          </a:xfrm>
          <a:prstGeom prst="rect">
            <a:avLst/>
          </a:prstGeom>
          <a:noFill/>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28596" y="274638"/>
            <a:ext cx="7496204" cy="1154098"/>
          </a:xfrm>
        </p:spPr>
        <p:txBody>
          <a:bodyPr>
            <a:normAutofit fontScale="90000"/>
          </a:bodyPr>
          <a:lstStyle/>
          <a:p>
            <a:r>
              <a:rPr lang="fr-FR" b="1" i="1" dirty="0" smtClean="0"/>
              <a:t/>
            </a:r>
            <a:br>
              <a:rPr lang="fr-FR" b="1" i="1" dirty="0" smtClean="0"/>
            </a:br>
            <a:r>
              <a:rPr lang="fr-FR" b="1" i="1" dirty="0" smtClean="0"/>
              <a:t/>
            </a:r>
            <a:br>
              <a:rPr lang="fr-FR" b="1" i="1" dirty="0" smtClean="0"/>
            </a:br>
            <a:r>
              <a:rPr lang="fr-FR" sz="3100" b="1" dirty="0" smtClean="0">
                <a:solidFill>
                  <a:srgbClr val="FF0000"/>
                </a:solidFill>
              </a:rPr>
              <a:t>Que faire face à un océan d’information ?</a:t>
            </a:r>
            <a:br>
              <a:rPr lang="fr-FR" sz="3100" b="1" dirty="0" smtClean="0">
                <a:solidFill>
                  <a:srgbClr val="FF0000"/>
                </a:solidFill>
              </a:rPr>
            </a:br>
            <a:endParaRPr lang="fr-FR" sz="3100" dirty="0">
              <a:solidFill>
                <a:srgbClr val="FF0000"/>
              </a:solidFill>
            </a:endParaRPr>
          </a:p>
        </p:txBody>
      </p:sp>
      <p:sp>
        <p:nvSpPr>
          <p:cNvPr id="3" name="Espace réservé du contenu 2"/>
          <p:cNvSpPr>
            <a:spLocks noGrp="1"/>
          </p:cNvSpPr>
          <p:nvPr>
            <p:ph sz="quarter" idx="1"/>
          </p:nvPr>
        </p:nvSpPr>
        <p:spPr>
          <a:xfrm>
            <a:off x="142844" y="1214422"/>
            <a:ext cx="8001056" cy="5643578"/>
          </a:xfrm>
        </p:spPr>
        <p:txBody>
          <a:bodyPr/>
          <a:lstStyle/>
          <a:p>
            <a:pPr>
              <a:buNone/>
            </a:pPr>
            <a:r>
              <a:rPr lang="fr-FR" b="1" dirty="0" smtClean="0"/>
              <a:t>Il faut procéder par ordre :</a:t>
            </a:r>
            <a:endParaRPr lang="fr-FR" dirty="0" smtClean="0"/>
          </a:p>
          <a:p>
            <a:pPr>
              <a:buNone/>
            </a:pPr>
            <a:endParaRPr lang="fr-FR" dirty="0" smtClean="0"/>
          </a:p>
          <a:p>
            <a:pPr lvl="0">
              <a:buFont typeface="Wingdings" pitchFamily="2" charset="2"/>
              <a:buChar char="Ø"/>
            </a:pPr>
            <a:r>
              <a:rPr lang="fr-FR" dirty="0" smtClean="0"/>
              <a:t>Documents généraux : ouvrages, traités, manuels, certains périodiques, </a:t>
            </a:r>
          </a:p>
          <a:p>
            <a:pPr lvl="0">
              <a:buFont typeface="Wingdings" pitchFamily="2" charset="2"/>
              <a:buChar char="Ø"/>
            </a:pPr>
            <a:r>
              <a:rPr lang="fr-FR" dirty="0" smtClean="0"/>
              <a:t>Documents spécialisés : revues, </a:t>
            </a:r>
          </a:p>
          <a:p>
            <a:pPr lvl="0">
              <a:buFont typeface="Wingdings" pitchFamily="2" charset="2"/>
              <a:buChar char="Ø"/>
            </a:pPr>
            <a:r>
              <a:rPr lang="fr-FR" dirty="0" smtClean="0"/>
              <a:t>Banques de données des bibliothèques et Internet.</a:t>
            </a:r>
          </a:p>
          <a:p>
            <a:pPr>
              <a:buNone/>
            </a:pPr>
            <a:endParaRPr lang="fr-FR" dirty="0"/>
          </a:p>
        </p:txBody>
      </p:sp>
      <p:sp>
        <p:nvSpPr>
          <p:cNvPr id="4" name="Espace réservé du numéro de diapositive 3"/>
          <p:cNvSpPr>
            <a:spLocks noGrp="1"/>
          </p:cNvSpPr>
          <p:nvPr>
            <p:ph type="sldNum" sz="quarter" idx="15"/>
          </p:nvPr>
        </p:nvSpPr>
        <p:spPr/>
        <p:txBody>
          <a:bodyPr/>
          <a:lstStyle/>
          <a:p>
            <a:fld id="{1D258001-9BDA-447A-ADAB-646DC4D258D2}" type="slidenum">
              <a:rPr lang="fr-FR" smtClean="0"/>
              <a:pPr/>
              <a:t>16</a:t>
            </a:fld>
            <a:endParaRPr lang="fr-FR"/>
          </a:p>
        </p:txBody>
      </p:sp>
      <p:sp>
        <p:nvSpPr>
          <p:cNvPr id="5" name="Espace réservé du pied de page 4"/>
          <p:cNvSpPr>
            <a:spLocks noGrp="1"/>
          </p:cNvSpPr>
          <p:nvPr>
            <p:ph type="ftr" sz="quarter" idx="16"/>
          </p:nvPr>
        </p:nvSpPr>
        <p:spPr/>
        <p:txBody>
          <a:bodyPr/>
          <a:lstStyle/>
          <a:p>
            <a:r>
              <a:rPr lang="fr-FR" smtClean="0"/>
              <a:t>Rédaction Scientifique                                       Pr.H.F.Merouani</a:t>
            </a:r>
            <a:endParaRPr lang="fr-FR"/>
          </a:p>
        </p:txBody>
      </p:sp>
      <p:graphicFrame>
        <p:nvGraphicFramePr>
          <p:cNvPr id="1026" name="Object 2"/>
          <p:cNvGraphicFramePr>
            <a:graphicFrameLocks noChangeAspect="1"/>
          </p:cNvGraphicFramePr>
          <p:nvPr/>
        </p:nvGraphicFramePr>
        <p:xfrm>
          <a:off x="2928926" y="4357694"/>
          <a:ext cx="2857520" cy="2214554"/>
        </p:xfrm>
        <a:graphic>
          <a:graphicData uri="http://schemas.openxmlformats.org/presentationml/2006/ole">
            <p:oleObj spid="_x0000_s1026" name="Picture" r:id="rId3" imgW="2343960" imgH="2167920" progId="Word.Picture.8">
              <p:embed/>
            </p:oleObj>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b="1" dirty="0" smtClean="0">
                <a:solidFill>
                  <a:srgbClr val="FF0000"/>
                </a:solidFill>
              </a:rPr>
              <a:t>Utilisation des outils de recherche </a:t>
            </a:r>
            <a:r>
              <a:rPr lang="fr-FR" dirty="0" smtClean="0">
                <a:solidFill>
                  <a:srgbClr val="FF0000"/>
                </a:solidFill>
              </a:rPr>
              <a:t/>
            </a:r>
            <a:br>
              <a:rPr lang="fr-FR" dirty="0" smtClean="0">
                <a:solidFill>
                  <a:srgbClr val="FF0000"/>
                </a:solidFill>
              </a:rPr>
            </a:br>
            <a:r>
              <a:rPr lang="fr-FR" b="1" dirty="0" smtClean="0">
                <a:solidFill>
                  <a:srgbClr val="FF0000"/>
                </a:solidFill>
              </a:rPr>
              <a:t>automatiques et du Web</a:t>
            </a:r>
            <a:r>
              <a:rPr lang="fr-FR" dirty="0" smtClean="0">
                <a:solidFill>
                  <a:srgbClr val="FF0000"/>
                </a:solidFill>
              </a:rPr>
              <a:t/>
            </a:r>
            <a:br>
              <a:rPr lang="fr-FR" dirty="0" smtClean="0">
                <a:solidFill>
                  <a:srgbClr val="FF0000"/>
                </a:solidFill>
              </a:rPr>
            </a:br>
            <a:endParaRPr lang="fr-FR" dirty="0">
              <a:solidFill>
                <a:srgbClr val="FF0000"/>
              </a:solidFill>
            </a:endParaRPr>
          </a:p>
        </p:txBody>
      </p:sp>
      <p:sp>
        <p:nvSpPr>
          <p:cNvPr id="3" name="Espace réservé du contenu 2"/>
          <p:cNvSpPr>
            <a:spLocks noGrp="1"/>
          </p:cNvSpPr>
          <p:nvPr>
            <p:ph sz="quarter" idx="1"/>
          </p:nvPr>
        </p:nvSpPr>
        <p:spPr>
          <a:xfrm>
            <a:off x="457200" y="1600200"/>
            <a:ext cx="7829576" cy="5114948"/>
          </a:xfrm>
        </p:spPr>
        <p:txBody>
          <a:bodyPr/>
          <a:lstStyle/>
          <a:p>
            <a:pPr algn="just">
              <a:buNone/>
            </a:pPr>
            <a:r>
              <a:rPr lang="fr-FR" sz="3600" dirty="0" smtClean="0"/>
              <a:t>L’utilisation du Web facilite le travail. Cependant, il n’est possible d’en tirer profit que lorsque le candidat parvient à avoir un minimum de connaissances sur son sujet. </a:t>
            </a:r>
          </a:p>
          <a:p>
            <a:pPr algn="just">
              <a:buFont typeface="Wingdings" pitchFamily="2" charset="2"/>
              <a:buChar char="Ø"/>
            </a:pPr>
            <a:endParaRPr lang="fr-FR" dirty="0"/>
          </a:p>
        </p:txBody>
      </p:sp>
      <p:sp>
        <p:nvSpPr>
          <p:cNvPr id="4" name="Espace réservé du numéro de diapositive 3"/>
          <p:cNvSpPr>
            <a:spLocks noGrp="1"/>
          </p:cNvSpPr>
          <p:nvPr>
            <p:ph type="sldNum" sz="quarter" idx="15"/>
          </p:nvPr>
        </p:nvSpPr>
        <p:spPr/>
        <p:txBody>
          <a:bodyPr/>
          <a:lstStyle/>
          <a:p>
            <a:fld id="{1D258001-9BDA-447A-ADAB-646DC4D258D2}" type="slidenum">
              <a:rPr lang="fr-FR" smtClean="0"/>
              <a:pPr/>
              <a:t>17</a:t>
            </a:fld>
            <a:endParaRPr lang="fr-FR"/>
          </a:p>
        </p:txBody>
      </p:sp>
      <p:sp>
        <p:nvSpPr>
          <p:cNvPr id="5" name="Espace réservé du pied de page 4"/>
          <p:cNvSpPr>
            <a:spLocks noGrp="1"/>
          </p:cNvSpPr>
          <p:nvPr>
            <p:ph type="ftr" sz="quarter" idx="16"/>
          </p:nvPr>
        </p:nvSpPr>
        <p:spPr/>
        <p:txBody>
          <a:bodyPr/>
          <a:lstStyle/>
          <a:p>
            <a:r>
              <a:rPr lang="fr-FR" smtClean="0"/>
              <a:t>Rédaction Scientifique                                       Pr.H.F.Merouani</a:t>
            </a:r>
            <a:endParaRPr lang="fr-F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solidFill>
                  <a:srgbClr val="FF0000"/>
                </a:solidFill>
              </a:rPr>
              <a:t>Quand s’arrêter ?</a:t>
            </a:r>
            <a:br>
              <a:rPr lang="fr-FR" b="1" dirty="0" smtClean="0">
                <a:solidFill>
                  <a:srgbClr val="FF0000"/>
                </a:solidFill>
              </a:rPr>
            </a:br>
            <a:r>
              <a:rPr lang="fr-FR" dirty="0" smtClean="0"/>
              <a:t> </a:t>
            </a:r>
            <a:endParaRPr lang="fr-FR" dirty="0"/>
          </a:p>
        </p:txBody>
      </p:sp>
      <p:sp>
        <p:nvSpPr>
          <p:cNvPr id="3" name="Espace réservé du contenu 2"/>
          <p:cNvSpPr>
            <a:spLocks noGrp="1"/>
          </p:cNvSpPr>
          <p:nvPr>
            <p:ph sz="quarter" idx="1"/>
          </p:nvPr>
        </p:nvSpPr>
        <p:spPr/>
        <p:txBody>
          <a:bodyPr/>
          <a:lstStyle/>
          <a:p>
            <a:pPr>
              <a:buFont typeface="Wingdings" pitchFamily="2" charset="2"/>
              <a:buChar char="Ø"/>
            </a:pPr>
            <a:endParaRPr lang="fr-FR" dirty="0" smtClean="0"/>
          </a:p>
          <a:p>
            <a:pPr>
              <a:buFont typeface="Wingdings" pitchFamily="2" charset="2"/>
              <a:buChar char="Ø"/>
            </a:pPr>
            <a:r>
              <a:rPr lang="fr-FR" dirty="0" smtClean="0"/>
              <a:t>Une masse documentaire surabondante implique nécessairement une perte de la maîtrise du sujet </a:t>
            </a:r>
          </a:p>
          <a:p>
            <a:pPr>
              <a:buNone/>
            </a:pPr>
            <a:r>
              <a:rPr lang="fr-FR" b="1" dirty="0" smtClean="0">
                <a:solidFill>
                  <a:srgbClr val="0070C0"/>
                </a:solidFill>
              </a:rPr>
              <a:t>Alors, que faire ?</a:t>
            </a:r>
            <a:endParaRPr lang="fr-FR" dirty="0" smtClean="0">
              <a:solidFill>
                <a:srgbClr val="0070C0"/>
              </a:solidFill>
            </a:endParaRPr>
          </a:p>
          <a:p>
            <a:pPr lvl="0">
              <a:buFont typeface="Wingdings" pitchFamily="2" charset="2"/>
              <a:buChar char="Ø"/>
            </a:pPr>
            <a:r>
              <a:rPr lang="fr-FR" dirty="0" smtClean="0"/>
              <a:t>Ne pas compiler tous les articles existants</a:t>
            </a:r>
          </a:p>
          <a:p>
            <a:pPr lvl="0">
              <a:buFont typeface="Wingdings" pitchFamily="2" charset="2"/>
              <a:buChar char="Ø"/>
            </a:pPr>
            <a:r>
              <a:rPr lang="fr-FR" dirty="0" smtClean="0"/>
              <a:t>Opérer un choix et cibler des domaines précis (mots clés)</a:t>
            </a:r>
          </a:p>
          <a:p>
            <a:pPr lvl="0">
              <a:buFont typeface="Wingdings" pitchFamily="2" charset="2"/>
              <a:buChar char="Ø"/>
            </a:pPr>
            <a:r>
              <a:rPr lang="fr-FR" dirty="0" smtClean="0"/>
              <a:t>S’arrêter, Réitérer le processus de recherche au besoin</a:t>
            </a:r>
          </a:p>
          <a:p>
            <a:endParaRPr lang="fr-FR" dirty="0"/>
          </a:p>
        </p:txBody>
      </p:sp>
      <p:sp>
        <p:nvSpPr>
          <p:cNvPr id="4" name="Espace réservé du numéro de diapositive 3"/>
          <p:cNvSpPr>
            <a:spLocks noGrp="1"/>
          </p:cNvSpPr>
          <p:nvPr>
            <p:ph type="sldNum" sz="quarter" idx="15"/>
          </p:nvPr>
        </p:nvSpPr>
        <p:spPr/>
        <p:txBody>
          <a:bodyPr/>
          <a:lstStyle/>
          <a:p>
            <a:fld id="{1D258001-9BDA-447A-ADAB-646DC4D258D2}" type="slidenum">
              <a:rPr lang="fr-FR" smtClean="0"/>
              <a:pPr/>
              <a:t>18</a:t>
            </a:fld>
            <a:endParaRPr lang="fr-FR"/>
          </a:p>
        </p:txBody>
      </p:sp>
      <p:sp>
        <p:nvSpPr>
          <p:cNvPr id="5" name="Espace réservé du pied de page 4"/>
          <p:cNvSpPr>
            <a:spLocks noGrp="1"/>
          </p:cNvSpPr>
          <p:nvPr>
            <p:ph type="ftr" sz="quarter" idx="16"/>
          </p:nvPr>
        </p:nvSpPr>
        <p:spPr/>
        <p:txBody>
          <a:bodyPr/>
          <a:lstStyle/>
          <a:p>
            <a:r>
              <a:rPr lang="fr-FR" smtClean="0"/>
              <a:t>Rédaction Scientifique                                       Pr.H.F.Merouani</a:t>
            </a:r>
            <a:endParaRPr lang="fr-F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142852"/>
            <a:ext cx="7758138" cy="1274786"/>
          </a:xfrm>
        </p:spPr>
        <p:txBody>
          <a:bodyPr>
            <a:normAutofit fontScale="90000"/>
          </a:bodyPr>
          <a:lstStyle/>
          <a:p>
            <a:r>
              <a:rPr lang="fr-FR" b="1" i="1" dirty="0" smtClean="0"/>
              <a:t/>
            </a:r>
            <a:br>
              <a:rPr lang="fr-FR" b="1" i="1" dirty="0" smtClean="0"/>
            </a:br>
            <a:r>
              <a:rPr lang="fr-FR" b="1" i="1" dirty="0" smtClean="0">
                <a:solidFill>
                  <a:srgbClr val="FF0000"/>
                </a:solidFill>
              </a:rPr>
              <a:t>Réalisation du travail « Etape très dure »</a:t>
            </a:r>
            <a:br>
              <a:rPr lang="fr-FR" b="1" i="1" dirty="0" smtClean="0">
                <a:solidFill>
                  <a:srgbClr val="FF0000"/>
                </a:solidFill>
              </a:rPr>
            </a:br>
            <a:endParaRPr lang="fr-FR" dirty="0">
              <a:solidFill>
                <a:srgbClr val="FF0000"/>
              </a:solidFill>
            </a:endParaRPr>
          </a:p>
        </p:txBody>
      </p:sp>
      <p:sp>
        <p:nvSpPr>
          <p:cNvPr id="3" name="Espace réservé du contenu 2"/>
          <p:cNvSpPr>
            <a:spLocks noGrp="1"/>
          </p:cNvSpPr>
          <p:nvPr>
            <p:ph sz="quarter" idx="1"/>
          </p:nvPr>
        </p:nvSpPr>
        <p:spPr/>
        <p:txBody>
          <a:bodyPr/>
          <a:lstStyle/>
          <a:p>
            <a:pPr>
              <a:buFont typeface="Wingdings" pitchFamily="2" charset="2"/>
              <a:buChar char="Ø"/>
            </a:pPr>
            <a:r>
              <a:rPr lang="fr-FR" sz="3200" dirty="0" smtClean="0"/>
              <a:t>Elle a pour objectif</a:t>
            </a:r>
          </a:p>
          <a:p>
            <a:pPr lvl="0">
              <a:buFont typeface="Wingdings" pitchFamily="2" charset="2"/>
              <a:buChar char="Ø"/>
            </a:pPr>
            <a:r>
              <a:rPr lang="fr-FR" sz="3200" dirty="0" smtClean="0"/>
              <a:t>Synthétiser des connaissances,</a:t>
            </a:r>
          </a:p>
          <a:p>
            <a:pPr lvl="0">
              <a:buFont typeface="Wingdings" pitchFamily="2" charset="2"/>
              <a:buChar char="Ø"/>
            </a:pPr>
            <a:r>
              <a:rPr lang="fr-FR" sz="3200" dirty="0" smtClean="0"/>
              <a:t>Critiquer des approches,</a:t>
            </a:r>
          </a:p>
          <a:p>
            <a:pPr lvl="0">
              <a:buFont typeface="Wingdings" pitchFamily="2" charset="2"/>
              <a:buChar char="Ø"/>
            </a:pPr>
            <a:r>
              <a:rPr lang="fr-FR" sz="3200" dirty="0" smtClean="0"/>
              <a:t>Proposer une ou des solutions à un problème,</a:t>
            </a:r>
          </a:p>
          <a:p>
            <a:pPr lvl="0">
              <a:buFont typeface="Wingdings" pitchFamily="2" charset="2"/>
              <a:buChar char="Ø"/>
            </a:pPr>
            <a:r>
              <a:rPr lang="fr-FR" sz="3200" dirty="0" smtClean="0"/>
              <a:t>Formuler un article, un rapport, une thèse, etc.</a:t>
            </a:r>
          </a:p>
          <a:p>
            <a:pPr>
              <a:buNone/>
            </a:pPr>
            <a:r>
              <a:rPr lang="fr-FR" sz="3200" dirty="0" smtClean="0"/>
              <a:t> </a:t>
            </a:r>
            <a:endParaRPr lang="fr-FR" dirty="0"/>
          </a:p>
        </p:txBody>
      </p:sp>
      <p:sp>
        <p:nvSpPr>
          <p:cNvPr id="4" name="Espace réservé du numéro de diapositive 3"/>
          <p:cNvSpPr>
            <a:spLocks noGrp="1"/>
          </p:cNvSpPr>
          <p:nvPr>
            <p:ph type="sldNum" sz="quarter" idx="15"/>
          </p:nvPr>
        </p:nvSpPr>
        <p:spPr/>
        <p:txBody>
          <a:bodyPr/>
          <a:lstStyle/>
          <a:p>
            <a:fld id="{1D258001-9BDA-447A-ADAB-646DC4D258D2}" type="slidenum">
              <a:rPr lang="fr-FR" smtClean="0"/>
              <a:pPr/>
              <a:t>19</a:t>
            </a:fld>
            <a:endParaRPr lang="fr-FR"/>
          </a:p>
        </p:txBody>
      </p:sp>
      <p:sp>
        <p:nvSpPr>
          <p:cNvPr id="5" name="Espace réservé du pied de page 4"/>
          <p:cNvSpPr>
            <a:spLocks noGrp="1"/>
          </p:cNvSpPr>
          <p:nvPr>
            <p:ph type="ftr" sz="quarter" idx="16"/>
          </p:nvPr>
        </p:nvSpPr>
        <p:spPr/>
        <p:txBody>
          <a:bodyPr/>
          <a:lstStyle/>
          <a:p>
            <a:r>
              <a:rPr lang="fr-FR" smtClean="0"/>
              <a:t>Rédaction Scientifique                                       Pr.H.F.Merouani</a:t>
            </a:r>
            <a:endParaRPr lang="fr-F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r>
              <a:rPr lang="fr-FR" sz="3600" b="1" dirty="0" smtClean="0">
                <a:solidFill>
                  <a:srgbClr val="FF0000"/>
                </a:solidFill>
              </a:rPr>
              <a:t>Sur quoi compter ?</a:t>
            </a:r>
            <a:r>
              <a:rPr lang="fr-FR" sz="3600" dirty="0" smtClean="0">
                <a:solidFill>
                  <a:srgbClr val="FF0000"/>
                </a:solidFill>
              </a:rPr>
              <a:t/>
            </a:r>
            <a:br>
              <a:rPr lang="fr-FR" sz="3600" dirty="0" smtClean="0">
                <a:solidFill>
                  <a:srgbClr val="FF0000"/>
                </a:solidFill>
              </a:rPr>
            </a:br>
            <a:endParaRPr lang="fr-FR" sz="3600" dirty="0">
              <a:solidFill>
                <a:srgbClr val="FF0000"/>
              </a:solidFill>
            </a:endParaRPr>
          </a:p>
        </p:txBody>
      </p:sp>
      <p:sp>
        <p:nvSpPr>
          <p:cNvPr id="3" name="Espace réservé du contenu 2"/>
          <p:cNvSpPr>
            <a:spLocks noGrp="1"/>
          </p:cNvSpPr>
          <p:nvPr>
            <p:ph sz="quarter" idx="1"/>
          </p:nvPr>
        </p:nvSpPr>
        <p:spPr>
          <a:xfrm>
            <a:off x="457200" y="1285860"/>
            <a:ext cx="7467600" cy="5188092"/>
          </a:xfrm>
        </p:spPr>
        <p:txBody>
          <a:bodyPr/>
          <a:lstStyle/>
          <a:p>
            <a:pPr lvl="0">
              <a:buFont typeface="Wingdings" pitchFamily="2" charset="2"/>
              <a:buChar char="Ø"/>
            </a:pPr>
            <a:endParaRPr lang="fr-FR" sz="3200" dirty="0" smtClean="0"/>
          </a:p>
          <a:p>
            <a:pPr>
              <a:buFont typeface="Wingdings" pitchFamily="2" charset="2"/>
              <a:buChar char="Ø"/>
            </a:pPr>
            <a:r>
              <a:rPr lang="fr-FR" sz="3200" dirty="0" smtClean="0"/>
              <a:t>Volonté</a:t>
            </a:r>
          </a:p>
          <a:p>
            <a:pPr lvl="0">
              <a:buFont typeface="Wingdings" pitchFamily="2" charset="2"/>
              <a:buChar char="Ø"/>
            </a:pPr>
            <a:r>
              <a:rPr lang="fr-FR" sz="3200" dirty="0" smtClean="0"/>
              <a:t>Bonne formation</a:t>
            </a:r>
          </a:p>
          <a:p>
            <a:pPr lvl="0">
              <a:buFont typeface="Wingdings" pitchFamily="2" charset="2"/>
              <a:buChar char="Ø"/>
            </a:pPr>
            <a:r>
              <a:rPr lang="fr-FR" sz="3200" dirty="0" smtClean="0"/>
              <a:t>Bonne recherche Bibliographique </a:t>
            </a:r>
          </a:p>
          <a:p>
            <a:pPr lvl="0">
              <a:buFont typeface="Wingdings" pitchFamily="2" charset="2"/>
              <a:buChar char="Ø"/>
            </a:pPr>
            <a:r>
              <a:rPr lang="fr-FR" sz="3200" dirty="0" smtClean="0"/>
              <a:t>Eventuellement un directeur du travail</a:t>
            </a:r>
          </a:p>
          <a:p>
            <a:endParaRPr lang="fr-FR" dirty="0"/>
          </a:p>
        </p:txBody>
      </p:sp>
      <p:sp>
        <p:nvSpPr>
          <p:cNvPr id="4" name="Espace réservé du numéro de diapositive 3"/>
          <p:cNvSpPr>
            <a:spLocks noGrp="1"/>
          </p:cNvSpPr>
          <p:nvPr>
            <p:ph type="sldNum" sz="quarter" idx="15"/>
          </p:nvPr>
        </p:nvSpPr>
        <p:spPr/>
        <p:txBody>
          <a:bodyPr/>
          <a:lstStyle/>
          <a:p>
            <a:fld id="{1D258001-9BDA-447A-ADAB-646DC4D258D2}" type="slidenum">
              <a:rPr lang="fr-FR" smtClean="0"/>
              <a:pPr/>
              <a:t>20</a:t>
            </a:fld>
            <a:endParaRPr lang="fr-FR"/>
          </a:p>
        </p:txBody>
      </p:sp>
      <p:sp>
        <p:nvSpPr>
          <p:cNvPr id="5" name="Espace réservé du pied de page 4"/>
          <p:cNvSpPr>
            <a:spLocks noGrp="1"/>
          </p:cNvSpPr>
          <p:nvPr>
            <p:ph type="ftr" sz="quarter" idx="16"/>
          </p:nvPr>
        </p:nvSpPr>
        <p:spPr/>
        <p:txBody>
          <a:bodyPr/>
          <a:lstStyle/>
          <a:p>
            <a:r>
              <a:rPr lang="fr-FR" smtClean="0"/>
              <a:t>Rédaction Scientifique                                       Pr.H.F.Merouani</a:t>
            </a:r>
            <a:endParaRPr lang="fr-F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sz="4000" b="1" i="1" dirty="0" smtClean="0">
                <a:solidFill>
                  <a:srgbClr val="FF0000"/>
                </a:solidFill>
              </a:rPr>
              <a:t>Démarche (1)</a:t>
            </a:r>
            <a:r>
              <a:rPr lang="fr-FR" b="1" i="1" dirty="0" smtClean="0"/>
              <a:t/>
            </a:r>
            <a:br>
              <a:rPr lang="fr-FR" b="1" i="1" dirty="0" smtClean="0"/>
            </a:br>
            <a:endParaRPr lang="fr-FR" dirty="0"/>
          </a:p>
        </p:txBody>
      </p:sp>
      <p:sp>
        <p:nvSpPr>
          <p:cNvPr id="3" name="Espace réservé du pied de page 2"/>
          <p:cNvSpPr>
            <a:spLocks noGrp="1"/>
          </p:cNvSpPr>
          <p:nvPr>
            <p:ph type="ftr" sz="quarter" idx="11"/>
          </p:nvPr>
        </p:nvSpPr>
        <p:spPr/>
        <p:txBody>
          <a:bodyPr/>
          <a:lstStyle/>
          <a:p>
            <a:r>
              <a:rPr lang="fr-FR" smtClean="0"/>
              <a:t>Rédaction Scientifique                                       Pr.H.F.Merouani</a:t>
            </a:r>
            <a:endParaRPr lang="fr-FR"/>
          </a:p>
        </p:txBody>
      </p:sp>
      <p:sp>
        <p:nvSpPr>
          <p:cNvPr id="4" name="Espace réservé du numéro de diapositive 3"/>
          <p:cNvSpPr>
            <a:spLocks noGrp="1"/>
          </p:cNvSpPr>
          <p:nvPr>
            <p:ph type="sldNum" sz="quarter" idx="12"/>
          </p:nvPr>
        </p:nvSpPr>
        <p:spPr/>
        <p:txBody>
          <a:bodyPr/>
          <a:lstStyle/>
          <a:p>
            <a:fld id="{1D258001-9BDA-447A-ADAB-646DC4D258D2}" type="slidenum">
              <a:rPr lang="fr-FR" smtClean="0"/>
              <a:pPr/>
              <a:t>21</a:t>
            </a:fld>
            <a:endParaRPr lang="fr-FR"/>
          </a:p>
        </p:txBody>
      </p:sp>
      <p:sp>
        <p:nvSpPr>
          <p:cNvPr id="5" name="Espace réservé du contenu 4"/>
          <p:cNvSpPr>
            <a:spLocks noGrp="1"/>
          </p:cNvSpPr>
          <p:nvPr>
            <p:ph sz="quarter" idx="1"/>
          </p:nvPr>
        </p:nvSpPr>
        <p:spPr/>
        <p:txBody>
          <a:bodyPr>
            <a:normAutofit/>
          </a:bodyPr>
          <a:lstStyle/>
          <a:p>
            <a:pPr>
              <a:buNone/>
            </a:pPr>
            <a:endParaRPr lang="fr-FR" sz="3200" dirty="0" smtClean="0"/>
          </a:p>
          <a:p>
            <a:pPr>
              <a:buNone/>
            </a:pPr>
            <a:endParaRPr lang="fr-FR" sz="3200" dirty="0" smtClean="0"/>
          </a:p>
          <a:p>
            <a:pPr>
              <a:buNone/>
            </a:pPr>
            <a:r>
              <a:rPr lang="fr-FR" sz="3200" dirty="0" smtClean="0"/>
              <a:t>Regarder le sujet avec un certain recul</a:t>
            </a:r>
          </a:p>
          <a:p>
            <a:pPr>
              <a:buNone/>
            </a:pPr>
            <a:endParaRPr lang="fr-FR" sz="3200" dirty="0"/>
          </a:p>
        </p:txBody>
      </p:sp>
      <p:pic>
        <p:nvPicPr>
          <p:cNvPr id="7" name="Espace réservé du contenu 6"/>
          <p:cNvPicPr>
            <a:picLocks noGrp="1"/>
          </p:cNvPicPr>
          <p:nvPr>
            <p:ph sz="quarter" idx="2"/>
          </p:nvPr>
        </p:nvPicPr>
        <p:blipFill>
          <a:blip r:embed="rId2"/>
          <a:srcRect/>
          <a:stretch>
            <a:fillRect/>
          </a:stretch>
        </p:blipFill>
        <p:spPr bwMode="auto">
          <a:xfrm>
            <a:off x="4270375" y="1947790"/>
            <a:ext cx="3657600" cy="3876820"/>
          </a:xfrm>
          <a:prstGeom prst="rect">
            <a:avLst/>
          </a:prstGeom>
          <a:noFill/>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z="3200" b="1" i="1" dirty="0" smtClean="0">
                <a:solidFill>
                  <a:srgbClr val="FF0000"/>
                </a:solidFill>
              </a:rPr>
              <a:t>Démarche (2)</a:t>
            </a:r>
            <a:r>
              <a:rPr lang="fr-FR" b="1" i="1" dirty="0" smtClean="0"/>
              <a:t/>
            </a:r>
            <a:br>
              <a:rPr lang="fr-FR" b="1" i="1" dirty="0" smtClean="0"/>
            </a:br>
            <a:endParaRPr lang="fr-FR" dirty="0"/>
          </a:p>
        </p:txBody>
      </p:sp>
      <p:sp>
        <p:nvSpPr>
          <p:cNvPr id="3" name="Espace réservé du contenu 2"/>
          <p:cNvSpPr>
            <a:spLocks noGrp="1"/>
          </p:cNvSpPr>
          <p:nvPr>
            <p:ph sz="quarter" idx="1"/>
          </p:nvPr>
        </p:nvSpPr>
        <p:spPr/>
        <p:txBody>
          <a:bodyPr>
            <a:normAutofit/>
          </a:bodyPr>
          <a:lstStyle/>
          <a:p>
            <a:pPr>
              <a:buNone/>
            </a:pPr>
            <a:r>
              <a:rPr lang="fr-FR" sz="3600" dirty="0" smtClean="0"/>
              <a:t>Lire et relire la bibliographie étroitement liée au sujet!!!</a:t>
            </a:r>
          </a:p>
          <a:p>
            <a:pPr>
              <a:buNone/>
            </a:pPr>
            <a:endParaRPr lang="fr-FR" sz="3600" dirty="0"/>
          </a:p>
        </p:txBody>
      </p:sp>
      <p:sp>
        <p:nvSpPr>
          <p:cNvPr id="4" name="Espace réservé du numéro de diapositive 3"/>
          <p:cNvSpPr>
            <a:spLocks noGrp="1"/>
          </p:cNvSpPr>
          <p:nvPr>
            <p:ph type="sldNum" sz="quarter" idx="15"/>
          </p:nvPr>
        </p:nvSpPr>
        <p:spPr/>
        <p:txBody>
          <a:bodyPr/>
          <a:lstStyle/>
          <a:p>
            <a:fld id="{1D258001-9BDA-447A-ADAB-646DC4D258D2}" type="slidenum">
              <a:rPr lang="fr-FR" smtClean="0"/>
              <a:pPr/>
              <a:t>22</a:t>
            </a:fld>
            <a:endParaRPr lang="fr-FR"/>
          </a:p>
        </p:txBody>
      </p:sp>
      <p:sp>
        <p:nvSpPr>
          <p:cNvPr id="5" name="Espace réservé du pied de page 4"/>
          <p:cNvSpPr>
            <a:spLocks noGrp="1"/>
          </p:cNvSpPr>
          <p:nvPr>
            <p:ph type="ftr" sz="quarter" idx="16"/>
          </p:nvPr>
        </p:nvSpPr>
        <p:spPr/>
        <p:txBody>
          <a:bodyPr/>
          <a:lstStyle/>
          <a:p>
            <a:r>
              <a:rPr lang="fr-FR" smtClean="0"/>
              <a:t>Rédaction Scientifique                                       Pr.H.F.Merouani</a:t>
            </a:r>
            <a:endParaRPr lang="fr-F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571472" y="274638"/>
            <a:ext cx="7353328" cy="1154098"/>
          </a:xfrm>
        </p:spPr>
        <p:txBody>
          <a:bodyPr/>
          <a:lstStyle/>
          <a:p>
            <a:r>
              <a:rPr lang="fr-FR" sz="3200" b="1" i="1" dirty="0" smtClean="0">
                <a:solidFill>
                  <a:srgbClr val="FF0000"/>
                </a:solidFill>
              </a:rPr>
              <a:t>Démarche (3)</a:t>
            </a:r>
            <a:r>
              <a:rPr lang="fr-FR" b="1" i="1" dirty="0" smtClean="0"/>
              <a:t/>
            </a:r>
            <a:br>
              <a:rPr lang="fr-FR" b="1" i="1" dirty="0" smtClean="0"/>
            </a:br>
            <a:r>
              <a:rPr lang="fr-FR" b="1" i="1" dirty="0" smtClean="0">
                <a:solidFill>
                  <a:srgbClr val="0070C0"/>
                </a:solidFill>
              </a:rPr>
              <a:t>Analyse du sujet</a:t>
            </a:r>
            <a:endParaRPr lang="fr-FR" dirty="0">
              <a:solidFill>
                <a:srgbClr val="0070C0"/>
              </a:solidFill>
            </a:endParaRPr>
          </a:p>
        </p:txBody>
      </p:sp>
      <p:sp>
        <p:nvSpPr>
          <p:cNvPr id="4" name="Espace réservé du numéro de diapositive 3"/>
          <p:cNvSpPr>
            <a:spLocks noGrp="1"/>
          </p:cNvSpPr>
          <p:nvPr>
            <p:ph type="sldNum" sz="quarter" idx="15"/>
          </p:nvPr>
        </p:nvSpPr>
        <p:spPr/>
        <p:txBody>
          <a:bodyPr/>
          <a:lstStyle/>
          <a:p>
            <a:fld id="{1D258001-9BDA-447A-ADAB-646DC4D258D2}" type="slidenum">
              <a:rPr lang="fr-FR" smtClean="0"/>
              <a:pPr/>
              <a:t>23</a:t>
            </a:fld>
            <a:endParaRPr lang="fr-FR"/>
          </a:p>
        </p:txBody>
      </p:sp>
      <p:sp>
        <p:nvSpPr>
          <p:cNvPr id="5" name="Espace réservé du pied de page 4"/>
          <p:cNvSpPr>
            <a:spLocks noGrp="1"/>
          </p:cNvSpPr>
          <p:nvPr>
            <p:ph type="ftr" sz="quarter" idx="16"/>
          </p:nvPr>
        </p:nvSpPr>
        <p:spPr/>
        <p:txBody>
          <a:bodyPr/>
          <a:lstStyle/>
          <a:p>
            <a:r>
              <a:rPr lang="fr-FR" smtClean="0"/>
              <a:t>Rédaction Scientifique                                       Pr.H.F.Merouani</a:t>
            </a:r>
            <a:endParaRPr lang="fr-FR"/>
          </a:p>
        </p:txBody>
      </p:sp>
      <p:pic>
        <p:nvPicPr>
          <p:cNvPr id="6" name="Espace réservé du contenu 5"/>
          <p:cNvPicPr>
            <a:picLocks noGrp="1"/>
          </p:cNvPicPr>
          <p:nvPr>
            <p:ph sz="quarter" idx="1"/>
          </p:nvPr>
        </p:nvPicPr>
        <p:blipFill>
          <a:blip r:embed="rId2"/>
          <a:srcRect/>
          <a:stretch>
            <a:fillRect/>
          </a:stretch>
        </p:blipFill>
        <p:spPr bwMode="auto">
          <a:xfrm>
            <a:off x="6357950" y="714356"/>
            <a:ext cx="2071702" cy="2643206"/>
          </a:xfrm>
          <a:prstGeom prst="rect">
            <a:avLst/>
          </a:prstGeom>
          <a:noFill/>
        </p:spPr>
      </p:pic>
      <p:sp>
        <p:nvSpPr>
          <p:cNvPr id="7" name="Rectangle 6"/>
          <p:cNvSpPr/>
          <p:nvPr/>
        </p:nvSpPr>
        <p:spPr>
          <a:xfrm>
            <a:off x="357158" y="2500306"/>
            <a:ext cx="6500858" cy="8032968"/>
          </a:xfrm>
          <a:prstGeom prst="rect">
            <a:avLst/>
          </a:prstGeom>
        </p:spPr>
        <p:txBody>
          <a:bodyPr wrap="square">
            <a:spAutoFit/>
          </a:bodyPr>
          <a:lstStyle/>
          <a:p>
            <a:r>
              <a:rPr lang="fr-FR" dirty="0" smtClean="0"/>
              <a:t>Se poser des questions sur l’utilité des tâches entreprise : </a:t>
            </a:r>
          </a:p>
          <a:p>
            <a:endParaRPr lang="fr-FR" dirty="0" smtClean="0"/>
          </a:p>
          <a:p>
            <a:pPr>
              <a:buFont typeface="Wingdings" pitchFamily="2" charset="2"/>
              <a:buChar char="Ø"/>
            </a:pPr>
            <a:r>
              <a:rPr lang="fr-FR" sz="2400" dirty="0" smtClean="0">
                <a:solidFill>
                  <a:srgbClr val="0070C0"/>
                </a:solidFill>
              </a:rPr>
              <a:t>QUI</a:t>
            </a:r>
            <a:r>
              <a:rPr lang="fr-FR" sz="2400" dirty="0" smtClean="0"/>
              <a:t> ; </a:t>
            </a:r>
            <a:r>
              <a:rPr lang="fr-FR" dirty="0" smtClean="0"/>
              <a:t>les personnes ou groupes de personnes visés par le sujet</a:t>
            </a:r>
          </a:p>
          <a:p>
            <a:pPr>
              <a:buClr>
                <a:schemeClr val="accent2">
                  <a:lumMod val="75000"/>
                </a:schemeClr>
              </a:buClr>
              <a:buFont typeface="Wingdings" pitchFamily="2" charset="2"/>
              <a:buChar char="Ø"/>
            </a:pPr>
            <a:r>
              <a:rPr lang="fr-FR" sz="2400" dirty="0" smtClean="0">
                <a:solidFill>
                  <a:srgbClr val="0070C0"/>
                </a:solidFill>
              </a:rPr>
              <a:t>QUOI</a:t>
            </a:r>
            <a:r>
              <a:rPr lang="fr-FR" sz="2400" dirty="0" smtClean="0"/>
              <a:t>; </a:t>
            </a:r>
            <a:r>
              <a:rPr lang="fr-FR" dirty="0" smtClean="0"/>
              <a:t>Quel est précisément l’objet de votre étude? </a:t>
            </a:r>
          </a:p>
          <a:p>
            <a:pPr>
              <a:buClr>
                <a:schemeClr val="accent2">
                  <a:lumMod val="75000"/>
                </a:schemeClr>
              </a:buClr>
              <a:buFont typeface="Wingdings" pitchFamily="2" charset="2"/>
              <a:buChar char="Ø"/>
            </a:pPr>
            <a:r>
              <a:rPr lang="fr-FR" sz="2400" dirty="0" smtClean="0">
                <a:solidFill>
                  <a:srgbClr val="0070C0"/>
                </a:solidFill>
              </a:rPr>
              <a:t>QUAND;</a:t>
            </a:r>
            <a:r>
              <a:rPr lang="fr-FR" dirty="0" smtClean="0">
                <a:solidFill>
                  <a:srgbClr val="0070C0"/>
                </a:solidFill>
              </a:rPr>
              <a:t> </a:t>
            </a:r>
            <a:r>
              <a:rPr lang="fr-FR" dirty="0" smtClean="0"/>
              <a:t>Quelle est la période du sujet, et sa durée ?</a:t>
            </a:r>
          </a:p>
          <a:p>
            <a:pPr>
              <a:buClr>
                <a:schemeClr val="accent2">
                  <a:lumMod val="75000"/>
                </a:schemeClr>
              </a:buClr>
              <a:buFont typeface="Wingdings" pitchFamily="2" charset="2"/>
              <a:buChar char="Ø"/>
            </a:pPr>
            <a:r>
              <a:rPr lang="fr-FR" sz="2400" dirty="0" smtClean="0">
                <a:solidFill>
                  <a:srgbClr val="0070C0"/>
                </a:solidFill>
              </a:rPr>
              <a:t>OU</a:t>
            </a:r>
            <a:r>
              <a:rPr lang="fr-FR" sz="2400" dirty="0" smtClean="0"/>
              <a:t>;</a:t>
            </a:r>
            <a:r>
              <a:rPr lang="fr-FR" dirty="0" smtClean="0"/>
              <a:t> Quelle est la zone géographique que vous avez choisi de traiter ?</a:t>
            </a:r>
          </a:p>
          <a:p>
            <a:pPr>
              <a:buClr>
                <a:schemeClr val="accent2">
                  <a:lumMod val="75000"/>
                </a:schemeClr>
              </a:buClr>
              <a:buFont typeface="Wingdings" pitchFamily="2" charset="2"/>
              <a:buChar char="Ø"/>
            </a:pPr>
            <a:r>
              <a:rPr lang="fr-FR" sz="2400" dirty="0" smtClean="0">
                <a:solidFill>
                  <a:srgbClr val="0070C0"/>
                </a:solidFill>
              </a:rPr>
              <a:t>COMMENT; </a:t>
            </a:r>
            <a:r>
              <a:rPr lang="fr-FR" dirty="0" smtClean="0"/>
              <a:t>Votre sujet implique t-il d’évaluer des moyens mis en œuvre</a:t>
            </a:r>
            <a:r>
              <a:rPr lang="fr-FR" sz="2400" dirty="0" smtClean="0"/>
              <a:t>, </a:t>
            </a:r>
            <a:r>
              <a:rPr lang="fr-FR" dirty="0" smtClean="0"/>
              <a:t>éventuellement sur un terrain ?</a:t>
            </a:r>
            <a:endParaRPr lang="fr-FR" dirty="0" smtClean="0">
              <a:solidFill>
                <a:srgbClr val="0070C0"/>
              </a:solidFill>
            </a:endParaRPr>
          </a:p>
          <a:p>
            <a:pPr>
              <a:buClr>
                <a:schemeClr val="accent2">
                  <a:lumMod val="75000"/>
                </a:schemeClr>
              </a:buClr>
              <a:buFont typeface="Wingdings" pitchFamily="2" charset="2"/>
              <a:buChar char="Ø"/>
            </a:pPr>
            <a:r>
              <a:rPr lang="fr-FR" sz="2400" dirty="0" smtClean="0">
                <a:solidFill>
                  <a:srgbClr val="0070C0"/>
                </a:solidFill>
              </a:rPr>
              <a:t>POURQUOI, </a:t>
            </a:r>
            <a:r>
              <a:rPr lang="fr-FR" dirty="0" smtClean="0"/>
              <a:t>les causes et les conséquences ?</a:t>
            </a:r>
            <a:r>
              <a:rPr lang="fr-FR" dirty="0" smtClean="0">
                <a:solidFill>
                  <a:srgbClr val="0070C0"/>
                </a:solidFill>
              </a:rPr>
              <a:t>;</a:t>
            </a:r>
            <a:endParaRPr lang="fr-FR" dirty="0" smtClean="0"/>
          </a:p>
          <a:p>
            <a:pPr>
              <a:buClr>
                <a:schemeClr val="accent2">
                  <a:lumMod val="75000"/>
                </a:schemeClr>
              </a:buClr>
              <a:buFont typeface="Wingdings" pitchFamily="2" charset="2"/>
              <a:buChar char="Ø"/>
            </a:pPr>
            <a:endParaRPr lang="fr-FR" sz="2400" dirty="0" smtClean="0"/>
          </a:p>
          <a:p>
            <a:endParaRPr lang="fr-FR" dirty="0" smtClean="0"/>
          </a:p>
          <a:p>
            <a:endParaRPr lang="fr-FR" dirty="0" smtClean="0"/>
          </a:p>
          <a:p>
            <a:r>
              <a:rPr lang="fr-FR" dirty="0" smtClean="0"/>
              <a:t> </a:t>
            </a:r>
          </a:p>
          <a:p>
            <a:endParaRPr lang="fr-FR" dirty="0" smtClean="0"/>
          </a:p>
          <a:p>
            <a:endParaRPr lang="fr-FR" dirty="0" smtClean="0"/>
          </a:p>
          <a:p>
            <a:endParaRPr lang="fr-FR" dirty="0" smtClean="0"/>
          </a:p>
          <a:p>
            <a:endParaRPr lang="fr-FR" dirty="0" smtClean="0"/>
          </a:p>
          <a:p>
            <a:endParaRPr lang="fr-FR" dirty="0" smtClean="0"/>
          </a:p>
          <a:p>
            <a:endParaRPr lang="fr-FR" dirty="0" smtClean="0"/>
          </a:p>
          <a:p>
            <a:endParaRPr lang="fr-FR" dirty="0" smtClean="0"/>
          </a:p>
          <a:p>
            <a:endParaRPr lang="fr-FR" dirty="0" smtClean="0"/>
          </a:p>
          <a:p>
            <a:endParaRPr lang="fr-FR" dirty="0" smtClean="0"/>
          </a:p>
          <a:p>
            <a:endParaRPr lang="fr-FR" dirty="0" smtClean="0"/>
          </a:p>
          <a:p>
            <a:endParaRPr lang="fr-FR" dirty="0"/>
          </a:p>
        </p:txBody>
      </p:sp>
      <p:sp>
        <p:nvSpPr>
          <p:cNvPr id="2053"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justLow" defTabSz="914400" rtl="0" eaLnBrk="1" fontAlgn="base" latinLnBrk="0" hangingPunct="1">
              <a:lnSpc>
                <a:spcPct val="100000"/>
              </a:lnSpc>
              <a:spcBef>
                <a:spcPct val="0"/>
              </a:spcBef>
              <a:spcAft>
                <a:spcPct val="0"/>
              </a:spcAft>
              <a:buClrTx/>
              <a:buSzTx/>
              <a:buFontTx/>
              <a:buNone/>
              <a:tabLst/>
            </a:pPr>
            <a:endParaRPr kumimoji="0" lang="fr-FR" sz="1800" b="0" i="0" u="none" strike="noStrike" cap="none" normalizeH="0" baseline="0" smtClean="0">
              <a:ln>
                <a:noFill/>
              </a:ln>
              <a:solidFill>
                <a:schemeClr val="tx1"/>
              </a:solidFill>
              <a:effectLst/>
              <a:latin typeface="Arial" pitchFamily="34" charset="0"/>
              <a:cs typeface="Arial" pitchFamily="34" charset="0"/>
            </a:endParaRPr>
          </a:p>
        </p:txBody>
      </p:sp>
      <p:sp>
        <p:nvSpPr>
          <p:cNvPr id="2056" name="Rectangle 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justLow" defTabSz="914400" rtl="0" eaLnBrk="1" fontAlgn="base" latinLnBrk="0" hangingPunct="1">
              <a:lnSpc>
                <a:spcPct val="100000"/>
              </a:lnSpc>
              <a:spcBef>
                <a:spcPct val="0"/>
              </a:spcBef>
              <a:spcAft>
                <a:spcPct val="0"/>
              </a:spcAft>
              <a:buClrTx/>
              <a:buSzTx/>
              <a:buFontTx/>
              <a:buNone/>
              <a:tabLst/>
            </a:pPr>
            <a:endParaRPr kumimoji="0" lang="fr-FR" sz="1800" b="0" i="0" u="none" strike="noStrike" cap="none" normalizeH="0" baseline="0" smtClean="0">
              <a:ln>
                <a:noFill/>
              </a:ln>
              <a:solidFill>
                <a:schemeClr val="tx1"/>
              </a:solidFill>
              <a:effectLst/>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z="2800" b="1" i="1" dirty="0" smtClean="0">
                <a:solidFill>
                  <a:srgbClr val="FF0000"/>
                </a:solidFill>
              </a:rPr>
              <a:t>Démarche (4)</a:t>
            </a:r>
            <a:endParaRPr lang="fr-FR" dirty="0"/>
          </a:p>
        </p:txBody>
      </p:sp>
      <p:sp>
        <p:nvSpPr>
          <p:cNvPr id="3" name="Espace réservé du contenu 2"/>
          <p:cNvSpPr>
            <a:spLocks noGrp="1"/>
          </p:cNvSpPr>
          <p:nvPr>
            <p:ph sz="quarter" idx="1"/>
          </p:nvPr>
        </p:nvSpPr>
        <p:spPr/>
        <p:txBody>
          <a:bodyPr/>
          <a:lstStyle/>
          <a:p>
            <a:pPr algn="just">
              <a:buFont typeface="Wingdings" pitchFamily="2" charset="2"/>
              <a:buChar char="Ø"/>
            </a:pPr>
            <a:r>
              <a:rPr lang="fr-FR" sz="3200" dirty="0" smtClean="0"/>
              <a:t>Etablir un plan et fixer des échéances. </a:t>
            </a:r>
          </a:p>
          <a:p>
            <a:pPr algn="just">
              <a:buFont typeface="Wingdings" pitchFamily="2" charset="2"/>
              <a:buChar char="Ø"/>
            </a:pPr>
            <a:r>
              <a:rPr lang="fr-FR" sz="3200" dirty="0" smtClean="0"/>
              <a:t>Classer la bibliographie </a:t>
            </a:r>
          </a:p>
          <a:p>
            <a:pPr algn="just">
              <a:buFont typeface="Wingdings" pitchFamily="2" charset="2"/>
              <a:buChar char="Ø"/>
            </a:pPr>
            <a:r>
              <a:rPr lang="fr-FR" sz="3200" dirty="0" smtClean="0"/>
              <a:t>Faire un plan avec des mots clés</a:t>
            </a:r>
          </a:p>
          <a:p>
            <a:pPr algn="just">
              <a:buFont typeface="Wingdings" pitchFamily="2" charset="2"/>
              <a:buChar char="Ø"/>
            </a:pPr>
            <a:r>
              <a:rPr lang="fr-FR" sz="3200" i="1" dirty="0" smtClean="0">
                <a:solidFill>
                  <a:srgbClr val="0070C0"/>
                </a:solidFill>
              </a:rPr>
              <a:t> Avoir en permanence une approche de raffinements successifs : du plus général au plus détaillé</a:t>
            </a:r>
          </a:p>
          <a:p>
            <a:endParaRPr lang="fr-FR" dirty="0"/>
          </a:p>
        </p:txBody>
      </p:sp>
      <p:sp>
        <p:nvSpPr>
          <p:cNvPr id="4" name="Espace réservé du numéro de diapositive 3"/>
          <p:cNvSpPr>
            <a:spLocks noGrp="1"/>
          </p:cNvSpPr>
          <p:nvPr>
            <p:ph type="sldNum" sz="quarter" idx="15"/>
          </p:nvPr>
        </p:nvSpPr>
        <p:spPr/>
        <p:txBody>
          <a:bodyPr/>
          <a:lstStyle/>
          <a:p>
            <a:fld id="{1D258001-9BDA-447A-ADAB-646DC4D258D2}" type="slidenum">
              <a:rPr lang="fr-FR" smtClean="0"/>
              <a:pPr/>
              <a:t>24</a:t>
            </a:fld>
            <a:endParaRPr lang="fr-FR" dirty="0"/>
          </a:p>
        </p:txBody>
      </p:sp>
      <p:sp>
        <p:nvSpPr>
          <p:cNvPr id="5" name="Espace réservé du pied de page 4"/>
          <p:cNvSpPr>
            <a:spLocks noGrp="1"/>
          </p:cNvSpPr>
          <p:nvPr>
            <p:ph type="ftr" sz="quarter" idx="16"/>
          </p:nvPr>
        </p:nvSpPr>
        <p:spPr/>
        <p:txBody>
          <a:bodyPr/>
          <a:lstStyle/>
          <a:p>
            <a:r>
              <a:rPr lang="fr-FR" dirty="0" smtClean="0"/>
              <a:t>Rédaction Scientifique                                       </a:t>
            </a:r>
            <a:r>
              <a:rPr lang="fr-FR" dirty="0" err="1" smtClean="0"/>
              <a:t>Pr.H.F.Merouani</a:t>
            </a:r>
            <a:endParaRPr lang="fr-FR"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t>Les étapes d’analyse du sujet</a:t>
            </a:r>
            <a:endParaRPr lang="fr-FR" dirty="0"/>
          </a:p>
        </p:txBody>
      </p:sp>
      <p:sp>
        <p:nvSpPr>
          <p:cNvPr id="4" name="Espace réservé du numéro de diapositive 3"/>
          <p:cNvSpPr>
            <a:spLocks noGrp="1"/>
          </p:cNvSpPr>
          <p:nvPr>
            <p:ph type="sldNum" sz="quarter" idx="15"/>
          </p:nvPr>
        </p:nvSpPr>
        <p:spPr/>
        <p:txBody>
          <a:bodyPr/>
          <a:lstStyle/>
          <a:p>
            <a:fld id="{1D258001-9BDA-447A-ADAB-646DC4D258D2}" type="slidenum">
              <a:rPr lang="fr-FR" smtClean="0"/>
              <a:pPr/>
              <a:t>25</a:t>
            </a:fld>
            <a:endParaRPr lang="fr-FR"/>
          </a:p>
        </p:txBody>
      </p:sp>
      <p:sp>
        <p:nvSpPr>
          <p:cNvPr id="5" name="Espace réservé du pied de page 4"/>
          <p:cNvSpPr>
            <a:spLocks noGrp="1"/>
          </p:cNvSpPr>
          <p:nvPr>
            <p:ph type="ftr" sz="quarter" idx="16"/>
          </p:nvPr>
        </p:nvSpPr>
        <p:spPr/>
        <p:txBody>
          <a:bodyPr/>
          <a:lstStyle/>
          <a:p>
            <a:r>
              <a:rPr lang="fr-FR" smtClean="0"/>
              <a:t>Rédaction Scientifique                                       Pr.H.F.Merouani</a:t>
            </a:r>
            <a:endParaRPr lang="fr-FR"/>
          </a:p>
        </p:txBody>
      </p:sp>
      <p:pic>
        <p:nvPicPr>
          <p:cNvPr id="30722" name="Picture 2"/>
          <p:cNvPicPr>
            <a:picLocks noGrp="1" noChangeAspect="1" noChangeArrowheads="1"/>
          </p:cNvPicPr>
          <p:nvPr>
            <p:ph sz="quarter" idx="1"/>
          </p:nvPr>
        </p:nvPicPr>
        <p:blipFill>
          <a:blip r:embed="rId2"/>
          <a:srcRect/>
          <a:stretch>
            <a:fillRect/>
          </a:stretch>
        </p:blipFill>
        <p:spPr bwMode="auto">
          <a:xfrm>
            <a:off x="834069" y="2000240"/>
            <a:ext cx="7111873" cy="414340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solidFill>
                  <a:srgbClr val="FF0000"/>
                </a:solidFill>
              </a:rPr>
              <a:t>Cerner le sujet :</a:t>
            </a:r>
            <a:r>
              <a:rPr lang="fr-FR" dirty="0" smtClean="0"/>
              <a:t/>
            </a:r>
            <a:br>
              <a:rPr lang="fr-FR" dirty="0" smtClean="0"/>
            </a:br>
            <a:endParaRPr lang="fr-FR" dirty="0"/>
          </a:p>
        </p:txBody>
      </p:sp>
      <p:sp>
        <p:nvSpPr>
          <p:cNvPr id="3" name="Espace réservé du contenu 2"/>
          <p:cNvSpPr>
            <a:spLocks noGrp="1"/>
          </p:cNvSpPr>
          <p:nvPr>
            <p:ph sz="quarter" idx="1"/>
          </p:nvPr>
        </p:nvSpPr>
        <p:spPr/>
        <p:txBody>
          <a:bodyPr/>
          <a:lstStyle/>
          <a:p>
            <a:endParaRPr lang="fr-FR" dirty="0" smtClean="0"/>
          </a:p>
          <a:p>
            <a:pPr>
              <a:buFont typeface="Wingdings" pitchFamily="2" charset="2"/>
              <a:buChar char="Ø"/>
            </a:pPr>
            <a:r>
              <a:rPr lang="fr-FR" dirty="0" smtClean="0"/>
              <a:t>Lui fixer des bornes et des limites pour savoir exactement ce que vous allez traiter, et ce que vous ne traiterez pas.</a:t>
            </a:r>
          </a:p>
          <a:p>
            <a:pPr>
              <a:buFont typeface="Wingdings" pitchFamily="2" charset="2"/>
              <a:buChar char="Ø"/>
            </a:pPr>
            <a:r>
              <a:rPr lang="fr-FR" dirty="0" smtClean="0"/>
              <a:t>Nécessaire pour ne pas s’égarer, oblige à se poser les bonnes questions.</a:t>
            </a:r>
          </a:p>
          <a:p>
            <a:pPr>
              <a:buFont typeface="Wingdings" pitchFamily="2" charset="2"/>
              <a:buChar char="Ø"/>
            </a:pPr>
            <a:r>
              <a:rPr lang="fr-FR" dirty="0" smtClean="0"/>
              <a:t>Et surtout, renoncer à la tentation de l’exhaustivité!</a:t>
            </a:r>
          </a:p>
          <a:p>
            <a:endParaRPr lang="fr-FR" dirty="0"/>
          </a:p>
        </p:txBody>
      </p:sp>
      <p:sp>
        <p:nvSpPr>
          <p:cNvPr id="4" name="Espace réservé du numéro de diapositive 3"/>
          <p:cNvSpPr>
            <a:spLocks noGrp="1"/>
          </p:cNvSpPr>
          <p:nvPr>
            <p:ph type="sldNum" sz="quarter" idx="15"/>
          </p:nvPr>
        </p:nvSpPr>
        <p:spPr/>
        <p:txBody>
          <a:bodyPr/>
          <a:lstStyle/>
          <a:p>
            <a:fld id="{1D258001-9BDA-447A-ADAB-646DC4D258D2}" type="slidenum">
              <a:rPr lang="fr-FR" smtClean="0"/>
              <a:pPr/>
              <a:t>26</a:t>
            </a:fld>
            <a:endParaRPr lang="fr-FR"/>
          </a:p>
        </p:txBody>
      </p:sp>
      <p:sp>
        <p:nvSpPr>
          <p:cNvPr id="5" name="Espace réservé du pied de page 4"/>
          <p:cNvSpPr>
            <a:spLocks noGrp="1"/>
          </p:cNvSpPr>
          <p:nvPr>
            <p:ph type="ftr" sz="quarter" idx="16"/>
          </p:nvPr>
        </p:nvSpPr>
        <p:spPr/>
        <p:txBody>
          <a:bodyPr/>
          <a:lstStyle/>
          <a:p>
            <a:r>
              <a:rPr lang="fr-FR" smtClean="0"/>
              <a:t>Rédaction Scientifique                                       Pr.H.F.Merouani</a:t>
            </a:r>
            <a:endParaRPr lang="fr-F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solidFill>
                  <a:srgbClr val="FF0000"/>
                </a:solidFill>
              </a:rPr>
              <a:t>Déployer le sujet :</a:t>
            </a:r>
            <a:endParaRPr lang="fr-FR" dirty="0">
              <a:solidFill>
                <a:srgbClr val="FF0000"/>
              </a:solidFill>
            </a:endParaRPr>
          </a:p>
        </p:txBody>
      </p:sp>
      <p:sp>
        <p:nvSpPr>
          <p:cNvPr id="3" name="Espace réservé du contenu 2"/>
          <p:cNvSpPr>
            <a:spLocks noGrp="1"/>
          </p:cNvSpPr>
          <p:nvPr>
            <p:ph sz="quarter" idx="1"/>
          </p:nvPr>
        </p:nvSpPr>
        <p:spPr/>
        <p:txBody>
          <a:bodyPr/>
          <a:lstStyle/>
          <a:p>
            <a:endParaRPr lang="fr-FR" dirty="0" smtClean="0"/>
          </a:p>
          <a:p>
            <a:pPr>
              <a:buFont typeface="Wingdings" pitchFamily="2" charset="2"/>
              <a:buChar char="Ø"/>
            </a:pPr>
            <a:r>
              <a:rPr lang="fr-FR" sz="2800" dirty="0" smtClean="0"/>
              <a:t>Identifier les différents aspects</a:t>
            </a:r>
          </a:p>
          <a:p>
            <a:pPr>
              <a:buFont typeface="Wingdings" pitchFamily="2" charset="2"/>
              <a:buChar char="Ø"/>
            </a:pPr>
            <a:r>
              <a:rPr lang="fr-FR" sz="2800" dirty="0" smtClean="0"/>
              <a:t>Décliner des questions secondaires soulevées par la question centrale.</a:t>
            </a:r>
          </a:p>
          <a:p>
            <a:pPr>
              <a:buFont typeface="Wingdings" pitchFamily="2" charset="2"/>
              <a:buChar char="Ø"/>
            </a:pPr>
            <a:r>
              <a:rPr lang="fr-FR" sz="2800" dirty="0" smtClean="0"/>
              <a:t>Repérer les différents points de vue, les champs de recherche. L’interdisciplinarité est toujours intéressante.</a:t>
            </a:r>
          </a:p>
          <a:p>
            <a:pPr>
              <a:buNone/>
            </a:pPr>
            <a:r>
              <a:rPr lang="fr-FR" dirty="0" smtClean="0">
                <a:solidFill>
                  <a:srgbClr val="0070C0"/>
                </a:solidFill>
              </a:rPr>
              <a:t>Objectifs :</a:t>
            </a:r>
            <a:r>
              <a:rPr lang="fr-FR" dirty="0" smtClean="0"/>
              <a:t> </a:t>
            </a:r>
          </a:p>
          <a:p>
            <a:pPr>
              <a:buFont typeface="Wingdings" pitchFamily="2" charset="2"/>
              <a:buChar char="Ø"/>
            </a:pPr>
            <a:r>
              <a:rPr lang="fr-FR" dirty="0" smtClean="0"/>
              <a:t>Ne pas rater un aspect essentiel, </a:t>
            </a:r>
          </a:p>
          <a:p>
            <a:pPr>
              <a:buFont typeface="Wingdings" pitchFamily="2" charset="2"/>
              <a:buChar char="Ø"/>
            </a:pPr>
            <a:r>
              <a:rPr lang="fr-FR" dirty="0" smtClean="0"/>
              <a:t>Construire progressivement la problématique.</a:t>
            </a:r>
          </a:p>
          <a:p>
            <a:endParaRPr lang="fr-FR" dirty="0"/>
          </a:p>
        </p:txBody>
      </p:sp>
      <p:sp>
        <p:nvSpPr>
          <p:cNvPr id="4" name="Espace réservé du numéro de diapositive 3"/>
          <p:cNvSpPr>
            <a:spLocks noGrp="1"/>
          </p:cNvSpPr>
          <p:nvPr>
            <p:ph type="sldNum" sz="quarter" idx="15"/>
          </p:nvPr>
        </p:nvSpPr>
        <p:spPr/>
        <p:txBody>
          <a:bodyPr/>
          <a:lstStyle/>
          <a:p>
            <a:fld id="{1D258001-9BDA-447A-ADAB-646DC4D258D2}" type="slidenum">
              <a:rPr lang="fr-FR" smtClean="0"/>
              <a:pPr/>
              <a:t>27</a:t>
            </a:fld>
            <a:endParaRPr lang="fr-FR"/>
          </a:p>
        </p:txBody>
      </p:sp>
      <p:sp>
        <p:nvSpPr>
          <p:cNvPr id="5" name="Espace réservé du pied de page 4"/>
          <p:cNvSpPr>
            <a:spLocks noGrp="1"/>
          </p:cNvSpPr>
          <p:nvPr>
            <p:ph type="ftr" sz="quarter" idx="16"/>
          </p:nvPr>
        </p:nvSpPr>
        <p:spPr/>
        <p:txBody>
          <a:bodyPr/>
          <a:lstStyle/>
          <a:p>
            <a:r>
              <a:rPr lang="fr-FR" smtClean="0"/>
              <a:t>Rédaction Scientifique                                       Pr.H.F.Merouani</a:t>
            </a:r>
            <a:endParaRPr lang="fr-F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solidFill>
                  <a:srgbClr val="FF0000"/>
                </a:solidFill>
              </a:rPr>
              <a:t>Finalement</a:t>
            </a:r>
            <a:endParaRPr lang="fr-FR" dirty="0">
              <a:solidFill>
                <a:srgbClr val="FF0000"/>
              </a:solidFill>
            </a:endParaRPr>
          </a:p>
        </p:txBody>
      </p:sp>
      <p:sp>
        <p:nvSpPr>
          <p:cNvPr id="3" name="Espace réservé du contenu 2"/>
          <p:cNvSpPr>
            <a:spLocks noGrp="1"/>
          </p:cNvSpPr>
          <p:nvPr>
            <p:ph sz="quarter" idx="1"/>
          </p:nvPr>
        </p:nvSpPr>
        <p:spPr>
          <a:xfrm>
            <a:off x="457200" y="1600200"/>
            <a:ext cx="7901014" cy="4873752"/>
          </a:xfrm>
        </p:spPr>
        <p:txBody>
          <a:bodyPr>
            <a:normAutofit fontScale="92500"/>
          </a:bodyPr>
          <a:lstStyle/>
          <a:p>
            <a:pPr algn="just">
              <a:buNone/>
            </a:pPr>
            <a:r>
              <a:rPr lang="fr-FR" sz="2600" dirty="0" smtClean="0"/>
              <a:t>Au final, mettre tous ces préalables par écrit doit aussi vous aider à préparer votre recherche documentaire :</a:t>
            </a:r>
          </a:p>
          <a:p>
            <a:pPr algn="just">
              <a:buFont typeface="Wingdings" pitchFamily="2" charset="2"/>
              <a:buChar char="Ø"/>
            </a:pPr>
            <a:r>
              <a:rPr lang="fr-FR" sz="2600" dirty="0" smtClean="0"/>
              <a:t>Pour vous permettre de trouver une liste de mots clés, pour vous faire une idée plus précise du type de documents nécessaires pour votre sujet.</a:t>
            </a:r>
          </a:p>
          <a:p>
            <a:pPr algn="just">
              <a:buFont typeface="Wingdings" pitchFamily="2" charset="2"/>
              <a:buChar char="Ø"/>
            </a:pPr>
            <a:r>
              <a:rPr lang="fr-FR" sz="2600" dirty="0" smtClean="0"/>
              <a:t>Pour vous permettre d’organiser votre recherche en sous-thèmes et vérifier que votre documentation vous permettra d’aborder l’ensemble des aspects que vous avez choisi de traiter.</a:t>
            </a:r>
          </a:p>
          <a:p>
            <a:pPr algn="just">
              <a:buFont typeface="Wingdings" pitchFamily="2" charset="2"/>
              <a:buChar char="v"/>
            </a:pPr>
            <a:r>
              <a:rPr lang="fr-FR" sz="2600" dirty="0" smtClean="0"/>
              <a:t>C’est donc une étape indispensable!</a:t>
            </a:r>
          </a:p>
          <a:p>
            <a:pPr algn="just">
              <a:buFont typeface="Wingdings" pitchFamily="2" charset="2"/>
              <a:buChar char="v"/>
            </a:pPr>
            <a:r>
              <a:rPr lang="fr-FR" sz="2600" dirty="0" smtClean="0"/>
              <a:t>Traduire le sujet en mots-clés!</a:t>
            </a:r>
          </a:p>
          <a:p>
            <a:pPr algn="just">
              <a:buFont typeface="Wingdings" pitchFamily="2" charset="2"/>
              <a:buChar char="Ø"/>
            </a:pPr>
            <a:endParaRPr lang="fr-FR" dirty="0" smtClean="0"/>
          </a:p>
          <a:p>
            <a:pPr algn="just"/>
            <a:endParaRPr lang="fr-FR" dirty="0"/>
          </a:p>
        </p:txBody>
      </p:sp>
      <p:sp>
        <p:nvSpPr>
          <p:cNvPr id="4" name="Espace réservé du numéro de diapositive 3"/>
          <p:cNvSpPr>
            <a:spLocks noGrp="1"/>
          </p:cNvSpPr>
          <p:nvPr>
            <p:ph type="sldNum" sz="quarter" idx="15"/>
          </p:nvPr>
        </p:nvSpPr>
        <p:spPr/>
        <p:txBody>
          <a:bodyPr/>
          <a:lstStyle/>
          <a:p>
            <a:fld id="{1D258001-9BDA-447A-ADAB-646DC4D258D2}" type="slidenum">
              <a:rPr lang="fr-FR" smtClean="0"/>
              <a:pPr/>
              <a:t>28</a:t>
            </a:fld>
            <a:endParaRPr lang="fr-FR"/>
          </a:p>
        </p:txBody>
      </p:sp>
      <p:sp>
        <p:nvSpPr>
          <p:cNvPr id="5" name="Espace réservé du pied de page 4"/>
          <p:cNvSpPr>
            <a:spLocks noGrp="1"/>
          </p:cNvSpPr>
          <p:nvPr>
            <p:ph type="ftr" sz="quarter" idx="16"/>
          </p:nvPr>
        </p:nvSpPr>
        <p:spPr/>
        <p:txBody>
          <a:bodyPr/>
          <a:lstStyle/>
          <a:p>
            <a:r>
              <a:rPr lang="fr-FR" smtClean="0"/>
              <a:t>Rédaction Scientifique                                       Pr.H.F.Merouani</a:t>
            </a:r>
            <a:endParaRPr lang="fr-F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b="1" dirty="0" smtClean="0">
                <a:solidFill>
                  <a:srgbClr val="FF0000"/>
                </a:solidFill>
              </a:rPr>
              <a:t>Démarrer la recherche documentaire et suivre le fil</a:t>
            </a:r>
            <a:br>
              <a:rPr lang="fr-FR" b="1" dirty="0" smtClean="0">
                <a:solidFill>
                  <a:srgbClr val="FF0000"/>
                </a:solidFill>
              </a:rPr>
            </a:br>
            <a:endParaRPr lang="fr-FR" dirty="0">
              <a:solidFill>
                <a:srgbClr val="FF0000"/>
              </a:solidFill>
            </a:endParaRPr>
          </a:p>
        </p:txBody>
      </p:sp>
      <p:sp>
        <p:nvSpPr>
          <p:cNvPr id="3" name="Espace réservé du contenu 2"/>
          <p:cNvSpPr>
            <a:spLocks noGrp="1"/>
          </p:cNvSpPr>
          <p:nvPr>
            <p:ph sz="quarter" idx="1"/>
          </p:nvPr>
        </p:nvSpPr>
        <p:spPr>
          <a:xfrm>
            <a:off x="457200" y="1357298"/>
            <a:ext cx="7758138" cy="5116654"/>
          </a:xfrm>
        </p:spPr>
        <p:txBody>
          <a:bodyPr/>
          <a:lstStyle/>
          <a:p>
            <a:pPr>
              <a:buNone/>
            </a:pPr>
            <a:r>
              <a:rPr lang="fr-FR" b="1" dirty="0" smtClean="0"/>
              <a:t>Deux écueils:</a:t>
            </a:r>
          </a:p>
          <a:p>
            <a:pPr>
              <a:buFont typeface="Wingdings" pitchFamily="2" charset="2"/>
              <a:buChar char="Ø"/>
            </a:pPr>
            <a:r>
              <a:rPr lang="fr-FR" i="1" dirty="0" smtClean="0">
                <a:solidFill>
                  <a:srgbClr val="0070C0"/>
                </a:solidFill>
              </a:rPr>
              <a:t>Le rêve de l’exhaustivité:</a:t>
            </a:r>
            <a:r>
              <a:rPr lang="fr-FR" i="1" dirty="0" smtClean="0"/>
              <a:t> c’est impossible, même en disposant de plusieurs années. L’objectif est de ne pas passer à côté d’aspects importants du sujet et de travaux essentiels.</a:t>
            </a:r>
          </a:p>
          <a:p>
            <a:pPr>
              <a:buFont typeface="Wingdings" pitchFamily="2" charset="2"/>
              <a:buChar char="Ø"/>
            </a:pPr>
            <a:r>
              <a:rPr lang="fr-FR" dirty="0" smtClean="0">
                <a:solidFill>
                  <a:srgbClr val="0070C0"/>
                </a:solidFill>
              </a:rPr>
              <a:t>Le </a:t>
            </a:r>
            <a:r>
              <a:rPr lang="fr-FR" i="1" dirty="0" smtClean="0">
                <a:solidFill>
                  <a:srgbClr val="0070C0"/>
                </a:solidFill>
              </a:rPr>
              <a:t>rêve de l’immédiateté:</a:t>
            </a:r>
            <a:r>
              <a:rPr lang="fr-FR" i="1" dirty="0" smtClean="0"/>
              <a:t> il n’existe pas d’outils de recherche  qui vous permettent d’emblée, en une seule recherche, de trouver tous les documents nécessaires à votre mémoire. La recherche prend du temps! (Mais beaucoup moins quand même qu’à l’époque du papier..)</a:t>
            </a:r>
          </a:p>
          <a:p>
            <a:pPr>
              <a:buFont typeface="Wingdings" pitchFamily="2" charset="2"/>
              <a:buChar char="Ø"/>
            </a:pPr>
            <a:endParaRPr lang="fr-FR" dirty="0"/>
          </a:p>
        </p:txBody>
      </p:sp>
      <p:sp>
        <p:nvSpPr>
          <p:cNvPr id="4" name="Espace réservé du numéro de diapositive 3"/>
          <p:cNvSpPr>
            <a:spLocks noGrp="1"/>
          </p:cNvSpPr>
          <p:nvPr>
            <p:ph type="sldNum" sz="quarter" idx="15"/>
          </p:nvPr>
        </p:nvSpPr>
        <p:spPr/>
        <p:txBody>
          <a:bodyPr/>
          <a:lstStyle/>
          <a:p>
            <a:fld id="{1D258001-9BDA-447A-ADAB-646DC4D258D2}" type="slidenum">
              <a:rPr lang="fr-FR" smtClean="0"/>
              <a:pPr/>
              <a:t>29</a:t>
            </a:fld>
            <a:endParaRPr lang="fr-FR"/>
          </a:p>
        </p:txBody>
      </p:sp>
      <p:sp>
        <p:nvSpPr>
          <p:cNvPr id="5" name="Espace réservé du pied de page 4"/>
          <p:cNvSpPr>
            <a:spLocks noGrp="1"/>
          </p:cNvSpPr>
          <p:nvPr>
            <p:ph type="ftr" sz="quarter" idx="16"/>
          </p:nvPr>
        </p:nvSpPr>
        <p:spPr/>
        <p:txBody>
          <a:bodyPr/>
          <a:lstStyle/>
          <a:p>
            <a:r>
              <a:rPr lang="fr-FR" smtClean="0"/>
              <a:t>Rédaction Scientifique                                       Pr.H.F.Merouani</a:t>
            </a:r>
            <a:endParaRPr lang="fr-F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solidFill>
                  <a:srgbClr val="FF0000"/>
                </a:solidFill>
              </a:rPr>
              <a:t>Démarrer la recherche documentaire et suivre le fil</a:t>
            </a:r>
            <a:endParaRPr lang="fr-FR" dirty="0">
              <a:solidFill>
                <a:srgbClr val="FF0000"/>
              </a:solidFill>
            </a:endParaRPr>
          </a:p>
        </p:txBody>
      </p:sp>
      <p:sp>
        <p:nvSpPr>
          <p:cNvPr id="3" name="Espace réservé du contenu 2"/>
          <p:cNvSpPr>
            <a:spLocks noGrp="1"/>
          </p:cNvSpPr>
          <p:nvPr>
            <p:ph sz="quarter" idx="1"/>
          </p:nvPr>
        </p:nvSpPr>
        <p:spPr>
          <a:xfrm>
            <a:off x="457200" y="1600200"/>
            <a:ext cx="7686700" cy="4873752"/>
          </a:xfrm>
        </p:spPr>
        <p:txBody>
          <a:bodyPr>
            <a:normAutofit/>
          </a:bodyPr>
          <a:lstStyle/>
          <a:p>
            <a:pPr>
              <a:buNone/>
            </a:pPr>
            <a:r>
              <a:rPr lang="fr-FR" dirty="0" smtClean="0"/>
              <a:t>Deux démarches complémentaires: la «</a:t>
            </a:r>
            <a:r>
              <a:rPr lang="fr-FR" dirty="0" smtClean="0">
                <a:solidFill>
                  <a:srgbClr val="0070C0"/>
                </a:solidFill>
              </a:rPr>
              <a:t>pelote</a:t>
            </a:r>
            <a:r>
              <a:rPr lang="fr-FR" dirty="0" smtClean="0"/>
              <a:t>» et le «</a:t>
            </a:r>
            <a:r>
              <a:rPr lang="fr-FR" dirty="0" smtClean="0">
                <a:solidFill>
                  <a:srgbClr val="0070C0"/>
                </a:solidFill>
              </a:rPr>
              <a:t>râteau</a:t>
            </a:r>
            <a:r>
              <a:rPr lang="fr-FR" dirty="0" smtClean="0"/>
              <a:t>»</a:t>
            </a:r>
          </a:p>
          <a:p>
            <a:pPr>
              <a:buFont typeface="Wingdings" pitchFamily="2" charset="2"/>
              <a:buChar char="Ø"/>
            </a:pPr>
            <a:r>
              <a:rPr lang="fr-FR" dirty="0" smtClean="0"/>
              <a:t>La démarche de «</a:t>
            </a:r>
            <a:r>
              <a:rPr lang="fr-FR" dirty="0" smtClean="0">
                <a:solidFill>
                  <a:srgbClr val="0070C0"/>
                </a:solidFill>
              </a:rPr>
              <a:t>la pelote</a:t>
            </a:r>
            <a:r>
              <a:rPr lang="fr-FR" dirty="0" smtClean="0"/>
              <a:t>»: partir d’un premier document pertinent et suivre le fil.</a:t>
            </a:r>
          </a:p>
          <a:p>
            <a:pPr>
              <a:buFont typeface="Wingdings" pitchFamily="2" charset="2"/>
              <a:buChar char="Ø"/>
            </a:pPr>
            <a:r>
              <a:rPr lang="fr-FR" dirty="0" smtClean="0"/>
              <a:t>Points de départ: indications de votre directeur de recherche et ouvrages de références</a:t>
            </a:r>
          </a:p>
          <a:p>
            <a:pPr>
              <a:buFont typeface="Wingdings" pitchFamily="2" charset="2"/>
              <a:buChar char="Ø"/>
            </a:pPr>
            <a:r>
              <a:rPr lang="fr-FR" dirty="0" smtClean="0"/>
              <a:t>A partir des notes de bas de pages, des références bibliographiques, vous allez découvrir d’autres documents, qui contiendront eux même d’autres références.</a:t>
            </a:r>
          </a:p>
          <a:p>
            <a:pPr>
              <a:buNone/>
            </a:pPr>
            <a:endParaRPr lang="fr-FR" dirty="0"/>
          </a:p>
        </p:txBody>
      </p:sp>
      <p:sp>
        <p:nvSpPr>
          <p:cNvPr id="4" name="Espace réservé du numéro de diapositive 3"/>
          <p:cNvSpPr>
            <a:spLocks noGrp="1"/>
          </p:cNvSpPr>
          <p:nvPr>
            <p:ph type="sldNum" sz="quarter" idx="15"/>
          </p:nvPr>
        </p:nvSpPr>
        <p:spPr/>
        <p:txBody>
          <a:bodyPr/>
          <a:lstStyle/>
          <a:p>
            <a:fld id="{1D258001-9BDA-447A-ADAB-646DC4D258D2}" type="slidenum">
              <a:rPr lang="fr-FR" smtClean="0"/>
              <a:pPr/>
              <a:t>30</a:t>
            </a:fld>
            <a:endParaRPr lang="fr-FR"/>
          </a:p>
        </p:txBody>
      </p:sp>
      <p:sp>
        <p:nvSpPr>
          <p:cNvPr id="5" name="Espace réservé du pied de page 4"/>
          <p:cNvSpPr>
            <a:spLocks noGrp="1"/>
          </p:cNvSpPr>
          <p:nvPr>
            <p:ph type="ftr" sz="quarter" idx="16"/>
          </p:nvPr>
        </p:nvSpPr>
        <p:spPr/>
        <p:txBody>
          <a:bodyPr/>
          <a:lstStyle/>
          <a:p>
            <a:r>
              <a:rPr lang="fr-FR" smtClean="0"/>
              <a:t>Rédaction Scientifique                                       Pr.H.F.Merouani</a:t>
            </a:r>
            <a:endParaRPr lang="fr-F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solidFill>
                  <a:srgbClr val="FF0000"/>
                </a:solidFill>
              </a:rPr>
              <a:t>Démarrer la recherche documentaire et suivre le fil</a:t>
            </a:r>
            <a:endParaRPr lang="fr-FR" dirty="0"/>
          </a:p>
        </p:txBody>
      </p:sp>
      <p:sp>
        <p:nvSpPr>
          <p:cNvPr id="3" name="Espace réservé du contenu 2"/>
          <p:cNvSpPr>
            <a:spLocks noGrp="1"/>
          </p:cNvSpPr>
          <p:nvPr>
            <p:ph sz="quarter" idx="1"/>
          </p:nvPr>
        </p:nvSpPr>
        <p:spPr/>
        <p:txBody>
          <a:bodyPr/>
          <a:lstStyle/>
          <a:p>
            <a:pPr>
              <a:buFont typeface="Wingdings" pitchFamily="2" charset="2"/>
              <a:buChar char="Ø"/>
            </a:pPr>
            <a:r>
              <a:rPr lang="fr-FR" sz="2800" dirty="0" smtClean="0"/>
              <a:t>La démarche du «</a:t>
            </a:r>
            <a:r>
              <a:rPr lang="fr-FR" sz="2800" dirty="0" smtClean="0">
                <a:solidFill>
                  <a:srgbClr val="0070C0"/>
                </a:solidFill>
              </a:rPr>
              <a:t>râteau</a:t>
            </a:r>
            <a:r>
              <a:rPr lang="fr-FR" sz="2800" dirty="0" smtClean="0"/>
              <a:t>»= un ratissage systématique de la zone de recherche, c’est-à-dire des recherches thématiques avec un maximum de mots clés pertinents dans les différents outils de recherche bibliographique.</a:t>
            </a:r>
          </a:p>
          <a:p>
            <a:pPr>
              <a:buNone/>
            </a:pPr>
            <a:endParaRPr lang="fr-FR" dirty="0"/>
          </a:p>
        </p:txBody>
      </p:sp>
      <p:sp>
        <p:nvSpPr>
          <p:cNvPr id="4" name="Espace réservé du numéro de diapositive 3"/>
          <p:cNvSpPr>
            <a:spLocks noGrp="1"/>
          </p:cNvSpPr>
          <p:nvPr>
            <p:ph type="sldNum" sz="quarter" idx="15"/>
          </p:nvPr>
        </p:nvSpPr>
        <p:spPr/>
        <p:txBody>
          <a:bodyPr/>
          <a:lstStyle/>
          <a:p>
            <a:fld id="{1D258001-9BDA-447A-ADAB-646DC4D258D2}" type="slidenum">
              <a:rPr lang="fr-FR" smtClean="0"/>
              <a:pPr/>
              <a:t>31</a:t>
            </a:fld>
            <a:endParaRPr lang="fr-FR"/>
          </a:p>
        </p:txBody>
      </p:sp>
      <p:sp>
        <p:nvSpPr>
          <p:cNvPr id="5" name="Espace réservé du pied de page 4"/>
          <p:cNvSpPr>
            <a:spLocks noGrp="1"/>
          </p:cNvSpPr>
          <p:nvPr>
            <p:ph type="ftr" sz="quarter" idx="16"/>
          </p:nvPr>
        </p:nvSpPr>
        <p:spPr/>
        <p:txBody>
          <a:bodyPr/>
          <a:lstStyle/>
          <a:p>
            <a:r>
              <a:rPr lang="fr-FR" smtClean="0"/>
              <a:t>Rédaction Scientifique                                       Pr.H.F.Merouani</a:t>
            </a:r>
            <a:endParaRPr lang="fr-F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solidFill>
                  <a:srgbClr val="FF0000"/>
                </a:solidFill>
              </a:rPr>
              <a:t>Fiche Bibliographique</a:t>
            </a:r>
            <a:endParaRPr lang="fr-FR" dirty="0">
              <a:solidFill>
                <a:srgbClr val="FF0000"/>
              </a:solidFill>
            </a:endParaRPr>
          </a:p>
        </p:txBody>
      </p:sp>
      <p:sp>
        <p:nvSpPr>
          <p:cNvPr id="3" name="Espace réservé du contenu 2"/>
          <p:cNvSpPr>
            <a:spLocks noGrp="1"/>
          </p:cNvSpPr>
          <p:nvPr>
            <p:ph sz="quarter" idx="1"/>
          </p:nvPr>
        </p:nvSpPr>
        <p:spPr/>
        <p:txBody>
          <a:bodyPr/>
          <a:lstStyle/>
          <a:p>
            <a:pPr algn="just">
              <a:buFont typeface="Wingdings" pitchFamily="2" charset="2"/>
              <a:buChar char="Ø"/>
            </a:pPr>
            <a:r>
              <a:rPr lang="fr-FR" sz="2800" dirty="0" smtClean="0"/>
              <a:t>Pour avoir une bibliographie pratique et utile, il faut l’organiser en utilisant des fiches bibliographiques.</a:t>
            </a:r>
          </a:p>
          <a:p>
            <a:pPr algn="just">
              <a:buFont typeface="Wingdings" pitchFamily="2" charset="2"/>
              <a:buChar char="Ø"/>
            </a:pPr>
            <a:r>
              <a:rPr lang="fr-FR" sz="2800" dirty="0" smtClean="0"/>
              <a:t>Dans le cas ou le sujet est vaste, il convient d’organiser les fiches en catégories ou domaines</a:t>
            </a:r>
          </a:p>
          <a:p>
            <a:pPr>
              <a:buFont typeface="Wingdings" pitchFamily="2" charset="2"/>
              <a:buChar char="Ø"/>
            </a:pPr>
            <a:endParaRPr lang="fr-FR" dirty="0" smtClean="0"/>
          </a:p>
          <a:p>
            <a:pPr>
              <a:buFont typeface="Wingdings" pitchFamily="2" charset="2"/>
              <a:buChar char="Ø"/>
            </a:pPr>
            <a:endParaRPr lang="fr-FR" dirty="0" smtClean="0"/>
          </a:p>
          <a:p>
            <a:endParaRPr lang="fr-FR" dirty="0"/>
          </a:p>
        </p:txBody>
      </p:sp>
      <p:sp>
        <p:nvSpPr>
          <p:cNvPr id="4" name="Espace réservé du numéro de diapositive 3"/>
          <p:cNvSpPr>
            <a:spLocks noGrp="1"/>
          </p:cNvSpPr>
          <p:nvPr>
            <p:ph type="sldNum" sz="quarter" idx="15"/>
          </p:nvPr>
        </p:nvSpPr>
        <p:spPr/>
        <p:txBody>
          <a:bodyPr/>
          <a:lstStyle/>
          <a:p>
            <a:fld id="{1D258001-9BDA-447A-ADAB-646DC4D258D2}" type="slidenum">
              <a:rPr lang="fr-FR" smtClean="0"/>
              <a:pPr/>
              <a:t>32</a:t>
            </a:fld>
            <a:endParaRPr lang="fr-FR"/>
          </a:p>
        </p:txBody>
      </p:sp>
      <p:sp>
        <p:nvSpPr>
          <p:cNvPr id="5" name="Espace réservé du pied de page 4"/>
          <p:cNvSpPr>
            <a:spLocks noGrp="1"/>
          </p:cNvSpPr>
          <p:nvPr>
            <p:ph type="ftr" sz="quarter" idx="16"/>
          </p:nvPr>
        </p:nvSpPr>
        <p:spPr/>
        <p:txBody>
          <a:bodyPr/>
          <a:lstStyle/>
          <a:p>
            <a:r>
              <a:rPr lang="fr-FR" smtClean="0"/>
              <a:t>Rédaction Scientifique                                       Pr.H.F.Merouani</a:t>
            </a:r>
            <a:endParaRPr lang="fr-F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1"/>
          <p:cNvSpPr>
            <a:spLocks noGrp="1"/>
          </p:cNvSpPr>
          <p:nvPr>
            <p:ph type="ftr" sz="quarter" idx="11"/>
          </p:nvPr>
        </p:nvSpPr>
        <p:spPr/>
        <p:txBody>
          <a:bodyPr/>
          <a:lstStyle/>
          <a:p>
            <a:r>
              <a:rPr lang="fr-FR" smtClean="0"/>
              <a:t>Rédaction Scientifique                                       Pr.H.F.Merouani</a:t>
            </a:r>
            <a:endParaRPr lang="fr-FR"/>
          </a:p>
        </p:txBody>
      </p:sp>
      <p:sp>
        <p:nvSpPr>
          <p:cNvPr id="3" name="Espace réservé du numéro de diapositive 2"/>
          <p:cNvSpPr>
            <a:spLocks noGrp="1"/>
          </p:cNvSpPr>
          <p:nvPr>
            <p:ph type="sldNum" sz="quarter" idx="12"/>
          </p:nvPr>
        </p:nvSpPr>
        <p:spPr/>
        <p:txBody>
          <a:bodyPr/>
          <a:lstStyle/>
          <a:p>
            <a:fld id="{1D258001-9BDA-447A-ADAB-646DC4D258D2}" type="slidenum">
              <a:rPr lang="fr-FR" smtClean="0"/>
              <a:pPr/>
              <a:t>33</a:t>
            </a:fld>
            <a:endParaRPr lang="fr-FR"/>
          </a:p>
        </p:txBody>
      </p:sp>
      <p:sp>
        <p:nvSpPr>
          <p:cNvPr id="307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graphicFrame>
        <p:nvGraphicFramePr>
          <p:cNvPr id="30721" name="Object 1"/>
          <p:cNvGraphicFramePr>
            <a:graphicFrameLocks noChangeAspect="1"/>
          </p:cNvGraphicFramePr>
          <p:nvPr/>
        </p:nvGraphicFramePr>
        <p:xfrm>
          <a:off x="928662" y="357166"/>
          <a:ext cx="6349822" cy="6286520"/>
        </p:xfrm>
        <a:graphic>
          <a:graphicData uri="http://schemas.openxmlformats.org/presentationml/2006/ole">
            <p:oleObj spid="_x0000_s30721" r:id="rId3" imgW="4857750" imgH="4038600" progId="Msxml2.SAXXMLReader.5.0">
              <p:embed/>
            </p:oleObj>
          </a:graphicData>
        </a:graphic>
      </p:graphicFrame>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i="1" dirty="0" smtClean="0"/>
              <a:t>Quand s’arrêter ?</a:t>
            </a:r>
            <a:br>
              <a:rPr lang="fr-FR" b="1" i="1" dirty="0" smtClean="0"/>
            </a:br>
            <a:endParaRPr lang="fr-FR" dirty="0"/>
          </a:p>
        </p:txBody>
      </p:sp>
      <p:sp>
        <p:nvSpPr>
          <p:cNvPr id="3" name="Espace réservé du contenu 2"/>
          <p:cNvSpPr>
            <a:spLocks noGrp="1"/>
          </p:cNvSpPr>
          <p:nvPr>
            <p:ph sz="quarter" idx="1"/>
          </p:nvPr>
        </p:nvSpPr>
        <p:spPr/>
        <p:txBody>
          <a:bodyPr/>
          <a:lstStyle/>
          <a:p>
            <a:endParaRPr lang="fr-FR" dirty="0" smtClean="0"/>
          </a:p>
          <a:p>
            <a:pPr algn="just">
              <a:buNone/>
            </a:pPr>
            <a:r>
              <a:rPr lang="fr-FR" sz="2800" dirty="0" smtClean="0"/>
              <a:t>Une masse documentaire surabondante implique nécessairement une perte de la maîtrise du sujet </a:t>
            </a:r>
          </a:p>
          <a:p>
            <a:pPr>
              <a:buNone/>
            </a:pPr>
            <a:r>
              <a:rPr lang="fr-FR" b="1" dirty="0" smtClean="0"/>
              <a:t>Alors, que faire ?</a:t>
            </a:r>
            <a:endParaRPr lang="fr-FR" dirty="0" smtClean="0"/>
          </a:p>
          <a:p>
            <a:pPr lvl="0">
              <a:buFont typeface="Wingdings" pitchFamily="2" charset="2"/>
              <a:buChar char="Ø"/>
            </a:pPr>
            <a:r>
              <a:rPr lang="fr-FR" dirty="0" smtClean="0"/>
              <a:t>Ne pas compiler tous les articles existants.</a:t>
            </a:r>
          </a:p>
          <a:p>
            <a:pPr lvl="0">
              <a:buFont typeface="Wingdings" pitchFamily="2" charset="2"/>
              <a:buChar char="Ø"/>
            </a:pPr>
            <a:r>
              <a:rPr lang="fr-FR" dirty="0" smtClean="0"/>
              <a:t>Opérer un choix et cibler des domaines précis (mots clés).</a:t>
            </a:r>
          </a:p>
          <a:p>
            <a:pPr lvl="0">
              <a:buFont typeface="Wingdings" pitchFamily="2" charset="2"/>
              <a:buChar char="Ø"/>
            </a:pPr>
            <a:r>
              <a:rPr lang="fr-FR" dirty="0" smtClean="0"/>
              <a:t>S’arrêter, Réitérer le processus de recherche au besoin</a:t>
            </a:r>
          </a:p>
          <a:p>
            <a:endParaRPr lang="fr-FR" dirty="0"/>
          </a:p>
        </p:txBody>
      </p:sp>
      <p:sp>
        <p:nvSpPr>
          <p:cNvPr id="4" name="Espace réservé du numéro de diapositive 3"/>
          <p:cNvSpPr>
            <a:spLocks noGrp="1"/>
          </p:cNvSpPr>
          <p:nvPr>
            <p:ph type="sldNum" sz="quarter" idx="15"/>
          </p:nvPr>
        </p:nvSpPr>
        <p:spPr/>
        <p:txBody>
          <a:bodyPr/>
          <a:lstStyle/>
          <a:p>
            <a:fld id="{1D258001-9BDA-447A-ADAB-646DC4D258D2}" type="slidenum">
              <a:rPr lang="fr-FR" smtClean="0"/>
              <a:pPr/>
              <a:t>34</a:t>
            </a:fld>
            <a:endParaRPr lang="fr-FR"/>
          </a:p>
        </p:txBody>
      </p:sp>
      <p:sp>
        <p:nvSpPr>
          <p:cNvPr id="5" name="Espace réservé du pied de page 4"/>
          <p:cNvSpPr>
            <a:spLocks noGrp="1"/>
          </p:cNvSpPr>
          <p:nvPr>
            <p:ph type="ftr" sz="quarter" idx="16"/>
          </p:nvPr>
        </p:nvSpPr>
        <p:spPr/>
        <p:txBody>
          <a:bodyPr/>
          <a:lstStyle/>
          <a:p>
            <a:r>
              <a:rPr lang="fr-FR" smtClean="0"/>
              <a:t>Rédaction Scientifique                                       Pr.H.F.Merouani</a:t>
            </a:r>
            <a:endParaRPr lang="fr-F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sz="quarter" idx="1"/>
          </p:nvPr>
        </p:nvSpPr>
        <p:spPr/>
        <p:txBody>
          <a:bodyPr/>
          <a:lstStyle/>
          <a:p>
            <a:endParaRPr lang="fr-FR"/>
          </a:p>
        </p:txBody>
      </p:sp>
      <p:sp>
        <p:nvSpPr>
          <p:cNvPr id="4" name="Espace réservé du numéro de diapositive 3"/>
          <p:cNvSpPr>
            <a:spLocks noGrp="1"/>
          </p:cNvSpPr>
          <p:nvPr>
            <p:ph type="sldNum" sz="quarter" idx="15"/>
          </p:nvPr>
        </p:nvSpPr>
        <p:spPr/>
        <p:txBody>
          <a:bodyPr/>
          <a:lstStyle/>
          <a:p>
            <a:fld id="{1D258001-9BDA-447A-ADAB-646DC4D258D2}" type="slidenum">
              <a:rPr lang="fr-FR" smtClean="0"/>
              <a:pPr/>
              <a:t>35</a:t>
            </a:fld>
            <a:endParaRPr lang="fr-FR"/>
          </a:p>
        </p:txBody>
      </p:sp>
      <p:sp>
        <p:nvSpPr>
          <p:cNvPr id="5" name="Espace réservé du pied de page 4"/>
          <p:cNvSpPr>
            <a:spLocks noGrp="1"/>
          </p:cNvSpPr>
          <p:nvPr>
            <p:ph type="ftr" sz="quarter" idx="16"/>
          </p:nvPr>
        </p:nvSpPr>
        <p:spPr/>
        <p:txBody>
          <a:bodyPr/>
          <a:lstStyle/>
          <a:p>
            <a:r>
              <a:rPr lang="fr-FR" smtClean="0"/>
              <a:t>Rédaction Scientifique                                       Pr.H.F.Merouani</a:t>
            </a:r>
            <a:endParaRPr lang="fr-F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7686700" cy="3940180"/>
          </a:xfrm>
        </p:spPr>
        <p:txBody>
          <a:bodyPr/>
          <a:lstStyle/>
          <a:p>
            <a:r>
              <a:rPr lang="fr-FR" dirty="0" smtClean="0">
                <a:solidFill>
                  <a:srgbClr val="FF0000"/>
                </a:solidFill>
              </a:rPr>
              <a:t>                 </a:t>
            </a:r>
            <a:r>
              <a:rPr lang="fr-FR" sz="4000" dirty="0" smtClean="0">
                <a:solidFill>
                  <a:srgbClr val="FF0000"/>
                </a:solidFill>
              </a:rPr>
              <a:t>Présentation écrite</a:t>
            </a:r>
            <a:endParaRPr lang="fr-FR" sz="4000" dirty="0">
              <a:solidFill>
                <a:srgbClr val="FF0000"/>
              </a:solidFill>
            </a:endParaRPr>
          </a:p>
        </p:txBody>
      </p:sp>
      <p:sp>
        <p:nvSpPr>
          <p:cNvPr id="3" name="Espace réservé du numéro de diapositive 2"/>
          <p:cNvSpPr>
            <a:spLocks noGrp="1"/>
          </p:cNvSpPr>
          <p:nvPr>
            <p:ph type="sldNum" sz="quarter" idx="11"/>
          </p:nvPr>
        </p:nvSpPr>
        <p:spPr/>
        <p:txBody>
          <a:bodyPr/>
          <a:lstStyle/>
          <a:p>
            <a:fld id="{1D258001-9BDA-447A-ADAB-646DC4D258D2}" type="slidenum">
              <a:rPr lang="fr-FR" smtClean="0"/>
              <a:pPr/>
              <a:t>36</a:t>
            </a:fld>
            <a:endParaRPr lang="fr-FR"/>
          </a:p>
        </p:txBody>
      </p:sp>
      <p:sp>
        <p:nvSpPr>
          <p:cNvPr id="4" name="Espace réservé du pied de page 3"/>
          <p:cNvSpPr>
            <a:spLocks noGrp="1"/>
          </p:cNvSpPr>
          <p:nvPr>
            <p:ph type="ftr" sz="quarter" idx="12"/>
          </p:nvPr>
        </p:nvSpPr>
        <p:spPr/>
        <p:txBody>
          <a:bodyPr/>
          <a:lstStyle/>
          <a:p>
            <a:r>
              <a:rPr lang="fr-FR" smtClean="0"/>
              <a:t>Rédaction Scientifique                                       Pr.H.F.Merouani</a:t>
            </a:r>
            <a:endParaRPr lang="fr-F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solidFill>
                  <a:srgbClr val="FF0000"/>
                </a:solidFill>
              </a:rPr>
              <a:t>Présentation écrite </a:t>
            </a:r>
            <a:endParaRPr lang="fr-FR" dirty="0">
              <a:solidFill>
                <a:srgbClr val="FF0000"/>
              </a:solidFill>
            </a:endParaRPr>
          </a:p>
        </p:txBody>
      </p:sp>
      <p:sp>
        <p:nvSpPr>
          <p:cNvPr id="3" name="Espace réservé du contenu 2"/>
          <p:cNvSpPr>
            <a:spLocks noGrp="1"/>
          </p:cNvSpPr>
          <p:nvPr>
            <p:ph sz="quarter" idx="1"/>
          </p:nvPr>
        </p:nvSpPr>
        <p:spPr/>
        <p:txBody>
          <a:bodyPr/>
          <a:lstStyle/>
          <a:p>
            <a:pPr algn="just">
              <a:buFont typeface="Wingdings" pitchFamily="2" charset="2"/>
              <a:buChar char="Ø"/>
            </a:pPr>
            <a:r>
              <a:rPr lang="fr-FR" b="1" dirty="0" smtClean="0"/>
              <a:t>Objectif</a:t>
            </a:r>
            <a:r>
              <a:rPr lang="fr-FR" dirty="0" smtClean="0"/>
              <a:t>….</a:t>
            </a:r>
          </a:p>
          <a:p>
            <a:pPr algn="just">
              <a:buFont typeface="Wingdings" pitchFamily="2" charset="2"/>
              <a:buChar char="Ø"/>
            </a:pPr>
            <a:r>
              <a:rPr lang="fr-FR" b="1" dirty="0" smtClean="0"/>
              <a:t>Comment???</a:t>
            </a:r>
            <a:r>
              <a:rPr lang="fr-FR" dirty="0" smtClean="0"/>
              <a:t> </a:t>
            </a:r>
          </a:p>
          <a:p>
            <a:pPr algn="just">
              <a:buNone/>
            </a:pPr>
            <a:endParaRPr lang="fr-FR" dirty="0" smtClean="0"/>
          </a:p>
          <a:p>
            <a:pPr algn="just">
              <a:buFont typeface="Wingdings" pitchFamily="2" charset="2"/>
              <a:buChar char="v"/>
            </a:pPr>
            <a:r>
              <a:rPr lang="fr-FR" dirty="0" smtClean="0"/>
              <a:t>    </a:t>
            </a:r>
            <a:r>
              <a:rPr lang="fr-FR" sz="2800" dirty="0" smtClean="0"/>
              <a:t>Doter le document d’une bonne structure</a:t>
            </a:r>
          </a:p>
          <a:p>
            <a:pPr algn="just">
              <a:buFont typeface="Wingdings" pitchFamily="2" charset="2"/>
              <a:buChar char="v"/>
            </a:pPr>
            <a:r>
              <a:rPr lang="fr-FR" sz="2800" dirty="0" smtClean="0"/>
              <a:t>    Utiliser un bon style de rédaction </a:t>
            </a:r>
          </a:p>
          <a:p>
            <a:pPr algn="just">
              <a:buFont typeface="Wingdings" pitchFamily="2" charset="2"/>
              <a:buChar char="v"/>
            </a:pPr>
            <a:r>
              <a:rPr lang="fr-FR" sz="2800" dirty="0" smtClean="0"/>
              <a:t>     utiliser un bon style typographique</a:t>
            </a:r>
          </a:p>
          <a:p>
            <a:endParaRPr lang="fr-FR" dirty="0"/>
          </a:p>
        </p:txBody>
      </p:sp>
      <p:sp>
        <p:nvSpPr>
          <p:cNvPr id="4" name="Espace réservé du numéro de diapositive 3"/>
          <p:cNvSpPr>
            <a:spLocks noGrp="1"/>
          </p:cNvSpPr>
          <p:nvPr>
            <p:ph type="sldNum" sz="quarter" idx="15"/>
          </p:nvPr>
        </p:nvSpPr>
        <p:spPr/>
        <p:txBody>
          <a:bodyPr/>
          <a:lstStyle/>
          <a:p>
            <a:fld id="{1D258001-9BDA-447A-ADAB-646DC4D258D2}" type="slidenum">
              <a:rPr lang="fr-FR" smtClean="0"/>
              <a:pPr/>
              <a:t>37</a:t>
            </a:fld>
            <a:endParaRPr lang="fr-FR"/>
          </a:p>
        </p:txBody>
      </p:sp>
      <p:sp>
        <p:nvSpPr>
          <p:cNvPr id="5" name="Espace réservé du pied de page 4"/>
          <p:cNvSpPr>
            <a:spLocks noGrp="1"/>
          </p:cNvSpPr>
          <p:nvPr>
            <p:ph type="ftr" sz="quarter" idx="16"/>
          </p:nvPr>
        </p:nvSpPr>
        <p:spPr/>
        <p:txBody>
          <a:bodyPr/>
          <a:lstStyle/>
          <a:p>
            <a:r>
              <a:rPr lang="fr-FR" smtClean="0"/>
              <a:t>Rédaction Scientifique                                       Pr.H.F.Merouani</a:t>
            </a:r>
            <a:endParaRPr lang="fr-F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t>Table des matières</a:t>
            </a:r>
            <a:br>
              <a:rPr lang="fr-FR" b="1" dirty="0" smtClean="0"/>
            </a:br>
            <a:endParaRPr lang="fr-FR" dirty="0"/>
          </a:p>
        </p:txBody>
      </p:sp>
      <p:sp>
        <p:nvSpPr>
          <p:cNvPr id="3" name="Espace réservé du contenu 2"/>
          <p:cNvSpPr>
            <a:spLocks noGrp="1"/>
          </p:cNvSpPr>
          <p:nvPr>
            <p:ph sz="quarter" idx="1"/>
          </p:nvPr>
        </p:nvSpPr>
        <p:spPr>
          <a:ln>
            <a:solidFill>
              <a:schemeClr val="tx1"/>
            </a:solidFill>
          </a:ln>
        </p:spPr>
        <p:txBody>
          <a:bodyPr>
            <a:normAutofit fontScale="70000" lnSpcReduction="20000"/>
          </a:bodyPr>
          <a:lstStyle/>
          <a:p>
            <a:pPr>
              <a:buClrTx/>
              <a:buFont typeface="Wingdings" pitchFamily="2" charset="2"/>
              <a:buChar char="v"/>
            </a:pPr>
            <a:r>
              <a:rPr lang="fr-FR" dirty="0" smtClean="0">
                <a:solidFill>
                  <a:schemeClr val="tx2">
                    <a:lumMod val="50000"/>
                  </a:schemeClr>
                </a:solidFill>
                <a:hlinkClick r:id="rId2"/>
              </a:rPr>
              <a:t>Le plan complet d’un mémoire</a:t>
            </a:r>
            <a:endParaRPr lang="fr-FR" dirty="0" smtClean="0">
              <a:solidFill>
                <a:schemeClr val="tx2">
                  <a:lumMod val="50000"/>
                </a:schemeClr>
              </a:solidFill>
            </a:endParaRPr>
          </a:p>
          <a:p>
            <a:pPr>
              <a:buClrTx/>
              <a:buFont typeface="Wingdings" pitchFamily="2" charset="2"/>
              <a:buChar char="v"/>
            </a:pPr>
            <a:r>
              <a:rPr lang="fr-FR" dirty="0" smtClean="0">
                <a:solidFill>
                  <a:schemeClr val="tx2">
                    <a:lumMod val="50000"/>
                  </a:schemeClr>
                </a:solidFill>
                <a:hlinkClick r:id="rId2"/>
              </a:rPr>
              <a:t>Page de garde</a:t>
            </a:r>
            <a:endParaRPr lang="fr-FR" dirty="0" smtClean="0">
              <a:solidFill>
                <a:schemeClr val="tx2">
                  <a:lumMod val="50000"/>
                </a:schemeClr>
              </a:solidFill>
            </a:endParaRPr>
          </a:p>
          <a:p>
            <a:pPr>
              <a:buClrTx/>
              <a:buFont typeface="Wingdings" pitchFamily="2" charset="2"/>
              <a:buChar char="v"/>
            </a:pPr>
            <a:r>
              <a:rPr lang="fr-FR" dirty="0" smtClean="0">
                <a:solidFill>
                  <a:schemeClr val="tx2">
                    <a:lumMod val="50000"/>
                  </a:schemeClr>
                </a:solidFill>
                <a:hlinkClick r:id="rId2"/>
              </a:rPr>
              <a:t>La préface</a:t>
            </a:r>
            <a:endParaRPr lang="fr-FR" dirty="0" smtClean="0">
              <a:solidFill>
                <a:schemeClr val="tx2">
                  <a:lumMod val="50000"/>
                </a:schemeClr>
              </a:solidFill>
            </a:endParaRPr>
          </a:p>
          <a:p>
            <a:pPr>
              <a:buClrTx/>
              <a:buFont typeface="Wingdings" pitchFamily="2" charset="2"/>
              <a:buChar char="v"/>
            </a:pPr>
            <a:r>
              <a:rPr lang="fr-FR" dirty="0" smtClean="0">
                <a:solidFill>
                  <a:schemeClr val="tx2">
                    <a:lumMod val="50000"/>
                  </a:schemeClr>
                </a:solidFill>
                <a:hlinkClick r:id="rId2"/>
              </a:rPr>
              <a:t>Les remerciements</a:t>
            </a:r>
            <a:endParaRPr lang="fr-FR" dirty="0" smtClean="0">
              <a:solidFill>
                <a:schemeClr val="tx2">
                  <a:lumMod val="50000"/>
                </a:schemeClr>
              </a:solidFill>
            </a:endParaRPr>
          </a:p>
          <a:p>
            <a:pPr>
              <a:buClrTx/>
              <a:buFont typeface="Wingdings" pitchFamily="2" charset="2"/>
              <a:buChar char="v"/>
            </a:pPr>
            <a:r>
              <a:rPr lang="fr-FR" dirty="0" smtClean="0">
                <a:solidFill>
                  <a:schemeClr val="tx2">
                    <a:lumMod val="50000"/>
                  </a:schemeClr>
                </a:solidFill>
                <a:hlinkClick r:id="rId2"/>
              </a:rPr>
              <a:t>Le résumé</a:t>
            </a:r>
            <a:endParaRPr lang="fr-FR" dirty="0" smtClean="0">
              <a:solidFill>
                <a:schemeClr val="tx2">
                  <a:lumMod val="50000"/>
                </a:schemeClr>
              </a:solidFill>
            </a:endParaRPr>
          </a:p>
          <a:p>
            <a:pPr>
              <a:buClrTx/>
              <a:buFont typeface="Wingdings" pitchFamily="2" charset="2"/>
              <a:buChar char="v"/>
            </a:pPr>
            <a:r>
              <a:rPr lang="fr-FR" dirty="0" smtClean="0">
                <a:solidFill>
                  <a:schemeClr val="tx2">
                    <a:lumMod val="50000"/>
                  </a:schemeClr>
                </a:solidFill>
                <a:hlinkClick r:id="rId2"/>
              </a:rPr>
              <a:t>Le sommaire</a:t>
            </a:r>
            <a:endParaRPr lang="fr-FR" dirty="0" smtClean="0">
              <a:solidFill>
                <a:schemeClr val="tx2">
                  <a:lumMod val="50000"/>
                </a:schemeClr>
              </a:solidFill>
            </a:endParaRPr>
          </a:p>
          <a:p>
            <a:pPr>
              <a:buClrTx/>
              <a:buFont typeface="Wingdings" pitchFamily="2" charset="2"/>
              <a:buChar char="v"/>
            </a:pPr>
            <a:r>
              <a:rPr lang="fr-FR" dirty="0" smtClean="0">
                <a:solidFill>
                  <a:schemeClr val="tx2">
                    <a:lumMod val="50000"/>
                  </a:schemeClr>
                </a:solidFill>
                <a:hlinkClick r:id="rId2"/>
              </a:rPr>
              <a:t>La liste des figures et tableaux</a:t>
            </a:r>
            <a:endParaRPr lang="fr-FR" dirty="0" smtClean="0">
              <a:solidFill>
                <a:schemeClr val="tx2">
                  <a:lumMod val="50000"/>
                </a:schemeClr>
              </a:solidFill>
            </a:endParaRPr>
          </a:p>
          <a:p>
            <a:pPr>
              <a:buClrTx/>
              <a:buFont typeface="Wingdings" pitchFamily="2" charset="2"/>
              <a:buChar char="v"/>
            </a:pPr>
            <a:r>
              <a:rPr lang="fr-FR" dirty="0" smtClean="0">
                <a:solidFill>
                  <a:schemeClr val="tx2">
                    <a:lumMod val="50000"/>
                  </a:schemeClr>
                </a:solidFill>
                <a:hlinkClick r:id="rId2"/>
              </a:rPr>
              <a:t>La liste des abréviations</a:t>
            </a:r>
            <a:endParaRPr lang="fr-FR" dirty="0" smtClean="0">
              <a:solidFill>
                <a:schemeClr val="tx2">
                  <a:lumMod val="50000"/>
                </a:schemeClr>
              </a:solidFill>
            </a:endParaRPr>
          </a:p>
          <a:p>
            <a:pPr>
              <a:buClrTx/>
              <a:buFont typeface="Wingdings" pitchFamily="2" charset="2"/>
              <a:buChar char="v"/>
            </a:pPr>
            <a:r>
              <a:rPr lang="fr-FR" dirty="0" smtClean="0">
                <a:solidFill>
                  <a:schemeClr val="tx2">
                    <a:lumMod val="50000"/>
                  </a:schemeClr>
                </a:solidFill>
                <a:hlinkClick r:id="rId2"/>
              </a:rPr>
              <a:t>Le glossaire</a:t>
            </a:r>
            <a:endParaRPr lang="fr-FR" dirty="0" smtClean="0">
              <a:solidFill>
                <a:schemeClr val="tx2">
                  <a:lumMod val="50000"/>
                </a:schemeClr>
              </a:solidFill>
            </a:endParaRPr>
          </a:p>
          <a:p>
            <a:pPr>
              <a:buClrTx/>
              <a:buFont typeface="Wingdings" pitchFamily="2" charset="2"/>
              <a:buChar char="v"/>
            </a:pPr>
            <a:r>
              <a:rPr lang="fr-FR" dirty="0" smtClean="0">
                <a:solidFill>
                  <a:schemeClr val="tx2">
                    <a:lumMod val="50000"/>
                  </a:schemeClr>
                </a:solidFill>
                <a:hlinkClick r:id="rId2"/>
              </a:rPr>
              <a:t>L’introduction</a:t>
            </a:r>
            <a:endParaRPr lang="fr-FR" dirty="0" smtClean="0">
              <a:solidFill>
                <a:schemeClr val="tx2">
                  <a:lumMod val="50000"/>
                </a:schemeClr>
              </a:solidFill>
            </a:endParaRPr>
          </a:p>
          <a:p>
            <a:pPr>
              <a:buClrTx/>
              <a:buFont typeface="Wingdings" pitchFamily="2" charset="2"/>
              <a:buChar char="v"/>
            </a:pPr>
            <a:r>
              <a:rPr lang="fr-FR" dirty="0" smtClean="0">
                <a:solidFill>
                  <a:schemeClr val="tx2">
                    <a:lumMod val="50000"/>
                  </a:schemeClr>
                </a:solidFill>
                <a:hlinkClick r:id="rId2"/>
              </a:rPr>
              <a:t>Le cadre théorique</a:t>
            </a:r>
            <a:endParaRPr lang="fr-FR" dirty="0" smtClean="0">
              <a:solidFill>
                <a:schemeClr val="tx2">
                  <a:lumMod val="50000"/>
                </a:schemeClr>
              </a:solidFill>
            </a:endParaRPr>
          </a:p>
          <a:p>
            <a:pPr>
              <a:buClrTx/>
              <a:buFont typeface="Wingdings" pitchFamily="2" charset="2"/>
              <a:buChar char="v"/>
            </a:pPr>
            <a:r>
              <a:rPr lang="fr-FR" dirty="0" smtClean="0">
                <a:solidFill>
                  <a:schemeClr val="tx2">
                    <a:lumMod val="50000"/>
                  </a:schemeClr>
                </a:solidFill>
                <a:hlinkClick r:id="rId2"/>
              </a:rPr>
              <a:t>Le plan de recherche (partie empirique)</a:t>
            </a:r>
            <a:endParaRPr lang="fr-FR" dirty="0" smtClean="0">
              <a:solidFill>
                <a:schemeClr val="tx2">
                  <a:lumMod val="50000"/>
                </a:schemeClr>
              </a:solidFill>
            </a:endParaRPr>
          </a:p>
          <a:p>
            <a:pPr>
              <a:buClrTx/>
              <a:buFont typeface="Wingdings" pitchFamily="2" charset="2"/>
              <a:buChar char="v"/>
            </a:pPr>
            <a:r>
              <a:rPr lang="fr-FR" dirty="0" smtClean="0">
                <a:solidFill>
                  <a:schemeClr val="tx2">
                    <a:lumMod val="50000"/>
                  </a:schemeClr>
                </a:solidFill>
                <a:hlinkClick r:id="rId2"/>
              </a:rPr>
              <a:t>Les résultats de recherche</a:t>
            </a:r>
            <a:endParaRPr lang="fr-FR" dirty="0" smtClean="0">
              <a:solidFill>
                <a:schemeClr val="tx2">
                  <a:lumMod val="50000"/>
                </a:schemeClr>
              </a:solidFill>
            </a:endParaRPr>
          </a:p>
          <a:p>
            <a:pPr>
              <a:buClrTx/>
              <a:buFont typeface="Wingdings" pitchFamily="2" charset="2"/>
              <a:buChar char="v"/>
            </a:pPr>
            <a:r>
              <a:rPr lang="fr-FR" dirty="0" smtClean="0">
                <a:solidFill>
                  <a:schemeClr val="tx2">
                    <a:lumMod val="50000"/>
                  </a:schemeClr>
                </a:solidFill>
                <a:hlinkClick r:id="rId2"/>
              </a:rPr>
              <a:t>La conclusion</a:t>
            </a:r>
            <a:endParaRPr lang="fr-FR" dirty="0" smtClean="0">
              <a:solidFill>
                <a:schemeClr val="tx2">
                  <a:lumMod val="50000"/>
                </a:schemeClr>
              </a:solidFill>
            </a:endParaRPr>
          </a:p>
          <a:p>
            <a:pPr>
              <a:buClrTx/>
              <a:buFont typeface="Wingdings" pitchFamily="2" charset="2"/>
              <a:buChar char="v"/>
            </a:pPr>
            <a:r>
              <a:rPr lang="fr-FR" dirty="0" smtClean="0">
                <a:solidFill>
                  <a:schemeClr val="tx2">
                    <a:lumMod val="50000"/>
                  </a:schemeClr>
                </a:solidFill>
                <a:hlinkClick r:id="rId2"/>
              </a:rPr>
              <a:t>Les recommandations</a:t>
            </a:r>
            <a:endParaRPr lang="fr-FR" dirty="0" smtClean="0">
              <a:solidFill>
                <a:schemeClr val="tx2">
                  <a:lumMod val="50000"/>
                </a:schemeClr>
              </a:solidFill>
            </a:endParaRPr>
          </a:p>
          <a:p>
            <a:pPr>
              <a:buClrTx/>
              <a:buFont typeface="Wingdings" pitchFamily="2" charset="2"/>
              <a:buChar char="v"/>
            </a:pPr>
            <a:r>
              <a:rPr lang="fr-FR" dirty="0" smtClean="0">
                <a:solidFill>
                  <a:schemeClr val="tx2">
                    <a:lumMod val="50000"/>
                  </a:schemeClr>
                </a:solidFill>
                <a:hlinkClick r:id="rId2"/>
              </a:rPr>
              <a:t>La bibliographie</a:t>
            </a:r>
            <a:endParaRPr lang="fr-FR" dirty="0" smtClean="0">
              <a:solidFill>
                <a:schemeClr val="tx2">
                  <a:lumMod val="50000"/>
                </a:schemeClr>
              </a:solidFill>
            </a:endParaRPr>
          </a:p>
          <a:p>
            <a:pPr>
              <a:buClrTx/>
              <a:buFont typeface="Wingdings" pitchFamily="2" charset="2"/>
              <a:buChar char="v"/>
            </a:pPr>
            <a:r>
              <a:rPr lang="fr-FR" dirty="0" smtClean="0">
                <a:solidFill>
                  <a:schemeClr val="tx2">
                    <a:lumMod val="50000"/>
                  </a:schemeClr>
                </a:solidFill>
                <a:hlinkClick r:id="rId2"/>
              </a:rPr>
              <a:t>Les annexes</a:t>
            </a:r>
            <a:endParaRPr lang="fr-FR" dirty="0" smtClean="0">
              <a:solidFill>
                <a:schemeClr val="tx2">
                  <a:lumMod val="50000"/>
                </a:schemeClr>
              </a:solidFill>
            </a:endParaRPr>
          </a:p>
          <a:p>
            <a:pPr>
              <a:buFont typeface="Wingdings" pitchFamily="2" charset="2"/>
              <a:buChar char="v"/>
            </a:pPr>
            <a:endParaRPr lang="fr-FR" dirty="0">
              <a:solidFill>
                <a:schemeClr val="tx2">
                  <a:lumMod val="50000"/>
                </a:schemeClr>
              </a:solidFill>
            </a:endParaRPr>
          </a:p>
        </p:txBody>
      </p:sp>
      <p:sp>
        <p:nvSpPr>
          <p:cNvPr id="4" name="Espace réservé du numéro de diapositive 3"/>
          <p:cNvSpPr>
            <a:spLocks noGrp="1"/>
          </p:cNvSpPr>
          <p:nvPr>
            <p:ph type="sldNum" sz="quarter" idx="15"/>
          </p:nvPr>
        </p:nvSpPr>
        <p:spPr/>
        <p:txBody>
          <a:bodyPr/>
          <a:lstStyle/>
          <a:p>
            <a:fld id="{1D258001-9BDA-447A-ADAB-646DC4D258D2}" type="slidenum">
              <a:rPr lang="fr-FR" smtClean="0"/>
              <a:pPr/>
              <a:t>38</a:t>
            </a:fld>
            <a:endParaRPr lang="fr-FR"/>
          </a:p>
        </p:txBody>
      </p:sp>
      <p:sp>
        <p:nvSpPr>
          <p:cNvPr id="5" name="Espace réservé du pied de page 4"/>
          <p:cNvSpPr>
            <a:spLocks noGrp="1"/>
          </p:cNvSpPr>
          <p:nvPr>
            <p:ph type="ftr" sz="quarter" idx="16"/>
          </p:nvPr>
        </p:nvSpPr>
        <p:spPr/>
        <p:txBody>
          <a:bodyPr/>
          <a:lstStyle/>
          <a:p>
            <a:r>
              <a:rPr lang="fr-FR" smtClean="0"/>
              <a:t>Rédaction Scientifique                                       Pr.H.F.Merouani</a:t>
            </a:r>
            <a:endParaRPr lang="fr-F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solidFill>
                  <a:srgbClr val="FF0000"/>
                </a:solidFill>
              </a:rPr>
              <a:t>La page de garde</a:t>
            </a:r>
            <a:endParaRPr lang="fr-FR" dirty="0">
              <a:solidFill>
                <a:srgbClr val="FF0000"/>
              </a:solidFill>
            </a:endParaRPr>
          </a:p>
        </p:txBody>
      </p:sp>
      <p:sp>
        <p:nvSpPr>
          <p:cNvPr id="3" name="Espace réservé du contenu 2"/>
          <p:cNvSpPr>
            <a:spLocks noGrp="1"/>
          </p:cNvSpPr>
          <p:nvPr>
            <p:ph sz="quarter" idx="1"/>
          </p:nvPr>
        </p:nvSpPr>
        <p:spPr/>
        <p:txBody>
          <a:bodyPr>
            <a:normAutofit/>
          </a:bodyPr>
          <a:lstStyle/>
          <a:p>
            <a:pPr algn="just">
              <a:buNone/>
            </a:pPr>
            <a:r>
              <a:rPr lang="fr-FR" dirty="0" smtClean="0"/>
              <a:t>La page de garde présente les informations nécessaires à votre </a:t>
            </a:r>
            <a:r>
              <a:rPr lang="fr-FR" dirty="0" smtClean="0">
                <a:solidFill>
                  <a:srgbClr val="00B0F0"/>
                </a:solidFill>
              </a:rPr>
              <a:t>identification</a:t>
            </a:r>
            <a:r>
              <a:rPr lang="fr-FR" dirty="0" smtClean="0"/>
              <a:t> et à la </a:t>
            </a:r>
            <a:r>
              <a:rPr lang="fr-FR" dirty="0" smtClean="0">
                <a:solidFill>
                  <a:srgbClr val="00B0F0"/>
                </a:solidFill>
              </a:rPr>
              <a:t>présentation du mémoire</a:t>
            </a:r>
            <a:r>
              <a:rPr lang="fr-FR" dirty="0" smtClean="0"/>
              <a:t>.</a:t>
            </a:r>
          </a:p>
          <a:p>
            <a:pPr>
              <a:buNone/>
            </a:pPr>
            <a:r>
              <a:rPr lang="fr-FR" dirty="0" smtClean="0"/>
              <a:t>Elle comprend les éléments suivants :</a:t>
            </a:r>
          </a:p>
          <a:p>
            <a:pPr marL="457200" lvl="0" indent="-457200">
              <a:buFont typeface="+mj-lt"/>
              <a:buAutoNum type="arabicPeriod"/>
            </a:pPr>
            <a:r>
              <a:rPr lang="fr-FR" dirty="0" smtClean="0"/>
              <a:t>Institution</a:t>
            </a:r>
          </a:p>
          <a:p>
            <a:pPr marL="457200" lvl="0" indent="-457200">
              <a:buFont typeface="+mj-lt"/>
              <a:buAutoNum type="arabicPeriod"/>
            </a:pPr>
            <a:r>
              <a:rPr lang="fr-FR" dirty="0" smtClean="0"/>
              <a:t>Titre</a:t>
            </a:r>
          </a:p>
          <a:p>
            <a:pPr marL="457200" lvl="0" indent="-457200">
              <a:buFont typeface="+mj-lt"/>
              <a:buAutoNum type="arabicPeriod"/>
            </a:pPr>
            <a:r>
              <a:rPr lang="fr-FR" dirty="0" smtClean="0"/>
              <a:t>Auteurs</a:t>
            </a:r>
          </a:p>
          <a:p>
            <a:pPr marL="457200" lvl="0" indent="-457200">
              <a:buFont typeface="+mj-lt"/>
              <a:buAutoNum type="arabicPeriod"/>
            </a:pPr>
            <a:r>
              <a:rPr lang="fr-FR" dirty="0" smtClean="0"/>
              <a:t>Occasion de la réalisation du travail : Rapport de lecture, Mémoire, Thèse, </a:t>
            </a:r>
            <a:r>
              <a:rPr lang="fr-FR" dirty="0" err="1" smtClean="0"/>
              <a:t>Etc</a:t>
            </a:r>
            <a:endParaRPr lang="fr-FR" dirty="0" smtClean="0"/>
          </a:p>
          <a:p>
            <a:pPr marL="457200" lvl="0" indent="-457200">
              <a:buFont typeface="+mj-lt"/>
              <a:buAutoNum type="arabicPeriod"/>
            </a:pPr>
            <a:r>
              <a:rPr lang="fr-FR" dirty="0" smtClean="0"/>
              <a:t>Directeur du travail / Jury d’évaluation</a:t>
            </a:r>
          </a:p>
          <a:p>
            <a:pPr marL="457200" lvl="0" indent="-457200">
              <a:buFont typeface="+mj-lt"/>
              <a:buAutoNum type="arabicPeriod"/>
            </a:pPr>
            <a:r>
              <a:rPr lang="fr-FR" dirty="0" smtClean="0"/>
              <a:t>Date</a:t>
            </a:r>
          </a:p>
          <a:p>
            <a:pPr marL="457200" indent="-457200">
              <a:buFont typeface="+mj-lt"/>
              <a:buAutoNum type="arabicPeriod"/>
            </a:pPr>
            <a:endParaRPr lang="fr-FR" dirty="0" smtClean="0"/>
          </a:p>
          <a:p>
            <a:pPr algn="just">
              <a:buNone/>
            </a:pPr>
            <a:endParaRPr lang="fr-FR" dirty="0"/>
          </a:p>
        </p:txBody>
      </p:sp>
      <p:sp>
        <p:nvSpPr>
          <p:cNvPr id="4" name="Espace réservé du numéro de diapositive 3"/>
          <p:cNvSpPr>
            <a:spLocks noGrp="1"/>
          </p:cNvSpPr>
          <p:nvPr>
            <p:ph type="sldNum" sz="quarter" idx="15"/>
          </p:nvPr>
        </p:nvSpPr>
        <p:spPr/>
        <p:txBody>
          <a:bodyPr/>
          <a:lstStyle/>
          <a:p>
            <a:fld id="{1D258001-9BDA-447A-ADAB-646DC4D258D2}" type="slidenum">
              <a:rPr lang="fr-FR" smtClean="0"/>
              <a:pPr/>
              <a:t>39</a:t>
            </a:fld>
            <a:endParaRPr lang="fr-FR"/>
          </a:p>
        </p:txBody>
      </p:sp>
      <p:sp>
        <p:nvSpPr>
          <p:cNvPr id="5" name="Espace réservé du pied de page 4"/>
          <p:cNvSpPr>
            <a:spLocks noGrp="1"/>
          </p:cNvSpPr>
          <p:nvPr>
            <p:ph type="ftr" sz="quarter" idx="16"/>
          </p:nvPr>
        </p:nvSpPr>
        <p:spPr/>
        <p:txBody>
          <a:bodyPr/>
          <a:lstStyle/>
          <a:p>
            <a:r>
              <a:rPr lang="fr-FR" smtClean="0"/>
              <a:t>Rédaction Scientifique                                       Pr.H.F.Merouani</a:t>
            </a:r>
            <a:endParaRPr lang="fr-F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1"/>
          <p:cNvSpPr>
            <a:spLocks noGrp="1"/>
          </p:cNvSpPr>
          <p:nvPr>
            <p:ph type="ftr" sz="quarter" idx="11"/>
          </p:nvPr>
        </p:nvSpPr>
        <p:spPr/>
        <p:txBody>
          <a:bodyPr/>
          <a:lstStyle/>
          <a:p>
            <a:r>
              <a:rPr lang="fr-FR" smtClean="0"/>
              <a:t>Rédaction Scientifique                                       Pr.H.F.Merouani</a:t>
            </a:r>
            <a:endParaRPr lang="fr-FR"/>
          </a:p>
        </p:txBody>
      </p:sp>
      <p:sp>
        <p:nvSpPr>
          <p:cNvPr id="3" name="Espace réservé du numéro de diapositive 2"/>
          <p:cNvSpPr>
            <a:spLocks noGrp="1"/>
          </p:cNvSpPr>
          <p:nvPr>
            <p:ph type="sldNum" sz="quarter" idx="12"/>
          </p:nvPr>
        </p:nvSpPr>
        <p:spPr/>
        <p:txBody>
          <a:bodyPr/>
          <a:lstStyle/>
          <a:p>
            <a:fld id="{1D258001-9BDA-447A-ADAB-646DC4D258D2}" type="slidenum">
              <a:rPr lang="fr-FR" smtClean="0"/>
              <a:pPr/>
              <a:t>40</a:t>
            </a:fld>
            <a:endParaRPr lang="fr-FR"/>
          </a:p>
        </p:txBody>
      </p:sp>
      <p:pic>
        <p:nvPicPr>
          <p:cNvPr id="55298" name="Picture 2"/>
          <p:cNvPicPr>
            <a:picLocks noChangeAspect="1" noChangeArrowheads="1"/>
          </p:cNvPicPr>
          <p:nvPr/>
        </p:nvPicPr>
        <p:blipFill>
          <a:blip r:embed="rId2"/>
          <a:srcRect/>
          <a:stretch>
            <a:fillRect/>
          </a:stretch>
        </p:blipFill>
        <p:spPr bwMode="auto">
          <a:xfrm>
            <a:off x="0" y="357166"/>
            <a:ext cx="4429155" cy="6283346"/>
          </a:xfrm>
          <a:prstGeom prst="rect">
            <a:avLst/>
          </a:prstGeom>
          <a:noFill/>
          <a:ln w="9525">
            <a:noFill/>
            <a:miter lim="800000"/>
            <a:headEnd/>
            <a:tailEnd/>
          </a:ln>
          <a:effectLst/>
        </p:spPr>
      </p:pic>
      <p:pic>
        <p:nvPicPr>
          <p:cNvPr id="6" name="Picture 3"/>
          <p:cNvPicPr>
            <a:picLocks noChangeAspect="1" noChangeArrowheads="1"/>
          </p:cNvPicPr>
          <p:nvPr/>
        </p:nvPicPr>
        <p:blipFill>
          <a:blip r:embed="rId3"/>
          <a:srcRect/>
          <a:stretch>
            <a:fillRect/>
          </a:stretch>
        </p:blipFill>
        <p:spPr bwMode="auto">
          <a:xfrm>
            <a:off x="4412590" y="214290"/>
            <a:ext cx="4088500" cy="642942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i="1" dirty="0" smtClean="0">
                <a:solidFill>
                  <a:srgbClr val="FF0000"/>
                </a:solidFill>
              </a:rPr>
              <a:t>La page des dédicaces</a:t>
            </a:r>
            <a:br>
              <a:rPr lang="fr-FR" b="1" i="1" dirty="0" smtClean="0">
                <a:solidFill>
                  <a:srgbClr val="FF0000"/>
                </a:solidFill>
              </a:rPr>
            </a:br>
            <a:endParaRPr lang="fr-FR" dirty="0">
              <a:solidFill>
                <a:srgbClr val="FF0000"/>
              </a:solidFill>
            </a:endParaRPr>
          </a:p>
        </p:txBody>
      </p:sp>
      <p:sp>
        <p:nvSpPr>
          <p:cNvPr id="3" name="Espace réservé du contenu 2"/>
          <p:cNvSpPr>
            <a:spLocks noGrp="1"/>
          </p:cNvSpPr>
          <p:nvPr>
            <p:ph sz="quarter" idx="1"/>
          </p:nvPr>
        </p:nvSpPr>
        <p:spPr/>
        <p:txBody>
          <a:bodyPr/>
          <a:lstStyle/>
          <a:p>
            <a:pPr algn="just">
              <a:buNone/>
            </a:pPr>
            <a:r>
              <a:rPr lang="fr-FR" sz="2800" dirty="0" smtClean="0"/>
              <a:t>Offrir symboliquement son travail est une forme de reconnaissances envers d’autres personnes ayant consenti un sacrifice et soutenu le candidat durant son travail. Les dédicaces doivent être aussi brèves que possible.</a:t>
            </a:r>
          </a:p>
          <a:p>
            <a:pPr>
              <a:buNone/>
            </a:pPr>
            <a:r>
              <a:rPr lang="fr-FR" b="1" dirty="0" smtClean="0"/>
              <a:t> </a:t>
            </a:r>
            <a:endParaRPr lang="fr-FR" dirty="0" smtClean="0"/>
          </a:p>
          <a:p>
            <a:endParaRPr lang="fr-FR" dirty="0"/>
          </a:p>
        </p:txBody>
      </p:sp>
      <p:sp>
        <p:nvSpPr>
          <p:cNvPr id="4" name="Espace réservé du numéro de diapositive 3"/>
          <p:cNvSpPr>
            <a:spLocks noGrp="1"/>
          </p:cNvSpPr>
          <p:nvPr>
            <p:ph type="sldNum" sz="quarter" idx="15"/>
          </p:nvPr>
        </p:nvSpPr>
        <p:spPr/>
        <p:txBody>
          <a:bodyPr/>
          <a:lstStyle/>
          <a:p>
            <a:fld id="{1D258001-9BDA-447A-ADAB-646DC4D258D2}" type="slidenum">
              <a:rPr lang="fr-FR" smtClean="0"/>
              <a:pPr/>
              <a:t>41</a:t>
            </a:fld>
            <a:endParaRPr lang="fr-FR"/>
          </a:p>
        </p:txBody>
      </p:sp>
      <p:sp>
        <p:nvSpPr>
          <p:cNvPr id="5" name="Espace réservé du pied de page 4"/>
          <p:cNvSpPr>
            <a:spLocks noGrp="1"/>
          </p:cNvSpPr>
          <p:nvPr>
            <p:ph type="ftr" sz="quarter" idx="16"/>
          </p:nvPr>
        </p:nvSpPr>
        <p:spPr/>
        <p:txBody>
          <a:bodyPr/>
          <a:lstStyle/>
          <a:p>
            <a:r>
              <a:rPr lang="fr-FR" smtClean="0"/>
              <a:t>Rédaction Scientifique                                       Pr.H.F.Merouani</a:t>
            </a:r>
            <a:endParaRPr lang="fr-F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b="1" dirty="0" smtClean="0">
                <a:solidFill>
                  <a:srgbClr val="FF0000"/>
                </a:solidFill>
              </a:rPr>
              <a:t>Comment rédiger les </a:t>
            </a:r>
            <a:r>
              <a:rPr lang="fr-FR" b="1" dirty="0" smtClean="0">
                <a:solidFill>
                  <a:srgbClr val="FF0000"/>
                </a:solidFill>
                <a:hlinkClick r:id="rId2"/>
              </a:rPr>
              <a:t>remerciements</a:t>
            </a:r>
            <a:r>
              <a:rPr lang="fr-FR" b="1" dirty="0" smtClean="0">
                <a:solidFill>
                  <a:srgbClr val="FF0000"/>
                </a:solidFill>
              </a:rPr>
              <a:t> d’un mémoire ?</a:t>
            </a:r>
            <a:br>
              <a:rPr lang="fr-FR" b="1" dirty="0" smtClean="0">
                <a:solidFill>
                  <a:srgbClr val="FF0000"/>
                </a:solidFill>
              </a:rPr>
            </a:br>
            <a:endParaRPr lang="fr-FR" dirty="0">
              <a:solidFill>
                <a:srgbClr val="FF0000"/>
              </a:solidFill>
            </a:endParaRPr>
          </a:p>
        </p:txBody>
      </p:sp>
      <p:sp>
        <p:nvSpPr>
          <p:cNvPr id="3" name="Espace réservé du contenu 2"/>
          <p:cNvSpPr>
            <a:spLocks noGrp="1"/>
          </p:cNvSpPr>
          <p:nvPr>
            <p:ph sz="quarter" idx="1"/>
          </p:nvPr>
        </p:nvSpPr>
        <p:spPr/>
        <p:txBody>
          <a:bodyPr>
            <a:normAutofit/>
          </a:bodyPr>
          <a:lstStyle/>
          <a:p>
            <a:pPr algn="just">
              <a:buNone/>
            </a:pPr>
            <a:r>
              <a:rPr lang="fr-FR" sz="2800" dirty="0" smtClean="0"/>
              <a:t>Au cours de votre travail, des professeurs, collègues, amis, experts et divers contacts impliqués dans votre champs d’études, vous ont apporté leur aide. A présent, il est impératif de les remercier.</a:t>
            </a:r>
          </a:p>
          <a:p>
            <a:pPr algn="just">
              <a:buFont typeface="Wingdings" pitchFamily="2" charset="2"/>
              <a:buChar char="Ø"/>
            </a:pPr>
            <a:r>
              <a:rPr lang="fr-FR" sz="2800" dirty="0" smtClean="0"/>
              <a:t>En cas de collaboration il faut indiquer clairement les parties du travail concernées</a:t>
            </a:r>
          </a:p>
          <a:p>
            <a:pPr algn="just">
              <a:buNone/>
            </a:pPr>
            <a:endParaRPr lang="fr-FR" sz="2800" dirty="0"/>
          </a:p>
        </p:txBody>
      </p:sp>
      <p:sp>
        <p:nvSpPr>
          <p:cNvPr id="4" name="Espace réservé du numéro de diapositive 3"/>
          <p:cNvSpPr>
            <a:spLocks noGrp="1"/>
          </p:cNvSpPr>
          <p:nvPr>
            <p:ph type="sldNum" sz="quarter" idx="15"/>
          </p:nvPr>
        </p:nvSpPr>
        <p:spPr/>
        <p:txBody>
          <a:bodyPr/>
          <a:lstStyle/>
          <a:p>
            <a:fld id="{1D258001-9BDA-447A-ADAB-646DC4D258D2}" type="slidenum">
              <a:rPr lang="fr-FR" smtClean="0"/>
              <a:pPr/>
              <a:t>42</a:t>
            </a:fld>
            <a:endParaRPr lang="fr-FR"/>
          </a:p>
        </p:txBody>
      </p:sp>
      <p:sp>
        <p:nvSpPr>
          <p:cNvPr id="5" name="Espace réservé du pied de page 4"/>
          <p:cNvSpPr>
            <a:spLocks noGrp="1"/>
          </p:cNvSpPr>
          <p:nvPr>
            <p:ph type="ftr" sz="quarter" idx="16"/>
          </p:nvPr>
        </p:nvSpPr>
        <p:spPr/>
        <p:txBody>
          <a:bodyPr/>
          <a:lstStyle/>
          <a:p>
            <a:r>
              <a:rPr lang="fr-FR" smtClean="0"/>
              <a:t>Rédaction Scientifique                                       Pr.H.F.Merouani</a:t>
            </a:r>
            <a:endParaRPr lang="fr-F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solidFill>
                  <a:srgbClr val="FF0000"/>
                </a:solidFill>
              </a:rPr>
              <a:t>Créer le </a:t>
            </a:r>
            <a:r>
              <a:rPr lang="fr-FR" dirty="0" smtClean="0">
                <a:solidFill>
                  <a:srgbClr val="FF0000"/>
                </a:solidFill>
                <a:hlinkClick r:id="rId2"/>
              </a:rPr>
              <a:t>sommaire</a:t>
            </a:r>
            <a:r>
              <a:rPr lang="fr-FR" dirty="0" smtClean="0">
                <a:solidFill>
                  <a:srgbClr val="FF0000"/>
                </a:solidFill>
              </a:rPr>
              <a:t> d’un mémoire</a:t>
            </a:r>
            <a:br>
              <a:rPr lang="fr-FR" dirty="0" smtClean="0">
                <a:solidFill>
                  <a:srgbClr val="FF0000"/>
                </a:solidFill>
              </a:rPr>
            </a:br>
            <a:endParaRPr lang="fr-FR" dirty="0">
              <a:solidFill>
                <a:srgbClr val="FF0000"/>
              </a:solidFill>
            </a:endParaRPr>
          </a:p>
        </p:txBody>
      </p:sp>
      <p:sp>
        <p:nvSpPr>
          <p:cNvPr id="3" name="Espace réservé du contenu 2"/>
          <p:cNvSpPr>
            <a:spLocks noGrp="1"/>
          </p:cNvSpPr>
          <p:nvPr>
            <p:ph sz="quarter" idx="1"/>
          </p:nvPr>
        </p:nvSpPr>
        <p:spPr/>
        <p:txBody>
          <a:bodyPr/>
          <a:lstStyle/>
          <a:p>
            <a:pPr algn="just">
              <a:buNone/>
            </a:pPr>
            <a:r>
              <a:rPr lang="fr-FR" sz="2800" dirty="0" smtClean="0"/>
              <a:t>Le sommaire de votre mémoire permet au lecteur d’avoir une vue d’ensemble du document. Il liste tous les chapitres et parties, leur nom, ainsi que le numéro de la page qui leur correspond. Pour être certain de respecter les règles qui lui sont propres.</a:t>
            </a:r>
          </a:p>
          <a:p>
            <a:pPr lvl="0">
              <a:buFont typeface="Wingdings" pitchFamily="2" charset="2"/>
              <a:buChar char="Ø"/>
            </a:pPr>
            <a:r>
              <a:rPr lang="fr-FR" sz="2800" dirty="0" smtClean="0"/>
              <a:t>Moyen d’accès au contenu du document</a:t>
            </a:r>
          </a:p>
          <a:p>
            <a:pPr lvl="0">
              <a:buFont typeface="Wingdings" pitchFamily="2" charset="2"/>
              <a:buChar char="Ø"/>
            </a:pPr>
            <a:r>
              <a:rPr lang="fr-FR" sz="2800" dirty="0" smtClean="0"/>
              <a:t>Peut être générée automatiquement</a:t>
            </a:r>
          </a:p>
          <a:p>
            <a:pPr>
              <a:buNone/>
            </a:pPr>
            <a:r>
              <a:rPr lang="fr-FR" sz="2800" dirty="0" smtClean="0"/>
              <a:t> </a:t>
            </a:r>
          </a:p>
          <a:p>
            <a:pPr algn="just">
              <a:buNone/>
            </a:pPr>
            <a:endParaRPr lang="fr-FR" sz="2800" dirty="0" smtClean="0"/>
          </a:p>
          <a:p>
            <a:endParaRPr lang="fr-FR" dirty="0"/>
          </a:p>
        </p:txBody>
      </p:sp>
      <p:sp>
        <p:nvSpPr>
          <p:cNvPr id="4" name="Espace réservé du numéro de diapositive 3"/>
          <p:cNvSpPr>
            <a:spLocks noGrp="1"/>
          </p:cNvSpPr>
          <p:nvPr>
            <p:ph type="sldNum" sz="quarter" idx="15"/>
          </p:nvPr>
        </p:nvSpPr>
        <p:spPr/>
        <p:txBody>
          <a:bodyPr/>
          <a:lstStyle/>
          <a:p>
            <a:fld id="{1D258001-9BDA-447A-ADAB-646DC4D258D2}" type="slidenum">
              <a:rPr lang="fr-FR" smtClean="0"/>
              <a:pPr/>
              <a:t>43</a:t>
            </a:fld>
            <a:endParaRPr lang="fr-FR"/>
          </a:p>
        </p:txBody>
      </p:sp>
      <p:sp>
        <p:nvSpPr>
          <p:cNvPr id="5" name="Espace réservé du pied de page 4"/>
          <p:cNvSpPr>
            <a:spLocks noGrp="1"/>
          </p:cNvSpPr>
          <p:nvPr>
            <p:ph type="ftr" sz="quarter" idx="16"/>
          </p:nvPr>
        </p:nvSpPr>
        <p:spPr/>
        <p:txBody>
          <a:bodyPr/>
          <a:lstStyle/>
          <a:p>
            <a:r>
              <a:rPr lang="fr-FR" smtClean="0"/>
              <a:t>Rédaction Scientifique                                       Pr.H.F.Merouani</a:t>
            </a:r>
            <a:endParaRPr lang="fr-F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smtClean="0">
                <a:solidFill>
                  <a:srgbClr val="FF0000"/>
                </a:solidFill>
              </a:rPr>
              <a:t>Savoir rédiger le </a:t>
            </a:r>
            <a:r>
              <a:rPr lang="fr-FR" dirty="0" smtClean="0">
                <a:solidFill>
                  <a:srgbClr val="FF0000"/>
                </a:solidFill>
                <a:hlinkClick r:id="rId2"/>
              </a:rPr>
              <a:t>résumé</a:t>
            </a:r>
            <a:r>
              <a:rPr lang="fr-FR" dirty="0" smtClean="0">
                <a:solidFill>
                  <a:srgbClr val="FF0000"/>
                </a:solidFill>
              </a:rPr>
              <a:t> d’un mémoire</a:t>
            </a:r>
            <a:r>
              <a:rPr lang="fr-FR" b="1" dirty="0" smtClean="0"/>
              <a:t/>
            </a:r>
            <a:br>
              <a:rPr lang="fr-FR" b="1" dirty="0" smtClean="0"/>
            </a:br>
            <a:endParaRPr lang="fr-FR" dirty="0"/>
          </a:p>
        </p:txBody>
      </p:sp>
      <p:sp>
        <p:nvSpPr>
          <p:cNvPr id="3" name="Espace réservé du contenu 2"/>
          <p:cNvSpPr>
            <a:spLocks noGrp="1"/>
          </p:cNvSpPr>
          <p:nvPr>
            <p:ph sz="quarter" idx="1"/>
          </p:nvPr>
        </p:nvSpPr>
        <p:spPr/>
        <p:txBody>
          <a:bodyPr/>
          <a:lstStyle/>
          <a:p>
            <a:pPr algn="just">
              <a:buNone/>
            </a:pPr>
            <a:r>
              <a:rPr lang="fr-FR" sz="2800" dirty="0" smtClean="0"/>
              <a:t>Le résumé d’un mémoire est la première chose que le lecteur lit. Il présente l’objectif du mémoire et fournit les informations principales du travail mené. Son écriture est un exercice de synthèse qui doit remplir </a:t>
            </a:r>
            <a:r>
              <a:rPr lang="fr-FR" sz="2800" dirty="0" smtClean="0">
                <a:hlinkClick r:id="rId2"/>
              </a:rPr>
              <a:t>plusieurs critères</a:t>
            </a:r>
            <a:r>
              <a:rPr lang="fr-FR" sz="2800" dirty="0" smtClean="0"/>
              <a:t>.</a:t>
            </a:r>
          </a:p>
          <a:p>
            <a:endParaRPr lang="fr-FR" dirty="0"/>
          </a:p>
        </p:txBody>
      </p:sp>
      <p:sp>
        <p:nvSpPr>
          <p:cNvPr id="4" name="Espace réservé du numéro de diapositive 3"/>
          <p:cNvSpPr>
            <a:spLocks noGrp="1"/>
          </p:cNvSpPr>
          <p:nvPr>
            <p:ph type="sldNum" sz="quarter" idx="15"/>
          </p:nvPr>
        </p:nvSpPr>
        <p:spPr/>
        <p:txBody>
          <a:bodyPr/>
          <a:lstStyle/>
          <a:p>
            <a:fld id="{1D258001-9BDA-447A-ADAB-646DC4D258D2}" type="slidenum">
              <a:rPr lang="fr-FR" smtClean="0"/>
              <a:pPr/>
              <a:t>44</a:t>
            </a:fld>
            <a:endParaRPr lang="fr-FR"/>
          </a:p>
        </p:txBody>
      </p:sp>
      <p:sp>
        <p:nvSpPr>
          <p:cNvPr id="5" name="Espace réservé du pied de page 4"/>
          <p:cNvSpPr>
            <a:spLocks noGrp="1"/>
          </p:cNvSpPr>
          <p:nvPr>
            <p:ph type="ftr" sz="quarter" idx="16"/>
          </p:nvPr>
        </p:nvSpPr>
        <p:spPr/>
        <p:txBody>
          <a:bodyPr/>
          <a:lstStyle/>
          <a:p>
            <a:r>
              <a:rPr lang="fr-FR" smtClean="0"/>
              <a:t>Rédaction Scientifique                                       Pr.H.F.Merouani</a:t>
            </a:r>
            <a:endParaRPr lang="fr-F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solidFill>
                  <a:srgbClr val="FF0000"/>
                </a:solidFill>
              </a:rPr>
              <a:t>Critères d’un résumé</a:t>
            </a:r>
            <a:endParaRPr lang="fr-FR" dirty="0">
              <a:solidFill>
                <a:srgbClr val="FF0000"/>
              </a:solidFill>
            </a:endParaRPr>
          </a:p>
        </p:txBody>
      </p:sp>
      <p:sp>
        <p:nvSpPr>
          <p:cNvPr id="3" name="Espace réservé du contenu 2"/>
          <p:cNvSpPr>
            <a:spLocks noGrp="1"/>
          </p:cNvSpPr>
          <p:nvPr>
            <p:ph sz="quarter" idx="1"/>
          </p:nvPr>
        </p:nvSpPr>
        <p:spPr/>
        <p:txBody>
          <a:bodyPr>
            <a:normAutofit fontScale="85000" lnSpcReduction="10000"/>
          </a:bodyPr>
          <a:lstStyle/>
          <a:p>
            <a:pPr>
              <a:buNone/>
            </a:pPr>
            <a:r>
              <a:rPr lang="fr-FR" b="1" dirty="0" smtClean="0">
                <a:solidFill>
                  <a:srgbClr val="0070C0"/>
                </a:solidFill>
              </a:rPr>
              <a:t>Le résumé d’un mémoire explique le titre</a:t>
            </a:r>
          </a:p>
          <a:p>
            <a:pPr>
              <a:buNone/>
            </a:pPr>
            <a:r>
              <a:rPr lang="fr-FR" dirty="0" smtClean="0"/>
              <a:t>Le résumé sert à expliquer le titre de votre </a:t>
            </a:r>
            <a:r>
              <a:rPr lang="fr-FR" dirty="0" smtClean="0">
                <a:hlinkClick r:id="rId2"/>
              </a:rPr>
              <a:t>mémoire</a:t>
            </a:r>
            <a:r>
              <a:rPr lang="fr-FR" dirty="0" smtClean="0"/>
              <a:t>. Il permet à votre lecteur de décider si votre mémoire a un sujet assez intéressant pour qu’il continue sa lecture.</a:t>
            </a:r>
          </a:p>
          <a:p>
            <a:pPr>
              <a:buNone/>
            </a:pPr>
            <a:r>
              <a:rPr lang="fr-FR" b="1" dirty="0" smtClean="0">
                <a:solidFill>
                  <a:srgbClr val="0070C0"/>
                </a:solidFill>
              </a:rPr>
              <a:t>Le résumé est une courte version de votre mémoire</a:t>
            </a:r>
          </a:p>
          <a:p>
            <a:pPr>
              <a:buNone/>
            </a:pPr>
            <a:r>
              <a:rPr lang="fr-FR" dirty="0" smtClean="0"/>
              <a:t>Le résumé d’un mémoire offre aux lecteurs une version courte de celui-ci, si ils n’ont pas le temps de lire l’intégralité.</a:t>
            </a:r>
          </a:p>
          <a:p>
            <a:pPr>
              <a:buNone/>
            </a:pPr>
            <a:r>
              <a:rPr lang="fr-FR" dirty="0" smtClean="0"/>
              <a:t>Les managers et les scientifiques se contentent parfois de ne lire que le résumé du mémoire.</a:t>
            </a:r>
          </a:p>
          <a:p>
            <a:pPr>
              <a:buNone/>
            </a:pPr>
            <a:r>
              <a:rPr lang="fr-FR" b="1" dirty="0" smtClean="0">
                <a:solidFill>
                  <a:srgbClr val="0070C0"/>
                </a:solidFill>
              </a:rPr>
              <a:t>Le résumé donne un aperçu de votre mémoire</a:t>
            </a:r>
          </a:p>
          <a:p>
            <a:pPr>
              <a:buNone/>
            </a:pPr>
            <a:r>
              <a:rPr lang="fr-FR" dirty="0" smtClean="0"/>
              <a:t>Le résumé d’un mémoire donne aux lecteurs un aperçu de la lecture qui va suivre. Cela facilite la compréhension et apporte un contexte à votre mémoire. Un résumé bien rédigé permettra aux éléments plus ardus d’être compris plus facilement.</a:t>
            </a:r>
          </a:p>
          <a:p>
            <a:endParaRPr lang="fr-FR" dirty="0"/>
          </a:p>
        </p:txBody>
      </p:sp>
      <p:sp>
        <p:nvSpPr>
          <p:cNvPr id="4" name="Espace réservé du numéro de diapositive 3"/>
          <p:cNvSpPr>
            <a:spLocks noGrp="1"/>
          </p:cNvSpPr>
          <p:nvPr>
            <p:ph type="sldNum" sz="quarter" idx="15"/>
          </p:nvPr>
        </p:nvSpPr>
        <p:spPr/>
        <p:txBody>
          <a:bodyPr/>
          <a:lstStyle/>
          <a:p>
            <a:fld id="{1D258001-9BDA-447A-ADAB-646DC4D258D2}" type="slidenum">
              <a:rPr lang="fr-FR" smtClean="0"/>
              <a:pPr/>
              <a:t>45</a:t>
            </a:fld>
            <a:endParaRPr lang="fr-FR"/>
          </a:p>
        </p:txBody>
      </p:sp>
      <p:sp>
        <p:nvSpPr>
          <p:cNvPr id="5" name="Espace réservé du pied de page 4"/>
          <p:cNvSpPr>
            <a:spLocks noGrp="1"/>
          </p:cNvSpPr>
          <p:nvPr>
            <p:ph type="ftr" sz="quarter" idx="16"/>
          </p:nvPr>
        </p:nvSpPr>
        <p:spPr/>
        <p:txBody>
          <a:bodyPr/>
          <a:lstStyle/>
          <a:p>
            <a:r>
              <a:rPr lang="fr-FR" smtClean="0"/>
              <a:t>Rédaction Scientifique                                       Pr.H.F.Merouani</a:t>
            </a:r>
            <a:endParaRPr lang="fr-F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smtClean="0">
                <a:solidFill>
                  <a:srgbClr val="FF0000"/>
                </a:solidFill>
              </a:rPr>
              <a:t>Tables des illustrations, tableaux, abréviations et sigles</a:t>
            </a:r>
            <a:br>
              <a:rPr lang="fr-FR" dirty="0" smtClean="0">
                <a:solidFill>
                  <a:srgbClr val="FF0000"/>
                </a:solidFill>
              </a:rPr>
            </a:br>
            <a:endParaRPr lang="fr-FR" dirty="0">
              <a:solidFill>
                <a:srgbClr val="FF0000"/>
              </a:solidFill>
            </a:endParaRPr>
          </a:p>
        </p:txBody>
      </p:sp>
      <p:sp>
        <p:nvSpPr>
          <p:cNvPr id="3" name="Espace réservé du contenu 2"/>
          <p:cNvSpPr>
            <a:spLocks noGrp="1"/>
          </p:cNvSpPr>
          <p:nvPr>
            <p:ph sz="quarter" idx="1"/>
          </p:nvPr>
        </p:nvSpPr>
        <p:spPr/>
        <p:txBody>
          <a:bodyPr/>
          <a:lstStyle/>
          <a:p>
            <a:pPr>
              <a:buNone/>
            </a:pPr>
            <a:r>
              <a:rPr lang="fr-FR" dirty="0" smtClean="0"/>
              <a:t>Des récapitulatifs qui permettent de retrouver rapidement des éléments utilisés dans le corps du document.</a:t>
            </a:r>
          </a:p>
          <a:p>
            <a:pPr>
              <a:buNone/>
            </a:pPr>
            <a:endParaRPr lang="fr-FR" dirty="0"/>
          </a:p>
        </p:txBody>
      </p:sp>
      <p:sp>
        <p:nvSpPr>
          <p:cNvPr id="4" name="Espace réservé du numéro de diapositive 3"/>
          <p:cNvSpPr>
            <a:spLocks noGrp="1"/>
          </p:cNvSpPr>
          <p:nvPr>
            <p:ph type="sldNum" sz="quarter" idx="15"/>
          </p:nvPr>
        </p:nvSpPr>
        <p:spPr/>
        <p:txBody>
          <a:bodyPr/>
          <a:lstStyle/>
          <a:p>
            <a:fld id="{1D258001-9BDA-447A-ADAB-646DC4D258D2}" type="slidenum">
              <a:rPr lang="fr-FR" smtClean="0"/>
              <a:pPr/>
              <a:t>46</a:t>
            </a:fld>
            <a:endParaRPr lang="fr-FR"/>
          </a:p>
        </p:txBody>
      </p:sp>
      <p:sp>
        <p:nvSpPr>
          <p:cNvPr id="5" name="Espace réservé du pied de page 4"/>
          <p:cNvSpPr>
            <a:spLocks noGrp="1"/>
          </p:cNvSpPr>
          <p:nvPr>
            <p:ph type="ftr" sz="quarter" idx="16"/>
          </p:nvPr>
        </p:nvSpPr>
        <p:spPr/>
        <p:txBody>
          <a:bodyPr/>
          <a:lstStyle/>
          <a:p>
            <a:r>
              <a:rPr lang="fr-FR" smtClean="0"/>
              <a:t>Rédaction Scientifique                                       Pr.H.F.Merouani</a:t>
            </a:r>
            <a:endParaRPr lang="fr-F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solidFill>
                  <a:srgbClr val="FF0000"/>
                </a:solidFill>
              </a:rPr>
              <a:t>Introduction (1/2)</a:t>
            </a:r>
            <a:endParaRPr lang="fr-FR" dirty="0">
              <a:solidFill>
                <a:srgbClr val="FF0000"/>
              </a:solidFill>
            </a:endParaRPr>
          </a:p>
        </p:txBody>
      </p:sp>
      <p:sp>
        <p:nvSpPr>
          <p:cNvPr id="3" name="Espace réservé du contenu 2"/>
          <p:cNvSpPr>
            <a:spLocks noGrp="1"/>
          </p:cNvSpPr>
          <p:nvPr>
            <p:ph sz="quarter" idx="1"/>
          </p:nvPr>
        </p:nvSpPr>
        <p:spPr/>
        <p:txBody>
          <a:bodyPr>
            <a:normAutofit/>
          </a:bodyPr>
          <a:lstStyle/>
          <a:p>
            <a:pPr algn="just">
              <a:buNone/>
            </a:pPr>
            <a:r>
              <a:rPr lang="fr-FR" dirty="0" smtClean="0"/>
              <a:t>Rédiger l’introduction d’un mémoire est une partie importante, puisqu’il s’agit là du point de départ. Elle présente le </a:t>
            </a:r>
            <a:r>
              <a:rPr lang="fr-FR" dirty="0" smtClean="0">
                <a:solidFill>
                  <a:srgbClr val="0070C0"/>
                </a:solidFill>
              </a:rPr>
              <a:t>sujet</a:t>
            </a:r>
            <a:r>
              <a:rPr lang="fr-FR" dirty="0" smtClean="0"/>
              <a:t>, la </a:t>
            </a:r>
            <a:r>
              <a:rPr lang="fr-FR" dirty="0" smtClean="0">
                <a:solidFill>
                  <a:srgbClr val="0070C0"/>
                </a:solidFill>
              </a:rPr>
              <a:t>problématique</a:t>
            </a:r>
            <a:r>
              <a:rPr lang="fr-FR" dirty="0" smtClean="0"/>
              <a:t> et l’</a:t>
            </a:r>
            <a:r>
              <a:rPr lang="fr-FR" dirty="0" smtClean="0">
                <a:solidFill>
                  <a:srgbClr val="0070C0"/>
                </a:solidFill>
              </a:rPr>
              <a:t>annonce du plan</a:t>
            </a:r>
            <a:r>
              <a:rPr lang="fr-FR" dirty="0" smtClean="0"/>
              <a:t>.</a:t>
            </a:r>
          </a:p>
          <a:p>
            <a:pPr>
              <a:buNone/>
            </a:pPr>
            <a:r>
              <a:rPr lang="fr-FR" dirty="0" smtClean="0"/>
              <a:t>Son objectif est double : intéresser lecteur et offrir vision globale (articulations des idées, portée pertinence et pertinence du sujet). Pour atteindre cet objectif il convient de faire le parallèle entre sa structure et un entonnoir. </a:t>
            </a:r>
          </a:p>
          <a:p>
            <a:pPr algn="just">
              <a:buNone/>
            </a:pPr>
            <a:endParaRPr lang="fr-FR" dirty="0"/>
          </a:p>
        </p:txBody>
      </p:sp>
      <p:sp>
        <p:nvSpPr>
          <p:cNvPr id="4" name="Espace réservé du numéro de diapositive 3"/>
          <p:cNvSpPr>
            <a:spLocks noGrp="1"/>
          </p:cNvSpPr>
          <p:nvPr>
            <p:ph type="sldNum" sz="quarter" idx="15"/>
          </p:nvPr>
        </p:nvSpPr>
        <p:spPr/>
        <p:txBody>
          <a:bodyPr/>
          <a:lstStyle/>
          <a:p>
            <a:fld id="{1D258001-9BDA-447A-ADAB-646DC4D258D2}" type="slidenum">
              <a:rPr lang="fr-FR" smtClean="0"/>
              <a:pPr/>
              <a:t>47</a:t>
            </a:fld>
            <a:endParaRPr lang="fr-FR"/>
          </a:p>
        </p:txBody>
      </p:sp>
      <p:sp>
        <p:nvSpPr>
          <p:cNvPr id="5" name="Espace réservé du pied de page 4"/>
          <p:cNvSpPr>
            <a:spLocks noGrp="1"/>
          </p:cNvSpPr>
          <p:nvPr>
            <p:ph type="ftr" sz="quarter" idx="16"/>
          </p:nvPr>
        </p:nvSpPr>
        <p:spPr/>
        <p:txBody>
          <a:bodyPr/>
          <a:lstStyle/>
          <a:p>
            <a:r>
              <a:rPr lang="fr-FR" smtClean="0"/>
              <a:t>Rédaction Scientifique                                       Pr.H.F.Merouani</a:t>
            </a:r>
            <a:endParaRPr lang="fr-F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solidFill>
                  <a:srgbClr val="FF0000"/>
                </a:solidFill>
              </a:rPr>
              <a:t>Introduction (2/2)</a:t>
            </a:r>
            <a:endParaRPr lang="fr-FR" dirty="0">
              <a:solidFill>
                <a:srgbClr val="FF0000"/>
              </a:solidFill>
            </a:endParaRPr>
          </a:p>
        </p:txBody>
      </p:sp>
      <p:sp>
        <p:nvSpPr>
          <p:cNvPr id="3" name="Espace réservé du contenu 2"/>
          <p:cNvSpPr>
            <a:spLocks noGrp="1"/>
          </p:cNvSpPr>
          <p:nvPr>
            <p:ph sz="quarter" idx="1"/>
          </p:nvPr>
        </p:nvSpPr>
        <p:spPr/>
        <p:txBody>
          <a:bodyPr/>
          <a:lstStyle/>
          <a:p>
            <a:pPr algn="just">
              <a:buNone/>
            </a:pPr>
            <a:r>
              <a:rPr lang="fr-FR" dirty="0" smtClean="0"/>
              <a:t>A l’entrée on aborde le domaine général englobant le sujet et à la fin, on y trouve une description précise de la question traitée, une délimitation des champs d’investigation et une mise en évidence des questions non traitées.</a:t>
            </a:r>
            <a:endParaRPr lang="fr-FR" dirty="0"/>
          </a:p>
        </p:txBody>
      </p:sp>
      <p:sp>
        <p:nvSpPr>
          <p:cNvPr id="4" name="Espace réservé du numéro de diapositive 3"/>
          <p:cNvSpPr>
            <a:spLocks noGrp="1"/>
          </p:cNvSpPr>
          <p:nvPr>
            <p:ph type="sldNum" sz="quarter" idx="15"/>
          </p:nvPr>
        </p:nvSpPr>
        <p:spPr/>
        <p:txBody>
          <a:bodyPr/>
          <a:lstStyle/>
          <a:p>
            <a:fld id="{1D258001-9BDA-447A-ADAB-646DC4D258D2}" type="slidenum">
              <a:rPr lang="fr-FR" smtClean="0"/>
              <a:pPr/>
              <a:t>48</a:t>
            </a:fld>
            <a:endParaRPr lang="fr-FR"/>
          </a:p>
        </p:txBody>
      </p:sp>
      <p:sp>
        <p:nvSpPr>
          <p:cNvPr id="5" name="Espace réservé du pied de page 4"/>
          <p:cNvSpPr>
            <a:spLocks noGrp="1"/>
          </p:cNvSpPr>
          <p:nvPr>
            <p:ph type="ftr" sz="quarter" idx="16"/>
          </p:nvPr>
        </p:nvSpPr>
        <p:spPr/>
        <p:txBody>
          <a:bodyPr/>
          <a:lstStyle/>
          <a:p>
            <a:r>
              <a:rPr lang="fr-FR" smtClean="0"/>
              <a:t>Rédaction Scientifique                                       Pr.H.F.Merouani</a:t>
            </a:r>
            <a:endParaRPr lang="fr-F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solidFill>
                  <a:srgbClr val="FF0000"/>
                </a:solidFill>
              </a:rPr>
              <a:t>Introduction (3/3)</a:t>
            </a:r>
            <a:endParaRPr lang="fr-FR" dirty="0"/>
          </a:p>
        </p:txBody>
      </p:sp>
      <p:sp>
        <p:nvSpPr>
          <p:cNvPr id="3" name="Espace réservé du contenu 2"/>
          <p:cNvSpPr>
            <a:spLocks noGrp="1"/>
          </p:cNvSpPr>
          <p:nvPr>
            <p:ph sz="quarter" idx="1"/>
          </p:nvPr>
        </p:nvSpPr>
        <p:spPr/>
        <p:txBody>
          <a:bodyPr/>
          <a:lstStyle/>
          <a:p>
            <a:pPr>
              <a:buFont typeface="Wingdings" pitchFamily="2" charset="2"/>
              <a:buChar char="Ø"/>
            </a:pPr>
            <a:r>
              <a:rPr lang="fr-FR" dirty="0" smtClean="0"/>
              <a:t>On aborde le </a:t>
            </a:r>
            <a:r>
              <a:rPr lang="fr-FR" dirty="0" smtClean="0">
                <a:solidFill>
                  <a:srgbClr val="0070C0"/>
                </a:solidFill>
              </a:rPr>
              <a:t>domaine général</a:t>
            </a:r>
            <a:r>
              <a:rPr lang="fr-FR" dirty="0" smtClean="0"/>
              <a:t> englobant le sujet et à la fin, on y trouve une </a:t>
            </a:r>
            <a:r>
              <a:rPr lang="fr-FR" dirty="0" smtClean="0">
                <a:solidFill>
                  <a:srgbClr val="0070C0"/>
                </a:solidFill>
              </a:rPr>
              <a:t>description </a:t>
            </a:r>
            <a:r>
              <a:rPr lang="fr-FR" dirty="0" smtClean="0"/>
              <a:t>précise de la question traitée, une </a:t>
            </a:r>
            <a:r>
              <a:rPr lang="fr-FR" dirty="0" smtClean="0">
                <a:solidFill>
                  <a:srgbClr val="0070C0"/>
                </a:solidFill>
              </a:rPr>
              <a:t>délimitation </a:t>
            </a:r>
            <a:r>
              <a:rPr lang="fr-FR" dirty="0" smtClean="0"/>
              <a:t>des champs d’investigation et une </a:t>
            </a:r>
            <a:r>
              <a:rPr lang="fr-FR" dirty="0" smtClean="0">
                <a:solidFill>
                  <a:srgbClr val="0070C0"/>
                </a:solidFill>
              </a:rPr>
              <a:t>mise en évidence</a:t>
            </a:r>
            <a:r>
              <a:rPr lang="fr-FR" dirty="0" smtClean="0"/>
              <a:t> des </a:t>
            </a:r>
            <a:r>
              <a:rPr lang="fr-FR" i="1" u="sng" dirty="0" smtClean="0">
                <a:solidFill>
                  <a:srgbClr val="0070C0"/>
                </a:solidFill>
              </a:rPr>
              <a:t>questions non traitées.</a:t>
            </a:r>
          </a:p>
          <a:p>
            <a:endParaRPr lang="fr-FR" dirty="0"/>
          </a:p>
        </p:txBody>
      </p:sp>
      <p:sp>
        <p:nvSpPr>
          <p:cNvPr id="4" name="Espace réservé du numéro de diapositive 3"/>
          <p:cNvSpPr>
            <a:spLocks noGrp="1"/>
          </p:cNvSpPr>
          <p:nvPr>
            <p:ph type="sldNum" sz="quarter" idx="15"/>
          </p:nvPr>
        </p:nvSpPr>
        <p:spPr/>
        <p:txBody>
          <a:bodyPr/>
          <a:lstStyle/>
          <a:p>
            <a:fld id="{1D258001-9BDA-447A-ADAB-646DC4D258D2}" type="slidenum">
              <a:rPr lang="fr-FR" smtClean="0"/>
              <a:pPr/>
              <a:t>49</a:t>
            </a:fld>
            <a:endParaRPr lang="fr-FR"/>
          </a:p>
        </p:txBody>
      </p:sp>
      <p:sp>
        <p:nvSpPr>
          <p:cNvPr id="5" name="Espace réservé du pied de page 4"/>
          <p:cNvSpPr>
            <a:spLocks noGrp="1"/>
          </p:cNvSpPr>
          <p:nvPr>
            <p:ph type="ftr" sz="quarter" idx="16"/>
          </p:nvPr>
        </p:nvSpPr>
        <p:spPr/>
        <p:txBody>
          <a:bodyPr/>
          <a:lstStyle/>
          <a:p>
            <a:r>
              <a:rPr lang="fr-FR" smtClean="0"/>
              <a:t>Rédaction Scientifique                                       Pr.H.F.Merouani</a:t>
            </a:r>
            <a:endParaRPr lang="fr-F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1"/>
          <p:cNvSpPr>
            <a:spLocks noGrp="1"/>
          </p:cNvSpPr>
          <p:nvPr>
            <p:ph type="ftr" sz="quarter" idx="11"/>
          </p:nvPr>
        </p:nvSpPr>
        <p:spPr/>
        <p:txBody>
          <a:bodyPr/>
          <a:lstStyle/>
          <a:p>
            <a:r>
              <a:rPr lang="fr-FR" smtClean="0"/>
              <a:t>Rédaction Scientifique                                       Pr.H.F.Merouani</a:t>
            </a:r>
            <a:endParaRPr lang="fr-FR"/>
          </a:p>
        </p:txBody>
      </p:sp>
      <p:sp>
        <p:nvSpPr>
          <p:cNvPr id="3" name="Espace réservé du numéro de diapositive 2"/>
          <p:cNvSpPr>
            <a:spLocks noGrp="1"/>
          </p:cNvSpPr>
          <p:nvPr>
            <p:ph type="sldNum" sz="quarter" idx="12"/>
          </p:nvPr>
        </p:nvSpPr>
        <p:spPr/>
        <p:txBody>
          <a:bodyPr/>
          <a:lstStyle/>
          <a:p>
            <a:fld id="{1D258001-9BDA-447A-ADAB-646DC4D258D2}" type="slidenum">
              <a:rPr lang="fr-FR" smtClean="0"/>
              <a:pPr/>
              <a:t>50</a:t>
            </a:fld>
            <a:endParaRPr lang="fr-FR"/>
          </a:p>
        </p:txBody>
      </p:sp>
      <p:graphicFrame>
        <p:nvGraphicFramePr>
          <p:cNvPr id="48130" name="Object 2"/>
          <p:cNvGraphicFramePr>
            <a:graphicFrameLocks noChangeAspect="1"/>
          </p:cNvGraphicFramePr>
          <p:nvPr/>
        </p:nvGraphicFramePr>
        <p:xfrm>
          <a:off x="4240213" y="750888"/>
          <a:ext cx="3640098" cy="5107004"/>
        </p:xfrm>
        <a:graphic>
          <a:graphicData uri="http://schemas.openxmlformats.org/presentationml/2006/ole">
            <p:oleObj spid="_x0000_s48130" name="Picture" r:id="rId3" imgW="2867040" imgH="4029120" progId="Word.Picture.8">
              <p:embed/>
            </p:oleObj>
          </a:graphicData>
        </a:graphic>
      </p:graphicFrame>
      <p:sp>
        <p:nvSpPr>
          <p:cNvPr id="5" name="Rectangle 4"/>
          <p:cNvSpPr/>
          <p:nvPr/>
        </p:nvSpPr>
        <p:spPr>
          <a:xfrm>
            <a:off x="285720" y="1714488"/>
            <a:ext cx="3786214" cy="2308324"/>
          </a:xfrm>
          <a:prstGeom prst="rect">
            <a:avLst/>
          </a:prstGeom>
        </p:spPr>
        <p:txBody>
          <a:bodyPr wrap="square">
            <a:spAutoFit/>
          </a:bodyPr>
          <a:lstStyle/>
          <a:p>
            <a:pPr algn="just"/>
            <a:r>
              <a:rPr lang="fr-FR" dirty="0" smtClean="0"/>
              <a:t>A l’entrée on aborde le </a:t>
            </a:r>
            <a:r>
              <a:rPr lang="fr-FR" dirty="0" smtClean="0">
                <a:solidFill>
                  <a:srgbClr val="0070C0"/>
                </a:solidFill>
              </a:rPr>
              <a:t>domaine</a:t>
            </a:r>
            <a:r>
              <a:rPr lang="fr-FR" dirty="0" smtClean="0"/>
              <a:t> </a:t>
            </a:r>
            <a:r>
              <a:rPr lang="fr-FR" dirty="0" smtClean="0">
                <a:solidFill>
                  <a:srgbClr val="0070C0"/>
                </a:solidFill>
              </a:rPr>
              <a:t>général englobant le sujet</a:t>
            </a:r>
            <a:r>
              <a:rPr lang="fr-FR" dirty="0" smtClean="0"/>
              <a:t> et à la fin, on y trouve une description précise de la question traitée, une délimitation des champs d’investigation et une mise en évidence des questions non traitées.</a:t>
            </a:r>
            <a:endParaRPr lang="fr-FR" dirty="0"/>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i="1" dirty="0" smtClean="0"/>
              <a:t>Constituants</a:t>
            </a:r>
            <a:br>
              <a:rPr lang="fr-FR" b="1" i="1" dirty="0" smtClean="0"/>
            </a:br>
            <a:endParaRPr lang="fr-FR" dirty="0"/>
          </a:p>
        </p:txBody>
      </p:sp>
      <p:sp>
        <p:nvSpPr>
          <p:cNvPr id="3" name="Espace réservé du contenu 2"/>
          <p:cNvSpPr>
            <a:spLocks noGrp="1"/>
          </p:cNvSpPr>
          <p:nvPr>
            <p:ph sz="quarter" idx="1"/>
          </p:nvPr>
        </p:nvSpPr>
        <p:spPr/>
        <p:txBody>
          <a:bodyPr/>
          <a:lstStyle/>
          <a:p>
            <a:pPr lvl="0">
              <a:buFont typeface="Wingdings" pitchFamily="2" charset="2"/>
              <a:buChar char="Ø"/>
            </a:pPr>
            <a:r>
              <a:rPr lang="fr-FR" dirty="0" smtClean="0"/>
              <a:t>Entame ou </a:t>
            </a:r>
            <a:r>
              <a:rPr lang="fr-FR" dirty="0" smtClean="0">
                <a:solidFill>
                  <a:srgbClr val="0070C0"/>
                </a:solidFill>
              </a:rPr>
              <a:t>accroche</a:t>
            </a:r>
            <a:r>
              <a:rPr lang="fr-FR" dirty="0" smtClean="0"/>
              <a:t> de l'attention</a:t>
            </a:r>
          </a:p>
          <a:p>
            <a:pPr lvl="0">
              <a:buFont typeface="Wingdings" pitchFamily="2" charset="2"/>
              <a:buChar char="Ø"/>
            </a:pPr>
            <a:r>
              <a:rPr lang="fr-FR" dirty="0" smtClean="0"/>
              <a:t>Rappel du sujet + rapport avec les thèmes de la discipline</a:t>
            </a:r>
          </a:p>
          <a:p>
            <a:pPr lvl="0">
              <a:buFont typeface="Wingdings" pitchFamily="2" charset="2"/>
              <a:buChar char="Ø"/>
            </a:pPr>
            <a:r>
              <a:rPr lang="fr-FR" dirty="0" smtClean="0"/>
              <a:t>Quelques grandes questions posées par le sujet</a:t>
            </a:r>
          </a:p>
          <a:p>
            <a:pPr lvl="0">
              <a:buFont typeface="Wingdings" pitchFamily="2" charset="2"/>
              <a:buChar char="Ø"/>
            </a:pPr>
            <a:r>
              <a:rPr lang="fr-FR" dirty="0" smtClean="0"/>
              <a:t>L’intérêt du sujet</a:t>
            </a:r>
          </a:p>
          <a:p>
            <a:pPr lvl="0">
              <a:buFont typeface="Wingdings" pitchFamily="2" charset="2"/>
              <a:buChar char="Ø"/>
            </a:pPr>
            <a:r>
              <a:rPr lang="fr-FR" dirty="0" smtClean="0"/>
              <a:t>Brèves définitions des termes ambigus</a:t>
            </a:r>
          </a:p>
          <a:p>
            <a:pPr lvl="0">
              <a:buFont typeface="Wingdings" pitchFamily="2" charset="2"/>
              <a:buChar char="Ø"/>
            </a:pPr>
            <a:r>
              <a:rPr lang="fr-FR" dirty="0" smtClean="0"/>
              <a:t>Délimitation du champ d’investigation</a:t>
            </a:r>
          </a:p>
          <a:p>
            <a:pPr lvl="0">
              <a:buFont typeface="Wingdings" pitchFamily="2" charset="2"/>
              <a:buChar char="Ø"/>
            </a:pPr>
            <a:r>
              <a:rPr lang="fr-FR" dirty="0" smtClean="0"/>
              <a:t>Les hypothèses des questions traitées</a:t>
            </a:r>
          </a:p>
          <a:p>
            <a:endParaRPr lang="fr-FR" dirty="0"/>
          </a:p>
        </p:txBody>
      </p:sp>
      <p:sp>
        <p:nvSpPr>
          <p:cNvPr id="4" name="Espace réservé du numéro de diapositive 3"/>
          <p:cNvSpPr>
            <a:spLocks noGrp="1"/>
          </p:cNvSpPr>
          <p:nvPr>
            <p:ph type="sldNum" sz="quarter" idx="15"/>
          </p:nvPr>
        </p:nvSpPr>
        <p:spPr/>
        <p:txBody>
          <a:bodyPr/>
          <a:lstStyle/>
          <a:p>
            <a:fld id="{1D258001-9BDA-447A-ADAB-646DC4D258D2}" type="slidenum">
              <a:rPr lang="fr-FR" smtClean="0"/>
              <a:pPr/>
              <a:t>51</a:t>
            </a:fld>
            <a:endParaRPr lang="fr-FR"/>
          </a:p>
        </p:txBody>
      </p:sp>
      <p:sp>
        <p:nvSpPr>
          <p:cNvPr id="5" name="Espace réservé du pied de page 4"/>
          <p:cNvSpPr>
            <a:spLocks noGrp="1"/>
          </p:cNvSpPr>
          <p:nvPr>
            <p:ph type="ftr" sz="quarter" idx="16"/>
          </p:nvPr>
        </p:nvSpPr>
        <p:spPr/>
        <p:txBody>
          <a:bodyPr/>
          <a:lstStyle/>
          <a:p>
            <a:r>
              <a:rPr lang="fr-FR" smtClean="0"/>
              <a:t>Rédaction Scientifique                                       Pr.H.F.Merouani</a:t>
            </a:r>
            <a:endParaRPr lang="fr-F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solidFill>
                  <a:srgbClr val="FF0000"/>
                </a:solidFill>
              </a:rPr>
              <a:t>A l’entrée :</a:t>
            </a:r>
            <a:r>
              <a:rPr lang="fr-FR" dirty="0" smtClean="0"/>
              <a:t/>
            </a:r>
            <a:br>
              <a:rPr lang="fr-FR" dirty="0" smtClean="0"/>
            </a:br>
            <a:endParaRPr lang="fr-FR" dirty="0"/>
          </a:p>
        </p:txBody>
      </p:sp>
      <p:sp>
        <p:nvSpPr>
          <p:cNvPr id="3" name="Espace réservé du contenu 2"/>
          <p:cNvSpPr>
            <a:spLocks noGrp="1"/>
          </p:cNvSpPr>
          <p:nvPr>
            <p:ph sz="quarter" idx="1"/>
          </p:nvPr>
        </p:nvSpPr>
        <p:spPr/>
        <p:txBody>
          <a:bodyPr>
            <a:normAutofit fontScale="77500" lnSpcReduction="20000"/>
          </a:bodyPr>
          <a:lstStyle/>
          <a:p>
            <a:pPr algn="just">
              <a:buFont typeface="Wingdings" pitchFamily="2" charset="2"/>
              <a:buChar char="Ø"/>
            </a:pPr>
            <a:r>
              <a:rPr lang="fr-FR" sz="2800" dirty="0" smtClean="0"/>
              <a:t>Une </a:t>
            </a:r>
            <a:r>
              <a:rPr lang="fr-FR" sz="2800" dirty="0" smtClean="0">
                <a:solidFill>
                  <a:srgbClr val="0070C0"/>
                </a:solidFill>
              </a:rPr>
              <a:t>accroche</a:t>
            </a:r>
            <a:r>
              <a:rPr lang="fr-FR" sz="2800" dirty="0" smtClean="0"/>
              <a:t> permettra d’attiré le lecteur !(une citation, des statistiques,…)</a:t>
            </a:r>
          </a:p>
          <a:p>
            <a:pPr>
              <a:buFont typeface="Wingdings" pitchFamily="2" charset="2"/>
              <a:buChar char="v"/>
            </a:pPr>
            <a:r>
              <a:rPr lang="fr-FR" sz="2800" dirty="0" err="1" smtClean="0"/>
              <a:t>Exs</a:t>
            </a:r>
            <a:r>
              <a:rPr lang="fr-FR" sz="2800" dirty="0" smtClean="0"/>
              <a:t>: </a:t>
            </a:r>
            <a:r>
              <a:rPr lang="fr-FR" sz="2800" b="1" dirty="0" smtClean="0"/>
              <a:t>1.</a:t>
            </a:r>
            <a:r>
              <a:rPr lang="fr-FR" sz="2800" dirty="0" smtClean="0"/>
              <a:t> « </a:t>
            </a:r>
            <a:r>
              <a:rPr lang="fr-FR" sz="2800" i="1" dirty="0" smtClean="0"/>
              <a:t>Celui qui veut réussir trouve un moyen. Celui qui ne veut rien faire trouve une excuse ». </a:t>
            </a:r>
            <a:r>
              <a:rPr lang="fr-FR" sz="2800" dirty="0" smtClean="0"/>
              <a:t>« </a:t>
            </a:r>
            <a:r>
              <a:rPr lang="fr-FR" sz="2800" i="1" dirty="0" smtClean="0"/>
              <a:t>Si tu essais tu as une chance de perdre. Si tu n’essaies pas, tu as déjà perdu». </a:t>
            </a:r>
            <a:r>
              <a:rPr lang="fr-FR" sz="2800" dirty="0" smtClean="0"/>
              <a:t>« </a:t>
            </a:r>
            <a:r>
              <a:rPr lang="fr-FR" sz="2800" i="1" dirty="0" smtClean="0"/>
              <a:t>Je ne perds jamais. Soit je gagne, soit j’apprends. »</a:t>
            </a:r>
          </a:p>
          <a:p>
            <a:pPr algn="just">
              <a:buFont typeface="Wingdings" pitchFamily="2" charset="2"/>
              <a:buChar char="v"/>
            </a:pPr>
            <a:r>
              <a:rPr lang="fr-FR" sz="2800" b="1" dirty="0" smtClean="0"/>
              <a:t>2.</a:t>
            </a:r>
            <a:r>
              <a:rPr lang="fr-FR" sz="2800" dirty="0" smtClean="0"/>
              <a:t> « Le cancer du sein est un problème majeur de santé publique. En Algérie, il s’agit la première cause de décès par cancer chez la femme. Actuellement, ce cancer touche une femme sur dix et une femme sur vingt-cinq en meurt. Selon les estimations de l’Institut National du cancer (INCA), environ 49.000 nouveaux cas ont été diagnostiqués en 2015 [</a:t>
            </a:r>
            <a:r>
              <a:rPr lang="fr-FR" sz="2800" dirty="0" err="1" smtClean="0"/>
              <a:t>Bouzid</a:t>
            </a:r>
            <a:r>
              <a:rPr lang="fr-FR" sz="2800" dirty="0" smtClean="0"/>
              <a:t>, 2016]. Malgré d’importants progrès, en particulier ceux liés au dépistage, 10 à 30 % des cancers du sein restent diagnostiqués à des stades avancés. »</a:t>
            </a:r>
            <a:endParaRPr lang="fr-FR" sz="2800" i="1" dirty="0" smtClean="0"/>
          </a:p>
          <a:p>
            <a:endParaRPr lang="fr-FR" dirty="0"/>
          </a:p>
        </p:txBody>
      </p:sp>
      <p:sp>
        <p:nvSpPr>
          <p:cNvPr id="4" name="Espace réservé du numéro de diapositive 3"/>
          <p:cNvSpPr>
            <a:spLocks noGrp="1"/>
          </p:cNvSpPr>
          <p:nvPr>
            <p:ph type="sldNum" sz="quarter" idx="15"/>
          </p:nvPr>
        </p:nvSpPr>
        <p:spPr/>
        <p:txBody>
          <a:bodyPr/>
          <a:lstStyle/>
          <a:p>
            <a:fld id="{1D258001-9BDA-447A-ADAB-646DC4D258D2}" type="slidenum">
              <a:rPr lang="fr-FR" smtClean="0"/>
              <a:pPr/>
              <a:t>52</a:t>
            </a:fld>
            <a:endParaRPr lang="fr-FR"/>
          </a:p>
        </p:txBody>
      </p:sp>
      <p:sp>
        <p:nvSpPr>
          <p:cNvPr id="5" name="Espace réservé du pied de page 4"/>
          <p:cNvSpPr>
            <a:spLocks noGrp="1"/>
          </p:cNvSpPr>
          <p:nvPr>
            <p:ph type="ftr" sz="quarter" idx="16"/>
          </p:nvPr>
        </p:nvSpPr>
        <p:spPr/>
        <p:txBody>
          <a:bodyPr/>
          <a:lstStyle/>
          <a:p>
            <a:r>
              <a:rPr lang="fr-FR" smtClean="0"/>
              <a:t>Rédaction Scientifique                                       Pr.H.F.Merouani</a:t>
            </a:r>
            <a:endParaRPr lang="fr-F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solidFill>
                  <a:srgbClr val="FF0000"/>
                </a:solidFill>
              </a:rPr>
              <a:t>Motivation et intérêt pour le sujet</a:t>
            </a:r>
            <a:endParaRPr lang="fr-FR" dirty="0">
              <a:solidFill>
                <a:srgbClr val="FF0000"/>
              </a:solidFill>
            </a:endParaRPr>
          </a:p>
        </p:txBody>
      </p:sp>
      <p:sp>
        <p:nvSpPr>
          <p:cNvPr id="3" name="Espace réservé du contenu 2"/>
          <p:cNvSpPr>
            <a:spLocks noGrp="1"/>
          </p:cNvSpPr>
          <p:nvPr>
            <p:ph sz="quarter" idx="1"/>
          </p:nvPr>
        </p:nvSpPr>
        <p:spPr/>
        <p:txBody>
          <a:bodyPr/>
          <a:lstStyle/>
          <a:p>
            <a:endParaRPr lang="fr-FR" dirty="0" smtClean="0"/>
          </a:p>
          <a:p>
            <a:pPr>
              <a:buFont typeface="Wingdings" pitchFamily="2" charset="2"/>
              <a:buChar char="Ø"/>
            </a:pPr>
            <a:r>
              <a:rPr lang="fr-FR" dirty="0" smtClean="0"/>
              <a:t>Il faut amener le sujet, l’introduire, c’est-à-dire indiquer d’où il sort et comment on en est venu à le choisir parmi tant d’autres du domaine de recherche. </a:t>
            </a:r>
          </a:p>
          <a:p>
            <a:pPr>
              <a:buFont typeface="Wingdings" pitchFamily="2" charset="2"/>
              <a:buChar char="Ø"/>
            </a:pPr>
            <a:r>
              <a:rPr lang="fr-FR" dirty="0" smtClean="0"/>
              <a:t>Le chercheur évoque ensuite les motivations qui ont suscité son intérêt pour le sujet. Toutefois, “son intérêt” doit conduire à l’intérêt “objectif du sujet”. </a:t>
            </a:r>
            <a:endParaRPr lang="fr-FR" dirty="0"/>
          </a:p>
        </p:txBody>
      </p:sp>
      <p:sp>
        <p:nvSpPr>
          <p:cNvPr id="4" name="Espace réservé du numéro de diapositive 3"/>
          <p:cNvSpPr>
            <a:spLocks noGrp="1"/>
          </p:cNvSpPr>
          <p:nvPr>
            <p:ph type="sldNum" sz="quarter" idx="15"/>
          </p:nvPr>
        </p:nvSpPr>
        <p:spPr/>
        <p:txBody>
          <a:bodyPr/>
          <a:lstStyle/>
          <a:p>
            <a:fld id="{A0F5484C-103A-4F9D-8D7C-1828BD054E79}" type="slidenum">
              <a:rPr lang="fr-FR" smtClean="0"/>
              <a:pPr/>
              <a:t>53</a:t>
            </a:fld>
            <a:endParaRPr lang="fr-FR"/>
          </a:p>
        </p:txBody>
      </p:sp>
      <p:sp>
        <p:nvSpPr>
          <p:cNvPr id="5" name="Espace réservé du pied de page 4"/>
          <p:cNvSpPr>
            <a:spLocks noGrp="1"/>
          </p:cNvSpPr>
          <p:nvPr>
            <p:ph type="ftr" sz="quarter" idx="16"/>
          </p:nvPr>
        </p:nvSpPr>
        <p:spPr/>
        <p:txBody>
          <a:bodyPr/>
          <a:lstStyle/>
          <a:p>
            <a:r>
              <a:rPr lang="fr-FR" smtClean="0"/>
              <a:t>Cours Méthodologie de Recherche                      Pr.H.F.Merouani</a:t>
            </a:r>
            <a:endParaRPr lang="fr-F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solidFill>
                  <a:srgbClr val="FF0000"/>
                </a:solidFill>
              </a:rPr>
              <a:t>Pertinence scientifique du sujet</a:t>
            </a:r>
            <a:endParaRPr lang="fr-FR" dirty="0">
              <a:solidFill>
                <a:srgbClr val="FF0000"/>
              </a:solidFill>
            </a:endParaRPr>
          </a:p>
        </p:txBody>
      </p:sp>
      <p:sp>
        <p:nvSpPr>
          <p:cNvPr id="3" name="Espace réservé du contenu 2"/>
          <p:cNvSpPr>
            <a:spLocks noGrp="1"/>
          </p:cNvSpPr>
          <p:nvPr>
            <p:ph sz="quarter" idx="1"/>
          </p:nvPr>
        </p:nvSpPr>
        <p:spPr/>
        <p:txBody>
          <a:bodyPr/>
          <a:lstStyle/>
          <a:p>
            <a:pPr algn="just">
              <a:buFont typeface="Wingdings" pitchFamily="2" charset="2"/>
              <a:buChar char="Ø"/>
            </a:pPr>
            <a:r>
              <a:rPr lang="fr-FR" dirty="0" smtClean="0"/>
              <a:t>Le chercheur exprime la pertinence ou portée scientifique du sujet en indiquant en quoi ce sujet s’inscrit dans les préoccupations scientifiques d’autres chercheurs ou simplement si il a fait l’objet de travaux de devanciers. On montre en quoi ce sujet contribuera à l’avancement des connaissances. </a:t>
            </a:r>
          </a:p>
          <a:p>
            <a:pPr algn="just">
              <a:buFont typeface="Wingdings" pitchFamily="2" charset="2"/>
              <a:buChar char="Ø"/>
            </a:pPr>
            <a:r>
              <a:rPr lang="fr-FR" dirty="0" smtClean="0"/>
              <a:t>Le chercheur doit montrer que le sujet est original et d’actualité, surtout sous l’angle abordé.</a:t>
            </a:r>
            <a:endParaRPr lang="fr-FR" dirty="0"/>
          </a:p>
        </p:txBody>
      </p:sp>
      <p:sp>
        <p:nvSpPr>
          <p:cNvPr id="4" name="Espace réservé du numéro de diapositive 3"/>
          <p:cNvSpPr>
            <a:spLocks noGrp="1"/>
          </p:cNvSpPr>
          <p:nvPr>
            <p:ph type="sldNum" sz="quarter" idx="15"/>
          </p:nvPr>
        </p:nvSpPr>
        <p:spPr/>
        <p:txBody>
          <a:bodyPr/>
          <a:lstStyle/>
          <a:p>
            <a:fld id="{A0F5484C-103A-4F9D-8D7C-1828BD054E79}" type="slidenum">
              <a:rPr lang="fr-FR" smtClean="0"/>
              <a:pPr/>
              <a:t>54</a:t>
            </a:fld>
            <a:endParaRPr lang="fr-FR"/>
          </a:p>
        </p:txBody>
      </p:sp>
      <p:sp>
        <p:nvSpPr>
          <p:cNvPr id="5" name="Espace réservé du pied de page 4"/>
          <p:cNvSpPr>
            <a:spLocks noGrp="1"/>
          </p:cNvSpPr>
          <p:nvPr>
            <p:ph type="ftr" sz="quarter" idx="16"/>
          </p:nvPr>
        </p:nvSpPr>
        <p:spPr/>
        <p:txBody>
          <a:bodyPr/>
          <a:lstStyle/>
          <a:p>
            <a:r>
              <a:rPr lang="fr-FR" smtClean="0"/>
              <a:t>Cours Méthodologie de Recherche                      Pr.H.F.Merouani</a:t>
            </a:r>
            <a:endParaRPr lang="fr-F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solidFill>
                  <a:srgbClr val="FF0000"/>
                </a:solidFill>
              </a:rPr>
              <a:t>Pertinence sociale du sujet</a:t>
            </a:r>
            <a:endParaRPr lang="fr-FR" dirty="0">
              <a:solidFill>
                <a:srgbClr val="FF0000"/>
              </a:solidFill>
            </a:endParaRPr>
          </a:p>
        </p:txBody>
      </p:sp>
      <p:sp>
        <p:nvSpPr>
          <p:cNvPr id="3" name="Espace réservé du contenu 2"/>
          <p:cNvSpPr>
            <a:spLocks noGrp="1"/>
          </p:cNvSpPr>
          <p:nvPr>
            <p:ph sz="quarter" idx="1"/>
          </p:nvPr>
        </p:nvSpPr>
        <p:spPr/>
        <p:txBody>
          <a:bodyPr/>
          <a:lstStyle/>
          <a:p>
            <a:pPr algn="just">
              <a:buNone/>
            </a:pPr>
            <a:r>
              <a:rPr lang="fr-FR" dirty="0" smtClean="0"/>
              <a:t> </a:t>
            </a:r>
            <a:r>
              <a:rPr lang="fr-FR" sz="3200" dirty="0" smtClean="0"/>
              <a:t>Il s’agit de montrer en quoi la recherche apporte des réponses aux préoccupations des décideurs sociaux (directeurs), des hommes politiques, des praticiens, etc. </a:t>
            </a:r>
          </a:p>
          <a:p>
            <a:endParaRPr lang="fr-FR" dirty="0"/>
          </a:p>
        </p:txBody>
      </p:sp>
      <p:sp>
        <p:nvSpPr>
          <p:cNvPr id="4" name="Espace réservé du numéro de diapositive 3"/>
          <p:cNvSpPr>
            <a:spLocks noGrp="1"/>
          </p:cNvSpPr>
          <p:nvPr>
            <p:ph type="sldNum" sz="quarter" idx="15"/>
          </p:nvPr>
        </p:nvSpPr>
        <p:spPr/>
        <p:txBody>
          <a:bodyPr/>
          <a:lstStyle/>
          <a:p>
            <a:fld id="{A0F5484C-103A-4F9D-8D7C-1828BD054E79}" type="slidenum">
              <a:rPr lang="fr-FR" smtClean="0"/>
              <a:pPr/>
              <a:t>55</a:t>
            </a:fld>
            <a:endParaRPr lang="fr-FR"/>
          </a:p>
        </p:txBody>
      </p:sp>
      <p:sp>
        <p:nvSpPr>
          <p:cNvPr id="5" name="Espace réservé du pied de page 4"/>
          <p:cNvSpPr>
            <a:spLocks noGrp="1"/>
          </p:cNvSpPr>
          <p:nvPr>
            <p:ph type="ftr" sz="quarter" idx="16"/>
          </p:nvPr>
        </p:nvSpPr>
        <p:spPr/>
        <p:txBody>
          <a:bodyPr/>
          <a:lstStyle/>
          <a:p>
            <a:r>
              <a:rPr lang="fr-FR" smtClean="0"/>
              <a:t>Cours Méthodologie de Recherche                      Pr.H.F.Merouani</a:t>
            </a:r>
            <a:endParaRPr lang="fr-F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r>
              <a:rPr lang="fr-FR" sz="2400" dirty="0" smtClean="0">
                <a:solidFill>
                  <a:srgbClr val="FF0000"/>
                </a:solidFill>
              </a:rPr>
              <a:t>Les situations ci-dessous peuvent être à l’origine de problème de recherche: </a:t>
            </a:r>
            <a:br>
              <a:rPr lang="fr-FR" sz="2400" dirty="0" smtClean="0">
                <a:solidFill>
                  <a:srgbClr val="FF0000"/>
                </a:solidFill>
              </a:rPr>
            </a:br>
            <a:endParaRPr lang="fr-FR" sz="2400" dirty="0">
              <a:solidFill>
                <a:srgbClr val="FF0000"/>
              </a:solidFill>
            </a:endParaRPr>
          </a:p>
        </p:txBody>
      </p:sp>
      <p:sp>
        <p:nvSpPr>
          <p:cNvPr id="3" name="Espace réservé du contenu 2"/>
          <p:cNvSpPr>
            <a:spLocks noGrp="1"/>
          </p:cNvSpPr>
          <p:nvPr>
            <p:ph sz="quarter" idx="1"/>
          </p:nvPr>
        </p:nvSpPr>
        <p:spPr/>
        <p:txBody>
          <a:bodyPr/>
          <a:lstStyle/>
          <a:p>
            <a:pPr>
              <a:buFont typeface="Wingdings" pitchFamily="2" charset="2"/>
              <a:buChar char="Ø"/>
            </a:pPr>
            <a:r>
              <a:rPr lang="fr-FR" dirty="0" smtClean="0"/>
              <a:t> </a:t>
            </a:r>
            <a:r>
              <a:rPr lang="fr-FR" sz="2800" dirty="0" smtClean="0"/>
              <a:t>L’absence partielle ou totale concernant un domaine ou concernant un élément. </a:t>
            </a:r>
          </a:p>
          <a:p>
            <a:pPr>
              <a:buFont typeface="Wingdings" pitchFamily="2" charset="2"/>
              <a:buChar char="Ø"/>
            </a:pPr>
            <a:r>
              <a:rPr lang="fr-FR" sz="2800" dirty="0" smtClean="0"/>
              <a:t> L’étant de situation concernant des phénomènes curieux ou étonnants. </a:t>
            </a:r>
          </a:p>
          <a:p>
            <a:pPr>
              <a:buFont typeface="Wingdings" pitchFamily="2" charset="2"/>
              <a:buChar char="Ø"/>
            </a:pPr>
            <a:r>
              <a:rPr lang="fr-FR" sz="2800" dirty="0" smtClean="0"/>
              <a:t> Présence de lacunes ou contradictions repérées dans des travaux antérieurs. </a:t>
            </a:r>
          </a:p>
          <a:p>
            <a:endParaRPr lang="fr-FR" dirty="0"/>
          </a:p>
        </p:txBody>
      </p:sp>
      <p:sp>
        <p:nvSpPr>
          <p:cNvPr id="4" name="Espace réservé du numéro de diapositive 3"/>
          <p:cNvSpPr>
            <a:spLocks noGrp="1"/>
          </p:cNvSpPr>
          <p:nvPr>
            <p:ph type="sldNum" sz="quarter" idx="15"/>
          </p:nvPr>
        </p:nvSpPr>
        <p:spPr/>
        <p:txBody>
          <a:bodyPr/>
          <a:lstStyle/>
          <a:p>
            <a:fld id="{A0F5484C-103A-4F9D-8D7C-1828BD054E79}" type="slidenum">
              <a:rPr lang="fr-FR" smtClean="0"/>
              <a:pPr/>
              <a:t>56</a:t>
            </a:fld>
            <a:endParaRPr lang="fr-FR"/>
          </a:p>
        </p:txBody>
      </p:sp>
      <p:sp>
        <p:nvSpPr>
          <p:cNvPr id="5" name="Espace réservé du pied de page 4"/>
          <p:cNvSpPr>
            <a:spLocks noGrp="1"/>
          </p:cNvSpPr>
          <p:nvPr>
            <p:ph type="ftr" sz="quarter" idx="16"/>
          </p:nvPr>
        </p:nvSpPr>
        <p:spPr/>
        <p:txBody>
          <a:bodyPr/>
          <a:lstStyle/>
          <a:p>
            <a:r>
              <a:rPr lang="fr-FR" smtClean="0"/>
              <a:t>Cours Méthodologie de Recherche                      Pr.H.F.Merouani</a:t>
            </a:r>
            <a:endParaRPr lang="fr-F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smtClean="0"/>
              <a:t/>
            </a:r>
            <a:br>
              <a:rPr lang="fr-FR" dirty="0" smtClean="0"/>
            </a:br>
            <a:r>
              <a:rPr lang="fr-FR" dirty="0" smtClean="0">
                <a:solidFill>
                  <a:srgbClr val="FF0000"/>
                </a:solidFill>
              </a:rPr>
              <a:t>LES QUESTIONS DE RECHERCHE</a:t>
            </a:r>
            <a:r>
              <a:rPr lang="fr-FR" b="1" dirty="0" smtClean="0"/>
              <a:t> </a:t>
            </a:r>
            <a:br>
              <a:rPr lang="fr-FR" b="1" dirty="0" smtClean="0"/>
            </a:br>
            <a:endParaRPr lang="fr-FR" dirty="0"/>
          </a:p>
        </p:txBody>
      </p:sp>
      <p:sp>
        <p:nvSpPr>
          <p:cNvPr id="3" name="Espace réservé du contenu 2"/>
          <p:cNvSpPr>
            <a:spLocks noGrp="1"/>
          </p:cNvSpPr>
          <p:nvPr>
            <p:ph sz="quarter" idx="1"/>
          </p:nvPr>
        </p:nvSpPr>
        <p:spPr/>
        <p:txBody>
          <a:bodyPr>
            <a:normAutofit fontScale="92500"/>
          </a:bodyPr>
          <a:lstStyle/>
          <a:p>
            <a:pPr algn="just">
              <a:buFont typeface="Wingdings" pitchFamily="2" charset="2"/>
              <a:buChar char="Ø"/>
            </a:pPr>
            <a:r>
              <a:rPr lang="fr-FR" dirty="0" smtClean="0"/>
              <a:t>Une fois le problème de recherche identifié et formulé dans la forme d’énoncé affirmatif, le chercheur procède à un retournement (conversion) du problème sous forme d’</a:t>
            </a:r>
            <a:r>
              <a:rPr lang="fr-FR" dirty="0" smtClean="0">
                <a:solidFill>
                  <a:srgbClr val="0070C0"/>
                </a:solidFill>
              </a:rPr>
              <a:t>énoncé interrogatif écrit au présent de l’indicatif</a:t>
            </a:r>
            <a:r>
              <a:rPr lang="fr-FR" dirty="0" smtClean="0"/>
              <a:t>. Il s’agit de soulever et de poser explicitement la question principale ou centrale et les questions complémentaires (autant que nécessaires pour compléter et clarifier la principale ou pour exprimer intégralement le problème de recherche). </a:t>
            </a:r>
          </a:p>
          <a:p>
            <a:pPr algn="just">
              <a:buFont typeface="Wingdings" pitchFamily="2" charset="2"/>
              <a:buChar char="Ø"/>
            </a:pPr>
            <a:r>
              <a:rPr lang="fr-FR" dirty="0" smtClean="0"/>
              <a:t>Les questions permettent d’agiter le problème sous tous les angles ou aspects pour l’expliciter et mieux l’appréhender. </a:t>
            </a:r>
          </a:p>
          <a:p>
            <a:pPr algn="just">
              <a:buNone/>
            </a:pPr>
            <a:r>
              <a:rPr lang="fr-FR" sz="3000" dirty="0" smtClean="0">
                <a:solidFill>
                  <a:schemeClr val="accent1">
                    <a:lumMod val="75000"/>
                  </a:schemeClr>
                </a:solidFill>
              </a:rPr>
              <a:t>Sans question, il n’y a pas de recherche!!!</a:t>
            </a:r>
            <a:r>
              <a:rPr lang="fr-FR" dirty="0" smtClean="0">
                <a:solidFill>
                  <a:schemeClr val="accent1">
                    <a:lumMod val="75000"/>
                  </a:schemeClr>
                </a:solidFill>
              </a:rPr>
              <a:t> </a:t>
            </a:r>
            <a:endParaRPr lang="fr-FR" dirty="0">
              <a:solidFill>
                <a:schemeClr val="accent1">
                  <a:lumMod val="75000"/>
                </a:schemeClr>
              </a:solidFill>
            </a:endParaRPr>
          </a:p>
        </p:txBody>
      </p:sp>
      <p:sp>
        <p:nvSpPr>
          <p:cNvPr id="4" name="Espace réservé du numéro de diapositive 3"/>
          <p:cNvSpPr>
            <a:spLocks noGrp="1"/>
          </p:cNvSpPr>
          <p:nvPr>
            <p:ph type="sldNum" sz="quarter" idx="15"/>
          </p:nvPr>
        </p:nvSpPr>
        <p:spPr/>
        <p:txBody>
          <a:bodyPr/>
          <a:lstStyle/>
          <a:p>
            <a:fld id="{A0F5484C-103A-4F9D-8D7C-1828BD054E79}" type="slidenum">
              <a:rPr lang="fr-FR" smtClean="0"/>
              <a:pPr/>
              <a:t>57</a:t>
            </a:fld>
            <a:endParaRPr lang="fr-FR"/>
          </a:p>
        </p:txBody>
      </p:sp>
      <p:sp>
        <p:nvSpPr>
          <p:cNvPr id="5" name="Espace réservé du pied de page 4"/>
          <p:cNvSpPr>
            <a:spLocks noGrp="1"/>
          </p:cNvSpPr>
          <p:nvPr>
            <p:ph type="ftr" sz="quarter" idx="16"/>
          </p:nvPr>
        </p:nvSpPr>
        <p:spPr/>
        <p:txBody>
          <a:bodyPr/>
          <a:lstStyle/>
          <a:p>
            <a:r>
              <a:rPr lang="fr-FR" smtClean="0"/>
              <a:t>Cours Méthodologie de Recherche                      Pr.H.F.Merouani</a:t>
            </a:r>
            <a:endParaRPr lang="fr-F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r>
              <a:rPr lang="fr-FR" sz="2800" dirty="0" smtClean="0">
                <a:solidFill>
                  <a:srgbClr val="FF0000"/>
                </a:solidFill>
              </a:rPr>
              <a:t>Pourquoi la question de recherche joue-t-elle un rôle de fil conducteur? </a:t>
            </a:r>
            <a:br>
              <a:rPr lang="fr-FR" sz="2800" dirty="0" smtClean="0">
                <a:solidFill>
                  <a:srgbClr val="FF0000"/>
                </a:solidFill>
              </a:rPr>
            </a:br>
            <a:endParaRPr lang="fr-FR" sz="2800" dirty="0">
              <a:solidFill>
                <a:srgbClr val="FF0000"/>
              </a:solidFill>
            </a:endParaRPr>
          </a:p>
        </p:txBody>
      </p:sp>
      <p:sp>
        <p:nvSpPr>
          <p:cNvPr id="3" name="Espace réservé du contenu 2"/>
          <p:cNvSpPr>
            <a:spLocks noGrp="1"/>
          </p:cNvSpPr>
          <p:nvPr>
            <p:ph sz="quarter" idx="1"/>
          </p:nvPr>
        </p:nvSpPr>
        <p:spPr/>
        <p:txBody>
          <a:bodyPr/>
          <a:lstStyle/>
          <a:p>
            <a:pPr>
              <a:buNone/>
            </a:pPr>
            <a:r>
              <a:rPr lang="fr-FR" sz="2800" dirty="0" smtClean="0"/>
              <a:t>Pour deux raisons: </a:t>
            </a:r>
          </a:p>
          <a:p>
            <a:pPr>
              <a:buNone/>
            </a:pPr>
            <a:r>
              <a:rPr lang="fr-FR" sz="2800" dirty="0" smtClean="0"/>
              <a:t>1. Parce que le thème qu’on s’est donné n’est pas encore en tant que tel un objet de recherche. </a:t>
            </a:r>
          </a:p>
          <a:p>
            <a:pPr>
              <a:buNone/>
            </a:pPr>
            <a:r>
              <a:rPr lang="fr-FR" sz="2800" dirty="0" smtClean="0"/>
              <a:t>2. Parce que la question de recherche va servir plus tard de soubassement à la formation de l’hypothèse. </a:t>
            </a:r>
          </a:p>
          <a:p>
            <a:endParaRPr lang="fr-FR" dirty="0"/>
          </a:p>
        </p:txBody>
      </p:sp>
      <p:sp>
        <p:nvSpPr>
          <p:cNvPr id="4" name="Espace réservé du numéro de diapositive 3"/>
          <p:cNvSpPr>
            <a:spLocks noGrp="1"/>
          </p:cNvSpPr>
          <p:nvPr>
            <p:ph type="sldNum" sz="quarter" idx="15"/>
          </p:nvPr>
        </p:nvSpPr>
        <p:spPr/>
        <p:txBody>
          <a:bodyPr/>
          <a:lstStyle/>
          <a:p>
            <a:fld id="{A0F5484C-103A-4F9D-8D7C-1828BD054E79}" type="slidenum">
              <a:rPr lang="fr-FR" smtClean="0"/>
              <a:pPr/>
              <a:t>58</a:t>
            </a:fld>
            <a:endParaRPr lang="fr-FR"/>
          </a:p>
        </p:txBody>
      </p:sp>
      <p:sp>
        <p:nvSpPr>
          <p:cNvPr id="5" name="Espace réservé du pied de page 4"/>
          <p:cNvSpPr>
            <a:spLocks noGrp="1"/>
          </p:cNvSpPr>
          <p:nvPr>
            <p:ph type="ftr" sz="quarter" idx="16"/>
          </p:nvPr>
        </p:nvSpPr>
        <p:spPr/>
        <p:txBody>
          <a:bodyPr/>
          <a:lstStyle/>
          <a:p>
            <a:r>
              <a:rPr lang="fr-FR" smtClean="0"/>
              <a:t>Cours Méthodologie de Recherche                      Pr.H.F.Merouani</a:t>
            </a:r>
            <a:endParaRPr lang="fr-F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solidFill>
                  <a:srgbClr val="FF0000"/>
                </a:solidFill>
              </a:rPr>
              <a:t>Qualités de la question de recherche</a:t>
            </a:r>
            <a:endParaRPr lang="fr-FR" dirty="0">
              <a:solidFill>
                <a:srgbClr val="FF0000"/>
              </a:solidFill>
            </a:endParaRPr>
          </a:p>
        </p:txBody>
      </p:sp>
      <p:sp>
        <p:nvSpPr>
          <p:cNvPr id="3" name="Espace réservé du contenu 2"/>
          <p:cNvSpPr>
            <a:spLocks noGrp="1"/>
          </p:cNvSpPr>
          <p:nvPr>
            <p:ph sz="quarter" idx="1"/>
          </p:nvPr>
        </p:nvSpPr>
        <p:spPr>
          <a:xfrm>
            <a:off x="214282" y="1357298"/>
            <a:ext cx="7858180" cy="5286412"/>
          </a:xfrm>
        </p:spPr>
        <p:txBody>
          <a:bodyPr>
            <a:normAutofit fontScale="70000" lnSpcReduction="20000"/>
          </a:bodyPr>
          <a:lstStyle/>
          <a:p>
            <a:endParaRPr lang="fr-FR" dirty="0" smtClean="0"/>
          </a:p>
          <a:p>
            <a:pPr algn="just">
              <a:buNone/>
            </a:pPr>
            <a:r>
              <a:rPr lang="fr-FR" sz="3100" dirty="0" smtClean="0"/>
              <a:t>La </a:t>
            </a:r>
            <a:r>
              <a:rPr lang="fr-FR" sz="3100" dirty="0" smtClean="0">
                <a:solidFill>
                  <a:srgbClr val="0070C0"/>
                </a:solidFill>
              </a:rPr>
              <a:t>clarté</a:t>
            </a:r>
            <a:r>
              <a:rPr lang="fr-FR" sz="3100" dirty="0" smtClean="0"/>
              <a:t> et la </a:t>
            </a:r>
            <a:r>
              <a:rPr lang="fr-FR" sz="3100" dirty="0" smtClean="0">
                <a:solidFill>
                  <a:srgbClr val="0070C0"/>
                </a:solidFill>
              </a:rPr>
              <a:t>précision:</a:t>
            </a:r>
            <a:r>
              <a:rPr lang="fr-FR" sz="3100" dirty="0" smtClean="0"/>
              <a:t> cette première qualité suppose que la question de recherche ne soit ni longue ni ambiguë, ni vague. C’est quelque chose de précis, de lisible et de cohérent; </a:t>
            </a:r>
          </a:p>
          <a:p>
            <a:pPr algn="just">
              <a:buNone/>
            </a:pPr>
            <a:r>
              <a:rPr lang="fr-FR" sz="3100" dirty="0" smtClean="0"/>
              <a:t>Il faut que la question de recherche soit </a:t>
            </a:r>
            <a:r>
              <a:rPr lang="fr-FR" sz="3100" dirty="0" smtClean="0">
                <a:solidFill>
                  <a:srgbClr val="0070C0"/>
                </a:solidFill>
              </a:rPr>
              <a:t>réaliste</a:t>
            </a:r>
            <a:r>
              <a:rPr lang="fr-FR" sz="3100" dirty="0" smtClean="0"/>
              <a:t> et </a:t>
            </a:r>
            <a:r>
              <a:rPr lang="fr-FR" sz="3100" dirty="0" smtClean="0">
                <a:solidFill>
                  <a:srgbClr val="0070C0"/>
                </a:solidFill>
              </a:rPr>
              <a:t>pratique:</a:t>
            </a:r>
            <a:r>
              <a:rPr lang="fr-FR" sz="3100" dirty="0" smtClean="0"/>
              <a:t> cette deuxième qualité indique que le chercheur en formulant sa question de recherche doit tenir compte d’un certain nombre de contraintes comme par exemple: </a:t>
            </a:r>
          </a:p>
          <a:p>
            <a:pPr algn="just">
              <a:buFont typeface="Wingdings" pitchFamily="2" charset="2"/>
              <a:buChar char="v"/>
            </a:pPr>
            <a:r>
              <a:rPr lang="fr-FR" sz="3100" dirty="0" smtClean="0"/>
              <a:t>Son niveau de connaissance et de compétence. Il doit se poser la question suivante: suis-je suffisamment formé et informé sur le domaine concerné? </a:t>
            </a:r>
          </a:p>
          <a:p>
            <a:pPr algn="just">
              <a:buFont typeface="Wingdings" pitchFamily="2" charset="2"/>
              <a:buChar char="v"/>
            </a:pPr>
            <a:r>
              <a:rPr lang="fr-FR" sz="3100" dirty="0" smtClean="0"/>
              <a:t> Les ressources en temps, en moyen matériel et financier: le chercheur doit résoudre la question de leur disponibilité. </a:t>
            </a:r>
          </a:p>
          <a:p>
            <a:pPr algn="just">
              <a:buNone/>
            </a:pPr>
            <a:endParaRPr lang="fr-FR" dirty="0"/>
          </a:p>
        </p:txBody>
      </p:sp>
      <p:sp>
        <p:nvSpPr>
          <p:cNvPr id="4" name="Espace réservé du numéro de diapositive 3"/>
          <p:cNvSpPr>
            <a:spLocks noGrp="1"/>
          </p:cNvSpPr>
          <p:nvPr>
            <p:ph type="sldNum" sz="quarter" idx="15"/>
          </p:nvPr>
        </p:nvSpPr>
        <p:spPr/>
        <p:txBody>
          <a:bodyPr/>
          <a:lstStyle/>
          <a:p>
            <a:fld id="{A0F5484C-103A-4F9D-8D7C-1828BD054E79}" type="slidenum">
              <a:rPr lang="fr-FR" smtClean="0"/>
              <a:pPr/>
              <a:t>59</a:t>
            </a:fld>
            <a:endParaRPr lang="fr-FR"/>
          </a:p>
        </p:txBody>
      </p:sp>
      <p:sp>
        <p:nvSpPr>
          <p:cNvPr id="5" name="Espace réservé du pied de page 4"/>
          <p:cNvSpPr>
            <a:spLocks noGrp="1"/>
          </p:cNvSpPr>
          <p:nvPr>
            <p:ph type="ftr" sz="quarter" idx="16"/>
          </p:nvPr>
        </p:nvSpPr>
        <p:spPr/>
        <p:txBody>
          <a:bodyPr/>
          <a:lstStyle/>
          <a:p>
            <a:r>
              <a:rPr lang="fr-FR" smtClean="0"/>
              <a:t>Cours Méthodologie de Recherche                      Pr.H.F.Merouani</a:t>
            </a:r>
            <a:endParaRPr lang="fr-F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i="1" dirty="0" smtClean="0">
                <a:solidFill>
                  <a:srgbClr val="FF0000"/>
                </a:solidFill>
              </a:rPr>
              <a:t>Corps</a:t>
            </a:r>
            <a:r>
              <a:rPr lang="fr-FR" b="1" i="1" dirty="0" smtClean="0"/>
              <a:t/>
            </a:r>
            <a:br>
              <a:rPr lang="fr-FR" b="1" i="1" dirty="0" smtClean="0"/>
            </a:br>
            <a:endParaRPr lang="fr-FR" dirty="0"/>
          </a:p>
        </p:txBody>
      </p:sp>
      <p:sp>
        <p:nvSpPr>
          <p:cNvPr id="3" name="Espace réservé du contenu 2"/>
          <p:cNvSpPr>
            <a:spLocks noGrp="1"/>
          </p:cNvSpPr>
          <p:nvPr>
            <p:ph sz="quarter" idx="1"/>
          </p:nvPr>
        </p:nvSpPr>
        <p:spPr/>
        <p:txBody>
          <a:bodyPr/>
          <a:lstStyle/>
          <a:p>
            <a:pPr>
              <a:buFont typeface="Wingdings" pitchFamily="2" charset="2"/>
              <a:buChar char="Ø"/>
            </a:pPr>
            <a:r>
              <a:rPr lang="fr-FR" dirty="0" smtClean="0"/>
              <a:t>C’est la partie essentielle du document. Elle se compose d’un ou plusieurs chapitres.</a:t>
            </a:r>
          </a:p>
          <a:p>
            <a:pPr>
              <a:buFont typeface="Wingdings" pitchFamily="2" charset="2"/>
              <a:buChar char="Ø"/>
            </a:pPr>
            <a:r>
              <a:rPr lang="fr-FR" dirty="0" smtClean="0"/>
              <a:t> </a:t>
            </a:r>
          </a:p>
          <a:p>
            <a:pPr>
              <a:buFont typeface="Wingdings" pitchFamily="2" charset="2"/>
              <a:buChar char="Ø"/>
            </a:pPr>
            <a:r>
              <a:rPr lang="fr-FR" dirty="0" smtClean="0"/>
              <a:t>Si le nombre de chapitres est grand, cela conduit à une absence de synthèse nuisible à la valeur du document.</a:t>
            </a:r>
            <a:endParaRPr lang="fr-FR" dirty="0"/>
          </a:p>
        </p:txBody>
      </p:sp>
      <p:sp>
        <p:nvSpPr>
          <p:cNvPr id="4" name="Espace réservé du numéro de diapositive 3"/>
          <p:cNvSpPr>
            <a:spLocks noGrp="1"/>
          </p:cNvSpPr>
          <p:nvPr>
            <p:ph type="sldNum" sz="quarter" idx="15"/>
          </p:nvPr>
        </p:nvSpPr>
        <p:spPr/>
        <p:txBody>
          <a:bodyPr/>
          <a:lstStyle/>
          <a:p>
            <a:fld id="{1D258001-9BDA-447A-ADAB-646DC4D258D2}" type="slidenum">
              <a:rPr lang="fr-FR" smtClean="0"/>
              <a:pPr/>
              <a:t>60</a:t>
            </a:fld>
            <a:endParaRPr lang="fr-FR"/>
          </a:p>
        </p:txBody>
      </p:sp>
      <p:sp>
        <p:nvSpPr>
          <p:cNvPr id="5" name="Espace réservé du pied de page 4"/>
          <p:cNvSpPr>
            <a:spLocks noGrp="1"/>
          </p:cNvSpPr>
          <p:nvPr>
            <p:ph type="ftr" sz="quarter" idx="16"/>
          </p:nvPr>
        </p:nvSpPr>
        <p:spPr/>
        <p:txBody>
          <a:bodyPr/>
          <a:lstStyle/>
          <a:p>
            <a:r>
              <a:rPr lang="fr-FR" smtClean="0"/>
              <a:t>Rédaction Scientifique                                       Pr.H.F.Merouani</a:t>
            </a:r>
            <a:endParaRPr lang="fr-F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i="1" dirty="0" smtClean="0">
                <a:solidFill>
                  <a:srgbClr val="FF0000"/>
                </a:solidFill>
              </a:rPr>
              <a:t>Répartition en chapitres</a:t>
            </a:r>
            <a:r>
              <a:rPr lang="fr-FR" b="1" i="1" dirty="0" smtClean="0"/>
              <a:t/>
            </a:r>
            <a:br>
              <a:rPr lang="fr-FR" b="1" i="1" dirty="0" smtClean="0"/>
            </a:br>
            <a:endParaRPr lang="fr-FR" dirty="0"/>
          </a:p>
        </p:txBody>
      </p:sp>
      <p:sp>
        <p:nvSpPr>
          <p:cNvPr id="3" name="Espace réservé du contenu 2"/>
          <p:cNvSpPr>
            <a:spLocks noGrp="1"/>
          </p:cNvSpPr>
          <p:nvPr>
            <p:ph sz="quarter" idx="1"/>
          </p:nvPr>
        </p:nvSpPr>
        <p:spPr/>
        <p:txBody>
          <a:bodyPr/>
          <a:lstStyle/>
          <a:p>
            <a:pPr>
              <a:buFont typeface="Wingdings" pitchFamily="2" charset="2"/>
              <a:buChar char="Ø"/>
            </a:pPr>
            <a:r>
              <a:rPr lang="fr-FR" dirty="0" smtClean="0"/>
              <a:t>Se base sur les </a:t>
            </a:r>
            <a:r>
              <a:rPr lang="fr-FR" dirty="0" smtClean="0">
                <a:solidFill>
                  <a:srgbClr val="00B0F0"/>
                </a:solidFill>
              </a:rPr>
              <a:t>idées</a:t>
            </a:r>
            <a:r>
              <a:rPr lang="fr-FR" dirty="0" smtClean="0"/>
              <a:t> véhiculées et non sur le nombre de pages. Le découpage se fait en </a:t>
            </a:r>
            <a:r>
              <a:rPr lang="fr-FR" dirty="0" smtClean="0">
                <a:solidFill>
                  <a:srgbClr val="00B0F0"/>
                </a:solidFill>
              </a:rPr>
              <a:t>chapitres</a:t>
            </a:r>
            <a:r>
              <a:rPr lang="fr-FR" dirty="0" smtClean="0"/>
              <a:t> puis </a:t>
            </a:r>
            <a:r>
              <a:rPr lang="fr-FR" dirty="0" smtClean="0">
                <a:solidFill>
                  <a:srgbClr val="00B0F0"/>
                </a:solidFill>
              </a:rPr>
              <a:t>en sections</a:t>
            </a:r>
            <a:r>
              <a:rPr lang="fr-FR" dirty="0" smtClean="0"/>
              <a:t>, puis en </a:t>
            </a:r>
            <a:r>
              <a:rPr lang="fr-FR" dirty="0" smtClean="0">
                <a:solidFill>
                  <a:srgbClr val="00B0F0"/>
                </a:solidFill>
              </a:rPr>
              <a:t>paragraphes</a:t>
            </a:r>
            <a:r>
              <a:rPr lang="fr-FR" dirty="0" smtClean="0"/>
              <a:t> et </a:t>
            </a:r>
            <a:r>
              <a:rPr lang="fr-FR" dirty="0" smtClean="0">
                <a:solidFill>
                  <a:srgbClr val="00B0F0"/>
                </a:solidFill>
              </a:rPr>
              <a:t>illustrations</a:t>
            </a:r>
            <a:r>
              <a:rPr lang="fr-FR" dirty="0" smtClean="0"/>
              <a:t>.</a:t>
            </a:r>
          </a:p>
          <a:p>
            <a:pPr>
              <a:buFont typeface="Wingdings" pitchFamily="2" charset="2"/>
              <a:buChar char="Ø"/>
            </a:pPr>
            <a:r>
              <a:rPr lang="fr-FR" dirty="0" smtClean="0"/>
              <a:t>Malgré ce découpage, il faut opérer un agencement avec continuité et fluidité selon des critères.</a:t>
            </a:r>
          </a:p>
          <a:p>
            <a:pPr>
              <a:buFont typeface="Wingdings" pitchFamily="2" charset="2"/>
              <a:buChar char="Ø"/>
            </a:pPr>
            <a:endParaRPr lang="fr-FR" dirty="0"/>
          </a:p>
        </p:txBody>
      </p:sp>
      <p:sp>
        <p:nvSpPr>
          <p:cNvPr id="4" name="Espace réservé du numéro de diapositive 3"/>
          <p:cNvSpPr>
            <a:spLocks noGrp="1"/>
          </p:cNvSpPr>
          <p:nvPr>
            <p:ph type="sldNum" sz="quarter" idx="15"/>
          </p:nvPr>
        </p:nvSpPr>
        <p:spPr/>
        <p:txBody>
          <a:bodyPr/>
          <a:lstStyle/>
          <a:p>
            <a:fld id="{1D258001-9BDA-447A-ADAB-646DC4D258D2}" type="slidenum">
              <a:rPr lang="fr-FR" smtClean="0"/>
              <a:pPr/>
              <a:t>61</a:t>
            </a:fld>
            <a:endParaRPr lang="fr-FR"/>
          </a:p>
        </p:txBody>
      </p:sp>
      <p:sp>
        <p:nvSpPr>
          <p:cNvPr id="5" name="Espace réservé du pied de page 4"/>
          <p:cNvSpPr>
            <a:spLocks noGrp="1"/>
          </p:cNvSpPr>
          <p:nvPr>
            <p:ph type="ftr" sz="quarter" idx="16"/>
          </p:nvPr>
        </p:nvSpPr>
        <p:spPr/>
        <p:txBody>
          <a:bodyPr/>
          <a:lstStyle/>
          <a:p>
            <a:r>
              <a:rPr lang="fr-FR" smtClean="0"/>
              <a:t>Rédaction Scientifique                                       Pr.H.F.Merouani</a:t>
            </a:r>
            <a:endParaRPr lang="fr-F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solidFill>
                  <a:srgbClr val="FF0000"/>
                </a:solidFill>
              </a:rPr>
              <a:t>Critères</a:t>
            </a:r>
            <a:endParaRPr lang="fr-FR" dirty="0">
              <a:solidFill>
                <a:srgbClr val="FF0000"/>
              </a:solidFill>
            </a:endParaRPr>
          </a:p>
        </p:txBody>
      </p:sp>
      <p:sp>
        <p:nvSpPr>
          <p:cNvPr id="3" name="Espace réservé du contenu 2"/>
          <p:cNvSpPr>
            <a:spLocks noGrp="1"/>
          </p:cNvSpPr>
          <p:nvPr>
            <p:ph sz="quarter" idx="1"/>
          </p:nvPr>
        </p:nvSpPr>
        <p:spPr/>
        <p:txBody>
          <a:bodyPr>
            <a:normAutofit fontScale="70000" lnSpcReduction="20000"/>
          </a:bodyPr>
          <a:lstStyle/>
          <a:p>
            <a:pPr lvl="0">
              <a:buFont typeface="Wingdings" pitchFamily="2" charset="2"/>
              <a:buChar char="Ø"/>
            </a:pPr>
            <a:r>
              <a:rPr lang="fr-FR" dirty="0" smtClean="0"/>
              <a:t>Eviter les phrases du type « Dans ce paragraphe nous discutons le … » mais plutôt « Le paragraphe qui va suivre apportera … »’</a:t>
            </a:r>
          </a:p>
          <a:p>
            <a:pPr lvl="0">
              <a:buFont typeface="Wingdings" pitchFamily="2" charset="2"/>
              <a:buChar char="Ø"/>
            </a:pPr>
            <a:r>
              <a:rPr lang="fr-FR" dirty="0" smtClean="0"/>
              <a:t>Aller du plus général au spécifique</a:t>
            </a:r>
          </a:p>
          <a:p>
            <a:pPr lvl="0">
              <a:buFont typeface="Wingdings" pitchFamily="2" charset="2"/>
              <a:buChar char="Ø"/>
            </a:pPr>
            <a:r>
              <a:rPr lang="fr-FR" dirty="0" smtClean="0"/>
              <a:t>Utiliser le style interrogatif</a:t>
            </a:r>
          </a:p>
          <a:p>
            <a:pPr lvl="0">
              <a:buFont typeface="Wingdings" pitchFamily="2" charset="2"/>
              <a:buChar char="Ø"/>
            </a:pPr>
            <a:r>
              <a:rPr lang="fr-FR" dirty="0" smtClean="0"/>
              <a:t>Veiller à la pertinence des propos. Anticiper les attentes du lecteur et y répondre au bon endroit (pas de suspens)</a:t>
            </a:r>
          </a:p>
          <a:p>
            <a:pPr lvl="0">
              <a:buFont typeface="Wingdings" pitchFamily="2" charset="2"/>
              <a:buChar char="Ø"/>
            </a:pPr>
            <a:r>
              <a:rPr lang="fr-FR" dirty="0" smtClean="0"/>
              <a:t>Utiliser autant que possible tout en étant raisonnable des illustrations, des photos, des exemples, des diagrammes, …</a:t>
            </a:r>
          </a:p>
          <a:p>
            <a:pPr lvl="0">
              <a:buFont typeface="Wingdings" pitchFamily="2" charset="2"/>
              <a:buChar char="Ø"/>
            </a:pPr>
            <a:r>
              <a:rPr lang="fr-FR" dirty="0" smtClean="0"/>
              <a:t>Argumenter avec conviction</a:t>
            </a:r>
          </a:p>
          <a:p>
            <a:pPr lvl="0">
              <a:buFont typeface="Wingdings" pitchFamily="2" charset="2"/>
              <a:buChar char="Ø"/>
            </a:pPr>
            <a:r>
              <a:rPr lang="fr-FR" dirty="0" smtClean="0"/>
              <a:t>Eviter la redondance</a:t>
            </a:r>
          </a:p>
          <a:p>
            <a:pPr lvl="0">
              <a:buFont typeface="Wingdings" pitchFamily="2" charset="2"/>
              <a:buChar char="Ø"/>
            </a:pPr>
            <a:r>
              <a:rPr lang="fr-FR" dirty="0" smtClean="0"/>
              <a:t>Mettre en évidence l’essentiel par des artifices typographiques (voir section 3.3)</a:t>
            </a:r>
          </a:p>
          <a:p>
            <a:pPr lvl="0">
              <a:buFont typeface="Wingdings" pitchFamily="2" charset="2"/>
              <a:buChar char="Ø"/>
            </a:pPr>
            <a:r>
              <a:rPr lang="fr-FR" dirty="0" smtClean="0"/>
              <a:t>Veiller à la concordance des intitulés des sections avec leur contenu</a:t>
            </a:r>
          </a:p>
          <a:p>
            <a:pPr lvl="0">
              <a:buFont typeface="Wingdings" pitchFamily="2" charset="2"/>
              <a:buChar char="Ø"/>
            </a:pPr>
            <a:r>
              <a:rPr lang="fr-FR" dirty="0" smtClean="0"/>
              <a:t>Garder les intitulés clairs et précis, car c’est un squelette guide du lecteur</a:t>
            </a:r>
          </a:p>
          <a:p>
            <a:pPr lvl="0">
              <a:buFont typeface="Wingdings" pitchFamily="2" charset="2"/>
              <a:buChar char="Ø"/>
            </a:pPr>
            <a:r>
              <a:rPr lang="fr-FR" dirty="0" smtClean="0"/>
              <a:t>Eviter une rédaction chronologique en faveur d’une rédaction progressive des idées, ordre intelligible</a:t>
            </a:r>
          </a:p>
          <a:p>
            <a:pPr lvl="0">
              <a:buFont typeface="Wingdings" pitchFamily="2" charset="2"/>
              <a:buChar char="Ø"/>
            </a:pPr>
            <a:r>
              <a:rPr lang="fr-FR" dirty="0" smtClean="0"/>
              <a:t>Pas de théorie sans lien avec le sujet</a:t>
            </a:r>
          </a:p>
          <a:p>
            <a:endParaRPr lang="fr-FR" dirty="0"/>
          </a:p>
        </p:txBody>
      </p:sp>
      <p:sp>
        <p:nvSpPr>
          <p:cNvPr id="4" name="Espace réservé du numéro de diapositive 3"/>
          <p:cNvSpPr>
            <a:spLocks noGrp="1"/>
          </p:cNvSpPr>
          <p:nvPr>
            <p:ph type="sldNum" sz="quarter" idx="15"/>
          </p:nvPr>
        </p:nvSpPr>
        <p:spPr/>
        <p:txBody>
          <a:bodyPr/>
          <a:lstStyle/>
          <a:p>
            <a:fld id="{1D258001-9BDA-447A-ADAB-646DC4D258D2}" type="slidenum">
              <a:rPr lang="fr-FR" smtClean="0"/>
              <a:pPr/>
              <a:t>62</a:t>
            </a:fld>
            <a:endParaRPr lang="fr-FR"/>
          </a:p>
        </p:txBody>
      </p:sp>
      <p:sp>
        <p:nvSpPr>
          <p:cNvPr id="5" name="Espace réservé du pied de page 4"/>
          <p:cNvSpPr>
            <a:spLocks noGrp="1"/>
          </p:cNvSpPr>
          <p:nvPr>
            <p:ph type="ftr" sz="quarter" idx="16"/>
          </p:nvPr>
        </p:nvSpPr>
        <p:spPr/>
        <p:txBody>
          <a:bodyPr/>
          <a:lstStyle/>
          <a:p>
            <a:r>
              <a:rPr lang="fr-FR" smtClean="0"/>
              <a:t>Rédaction Scientifique                                       Pr.H.F.Merouani</a:t>
            </a:r>
            <a:endParaRPr lang="fr-FR"/>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solidFill>
                  <a:srgbClr val="FF0000"/>
                </a:solidFill>
              </a:rPr>
              <a:t>La conclusion </a:t>
            </a:r>
            <a:endParaRPr lang="fr-FR" dirty="0">
              <a:solidFill>
                <a:srgbClr val="FF0000"/>
              </a:solidFill>
            </a:endParaRPr>
          </a:p>
        </p:txBody>
      </p:sp>
      <p:sp>
        <p:nvSpPr>
          <p:cNvPr id="3" name="Espace réservé du contenu 2"/>
          <p:cNvSpPr>
            <a:spLocks noGrp="1"/>
          </p:cNvSpPr>
          <p:nvPr>
            <p:ph sz="quarter" idx="1"/>
          </p:nvPr>
        </p:nvSpPr>
        <p:spPr/>
        <p:txBody>
          <a:bodyPr>
            <a:normAutofit fontScale="85000" lnSpcReduction="20000"/>
          </a:bodyPr>
          <a:lstStyle/>
          <a:p>
            <a:endParaRPr lang="fr-FR" dirty="0" smtClean="0"/>
          </a:p>
          <a:p>
            <a:pPr>
              <a:buFont typeface="Wingdings" pitchFamily="2" charset="2"/>
              <a:buChar char="Ø"/>
            </a:pPr>
            <a:r>
              <a:rPr lang="fr-FR" dirty="0" smtClean="0"/>
              <a:t>Relire l'introduction afin que la conclusion réponde bien aux questions de l'introduction. </a:t>
            </a:r>
          </a:p>
          <a:p>
            <a:pPr>
              <a:buFont typeface="Wingdings" pitchFamily="2" charset="2"/>
              <a:buChar char="Ø"/>
            </a:pPr>
            <a:r>
              <a:rPr lang="fr-FR" dirty="0" smtClean="0"/>
              <a:t>Faire une </a:t>
            </a:r>
            <a:r>
              <a:rPr lang="fr-FR" dirty="0" smtClean="0">
                <a:solidFill>
                  <a:srgbClr val="00B0F0"/>
                </a:solidFill>
              </a:rPr>
              <a:t>synthèse</a:t>
            </a:r>
            <a:r>
              <a:rPr lang="fr-FR" dirty="0" smtClean="0"/>
              <a:t>: Résumer les grandes lignes du travail traité dans le développement. </a:t>
            </a:r>
          </a:p>
          <a:p>
            <a:pPr>
              <a:buFont typeface="Wingdings" pitchFamily="2" charset="2"/>
              <a:buChar char="Ø"/>
            </a:pPr>
            <a:r>
              <a:rPr lang="fr-FR" dirty="0" smtClean="0"/>
              <a:t>Faire </a:t>
            </a:r>
            <a:r>
              <a:rPr lang="fr-FR" dirty="0" smtClean="0">
                <a:solidFill>
                  <a:srgbClr val="00B0F0"/>
                </a:solidFill>
              </a:rPr>
              <a:t>ressortir</a:t>
            </a:r>
            <a:r>
              <a:rPr lang="fr-FR" dirty="0" smtClean="0"/>
              <a:t> les conclusions ou les réponses à des questions posées. </a:t>
            </a:r>
          </a:p>
          <a:p>
            <a:pPr>
              <a:buFont typeface="Wingdings" pitchFamily="2" charset="2"/>
              <a:buChar char="Ø"/>
            </a:pPr>
            <a:r>
              <a:rPr lang="fr-FR" dirty="0" smtClean="0"/>
              <a:t>Élargir le sujet: Proposer de nouvelles pistes de recherche ou de réflexion pour le futur. </a:t>
            </a:r>
          </a:p>
          <a:p>
            <a:pPr>
              <a:buFont typeface="Wingdings" pitchFamily="2" charset="2"/>
              <a:buChar char="Ø"/>
            </a:pPr>
            <a:r>
              <a:rPr lang="fr-FR" dirty="0" smtClean="0"/>
              <a:t>Bien soigner la dernière phrase car elle laissera la dernière impression sur le correcteur. </a:t>
            </a:r>
          </a:p>
          <a:p>
            <a:pPr>
              <a:buFont typeface="Wingdings" pitchFamily="2" charset="2"/>
              <a:buChar char="Ø"/>
            </a:pPr>
            <a:r>
              <a:rPr lang="fr-FR" dirty="0" smtClean="0"/>
              <a:t>Expressions utiles à utiliser dans la composition de la conclusion: En conclusion, nous pouvons affirmer que...En résumé, ce travail était axé sur... Dans l'ensemble, il conviendrait de...Au terme de cette analyse, nous concluons...Au terme de cette analyse, nous concluons… </a:t>
            </a:r>
          </a:p>
          <a:p>
            <a:endParaRPr lang="fr-FR" dirty="0"/>
          </a:p>
        </p:txBody>
      </p:sp>
      <p:sp>
        <p:nvSpPr>
          <p:cNvPr id="4" name="Espace réservé du numéro de diapositive 3"/>
          <p:cNvSpPr>
            <a:spLocks noGrp="1"/>
          </p:cNvSpPr>
          <p:nvPr>
            <p:ph type="sldNum" sz="quarter" idx="15"/>
          </p:nvPr>
        </p:nvSpPr>
        <p:spPr/>
        <p:txBody>
          <a:bodyPr/>
          <a:lstStyle/>
          <a:p>
            <a:fld id="{1D258001-9BDA-447A-ADAB-646DC4D258D2}" type="slidenum">
              <a:rPr lang="fr-FR" smtClean="0"/>
              <a:pPr/>
              <a:t>63</a:t>
            </a:fld>
            <a:endParaRPr lang="fr-FR"/>
          </a:p>
        </p:txBody>
      </p:sp>
      <p:sp>
        <p:nvSpPr>
          <p:cNvPr id="5" name="Espace réservé du pied de page 4"/>
          <p:cNvSpPr>
            <a:spLocks noGrp="1"/>
          </p:cNvSpPr>
          <p:nvPr>
            <p:ph type="ftr" sz="quarter" idx="16"/>
          </p:nvPr>
        </p:nvSpPr>
        <p:spPr/>
        <p:txBody>
          <a:bodyPr/>
          <a:lstStyle/>
          <a:p>
            <a:r>
              <a:rPr lang="fr-FR" smtClean="0"/>
              <a:t>Rédaction Scientifique                                       Pr.H.F.Merouani</a:t>
            </a:r>
            <a:endParaRPr lang="fr-F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solidFill>
                  <a:srgbClr val="FF0000"/>
                </a:solidFill>
              </a:rPr>
              <a:t>Bibliographie</a:t>
            </a:r>
            <a:r>
              <a:rPr lang="fr-FR" b="1" i="1" dirty="0" smtClean="0"/>
              <a:t/>
            </a:r>
            <a:br>
              <a:rPr lang="fr-FR" b="1" i="1" dirty="0" smtClean="0"/>
            </a:br>
            <a:endParaRPr lang="fr-FR" dirty="0"/>
          </a:p>
        </p:txBody>
      </p:sp>
      <p:sp>
        <p:nvSpPr>
          <p:cNvPr id="3" name="Espace réservé du contenu 2"/>
          <p:cNvSpPr>
            <a:spLocks noGrp="1"/>
          </p:cNvSpPr>
          <p:nvPr>
            <p:ph sz="quarter" idx="1"/>
          </p:nvPr>
        </p:nvSpPr>
        <p:spPr/>
        <p:txBody>
          <a:bodyPr/>
          <a:lstStyle/>
          <a:p>
            <a:pPr>
              <a:buNone/>
            </a:pPr>
            <a:r>
              <a:rPr lang="fr-FR" b="1" dirty="0" smtClean="0"/>
              <a:t>Rôle</a:t>
            </a:r>
            <a:r>
              <a:rPr lang="fr-FR" dirty="0" smtClean="0"/>
              <a:t> : identification des sources d’informations utilisées</a:t>
            </a:r>
          </a:p>
          <a:p>
            <a:pPr>
              <a:buNone/>
            </a:pPr>
            <a:r>
              <a:rPr lang="fr-FR" b="1" dirty="0" smtClean="0"/>
              <a:t>Objectifs cumulables</a:t>
            </a:r>
            <a:r>
              <a:rPr lang="fr-FR" dirty="0" smtClean="0"/>
              <a:t> :</a:t>
            </a:r>
          </a:p>
          <a:p>
            <a:pPr lvl="0" algn="just">
              <a:buFont typeface="Wingdings" pitchFamily="2" charset="2"/>
              <a:buChar char="v"/>
            </a:pPr>
            <a:r>
              <a:rPr lang="fr-FR" dirty="0" smtClean="0"/>
              <a:t>Refléter l’effort d’investigation</a:t>
            </a:r>
          </a:p>
          <a:p>
            <a:pPr lvl="0" algn="just">
              <a:buFont typeface="Wingdings" pitchFamily="2" charset="2"/>
              <a:buChar char="v"/>
            </a:pPr>
            <a:r>
              <a:rPr lang="fr-FR" dirty="0" smtClean="0"/>
              <a:t>Situer et juger de la pertinence du travail</a:t>
            </a:r>
          </a:p>
          <a:p>
            <a:pPr lvl="0" algn="just">
              <a:buFont typeface="Wingdings" pitchFamily="2" charset="2"/>
              <a:buChar char="v"/>
            </a:pPr>
            <a:r>
              <a:rPr lang="fr-FR" dirty="0" smtClean="0"/>
              <a:t>Diriger les lecteurs vers d’autres sources</a:t>
            </a:r>
          </a:p>
          <a:p>
            <a:pPr lvl="0" algn="just">
              <a:buFont typeface="Wingdings" pitchFamily="2" charset="2"/>
              <a:buChar char="v"/>
            </a:pPr>
            <a:r>
              <a:rPr lang="fr-FR" dirty="0" smtClean="0"/>
              <a:t>Marque d’honnêteté intellectuelle</a:t>
            </a:r>
          </a:p>
          <a:p>
            <a:endParaRPr lang="fr-FR" dirty="0"/>
          </a:p>
        </p:txBody>
      </p:sp>
      <p:sp>
        <p:nvSpPr>
          <p:cNvPr id="4" name="Espace réservé du numéro de diapositive 3"/>
          <p:cNvSpPr>
            <a:spLocks noGrp="1"/>
          </p:cNvSpPr>
          <p:nvPr>
            <p:ph type="sldNum" sz="quarter" idx="15"/>
          </p:nvPr>
        </p:nvSpPr>
        <p:spPr/>
        <p:txBody>
          <a:bodyPr/>
          <a:lstStyle/>
          <a:p>
            <a:fld id="{1D258001-9BDA-447A-ADAB-646DC4D258D2}" type="slidenum">
              <a:rPr lang="fr-FR" smtClean="0"/>
              <a:pPr/>
              <a:t>64</a:t>
            </a:fld>
            <a:endParaRPr lang="fr-FR"/>
          </a:p>
        </p:txBody>
      </p:sp>
      <p:sp>
        <p:nvSpPr>
          <p:cNvPr id="5" name="Espace réservé du pied de page 4"/>
          <p:cNvSpPr>
            <a:spLocks noGrp="1"/>
          </p:cNvSpPr>
          <p:nvPr>
            <p:ph type="ftr" sz="quarter" idx="16"/>
          </p:nvPr>
        </p:nvSpPr>
        <p:spPr/>
        <p:txBody>
          <a:bodyPr/>
          <a:lstStyle/>
          <a:p>
            <a:r>
              <a:rPr lang="fr-FR" smtClean="0"/>
              <a:t>Rédaction Scientifique                                       Pr.H.F.Merouani</a:t>
            </a:r>
            <a:endParaRPr lang="fr-F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t>La bibliographie</a:t>
            </a:r>
            <a:endParaRPr lang="fr-FR" dirty="0"/>
          </a:p>
        </p:txBody>
      </p:sp>
      <p:sp>
        <p:nvSpPr>
          <p:cNvPr id="3" name="Espace réservé du contenu 2"/>
          <p:cNvSpPr>
            <a:spLocks noGrp="1"/>
          </p:cNvSpPr>
          <p:nvPr>
            <p:ph sz="quarter" idx="1"/>
          </p:nvPr>
        </p:nvSpPr>
        <p:spPr/>
        <p:txBody>
          <a:bodyPr>
            <a:normAutofit fontScale="92500" lnSpcReduction="20000"/>
          </a:bodyPr>
          <a:lstStyle/>
          <a:p>
            <a:pPr>
              <a:buNone/>
            </a:pPr>
            <a:r>
              <a:rPr lang="fr-FR" b="1" dirty="0" smtClean="0"/>
              <a:t> </a:t>
            </a:r>
            <a:r>
              <a:rPr lang="fr-FR" dirty="0" smtClean="0"/>
              <a:t>Classer les références des documents par ordre alphabétique. </a:t>
            </a:r>
          </a:p>
          <a:p>
            <a:pPr>
              <a:buFont typeface="Wingdings" pitchFamily="2" charset="2"/>
              <a:buChar char="Ø"/>
            </a:pPr>
            <a:r>
              <a:rPr lang="fr-FR" dirty="0" smtClean="0">
                <a:solidFill>
                  <a:srgbClr val="00B0F0"/>
                </a:solidFill>
              </a:rPr>
              <a:t>Livre</a:t>
            </a:r>
            <a:r>
              <a:rPr lang="fr-FR" dirty="0" smtClean="0"/>
              <a:t>: Auteur, Prénom (date). </a:t>
            </a:r>
            <a:r>
              <a:rPr lang="fr-FR" i="1" dirty="0" smtClean="0"/>
              <a:t>Titre du livre. Lieu d'édition : Éditeur, nombre de pages. </a:t>
            </a:r>
          </a:p>
          <a:p>
            <a:pPr>
              <a:buFont typeface="Wingdings" pitchFamily="2" charset="2"/>
              <a:buChar char="Ø"/>
            </a:pPr>
            <a:r>
              <a:rPr lang="fr-FR" i="1" dirty="0" smtClean="0">
                <a:solidFill>
                  <a:srgbClr val="00B0F0"/>
                </a:solidFill>
              </a:rPr>
              <a:t>Chapitre d'un livre</a:t>
            </a:r>
            <a:r>
              <a:rPr lang="fr-FR" i="1" dirty="0" smtClean="0"/>
              <a:t>: Auteur, Prénom (date). « Titre du chapitre » (chap. 0), dans Titre du livre. Lieu d'édition : Éditeur, p. 0-1. </a:t>
            </a:r>
          </a:p>
          <a:p>
            <a:pPr>
              <a:buFont typeface="Wingdings" pitchFamily="2" charset="2"/>
              <a:buChar char="Ø"/>
            </a:pPr>
            <a:r>
              <a:rPr lang="fr-FR" i="1" dirty="0" smtClean="0">
                <a:solidFill>
                  <a:srgbClr val="00B0F0"/>
                </a:solidFill>
              </a:rPr>
              <a:t>Section d'un Site Web:</a:t>
            </a:r>
            <a:r>
              <a:rPr lang="fr-FR" i="1" dirty="0" smtClean="0"/>
              <a:t> Auteur, Prénom (date de publication de la section). Titre de la section, sur le site Nom du site. Consulté le (date). Adresse sur le Web.</a:t>
            </a:r>
          </a:p>
          <a:p>
            <a:pPr>
              <a:buFont typeface="Wingdings" pitchFamily="2" charset="2"/>
              <a:buChar char="Ø"/>
            </a:pPr>
            <a:r>
              <a:rPr lang="fr-FR" i="1" dirty="0" smtClean="0">
                <a:solidFill>
                  <a:srgbClr val="00B0F0"/>
                </a:solidFill>
              </a:rPr>
              <a:t>Article d’une conférence:</a:t>
            </a:r>
            <a:r>
              <a:rPr lang="fr-FR" i="1" dirty="0" smtClean="0"/>
              <a:t> Auteur. Prénom,  « titre de l’article » Nom de la </a:t>
            </a:r>
            <a:r>
              <a:rPr lang="fr-FR" i="1" dirty="0" err="1" smtClean="0"/>
              <a:t>conf</a:t>
            </a:r>
            <a:r>
              <a:rPr lang="fr-FR" i="1" dirty="0" smtClean="0"/>
              <a:t>, Lieu de la </a:t>
            </a:r>
            <a:r>
              <a:rPr lang="fr-FR" i="1" dirty="0" err="1" smtClean="0"/>
              <a:t>conf</a:t>
            </a:r>
            <a:r>
              <a:rPr lang="fr-FR" i="1" dirty="0" smtClean="0"/>
              <a:t>, p.0-1, date.</a:t>
            </a:r>
          </a:p>
          <a:p>
            <a:pPr>
              <a:buFont typeface="Wingdings" pitchFamily="2" charset="2"/>
              <a:buChar char="Ø"/>
            </a:pPr>
            <a:r>
              <a:rPr lang="fr-FR" i="1" dirty="0" smtClean="0">
                <a:solidFill>
                  <a:srgbClr val="00B0F0"/>
                </a:solidFill>
              </a:rPr>
              <a:t>Article d’un journal:</a:t>
            </a:r>
            <a:r>
              <a:rPr lang="fr-FR" i="1" dirty="0" smtClean="0"/>
              <a:t> Auteur. Prénom, « titre de l’article », Nom du journal, Volume, p.12-30,  </a:t>
            </a:r>
          </a:p>
          <a:p>
            <a:endParaRPr lang="fr-FR" dirty="0"/>
          </a:p>
        </p:txBody>
      </p:sp>
      <p:sp>
        <p:nvSpPr>
          <p:cNvPr id="4" name="Espace réservé du numéro de diapositive 3"/>
          <p:cNvSpPr>
            <a:spLocks noGrp="1"/>
          </p:cNvSpPr>
          <p:nvPr>
            <p:ph type="sldNum" sz="quarter" idx="15"/>
          </p:nvPr>
        </p:nvSpPr>
        <p:spPr/>
        <p:txBody>
          <a:bodyPr/>
          <a:lstStyle/>
          <a:p>
            <a:fld id="{1D258001-9BDA-447A-ADAB-646DC4D258D2}" type="slidenum">
              <a:rPr lang="fr-FR" smtClean="0"/>
              <a:pPr/>
              <a:t>65</a:t>
            </a:fld>
            <a:endParaRPr lang="fr-FR"/>
          </a:p>
        </p:txBody>
      </p:sp>
      <p:sp>
        <p:nvSpPr>
          <p:cNvPr id="5" name="Espace réservé du pied de page 4"/>
          <p:cNvSpPr>
            <a:spLocks noGrp="1"/>
          </p:cNvSpPr>
          <p:nvPr>
            <p:ph type="ftr" sz="quarter" idx="16"/>
          </p:nvPr>
        </p:nvSpPr>
        <p:spPr/>
        <p:txBody>
          <a:bodyPr/>
          <a:lstStyle/>
          <a:p>
            <a:r>
              <a:rPr lang="fr-FR" smtClean="0"/>
              <a:t>Rédaction Scientifique                                       Pr.H.F.Merouani</a:t>
            </a:r>
            <a:endParaRPr lang="fr-FR"/>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solidFill>
                  <a:srgbClr val="FF0000"/>
                </a:solidFill>
              </a:rPr>
              <a:t>Les annexes</a:t>
            </a:r>
            <a:endParaRPr lang="fr-FR" dirty="0"/>
          </a:p>
        </p:txBody>
      </p:sp>
      <p:sp>
        <p:nvSpPr>
          <p:cNvPr id="3" name="Espace réservé du contenu 2"/>
          <p:cNvSpPr>
            <a:spLocks noGrp="1"/>
          </p:cNvSpPr>
          <p:nvPr>
            <p:ph sz="quarter" idx="1"/>
          </p:nvPr>
        </p:nvSpPr>
        <p:spPr/>
        <p:txBody>
          <a:bodyPr/>
          <a:lstStyle/>
          <a:p>
            <a:pPr>
              <a:buNone/>
            </a:pPr>
            <a:r>
              <a:rPr lang="fr-FR" b="1" dirty="0" smtClean="0"/>
              <a:t> </a:t>
            </a:r>
          </a:p>
          <a:p>
            <a:pPr>
              <a:buFont typeface="Wingdings" pitchFamily="2" charset="2"/>
              <a:buChar char="Ø"/>
            </a:pPr>
            <a:r>
              <a:rPr lang="fr-FR" dirty="0" smtClean="0"/>
              <a:t>On insère dans une annexe, de l'information qui aide à comprendre la recherche: des croquis, tableaux, schémas, statistiques, figures ou questionnaires. </a:t>
            </a:r>
          </a:p>
          <a:p>
            <a:pPr>
              <a:buFont typeface="Wingdings" pitchFamily="2" charset="2"/>
              <a:buChar char="Ø"/>
            </a:pPr>
            <a:r>
              <a:rPr lang="fr-FR" dirty="0" smtClean="0"/>
              <a:t>Les annexes sont placées par ordre de mention dans le texte. </a:t>
            </a:r>
          </a:p>
          <a:p>
            <a:endParaRPr lang="fr-FR" dirty="0"/>
          </a:p>
        </p:txBody>
      </p:sp>
      <p:sp>
        <p:nvSpPr>
          <p:cNvPr id="4" name="Espace réservé du numéro de diapositive 3"/>
          <p:cNvSpPr>
            <a:spLocks noGrp="1"/>
          </p:cNvSpPr>
          <p:nvPr>
            <p:ph type="sldNum" sz="quarter" idx="15"/>
          </p:nvPr>
        </p:nvSpPr>
        <p:spPr/>
        <p:txBody>
          <a:bodyPr/>
          <a:lstStyle/>
          <a:p>
            <a:fld id="{1D258001-9BDA-447A-ADAB-646DC4D258D2}" type="slidenum">
              <a:rPr lang="fr-FR" smtClean="0"/>
              <a:pPr/>
              <a:t>66</a:t>
            </a:fld>
            <a:endParaRPr lang="fr-FR"/>
          </a:p>
        </p:txBody>
      </p:sp>
      <p:sp>
        <p:nvSpPr>
          <p:cNvPr id="5" name="Espace réservé du pied de page 4"/>
          <p:cNvSpPr>
            <a:spLocks noGrp="1"/>
          </p:cNvSpPr>
          <p:nvPr>
            <p:ph type="ftr" sz="quarter" idx="16"/>
          </p:nvPr>
        </p:nvSpPr>
        <p:spPr/>
        <p:txBody>
          <a:bodyPr/>
          <a:lstStyle/>
          <a:p>
            <a:r>
              <a:rPr lang="fr-FR" smtClean="0"/>
              <a:t>Rédaction Scientifique                                       Pr.H.F.Merouani</a:t>
            </a:r>
            <a:endParaRPr lang="fr-FR"/>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solidFill>
                  <a:srgbClr val="FF0000"/>
                </a:solidFill>
              </a:rPr>
              <a:t>Quelles sont les causes d’échec d’un document ?</a:t>
            </a:r>
            <a:endParaRPr lang="fr-FR" dirty="0">
              <a:solidFill>
                <a:srgbClr val="FF0000"/>
              </a:solidFill>
            </a:endParaRPr>
          </a:p>
        </p:txBody>
      </p:sp>
      <p:sp>
        <p:nvSpPr>
          <p:cNvPr id="3" name="Espace réservé du contenu 2"/>
          <p:cNvSpPr>
            <a:spLocks noGrp="1"/>
          </p:cNvSpPr>
          <p:nvPr>
            <p:ph sz="quarter" idx="1"/>
          </p:nvPr>
        </p:nvSpPr>
        <p:spPr/>
        <p:txBody>
          <a:bodyPr>
            <a:normAutofit fontScale="85000" lnSpcReduction="20000"/>
          </a:bodyPr>
          <a:lstStyle/>
          <a:p>
            <a:endParaRPr lang="fr-FR" dirty="0" smtClean="0"/>
          </a:p>
          <a:p>
            <a:pPr lvl="0" algn="just">
              <a:buFont typeface="Wingdings" pitchFamily="2" charset="2"/>
              <a:buChar char="Ø"/>
            </a:pPr>
            <a:r>
              <a:rPr lang="fr-FR" dirty="0" smtClean="0"/>
              <a:t>Manque de </a:t>
            </a:r>
            <a:r>
              <a:rPr lang="fr-FR" dirty="0" smtClean="0">
                <a:solidFill>
                  <a:srgbClr val="0070C0"/>
                </a:solidFill>
              </a:rPr>
              <a:t>preuves tangibles</a:t>
            </a:r>
            <a:r>
              <a:rPr lang="fr-FR" dirty="0" smtClean="0"/>
              <a:t> et/ou de clarté de l'argumentation,</a:t>
            </a:r>
          </a:p>
          <a:p>
            <a:pPr lvl="0" algn="just">
              <a:buFont typeface="Wingdings" pitchFamily="2" charset="2"/>
              <a:buChar char="Ø"/>
            </a:pPr>
            <a:r>
              <a:rPr lang="fr-FR" dirty="0" smtClean="0"/>
              <a:t>Utilisation trop importante d'</a:t>
            </a:r>
            <a:r>
              <a:rPr lang="fr-FR" dirty="0" smtClean="0">
                <a:solidFill>
                  <a:srgbClr val="0070C0"/>
                </a:solidFill>
              </a:rPr>
              <a:t>informations obsolètes</a:t>
            </a:r>
            <a:r>
              <a:rPr lang="fr-FR" dirty="0" smtClean="0"/>
              <a:t>,</a:t>
            </a:r>
          </a:p>
          <a:p>
            <a:pPr lvl="0" algn="just">
              <a:buFont typeface="Wingdings" pitchFamily="2" charset="2"/>
              <a:buChar char="Ø"/>
            </a:pPr>
            <a:r>
              <a:rPr lang="fr-FR" dirty="0" smtClean="0"/>
              <a:t>Absence d’</a:t>
            </a:r>
            <a:r>
              <a:rPr lang="fr-FR" dirty="0" smtClean="0">
                <a:solidFill>
                  <a:srgbClr val="0070C0"/>
                </a:solidFill>
              </a:rPr>
              <a:t>argumentation</a:t>
            </a:r>
            <a:r>
              <a:rPr lang="fr-FR" dirty="0" smtClean="0"/>
              <a:t> dans la réfutation des approches alternatives à celles du candidat,</a:t>
            </a:r>
          </a:p>
          <a:p>
            <a:pPr lvl="0" algn="just">
              <a:buFont typeface="Wingdings" pitchFamily="2" charset="2"/>
              <a:buChar char="Ø"/>
            </a:pPr>
            <a:r>
              <a:rPr lang="fr-FR" dirty="0" smtClean="0">
                <a:solidFill>
                  <a:srgbClr val="0070C0"/>
                </a:solidFill>
              </a:rPr>
              <a:t>Pauvreté</a:t>
            </a:r>
            <a:r>
              <a:rPr lang="fr-FR" dirty="0" smtClean="0"/>
              <a:t> de la structuration logique et/ou non-respect des règles de présentation</a:t>
            </a:r>
          </a:p>
          <a:p>
            <a:pPr lvl="0" algn="just">
              <a:buFont typeface="Wingdings" pitchFamily="2" charset="2"/>
              <a:buChar char="Ø"/>
            </a:pPr>
            <a:r>
              <a:rPr lang="fr-FR" dirty="0" smtClean="0">
                <a:solidFill>
                  <a:srgbClr val="0070C0"/>
                </a:solidFill>
              </a:rPr>
              <a:t>Absence</a:t>
            </a:r>
            <a:r>
              <a:rPr lang="fr-FR" dirty="0" smtClean="0"/>
              <a:t> de citations,</a:t>
            </a:r>
          </a:p>
          <a:p>
            <a:pPr lvl="0" algn="just">
              <a:buFont typeface="Wingdings" pitchFamily="2" charset="2"/>
              <a:buChar char="Ø"/>
            </a:pPr>
            <a:r>
              <a:rPr lang="fr-FR" dirty="0" smtClean="0">
                <a:solidFill>
                  <a:srgbClr val="0070C0"/>
                </a:solidFill>
              </a:rPr>
              <a:t>Inconsistance</a:t>
            </a:r>
            <a:r>
              <a:rPr lang="fr-FR" dirty="0" smtClean="0"/>
              <a:t> de l’introduction et de la conclusion,</a:t>
            </a:r>
          </a:p>
          <a:p>
            <a:pPr lvl="0" algn="just">
              <a:buFont typeface="Wingdings" pitchFamily="2" charset="2"/>
              <a:buChar char="Ø"/>
            </a:pPr>
            <a:r>
              <a:rPr lang="fr-FR" dirty="0" smtClean="0">
                <a:solidFill>
                  <a:srgbClr val="0070C0"/>
                </a:solidFill>
              </a:rPr>
              <a:t>Style</a:t>
            </a:r>
            <a:r>
              <a:rPr lang="fr-FR" dirty="0" smtClean="0"/>
              <a:t> inapproprié,</a:t>
            </a:r>
          </a:p>
          <a:p>
            <a:pPr lvl="0" algn="just">
              <a:buFont typeface="Wingdings" pitchFamily="2" charset="2"/>
              <a:buChar char="Ø"/>
            </a:pPr>
            <a:r>
              <a:rPr lang="fr-FR" dirty="0" smtClean="0">
                <a:solidFill>
                  <a:srgbClr val="0070C0"/>
                </a:solidFill>
              </a:rPr>
              <a:t>Prépondérance </a:t>
            </a:r>
            <a:r>
              <a:rPr lang="fr-FR" dirty="0" smtClean="0"/>
              <a:t>de l’apparence sur le contenu scientifique (évaluation, synthèse, critique, …),</a:t>
            </a:r>
          </a:p>
          <a:p>
            <a:pPr lvl="0">
              <a:buFont typeface="Wingdings" pitchFamily="2" charset="2"/>
              <a:buChar char="Ø"/>
            </a:pPr>
            <a:r>
              <a:rPr lang="fr-FR" dirty="0" smtClean="0">
                <a:solidFill>
                  <a:srgbClr val="0070C0"/>
                </a:solidFill>
              </a:rPr>
              <a:t>Faible apport du candidat</a:t>
            </a:r>
            <a:r>
              <a:rPr lang="fr-FR" dirty="0" smtClean="0"/>
              <a:t> et/ou </a:t>
            </a:r>
            <a:r>
              <a:rPr lang="fr-FR" dirty="0" smtClean="0">
                <a:solidFill>
                  <a:srgbClr val="0070C0"/>
                </a:solidFill>
              </a:rPr>
              <a:t>appropriation d’idées</a:t>
            </a:r>
            <a:r>
              <a:rPr lang="fr-FR" dirty="0" smtClean="0"/>
              <a:t> qui ne lui appartiennent pas (plagiat). </a:t>
            </a:r>
            <a:endParaRPr lang="fr-FR" dirty="0"/>
          </a:p>
        </p:txBody>
      </p:sp>
      <p:sp>
        <p:nvSpPr>
          <p:cNvPr id="4" name="Espace réservé du numéro de diapositive 3"/>
          <p:cNvSpPr>
            <a:spLocks noGrp="1"/>
          </p:cNvSpPr>
          <p:nvPr>
            <p:ph type="sldNum" sz="quarter" idx="15"/>
          </p:nvPr>
        </p:nvSpPr>
        <p:spPr/>
        <p:txBody>
          <a:bodyPr/>
          <a:lstStyle/>
          <a:p>
            <a:fld id="{1D258001-9BDA-447A-ADAB-646DC4D258D2}" type="slidenum">
              <a:rPr lang="fr-FR" smtClean="0"/>
              <a:pPr/>
              <a:t>67</a:t>
            </a:fld>
            <a:endParaRPr lang="fr-FR"/>
          </a:p>
        </p:txBody>
      </p:sp>
      <p:sp>
        <p:nvSpPr>
          <p:cNvPr id="5" name="Espace réservé du pied de page 4"/>
          <p:cNvSpPr>
            <a:spLocks noGrp="1"/>
          </p:cNvSpPr>
          <p:nvPr>
            <p:ph type="ftr" sz="quarter" idx="16"/>
          </p:nvPr>
        </p:nvSpPr>
        <p:spPr/>
        <p:txBody>
          <a:bodyPr/>
          <a:lstStyle/>
          <a:p>
            <a:r>
              <a:rPr lang="fr-FR" smtClean="0"/>
              <a:t>Rédaction Scientifique                                       Pr.H.F.Merouani</a:t>
            </a:r>
            <a:endParaRPr lang="fr-FR"/>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z="3600" dirty="0" smtClean="0">
                <a:solidFill>
                  <a:srgbClr val="FF0000"/>
                </a:solidFill>
              </a:rPr>
              <a:t>Style typographique</a:t>
            </a:r>
            <a:r>
              <a:rPr lang="fr-FR" b="1" i="1" dirty="0" smtClean="0"/>
              <a:t/>
            </a:r>
            <a:br>
              <a:rPr lang="fr-FR" b="1" i="1" dirty="0" smtClean="0"/>
            </a:br>
            <a:endParaRPr lang="fr-FR" dirty="0"/>
          </a:p>
        </p:txBody>
      </p:sp>
      <p:sp>
        <p:nvSpPr>
          <p:cNvPr id="3" name="Espace réservé du contenu 2"/>
          <p:cNvSpPr>
            <a:spLocks noGrp="1"/>
          </p:cNvSpPr>
          <p:nvPr>
            <p:ph sz="quarter" idx="1"/>
          </p:nvPr>
        </p:nvSpPr>
        <p:spPr/>
        <p:txBody>
          <a:bodyPr/>
          <a:lstStyle/>
          <a:p>
            <a:pPr algn="just">
              <a:buNone/>
            </a:pPr>
            <a:r>
              <a:rPr lang="fr-FR" sz="3200" dirty="0" smtClean="0"/>
              <a:t>Le style typographique englobe tout ce qui concerne la mise en page, la taille, la forme et la couleur des objets apparaissant dans un document.</a:t>
            </a:r>
          </a:p>
          <a:p>
            <a:pPr>
              <a:buNone/>
            </a:pPr>
            <a:endParaRPr lang="fr-FR" dirty="0"/>
          </a:p>
        </p:txBody>
      </p:sp>
      <p:sp>
        <p:nvSpPr>
          <p:cNvPr id="4" name="Espace réservé du numéro de diapositive 3"/>
          <p:cNvSpPr>
            <a:spLocks noGrp="1"/>
          </p:cNvSpPr>
          <p:nvPr>
            <p:ph type="sldNum" sz="quarter" idx="15"/>
          </p:nvPr>
        </p:nvSpPr>
        <p:spPr/>
        <p:txBody>
          <a:bodyPr/>
          <a:lstStyle/>
          <a:p>
            <a:fld id="{1D258001-9BDA-447A-ADAB-646DC4D258D2}" type="slidenum">
              <a:rPr lang="fr-FR" smtClean="0"/>
              <a:pPr/>
              <a:t>68</a:t>
            </a:fld>
            <a:endParaRPr lang="fr-FR"/>
          </a:p>
        </p:txBody>
      </p:sp>
      <p:sp>
        <p:nvSpPr>
          <p:cNvPr id="5" name="Espace réservé du pied de page 4"/>
          <p:cNvSpPr>
            <a:spLocks noGrp="1"/>
          </p:cNvSpPr>
          <p:nvPr>
            <p:ph type="ftr" sz="quarter" idx="16"/>
          </p:nvPr>
        </p:nvSpPr>
        <p:spPr/>
        <p:txBody>
          <a:bodyPr/>
          <a:lstStyle/>
          <a:p>
            <a:r>
              <a:rPr lang="fr-FR" smtClean="0"/>
              <a:t>Rédaction Scientifique                                       Pr.H.F.Merouani</a:t>
            </a:r>
            <a:endParaRPr lang="fr-FR"/>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3200" dirty="0" smtClean="0">
                <a:solidFill>
                  <a:srgbClr val="FF0000"/>
                </a:solidFill>
              </a:rPr>
              <a:t>style typographique</a:t>
            </a:r>
            <a:endParaRPr lang="fr-FR" sz="3200" dirty="0">
              <a:solidFill>
                <a:srgbClr val="FF0000"/>
              </a:solidFill>
            </a:endParaRPr>
          </a:p>
        </p:txBody>
      </p:sp>
      <p:sp>
        <p:nvSpPr>
          <p:cNvPr id="3" name="Espace réservé du contenu 2"/>
          <p:cNvSpPr>
            <a:spLocks noGrp="1"/>
          </p:cNvSpPr>
          <p:nvPr>
            <p:ph sz="quarter" idx="1"/>
          </p:nvPr>
        </p:nvSpPr>
        <p:spPr/>
        <p:txBody>
          <a:bodyPr/>
          <a:lstStyle/>
          <a:p>
            <a:pPr algn="just">
              <a:buNone/>
            </a:pPr>
            <a:r>
              <a:rPr lang="fr-FR" sz="2800" dirty="0" smtClean="0"/>
              <a:t>Pour avoir un bon style typographique il faut veiller à l’uniformité dans tout le document, prendre conscience des règles de lisibilité et appliquer les règles de ponctuation.</a:t>
            </a:r>
          </a:p>
          <a:p>
            <a:pPr algn="just">
              <a:buNone/>
            </a:pPr>
            <a:r>
              <a:rPr lang="fr-FR" sz="2800" dirty="0" smtClean="0"/>
              <a:t> </a:t>
            </a:r>
          </a:p>
          <a:p>
            <a:pPr>
              <a:buNone/>
            </a:pPr>
            <a:endParaRPr lang="fr-FR" dirty="0"/>
          </a:p>
        </p:txBody>
      </p:sp>
      <p:sp>
        <p:nvSpPr>
          <p:cNvPr id="4" name="Espace réservé du numéro de diapositive 3"/>
          <p:cNvSpPr>
            <a:spLocks noGrp="1"/>
          </p:cNvSpPr>
          <p:nvPr>
            <p:ph type="sldNum" sz="quarter" idx="15"/>
          </p:nvPr>
        </p:nvSpPr>
        <p:spPr/>
        <p:txBody>
          <a:bodyPr/>
          <a:lstStyle/>
          <a:p>
            <a:fld id="{1D258001-9BDA-447A-ADAB-646DC4D258D2}" type="slidenum">
              <a:rPr lang="fr-FR" smtClean="0"/>
              <a:pPr/>
              <a:t>69</a:t>
            </a:fld>
            <a:endParaRPr lang="fr-FR"/>
          </a:p>
        </p:txBody>
      </p:sp>
      <p:sp>
        <p:nvSpPr>
          <p:cNvPr id="5" name="Espace réservé du pied de page 4"/>
          <p:cNvSpPr>
            <a:spLocks noGrp="1"/>
          </p:cNvSpPr>
          <p:nvPr>
            <p:ph type="ftr" sz="quarter" idx="16"/>
          </p:nvPr>
        </p:nvSpPr>
        <p:spPr/>
        <p:txBody>
          <a:bodyPr/>
          <a:lstStyle/>
          <a:p>
            <a:r>
              <a:rPr lang="fr-FR" smtClean="0"/>
              <a:t>Rédaction Scientifique                                       Pr.H.F.Merouani</a:t>
            </a:r>
            <a:endParaRPr lang="fr-F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1"/>
          <p:cNvSpPr>
            <a:spLocks noGrp="1"/>
          </p:cNvSpPr>
          <p:nvPr>
            <p:ph type="ftr" sz="quarter" idx="11"/>
          </p:nvPr>
        </p:nvSpPr>
        <p:spPr/>
        <p:txBody>
          <a:bodyPr/>
          <a:lstStyle/>
          <a:p>
            <a:r>
              <a:rPr lang="fr-FR" smtClean="0"/>
              <a:t>Rédaction Scientifique                                       Pr.H.F.Merouani</a:t>
            </a:r>
            <a:endParaRPr lang="fr-FR"/>
          </a:p>
        </p:txBody>
      </p:sp>
      <p:sp>
        <p:nvSpPr>
          <p:cNvPr id="3" name="Espace réservé du numéro de diapositive 2"/>
          <p:cNvSpPr>
            <a:spLocks noGrp="1"/>
          </p:cNvSpPr>
          <p:nvPr>
            <p:ph type="sldNum" sz="quarter" idx="12"/>
          </p:nvPr>
        </p:nvSpPr>
        <p:spPr/>
        <p:txBody>
          <a:bodyPr/>
          <a:lstStyle/>
          <a:p>
            <a:fld id="{1D258001-9BDA-447A-ADAB-646DC4D258D2}" type="slidenum">
              <a:rPr lang="fr-FR" smtClean="0"/>
              <a:pPr/>
              <a:t>70</a:t>
            </a:fld>
            <a:endParaRPr lang="fr-FR"/>
          </a:p>
        </p:txBody>
      </p:sp>
      <p:sp>
        <p:nvSpPr>
          <p:cNvPr id="645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graphicFrame>
        <p:nvGraphicFramePr>
          <p:cNvPr id="64513" name="Object 1"/>
          <p:cNvGraphicFramePr>
            <a:graphicFrameLocks noChangeAspect="1"/>
          </p:cNvGraphicFramePr>
          <p:nvPr/>
        </p:nvGraphicFramePr>
        <p:xfrm>
          <a:off x="785786" y="285728"/>
          <a:ext cx="6786578" cy="6370638"/>
        </p:xfrm>
        <a:graphic>
          <a:graphicData uri="http://schemas.openxmlformats.org/presentationml/2006/ole">
            <p:oleObj spid="_x0000_s64513" name="Picture" r:id="rId3" imgW="5743956" imgH="6371844" progId="Word.Picture.8">
              <p:embed/>
            </p:oleObj>
          </a:graphicData>
        </a:graphic>
      </p:graphicFrame>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7467600" cy="2082792"/>
          </a:xfrm>
        </p:spPr>
        <p:txBody>
          <a:bodyPr>
            <a:normAutofit/>
          </a:bodyPr>
          <a:lstStyle/>
          <a:p>
            <a:r>
              <a:rPr lang="fr-FR" sz="3600" dirty="0" smtClean="0">
                <a:solidFill>
                  <a:srgbClr val="FF0000"/>
                </a:solidFill>
              </a:rPr>
              <a:t>Règles de lisibilité</a:t>
            </a:r>
            <a:r>
              <a:rPr lang="fr-FR" b="1" i="1" dirty="0" smtClean="0"/>
              <a:t/>
            </a:r>
            <a:br>
              <a:rPr lang="fr-FR" b="1" i="1" dirty="0" smtClean="0"/>
            </a:br>
            <a:r>
              <a:rPr lang="fr-FR" dirty="0" smtClean="0"/>
              <a:t/>
            </a:r>
            <a:br>
              <a:rPr lang="fr-FR" dirty="0" smtClean="0"/>
            </a:br>
            <a:endParaRPr lang="fr-FR" dirty="0"/>
          </a:p>
        </p:txBody>
      </p:sp>
      <p:sp>
        <p:nvSpPr>
          <p:cNvPr id="3" name="Espace réservé du contenu 2"/>
          <p:cNvSpPr>
            <a:spLocks noGrp="1"/>
          </p:cNvSpPr>
          <p:nvPr>
            <p:ph sz="quarter" idx="1"/>
          </p:nvPr>
        </p:nvSpPr>
        <p:spPr/>
        <p:txBody>
          <a:bodyPr>
            <a:normAutofit fontScale="92500" lnSpcReduction="10000"/>
          </a:bodyPr>
          <a:lstStyle/>
          <a:p>
            <a:pPr lvl="0">
              <a:buFont typeface="Wingdings" pitchFamily="2" charset="2"/>
              <a:buChar char="Ø"/>
            </a:pPr>
            <a:r>
              <a:rPr lang="fr-FR" dirty="0" smtClean="0"/>
              <a:t>Le titre est lu 5 fois plus souvent que le texte</a:t>
            </a:r>
          </a:p>
          <a:p>
            <a:pPr lvl="0">
              <a:buFont typeface="Wingdings" pitchFamily="2" charset="2"/>
              <a:buChar char="Ø"/>
            </a:pPr>
            <a:r>
              <a:rPr lang="fr-FR" dirty="0" smtClean="0"/>
              <a:t>Les titres de 6 à 12 mots sont les plus lus </a:t>
            </a:r>
          </a:p>
          <a:p>
            <a:pPr lvl="0">
              <a:buFont typeface="Wingdings" pitchFamily="2" charset="2"/>
              <a:buChar char="Ø"/>
            </a:pPr>
            <a:r>
              <a:rPr lang="fr-FR" dirty="0" smtClean="0"/>
              <a:t>Les légendes sont plus lues que le texte</a:t>
            </a:r>
          </a:p>
          <a:p>
            <a:pPr lvl="0">
              <a:buFont typeface="Wingdings" pitchFamily="2" charset="2"/>
              <a:buChar char="Ø"/>
            </a:pPr>
            <a:r>
              <a:rPr lang="fr-FR" dirty="0" smtClean="0"/>
              <a:t>Les intertitres aident à la lecture</a:t>
            </a:r>
          </a:p>
          <a:p>
            <a:pPr lvl="0">
              <a:buFont typeface="Wingdings" pitchFamily="2" charset="2"/>
              <a:buChar char="Ø"/>
            </a:pPr>
            <a:r>
              <a:rPr lang="fr-FR" dirty="0" smtClean="0"/>
              <a:t>Les intertitres interrogatifs stimulent la lecture</a:t>
            </a:r>
          </a:p>
          <a:p>
            <a:pPr lvl="0">
              <a:buFont typeface="Wingdings" pitchFamily="2" charset="2"/>
              <a:buChar char="Ø"/>
            </a:pPr>
            <a:r>
              <a:rPr lang="fr-FR" dirty="0" smtClean="0"/>
              <a:t>Les lettrines stimulent la lecture (Tel que le P du paragraphe précédant)</a:t>
            </a:r>
          </a:p>
          <a:p>
            <a:pPr lvl="0">
              <a:buFont typeface="Wingdings" pitchFamily="2" charset="2"/>
              <a:buChar char="Ø"/>
            </a:pPr>
            <a:r>
              <a:rPr lang="fr-FR" dirty="0" smtClean="0"/>
              <a:t>Les longs paragraphes rebutent le lecteur</a:t>
            </a:r>
          </a:p>
          <a:p>
            <a:pPr lvl="0">
              <a:buFont typeface="Wingdings" pitchFamily="2" charset="2"/>
              <a:buChar char="Ø"/>
            </a:pPr>
            <a:r>
              <a:rPr lang="fr-FR" dirty="0" smtClean="0"/>
              <a:t>Les caractères de taille 14 sont les plus lus</a:t>
            </a:r>
          </a:p>
          <a:p>
            <a:pPr lvl="0">
              <a:buFont typeface="Wingdings" pitchFamily="2" charset="2"/>
              <a:buChar char="Ø"/>
            </a:pPr>
            <a:r>
              <a:rPr lang="fr-FR" dirty="0" smtClean="0"/>
              <a:t>Les caractères à empattement facilitent la lecture</a:t>
            </a:r>
          </a:p>
          <a:p>
            <a:pPr lvl="0">
              <a:buFont typeface="Wingdings" pitchFamily="2" charset="2"/>
              <a:buChar char="Ø"/>
            </a:pPr>
            <a:r>
              <a:rPr lang="fr-FR" dirty="0" smtClean="0"/>
              <a:t>Les blancs entre les paragraphes stimulent la lecture</a:t>
            </a:r>
          </a:p>
          <a:p>
            <a:pPr lvl="0">
              <a:buFont typeface="Wingdings" pitchFamily="2" charset="2"/>
              <a:buChar char="Ø"/>
            </a:pPr>
            <a:r>
              <a:rPr lang="fr-FR" dirty="0" smtClean="0"/>
              <a:t>Les symboles en début de paragraphes stimulent la lecture</a:t>
            </a:r>
          </a:p>
          <a:p>
            <a:pPr>
              <a:buNone/>
            </a:pPr>
            <a:endParaRPr lang="fr-FR" dirty="0"/>
          </a:p>
        </p:txBody>
      </p:sp>
      <p:sp>
        <p:nvSpPr>
          <p:cNvPr id="4" name="Espace réservé du numéro de diapositive 3"/>
          <p:cNvSpPr>
            <a:spLocks noGrp="1"/>
          </p:cNvSpPr>
          <p:nvPr>
            <p:ph type="sldNum" sz="quarter" idx="15"/>
          </p:nvPr>
        </p:nvSpPr>
        <p:spPr/>
        <p:txBody>
          <a:bodyPr/>
          <a:lstStyle/>
          <a:p>
            <a:fld id="{1D258001-9BDA-447A-ADAB-646DC4D258D2}" type="slidenum">
              <a:rPr lang="fr-FR" smtClean="0"/>
              <a:pPr/>
              <a:t>71</a:t>
            </a:fld>
            <a:endParaRPr lang="fr-FR"/>
          </a:p>
        </p:txBody>
      </p:sp>
      <p:sp>
        <p:nvSpPr>
          <p:cNvPr id="5" name="Espace réservé du pied de page 4"/>
          <p:cNvSpPr>
            <a:spLocks noGrp="1"/>
          </p:cNvSpPr>
          <p:nvPr>
            <p:ph type="ftr" sz="quarter" idx="16"/>
          </p:nvPr>
        </p:nvSpPr>
        <p:spPr/>
        <p:txBody>
          <a:bodyPr/>
          <a:lstStyle/>
          <a:p>
            <a:r>
              <a:rPr lang="fr-FR" smtClean="0"/>
              <a:t>Rédaction Scientifique                                       Pr.H.F.Merouani</a:t>
            </a:r>
            <a:endParaRPr lang="fr-F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t>Production d’un mini projet </a:t>
            </a:r>
            <a:br>
              <a:rPr lang="fr-FR" b="1" dirty="0" smtClean="0"/>
            </a:br>
            <a:endParaRPr lang="fr-FR" dirty="0"/>
          </a:p>
        </p:txBody>
      </p:sp>
      <p:sp>
        <p:nvSpPr>
          <p:cNvPr id="3" name="Espace réservé du contenu 2"/>
          <p:cNvSpPr>
            <a:spLocks noGrp="1"/>
          </p:cNvSpPr>
          <p:nvPr>
            <p:ph sz="quarter" idx="1"/>
          </p:nvPr>
        </p:nvSpPr>
        <p:spPr/>
        <p:txBody>
          <a:bodyPr>
            <a:normAutofit/>
          </a:bodyPr>
          <a:lstStyle/>
          <a:p>
            <a:pPr marL="514350" indent="-514350">
              <a:buNone/>
            </a:pPr>
            <a:r>
              <a:rPr lang="fr-FR" sz="2800" dirty="0" smtClean="0"/>
              <a:t>1. Elaboration de la page de garde</a:t>
            </a:r>
          </a:p>
          <a:p>
            <a:pPr marL="514350" indent="-514350">
              <a:buNone/>
            </a:pPr>
            <a:r>
              <a:rPr lang="fr-FR" sz="2800" dirty="0" smtClean="0"/>
              <a:t>2. Rédaction de la dédicace.</a:t>
            </a:r>
          </a:p>
          <a:p>
            <a:pPr>
              <a:buNone/>
            </a:pPr>
            <a:r>
              <a:rPr lang="fr-FR" sz="2800" dirty="0" smtClean="0"/>
              <a:t>3. Rédaction de remerciements.</a:t>
            </a:r>
          </a:p>
          <a:p>
            <a:pPr>
              <a:buNone/>
            </a:pPr>
            <a:r>
              <a:rPr lang="fr-FR" sz="2800" dirty="0" smtClean="0"/>
              <a:t>4. Elaboration de la table des matières.</a:t>
            </a:r>
          </a:p>
          <a:p>
            <a:pPr>
              <a:buNone/>
            </a:pPr>
            <a:r>
              <a:rPr lang="fr-FR" sz="2800" dirty="0" smtClean="0"/>
              <a:t>5. Elaboration de la table d’acronymes.</a:t>
            </a:r>
          </a:p>
          <a:p>
            <a:pPr>
              <a:buNone/>
            </a:pPr>
            <a:r>
              <a:rPr lang="fr-FR" sz="2800" dirty="0" smtClean="0"/>
              <a:t>6. Elaboration de l’introduction générale.</a:t>
            </a:r>
          </a:p>
          <a:p>
            <a:pPr>
              <a:buNone/>
            </a:pPr>
            <a:r>
              <a:rPr lang="fr-FR" sz="2800" dirty="0" smtClean="0"/>
              <a:t>7.Elaboration de la bibliographie.</a:t>
            </a:r>
          </a:p>
          <a:p>
            <a:pPr>
              <a:buNone/>
            </a:pPr>
            <a:r>
              <a:rPr lang="fr-FR" sz="2800" dirty="0" smtClean="0"/>
              <a:t>8.Elaboration de la conclusion générale. </a:t>
            </a:r>
          </a:p>
          <a:p>
            <a:pPr>
              <a:buNone/>
            </a:pPr>
            <a:r>
              <a:rPr lang="fr-FR" sz="2800" dirty="0" smtClean="0"/>
              <a:t>9.Elaboration d’un ou de deux annexes.</a:t>
            </a:r>
            <a:endParaRPr lang="fr-FR" sz="2800" dirty="0"/>
          </a:p>
        </p:txBody>
      </p:sp>
      <p:sp>
        <p:nvSpPr>
          <p:cNvPr id="4" name="Espace réservé du numéro de diapositive 3"/>
          <p:cNvSpPr>
            <a:spLocks noGrp="1"/>
          </p:cNvSpPr>
          <p:nvPr>
            <p:ph type="sldNum" sz="quarter" idx="15"/>
          </p:nvPr>
        </p:nvSpPr>
        <p:spPr/>
        <p:txBody>
          <a:bodyPr/>
          <a:lstStyle/>
          <a:p>
            <a:fld id="{1D258001-9BDA-447A-ADAB-646DC4D258D2}" type="slidenum">
              <a:rPr lang="fr-FR" smtClean="0"/>
              <a:pPr/>
              <a:t>72</a:t>
            </a:fld>
            <a:endParaRPr lang="fr-FR"/>
          </a:p>
        </p:txBody>
      </p:sp>
      <p:sp>
        <p:nvSpPr>
          <p:cNvPr id="5" name="Espace réservé du pied de page 4"/>
          <p:cNvSpPr>
            <a:spLocks noGrp="1"/>
          </p:cNvSpPr>
          <p:nvPr>
            <p:ph type="ftr" sz="quarter" idx="16"/>
          </p:nvPr>
        </p:nvSpPr>
        <p:spPr/>
        <p:txBody>
          <a:bodyPr/>
          <a:lstStyle/>
          <a:p>
            <a:r>
              <a:rPr lang="fr-FR" smtClean="0"/>
              <a:t>Rédaction Scientifique                                       Pr.H.F.Merouani</a:t>
            </a:r>
            <a:endParaRPr lang="fr-FR"/>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Oriel</Template>
  <TotalTime>1281</TotalTime>
  <Words>3601</Words>
  <Application>Microsoft Office PowerPoint</Application>
  <PresentationFormat>Affichage à l'écran (4:3)</PresentationFormat>
  <Paragraphs>551</Paragraphs>
  <Slides>72</Slides>
  <Notes>0</Notes>
  <HiddenSlides>0</HiddenSlides>
  <MMClips>0</MMClips>
  <ScaleCrop>false</ScaleCrop>
  <HeadingPairs>
    <vt:vector size="6" baseType="variant">
      <vt:variant>
        <vt:lpstr>Thème</vt:lpstr>
      </vt:variant>
      <vt:variant>
        <vt:i4>1</vt:i4>
      </vt:variant>
      <vt:variant>
        <vt:lpstr>Serveurs OLE incorporés</vt:lpstr>
      </vt:variant>
      <vt:variant>
        <vt:i4>2</vt:i4>
      </vt:variant>
      <vt:variant>
        <vt:lpstr>Titres des diapositives</vt:lpstr>
      </vt:variant>
      <vt:variant>
        <vt:i4>72</vt:i4>
      </vt:variant>
    </vt:vector>
  </HeadingPairs>
  <TitlesOfParts>
    <vt:vector size="75" baseType="lpstr">
      <vt:lpstr>Oriel</vt:lpstr>
      <vt:lpstr>Picture</vt:lpstr>
      <vt:lpstr>SAX XML Reader 5.0</vt:lpstr>
      <vt:lpstr>Rédaction d’un Article Scientifique</vt:lpstr>
      <vt:lpstr>Comment aborder un travail  Scientifique?</vt:lpstr>
      <vt:lpstr>Les Composantes d’une recherche scientifique/1</vt:lpstr>
      <vt:lpstr>Les Composantes d’une recherche scientifique /2</vt:lpstr>
      <vt:lpstr>La recherche scientifique</vt:lpstr>
      <vt:lpstr>Les 4 COMPOSANTES  D’un travail scientifique </vt:lpstr>
      <vt:lpstr>La recherche scientifique comprend huit étapes  </vt:lpstr>
      <vt:lpstr>INTRODUCTION ?</vt:lpstr>
      <vt:lpstr>Problématique???/1</vt:lpstr>
      <vt:lpstr>Problématique???/2</vt:lpstr>
      <vt:lpstr>Problématique???/3</vt:lpstr>
      <vt:lpstr>Problématique???/4</vt:lpstr>
      <vt:lpstr>Exposé théorique </vt:lpstr>
      <vt:lpstr>Exposé théorique </vt:lpstr>
      <vt:lpstr>Quelles sont les sources de l’information ?</vt:lpstr>
      <vt:lpstr>  Que faire face à un océan d’information ? </vt:lpstr>
      <vt:lpstr>Utilisation des outils de recherche  automatiques et du Web </vt:lpstr>
      <vt:lpstr>Quand s’arrêter ?  </vt:lpstr>
      <vt:lpstr> Réalisation du travail « Etape très dure » </vt:lpstr>
      <vt:lpstr>Sur quoi compter ? </vt:lpstr>
      <vt:lpstr>Démarche (1) </vt:lpstr>
      <vt:lpstr>Démarche (2) </vt:lpstr>
      <vt:lpstr>Démarche (3) Analyse du sujet</vt:lpstr>
      <vt:lpstr>Démarche (4)</vt:lpstr>
      <vt:lpstr>Les étapes d’analyse du sujet</vt:lpstr>
      <vt:lpstr>Cerner le sujet : </vt:lpstr>
      <vt:lpstr>Déployer le sujet :</vt:lpstr>
      <vt:lpstr>Finalement</vt:lpstr>
      <vt:lpstr>Démarrer la recherche documentaire et suivre le fil </vt:lpstr>
      <vt:lpstr>Démarrer la recherche documentaire et suivre le fil</vt:lpstr>
      <vt:lpstr>Démarrer la recherche documentaire et suivre le fil</vt:lpstr>
      <vt:lpstr>Fiche Bibliographique</vt:lpstr>
      <vt:lpstr>Diapositive 33</vt:lpstr>
      <vt:lpstr>Quand s’arrêter ? </vt:lpstr>
      <vt:lpstr>Diapositive 35</vt:lpstr>
      <vt:lpstr>                 Présentation écrite</vt:lpstr>
      <vt:lpstr>Présentation écrite </vt:lpstr>
      <vt:lpstr>Table des matières </vt:lpstr>
      <vt:lpstr>La page de garde</vt:lpstr>
      <vt:lpstr>Diapositive 40</vt:lpstr>
      <vt:lpstr>La page des dédicaces </vt:lpstr>
      <vt:lpstr>Comment rédiger les remerciements d’un mémoire ? </vt:lpstr>
      <vt:lpstr>Créer le sommaire d’un mémoire </vt:lpstr>
      <vt:lpstr>Savoir rédiger le résumé d’un mémoire </vt:lpstr>
      <vt:lpstr>Critères d’un résumé</vt:lpstr>
      <vt:lpstr>Tables des illustrations, tableaux, abréviations et sigles </vt:lpstr>
      <vt:lpstr>Introduction (1/2)</vt:lpstr>
      <vt:lpstr>Introduction (2/2)</vt:lpstr>
      <vt:lpstr>Introduction (3/3)</vt:lpstr>
      <vt:lpstr>Diapositive 50</vt:lpstr>
      <vt:lpstr>Constituants </vt:lpstr>
      <vt:lpstr>A l’entrée : </vt:lpstr>
      <vt:lpstr>Motivation et intérêt pour le sujet</vt:lpstr>
      <vt:lpstr>Pertinence scientifique du sujet</vt:lpstr>
      <vt:lpstr>Pertinence sociale du sujet</vt:lpstr>
      <vt:lpstr>Les situations ci-dessous peuvent être à l’origine de problème de recherche:  </vt:lpstr>
      <vt:lpstr> LES QUESTIONS DE RECHERCHE  </vt:lpstr>
      <vt:lpstr>Pourquoi la question de recherche joue-t-elle un rôle de fil conducteur?  </vt:lpstr>
      <vt:lpstr>Qualités de la question de recherche</vt:lpstr>
      <vt:lpstr>Corps </vt:lpstr>
      <vt:lpstr>Répartition en chapitres </vt:lpstr>
      <vt:lpstr>Critères</vt:lpstr>
      <vt:lpstr>La conclusion </vt:lpstr>
      <vt:lpstr>Bibliographie </vt:lpstr>
      <vt:lpstr>La bibliographie</vt:lpstr>
      <vt:lpstr>Les annexes</vt:lpstr>
      <vt:lpstr>Quelles sont les causes d’échec d’un document ?</vt:lpstr>
      <vt:lpstr>Style typographique </vt:lpstr>
      <vt:lpstr>style typographique</vt:lpstr>
      <vt:lpstr>Diapositive 70</vt:lpstr>
      <vt:lpstr>Règles de lisibilité  </vt:lpstr>
      <vt:lpstr>Production d’un mini projet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Rédaction d’un Article Scientifique</dc:title>
  <dc:creator>SBI</dc:creator>
  <cp:lastModifiedBy>SBI</cp:lastModifiedBy>
  <cp:revision>151</cp:revision>
  <dcterms:created xsi:type="dcterms:W3CDTF">2023-11-12T17:38:32Z</dcterms:created>
  <dcterms:modified xsi:type="dcterms:W3CDTF">2024-11-30T11:20:26Z</dcterms:modified>
</cp:coreProperties>
</file>